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2"/>
  </p:notesMasterIdLst>
  <p:sldIdLst>
    <p:sldId id="381" r:id="rId2"/>
    <p:sldId id="387" r:id="rId3"/>
    <p:sldId id="402" r:id="rId4"/>
    <p:sldId id="388" r:id="rId5"/>
    <p:sldId id="404" r:id="rId6"/>
    <p:sldId id="390" r:id="rId7"/>
    <p:sldId id="391" r:id="rId8"/>
    <p:sldId id="392" r:id="rId9"/>
    <p:sldId id="405" r:id="rId10"/>
    <p:sldId id="393" r:id="rId11"/>
    <p:sldId id="394" r:id="rId12"/>
    <p:sldId id="406" r:id="rId13"/>
    <p:sldId id="395" r:id="rId14"/>
    <p:sldId id="397" r:id="rId15"/>
    <p:sldId id="396" r:id="rId16"/>
    <p:sldId id="398" r:id="rId17"/>
    <p:sldId id="399" r:id="rId18"/>
    <p:sldId id="400" r:id="rId19"/>
    <p:sldId id="401" r:id="rId20"/>
    <p:sldId id="403" r:id="rId21"/>
    <p:sldId id="411" r:id="rId22"/>
    <p:sldId id="407" r:id="rId23"/>
    <p:sldId id="408" r:id="rId24"/>
    <p:sldId id="409" r:id="rId25"/>
    <p:sldId id="410" r:id="rId26"/>
    <p:sldId id="412" r:id="rId27"/>
    <p:sldId id="413" r:id="rId28"/>
    <p:sldId id="414" r:id="rId29"/>
    <p:sldId id="415" r:id="rId30"/>
    <p:sldId id="416" r:id="rId31"/>
    <p:sldId id="417" r:id="rId32"/>
    <p:sldId id="418" r:id="rId33"/>
    <p:sldId id="419" r:id="rId34"/>
    <p:sldId id="420" r:id="rId35"/>
    <p:sldId id="421" r:id="rId36"/>
    <p:sldId id="422" r:id="rId37"/>
    <p:sldId id="423" r:id="rId38"/>
    <p:sldId id="424" r:id="rId39"/>
    <p:sldId id="425" r:id="rId40"/>
    <p:sldId id="426" r:id="rId41"/>
    <p:sldId id="427" r:id="rId42"/>
    <p:sldId id="428" r:id="rId43"/>
    <p:sldId id="429" r:id="rId44"/>
    <p:sldId id="430" r:id="rId45"/>
    <p:sldId id="431" r:id="rId46"/>
    <p:sldId id="432" r:id="rId47"/>
    <p:sldId id="433" r:id="rId48"/>
    <p:sldId id="434" r:id="rId49"/>
    <p:sldId id="435" r:id="rId50"/>
    <p:sldId id="436" r:id="rId5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3519"/>
    <a:srgbClr val="7030A0"/>
    <a:srgbClr val="FFCCCC"/>
    <a:srgbClr val="F4AC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74971" autoAdjust="0"/>
  </p:normalViewPr>
  <p:slideViewPr>
    <p:cSldViewPr snapToObjects="1">
      <p:cViewPr varScale="1">
        <p:scale>
          <a:sx n="83" d="100"/>
          <a:sy n="83" d="100"/>
        </p:scale>
        <p:origin x="255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AFFA48-8607-4707-BB18-CF413BACD2EA}" type="datetimeFigureOut">
              <a:rPr lang="ru-RU" smtClean="0"/>
              <a:pPr/>
              <a:t>14.02.2024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E5D1D-64DB-439F-9BA6-342FDC2CD81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69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3445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7463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13316" name="Номер слайда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8407AEE0-F3F3-4D5A-881A-4D6ECC8F7E61}" type="slidenum">
              <a:rPr lang="ru-RU" altLang="ru-RU">
                <a:latin typeface="Calibri" panose="020F0502020204030204" pitchFamily="34" charset="0"/>
              </a:rPr>
              <a:pPr/>
              <a:t>6</a:t>
            </a:fld>
            <a:endParaRPr lang="ru-RU" alt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431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2464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Образ слайда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ru-RU" b="1" i="1" dirty="0"/>
              <a:t>Для простых функциональных зависимостей</a:t>
            </a:r>
            <a:r>
              <a:rPr lang="ru-RU" dirty="0"/>
              <a:t> детерминант отношения будет первичным ключом отношения базы данных. Прочие сущности будут его остальными атрибутами. </a:t>
            </a:r>
          </a:p>
          <a:p>
            <a:pPr>
              <a:defRPr/>
            </a:pPr>
            <a:r>
              <a:rPr lang="ru-RU" b="1" i="1" dirty="0"/>
              <a:t>Для многозначных зависимостей</a:t>
            </a:r>
            <a:r>
              <a:rPr lang="ru-RU" dirty="0"/>
              <a:t> с зависимой частью из одного атрибута можно применить два решения: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ru-RU" dirty="0"/>
              <a:t>Включить в первичный ключ отношения </a:t>
            </a:r>
            <a:r>
              <a:rPr lang="ru-RU" i="1" dirty="0"/>
              <a:t>все атрибуты</a:t>
            </a:r>
            <a:r>
              <a:rPr lang="ru-RU" dirty="0"/>
              <a:t> многозначной зависимости. 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ru-RU" dirty="0"/>
              <a:t>Включить в первичный ключ отношения </a:t>
            </a:r>
            <a:r>
              <a:rPr lang="ru-RU" i="1" dirty="0"/>
              <a:t>атрибуты детерминанта</a:t>
            </a:r>
            <a:r>
              <a:rPr lang="ru-RU" dirty="0"/>
              <a:t> и </a:t>
            </a:r>
            <a:r>
              <a:rPr lang="ru-RU" i="1" dirty="0"/>
              <a:t>суррогатный ключ</a:t>
            </a:r>
            <a:r>
              <a:rPr lang="ru-RU" dirty="0"/>
              <a:t> – </a:t>
            </a:r>
            <a:r>
              <a:rPr lang="ru-RU" dirty="0" err="1"/>
              <a:t>перечислитель</a:t>
            </a:r>
            <a:r>
              <a:rPr lang="ru-RU" dirty="0"/>
              <a:t>.</a:t>
            </a:r>
          </a:p>
          <a:p>
            <a:pPr>
              <a:defRPr/>
            </a:pPr>
            <a:r>
              <a:rPr lang="ru-RU" b="1" dirty="0"/>
              <a:t>Для многозначных зависимостей с зависимой частью из нескольких атрибутов, </a:t>
            </a:r>
          </a:p>
          <a:p>
            <a:pPr lvl="1">
              <a:defRPr/>
            </a:pPr>
            <a:r>
              <a:rPr lang="ru-RU" dirty="0"/>
              <a:t>в первичный ключ отношения войдут атрибуты детерминанта и суррогатный ключ – </a:t>
            </a:r>
            <a:r>
              <a:rPr lang="ru-RU" dirty="0" err="1"/>
              <a:t>перечислитель</a:t>
            </a:r>
            <a:r>
              <a:rPr lang="ru-RU" dirty="0"/>
              <a:t>. </a:t>
            </a:r>
          </a:p>
          <a:p>
            <a:pPr lvl="1">
              <a:defRPr/>
            </a:pPr>
            <a:r>
              <a:rPr lang="ru-RU" dirty="0"/>
              <a:t>Все зависимые атрибуты перейдут в прочие атрибуты сущности. </a:t>
            </a:r>
          </a:p>
          <a:p>
            <a:pPr>
              <a:defRPr/>
            </a:pPr>
            <a:endParaRPr lang="ru-RU" dirty="0"/>
          </a:p>
        </p:txBody>
      </p:sp>
      <p:sp>
        <p:nvSpPr>
          <p:cNvPr id="59396" name="Номер слайда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597B61BE-960A-474A-BDFF-6667E3B27DA4}" type="slidenum">
              <a:rPr lang="ru-RU" altLang="ru-RU">
                <a:latin typeface="Calibri" panose="020F0502020204030204" pitchFamily="34" charset="0"/>
              </a:rPr>
              <a:pPr/>
              <a:t>14</a:t>
            </a:fld>
            <a:endParaRPr lang="ru-RU" alt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985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Образ слайда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ru-RU" b="1" i="1" dirty="0"/>
              <a:t>Для простых функциональных зависимостей</a:t>
            </a:r>
            <a:r>
              <a:rPr lang="ru-RU" dirty="0"/>
              <a:t> детерминант отношения будет первичным ключом отношения базы данных. Прочие сущности будут его остальными атрибутами. </a:t>
            </a:r>
          </a:p>
          <a:p>
            <a:pPr>
              <a:defRPr/>
            </a:pPr>
            <a:r>
              <a:rPr lang="ru-RU" b="1" i="1" dirty="0"/>
              <a:t>Для многозначных зависимостей</a:t>
            </a:r>
            <a:r>
              <a:rPr lang="ru-RU" dirty="0"/>
              <a:t> с зависимой частью из одного атрибута можно применить два решения: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ru-RU" dirty="0"/>
              <a:t>Включить в первичный ключ отношения </a:t>
            </a:r>
            <a:r>
              <a:rPr lang="ru-RU" i="1" dirty="0"/>
              <a:t>все атрибуты</a:t>
            </a:r>
            <a:r>
              <a:rPr lang="ru-RU" dirty="0"/>
              <a:t> многозначной зависимости. 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ru-RU" dirty="0"/>
              <a:t>Включить в первичный ключ отношения </a:t>
            </a:r>
            <a:r>
              <a:rPr lang="ru-RU" i="1" dirty="0"/>
              <a:t>атрибуты детерминанта</a:t>
            </a:r>
            <a:r>
              <a:rPr lang="ru-RU" dirty="0"/>
              <a:t> и </a:t>
            </a:r>
            <a:r>
              <a:rPr lang="ru-RU" i="1" dirty="0"/>
              <a:t>суррогатный ключ</a:t>
            </a:r>
            <a:r>
              <a:rPr lang="ru-RU" dirty="0"/>
              <a:t> – </a:t>
            </a:r>
            <a:r>
              <a:rPr lang="ru-RU" dirty="0" err="1"/>
              <a:t>перечислитель</a:t>
            </a:r>
            <a:r>
              <a:rPr lang="ru-RU" dirty="0"/>
              <a:t>.</a:t>
            </a:r>
          </a:p>
          <a:p>
            <a:pPr>
              <a:defRPr/>
            </a:pPr>
            <a:r>
              <a:rPr lang="ru-RU" b="1" dirty="0"/>
              <a:t>Для многозначных зависимостей с зависимой частью из нескольких атрибутов, </a:t>
            </a:r>
          </a:p>
          <a:p>
            <a:pPr lvl="1">
              <a:defRPr/>
            </a:pPr>
            <a:r>
              <a:rPr lang="ru-RU" dirty="0"/>
              <a:t>в первичный ключ отношения войдут атрибуты детерминанта и суррогатный ключ – </a:t>
            </a:r>
            <a:r>
              <a:rPr lang="ru-RU" dirty="0" err="1"/>
              <a:t>перечислитель</a:t>
            </a:r>
            <a:r>
              <a:rPr lang="ru-RU" dirty="0"/>
              <a:t>. </a:t>
            </a:r>
          </a:p>
          <a:p>
            <a:pPr lvl="1">
              <a:defRPr/>
            </a:pPr>
            <a:r>
              <a:rPr lang="ru-RU" dirty="0"/>
              <a:t>Все зависимые атрибуты перейдут в прочие атрибуты сущности. </a:t>
            </a:r>
          </a:p>
          <a:p>
            <a:pPr>
              <a:defRPr/>
            </a:pPr>
            <a:endParaRPr lang="ru-RU" dirty="0"/>
          </a:p>
        </p:txBody>
      </p:sp>
      <p:sp>
        <p:nvSpPr>
          <p:cNvPr id="57348" name="Номер слайда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E054B4D3-02B0-4567-840B-8B615A1303ED}" type="slidenum">
              <a:rPr lang="ru-RU" altLang="ru-RU">
                <a:latin typeface="Calibri" panose="020F0502020204030204" pitchFamily="34" charset="0"/>
              </a:rPr>
              <a:pPr/>
              <a:t>15</a:t>
            </a:fld>
            <a:endParaRPr lang="ru-RU" alt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30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Образ слайда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ru-RU" sz="2000" b="1" dirty="0"/>
              <a:t>Правило расставления связей</a:t>
            </a:r>
            <a:r>
              <a:rPr lang="ru-RU" sz="2000" dirty="0"/>
              <a:t>: 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ru-RU" sz="1800" dirty="0"/>
              <a:t>если атрибут присутствует на схеме </a:t>
            </a:r>
            <a:r>
              <a:rPr lang="ru-RU" sz="1800" b="1" dirty="0"/>
              <a:t>данных более одного раза</a:t>
            </a:r>
            <a:r>
              <a:rPr lang="ru-RU" sz="1800" dirty="0"/>
              <a:t>, в </a:t>
            </a:r>
            <a:r>
              <a:rPr lang="ru-RU" sz="1800" u="sng" dirty="0"/>
              <a:t>одном случае он должен быть первичным ключом</a:t>
            </a:r>
            <a:r>
              <a:rPr lang="ru-RU" sz="1800" dirty="0"/>
              <a:t>, 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ru-RU" sz="1800" dirty="0"/>
              <a:t>в остальных – прямо или косвенно ссылаться на ту сущность, где он является первичным ключом.</a:t>
            </a:r>
          </a:p>
          <a:p>
            <a:pPr>
              <a:defRPr/>
            </a:pPr>
            <a:r>
              <a:rPr lang="ru-RU" sz="2000" dirty="0"/>
              <a:t>Дополнительно:</a:t>
            </a:r>
          </a:p>
          <a:p>
            <a:pPr lvl="1">
              <a:defRPr/>
            </a:pPr>
            <a:r>
              <a:rPr lang="ru-RU" sz="1800" b="1" dirty="0"/>
              <a:t>Если для атрибута необходимо общее отношение - справочник </a:t>
            </a:r>
            <a:r>
              <a:rPr lang="ru-RU" sz="1800" dirty="0"/>
              <a:t>(</a:t>
            </a:r>
            <a:r>
              <a:rPr lang="ru-RU" sz="1800" i="1" dirty="0"/>
              <a:t>например, это название должности, фигурирующее в различных отношениях – и бухгалтерских, и кадровых, и проектных</a:t>
            </a:r>
            <a:r>
              <a:rPr lang="ru-RU" sz="1800" dirty="0"/>
              <a:t>), то оно пишется с заглавной буквы.</a:t>
            </a:r>
          </a:p>
          <a:p>
            <a:pPr lvl="1">
              <a:defRPr/>
            </a:pPr>
            <a:r>
              <a:rPr lang="ru-RU" sz="1800" dirty="0"/>
              <a:t>Если нужды в справочнике нет (</a:t>
            </a:r>
            <a:r>
              <a:rPr lang="ru-RU" sz="1800" i="1" dirty="0"/>
              <a:t>например, это фамилия</a:t>
            </a:r>
            <a:r>
              <a:rPr lang="ru-RU" sz="1800" dirty="0"/>
              <a:t>) то даже если атрибут фигурирует в нескольких местах (</a:t>
            </a:r>
            <a:r>
              <a:rPr lang="ru-RU" sz="1800" i="1" dirty="0"/>
              <a:t>фамилия сотрудника, фамилия покупателя, фамилия поставщика и т.д.</a:t>
            </a:r>
            <a:r>
              <a:rPr lang="ru-RU" sz="1800" dirty="0"/>
              <a:t>) то справочник не создается.</a:t>
            </a:r>
          </a:p>
          <a:p>
            <a:pPr lvl="1">
              <a:defRPr/>
            </a:pPr>
            <a:endParaRPr lang="ru-RU" sz="1800" dirty="0"/>
          </a:p>
          <a:p>
            <a:pPr>
              <a:defRPr/>
            </a:pPr>
            <a:endParaRPr lang="ru-RU" dirty="0"/>
          </a:p>
        </p:txBody>
      </p:sp>
      <p:sp>
        <p:nvSpPr>
          <p:cNvPr id="61444" name="Номер слайда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48A32A4A-9896-495D-A4E0-2BE151C46306}" type="slidenum">
              <a:rPr lang="ru-RU" altLang="ru-RU">
                <a:latin typeface="Calibri" panose="020F0502020204030204" pitchFamily="34" charset="0"/>
              </a:rPr>
              <a:pPr/>
              <a:t>16</a:t>
            </a:fld>
            <a:endParaRPr lang="ru-RU" alt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110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Образ слайда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Заметки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ru-RU" altLang="ru-RU" smtClean="0"/>
              <a:t>Например, так как сущности </a:t>
            </a:r>
            <a:r>
              <a:rPr lang="en-US" altLang="ru-RU" b="1" smtClean="0"/>
              <a:t>T</a:t>
            </a:r>
            <a:r>
              <a:rPr lang="ru-RU" altLang="ru-RU" b="1" smtClean="0"/>
              <a:t>2 и </a:t>
            </a:r>
            <a:r>
              <a:rPr lang="en-US" altLang="ru-RU" b="1" smtClean="0"/>
              <a:t>T</a:t>
            </a:r>
            <a:r>
              <a:rPr lang="ru-RU" altLang="ru-RU" b="1" smtClean="0"/>
              <a:t>3 имеют одинаковые наборы атрибутов первичных ключей</a:t>
            </a:r>
            <a:r>
              <a:rPr lang="ru-RU" altLang="ru-RU" smtClean="0"/>
              <a:t>, </a:t>
            </a:r>
          </a:p>
          <a:p>
            <a:pPr eaLnBrk="1" hangingPunct="1">
              <a:spcBef>
                <a:spcPct val="0"/>
              </a:spcBef>
            </a:pPr>
            <a:r>
              <a:rPr lang="ru-RU" altLang="ru-RU" i="1" smtClean="0"/>
              <a:t>может оказаться</a:t>
            </a:r>
            <a:r>
              <a:rPr lang="ru-RU" altLang="ru-RU" smtClean="0"/>
              <a:t>, что значения атрибутов Т3 являются подмножеством значений атрибутов Т2 и эти отношения связаны отношением наследования</a:t>
            </a:r>
          </a:p>
          <a:p>
            <a:endParaRPr lang="ru-RU" altLang="ru-RU" smtClean="0"/>
          </a:p>
        </p:txBody>
      </p:sp>
      <p:sp>
        <p:nvSpPr>
          <p:cNvPr id="63492" name="Номер слайда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DE50D372-740D-49FE-B515-B73687B10239}" type="slidenum">
              <a:rPr lang="ru-RU" altLang="ru-RU">
                <a:latin typeface="Calibri" panose="020F0502020204030204" pitchFamily="34" charset="0"/>
              </a:rPr>
              <a:pPr/>
              <a:t>17</a:t>
            </a:fld>
            <a:endParaRPr lang="ru-RU" alt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1907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Образ слайда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Заметки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ru-RU" altLang="ru-RU" smtClean="0"/>
              <a:t>Анализ функциональных зависимостей также позволяет оптимизировать схему данных. </a:t>
            </a:r>
          </a:p>
          <a:p>
            <a:endParaRPr lang="ru-RU" altLang="ru-RU" smtClean="0"/>
          </a:p>
        </p:txBody>
      </p:sp>
      <p:sp>
        <p:nvSpPr>
          <p:cNvPr id="65540" name="Номер слайда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62708ECE-DC8D-4FF2-8FCA-951815C50D53}" type="slidenum">
              <a:rPr lang="ru-RU" altLang="ru-RU">
                <a:latin typeface="Calibri" panose="020F0502020204030204" pitchFamily="34" charset="0"/>
              </a:rPr>
              <a:pPr/>
              <a:t>18</a:t>
            </a:fld>
            <a:endParaRPr lang="ru-RU" alt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5706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1586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Образ слайда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Заметки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33796" name="Номер слайда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407D8E76-B9A2-4AD7-A619-E2B4A812DB75}" type="slidenum">
              <a:rPr lang="ru-RU" altLang="ru-RU">
                <a:latin typeface="Calibri" panose="020F0502020204030204" pitchFamily="34" charset="0"/>
              </a:rPr>
              <a:pPr/>
              <a:t>34</a:t>
            </a:fld>
            <a:endParaRPr lang="ru-RU" alt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320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5303" y="1307734"/>
            <a:ext cx="9171156" cy="384094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-15302" y="0"/>
            <a:ext cx="9171156" cy="1379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93304" y="2384884"/>
            <a:ext cx="7772400" cy="1899643"/>
          </a:xfrm>
          <a:solidFill>
            <a:srgbClr val="FFFFFF">
              <a:alpha val="69804"/>
            </a:srgbClr>
          </a:solidFill>
        </p:spPr>
        <p:txBody>
          <a:bodyPr lIns="144000" rIns="144000">
            <a:normAutofit/>
          </a:bodyPr>
          <a:lstStyle>
            <a:lvl1pPr>
              <a:defRPr sz="3200" b="1" cap="small" baseline="0">
                <a:solidFill>
                  <a:schemeClr val="accent1"/>
                </a:solidFill>
                <a:latin typeface="PT Sans" panose="020B0503020203020204" pitchFamily="34" charset="-52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815916" y="5337212"/>
            <a:ext cx="5072608" cy="1332148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2"/>
                </a:solidFill>
                <a:latin typeface="PT Sans" panose="020B0503020203020204" pitchFamily="34" charset="-5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-15302" y="1307734"/>
            <a:ext cx="9171156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-15304" y="5080882"/>
            <a:ext cx="9171157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3" y="404664"/>
            <a:ext cx="2333625" cy="62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5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tIns="108000" bIns="108000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47525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00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00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495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50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423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7504" y="404664"/>
            <a:ext cx="8928992" cy="18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85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66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56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381000" y="1219200"/>
            <a:ext cx="4210050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743450" y="1219200"/>
            <a:ext cx="4211638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6507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43608" y="1484784"/>
            <a:ext cx="7770041" cy="4896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43608" y="1484784"/>
            <a:ext cx="7082705" cy="475252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12" cstate="screen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717" y="427403"/>
            <a:ext cx="752523" cy="69365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108000" rIns="91440" bIns="10800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251520" y="1196752"/>
            <a:ext cx="8712968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8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000" b="0" i="0" kern="1200" cap="sm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ru.wikipedia.org/wiki/%D0%9D%D0%B0%D0%B4%D0%BC%D0%BD%D0%BE%D0%B6%D0%B5%D1%81%D1%82%D0%B2%D0%B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ru-RU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СУБД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специалиста </a:t>
            </a:r>
            <a:b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информационной безопасности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8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D47EE-59AD-3635-4ABD-37F79EA6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Темы лекции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C114BF-7CF3-7B70-F7DF-B77ECF540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457200" indent="-457200">
              <a:buFont typeface="+mj-lt"/>
              <a:buAutoNum type="arabicPeriod"/>
            </a:pPr>
            <a:r>
              <a:rPr lang="ru-RU" dirty="0" smtClean="0"/>
              <a:t>Функциональные </a:t>
            </a:r>
            <a:r>
              <a:rPr lang="ru-RU" dirty="0" smtClean="0"/>
              <a:t>зависимости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Математическое проектирование схем данных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Нормализация </a:t>
            </a:r>
            <a:r>
              <a:rPr lang="ru-RU" dirty="0" smtClean="0"/>
              <a:t>схемы </a:t>
            </a:r>
            <a:r>
              <a:rPr lang="ru-RU" dirty="0" smtClean="0"/>
              <a:t>данных</a:t>
            </a:r>
          </a:p>
          <a:p>
            <a:pPr marL="457200" indent="-457200">
              <a:buFont typeface="+mj-lt"/>
              <a:buAutoNum type="arabicPeriod"/>
            </a:pPr>
            <a:endParaRPr lang="ru-RU" dirty="0" smtClean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7EC5E5-F5A9-C307-2886-0AAA6331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4563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40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Функциональные зависимости </a:t>
            </a:r>
            <a:br>
              <a:rPr lang="ru-RU" sz="40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6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математическое проектирование схемы данных</a:t>
            </a:r>
            <a:endParaRPr lang="ru-RU" sz="3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58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Понятие функциональной зависимости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8000" y="1560513"/>
            <a:ext cx="8312150" cy="1939925"/>
          </a:xfrm>
        </p:spPr>
        <p:txBody>
          <a:bodyPr anchor="t">
            <a:normAutofit fontScale="85000" lnSpcReduction="10000"/>
          </a:bodyPr>
          <a:lstStyle/>
          <a:p>
            <a:pPr>
              <a:spcBef>
                <a:spcPts val="1200"/>
              </a:spcBef>
              <a:defRPr/>
            </a:pPr>
            <a:r>
              <a:rPr lang="ru-RU" dirty="0"/>
              <a:t>Если </a:t>
            </a:r>
            <a:r>
              <a:rPr lang="ru-RU" dirty="0" smtClean="0"/>
              <a:t>А</a:t>
            </a:r>
            <a:r>
              <a:rPr lang="ru-RU" dirty="0" smtClean="0"/>
              <a:t>,</a:t>
            </a:r>
            <a:r>
              <a:rPr lang="en-US" dirty="0" smtClean="0"/>
              <a:t>B</a:t>
            </a:r>
            <a:r>
              <a:rPr lang="ru-RU" dirty="0" smtClean="0"/>
              <a:t> </a:t>
            </a:r>
            <a:r>
              <a:rPr lang="ru-RU" dirty="0"/>
              <a:t>– произвольные подмножества атрибутов заголовка отношения R, то атрибут </a:t>
            </a:r>
            <a:r>
              <a:rPr lang="en-US" dirty="0" smtClean="0"/>
              <a:t>B</a:t>
            </a:r>
            <a:r>
              <a:rPr lang="ru-RU" dirty="0" smtClean="0"/>
              <a:t> </a:t>
            </a:r>
            <a:r>
              <a:rPr lang="ru-RU" b="1" i="1" dirty="0"/>
              <a:t>функционально зависит</a:t>
            </a:r>
            <a:r>
              <a:rPr lang="ru-RU" dirty="0"/>
              <a:t> от атрибута </a:t>
            </a:r>
            <a:r>
              <a:rPr lang="en-US" dirty="0" smtClean="0"/>
              <a:t>A</a:t>
            </a:r>
            <a:r>
              <a:rPr lang="ru-RU" dirty="0" smtClean="0"/>
              <a:t>, </a:t>
            </a:r>
            <a:r>
              <a:rPr lang="ru-RU" dirty="0"/>
              <a:t>если каждому значению </a:t>
            </a:r>
            <a:r>
              <a:rPr lang="en-US" dirty="0" smtClean="0"/>
              <a:t>A</a:t>
            </a:r>
            <a:r>
              <a:rPr lang="ru-RU" dirty="0" smtClean="0"/>
              <a:t> </a:t>
            </a:r>
            <a:r>
              <a:rPr lang="ru-RU" dirty="0"/>
              <a:t>соответствует в точности одно значение </a:t>
            </a:r>
            <a:r>
              <a:rPr lang="en-US" dirty="0"/>
              <a:t>B</a:t>
            </a:r>
            <a:r>
              <a:rPr lang="ru-RU" dirty="0" smtClean="0"/>
              <a:t>. </a:t>
            </a:r>
            <a:endParaRPr lang="ru-RU" dirty="0"/>
          </a:p>
          <a:p>
            <a:pPr>
              <a:spcBef>
                <a:spcPts val="1200"/>
              </a:spcBef>
              <a:defRPr/>
            </a:pPr>
            <a:r>
              <a:rPr lang="ru-RU" dirty="0"/>
              <a:t>Атрибуты </a:t>
            </a:r>
            <a:r>
              <a:rPr lang="en-US" dirty="0" smtClean="0"/>
              <a:t>A</a:t>
            </a:r>
            <a:r>
              <a:rPr lang="ru-RU" dirty="0" smtClean="0"/>
              <a:t> </a:t>
            </a:r>
            <a:r>
              <a:rPr lang="ru-RU" dirty="0"/>
              <a:t>и </a:t>
            </a:r>
            <a:r>
              <a:rPr lang="en-US" dirty="0"/>
              <a:t>B</a:t>
            </a:r>
            <a:r>
              <a:rPr lang="ru-RU" dirty="0" smtClean="0"/>
              <a:t> </a:t>
            </a:r>
            <a:r>
              <a:rPr lang="ru-RU" dirty="0"/>
              <a:t>при этом могут быть составными.</a:t>
            </a:r>
          </a:p>
          <a:p>
            <a:pPr>
              <a:spcBef>
                <a:spcPts val="1200"/>
              </a:spcBef>
              <a:defRPr/>
            </a:pPr>
            <a:r>
              <a:rPr lang="ru-RU" dirty="0"/>
              <a:t>В таком случае </a:t>
            </a:r>
            <a:r>
              <a:rPr lang="en-US" dirty="0" smtClean="0"/>
              <a:t>A</a:t>
            </a:r>
            <a:r>
              <a:rPr lang="ru-RU" dirty="0" smtClean="0"/>
              <a:t> </a:t>
            </a:r>
            <a:r>
              <a:rPr lang="ru-RU" dirty="0"/>
              <a:t>называется </a:t>
            </a:r>
            <a:r>
              <a:rPr lang="ru-RU" b="1" i="1" dirty="0"/>
              <a:t>детерминантом</a:t>
            </a:r>
            <a:r>
              <a:rPr lang="ru-RU" dirty="0"/>
              <a:t> (определителем) </a:t>
            </a:r>
            <a:r>
              <a:rPr lang="en-US" dirty="0" smtClean="0"/>
              <a:t>B</a:t>
            </a:r>
            <a:r>
              <a:rPr lang="ru-RU" dirty="0" smtClean="0"/>
              <a:t> </a:t>
            </a:r>
            <a:r>
              <a:rPr lang="ru-RU" dirty="0"/>
              <a:t>и </a:t>
            </a:r>
            <a:r>
              <a:rPr lang="ru-RU" b="1" i="1" dirty="0"/>
              <a:t>функционально определяет</a:t>
            </a:r>
            <a:r>
              <a:rPr lang="ru-RU" dirty="0"/>
              <a:t> </a:t>
            </a:r>
            <a:r>
              <a:rPr lang="en-US" dirty="0" smtClean="0"/>
              <a:t>B</a:t>
            </a:r>
            <a:r>
              <a:rPr lang="ru-RU" dirty="0" smtClean="0"/>
              <a:t>.</a:t>
            </a:r>
            <a:endParaRPr lang="ru-RU" dirty="0"/>
          </a:p>
          <a:p>
            <a:pPr>
              <a:spcBef>
                <a:spcPts val="1200"/>
              </a:spcBef>
              <a:defRPr/>
            </a:pPr>
            <a:endParaRPr lang="ru-RU" dirty="0"/>
          </a:p>
        </p:txBody>
      </p:sp>
      <p:sp>
        <p:nvSpPr>
          <p:cNvPr id="10244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408FA1-50FB-423B-862F-DF7AC8AED998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10245" name="Рисунок 4" descr="http://citforum.ru/database/advanced_intro/7_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514705"/>
            <a:ext cx="3235325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187475"/>
              </p:ext>
            </p:extLst>
          </p:nvPr>
        </p:nvGraphicFramePr>
        <p:xfrm>
          <a:off x="4081338" y="3958247"/>
          <a:ext cx="4883150" cy="2232025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3235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7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28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ФЗ в отношении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Если имя служащего уникально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1737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СЛУ_НОМ</a:t>
                      </a:r>
                      <a:r>
                        <a:rPr lang="ru-RU" sz="900" dirty="0">
                          <a:effectLst/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ru-RU" sz="900" dirty="0">
                          <a:effectLst/>
                        </a:rPr>
                        <a:t>СЛУ_ИМЯ</a:t>
                      </a:r>
                      <a:endParaRPr lang="ru-RU" sz="12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СЛУ_НОМ</a:t>
                      </a:r>
                      <a:r>
                        <a:rPr lang="ru-RU" sz="900" dirty="0">
                          <a:effectLst/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ru-RU" sz="900" dirty="0">
                          <a:effectLst/>
                        </a:rPr>
                        <a:t>СЛУ_ЗАРП</a:t>
                      </a:r>
                      <a:endParaRPr lang="ru-RU" sz="12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СЛУ_НОМ</a:t>
                      </a:r>
                      <a:r>
                        <a:rPr lang="ru-RU" sz="900" dirty="0">
                          <a:effectLst/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ru-RU" sz="900" dirty="0">
                          <a:effectLst/>
                        </a:rPr>
                        <a:t>ПРО_НОМ</a:t>
                      </a:r>
                      <a:endParaRPr lang="ru-RU" sz="12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СЛУ_НОМ</a:t>
                      </a:r>
                      <a:r>
                        <a:rPr lang="ru-RU" sz="900" dirty="0">
                          <a:effectLst/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ru-RU" sz="900" dirty="0">
                          <a:effectLst/>
                        </a:rPr>
                        <a:t>ПРОЕКТ_РУК</a:t>
                      </a:r>
                      <a:endParaRPr lang="ru-RU" sz="12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{СЛУ_НОМ, СЛУ_ИМЯ}</a:t>
                      </a:r>
                      <a:r>
                        <a:rPr lang="ru-RU" sz="900" dirty="0">
                          <a:effectLst/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ru-RU" sz="900" dirty="0">
                          <a:effectLst/>
                        </a:rPr>
                        <a:t>СЛУ_ЗАРП</a:t>
                      </a:r>
                      <a:endParaRPr lang="ru-RU" sz="12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{СЛУ_НОМ, СЛУ_ИМЯ}</a:t>
                      </a:r>
                      <a:r>
                        <a:rPr lang="ru-RU" sz="900" dirty="0">
                          <a:effectLst/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ru-RU" sz="900" dirty="0">
                          <a:effectLst/>
                        </a:rPr>
                        <a:t>ПРО_НОМ</a:t>
                      </a:r>
                      <a:endParaRPr lang="ru-RU" sz="12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{СЛУ_НОМ, СЛУ_ИМЯ}</a:t>
                      </a:r>
                      <a:r>
                        <a:rPr lang="ru-RU" sz="900" dirty="0">
                          <a:effectLst/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ru-RU" sz="900" dirty="0">
                          <a:effectLst/>
                        </a:rPr>
                        <a:t>{СЛУ_ЗАРП, ПРО_НОМ}</a:t>
                      </a:r>
                      <a:endParaRPr lang="ru-RU" sz="12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…</a:t>
                      </a:r>
                      <a:endParaRPr lang="ru-RU" sz="12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ПРО_НОМ</a:t>
                      </a:r>
                      <a:r>
                        <a:rPr lang="ru-RU" sz="900" dirty="0">
                          <a:effectLst/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ru-RU" sz="900" dirty="0">
                          <a:effectLst/>
                        </a:rPr>
                        <a:t>ПРОЕКТ_РУК и т.д.         </a:t>
                      </a:r>
                      <a:endParaRPr lang="ru-RU" sz="1200" dirty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 </a:t>
                      </a:r>
                      <a:endParaRPr lang="ru-RU" sz="12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СЛУ_ИМЯ </a:t>
                      </a:r>
                      <a:r>
                        <a:rPr lang="ru-RU" sz="900" dirty="0">
                          <a:effectLst/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ru-RU" sz="900" dirty="0">
                          <a:effectLst/>
                        </a:rPr>
                        <a:t> СЛУ_НОМ</a:t>
                      </a:r>
                      <a:endParaRPr lang="ru-RU" sz="12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СЛУ_ИМЯ </a:t>
                      </a:r>
                      <a:r>
                        <a:rPr lang="ru-RU" sz="900" dirty="0">
                          <a:effectLst/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ru-RU" sz="900" dirty="0">
                          <a:effectLst/>
                        </a:rPr>
                        <a:t> СЛУ_ЗАРП</a:t>
                      </a:r>
                      <a:endParaRPr lang="ru-RU" sz="12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СЛУ_ИМЯ </a:t>
                      </a:r>
                      <a:r>
                        <a:rPr lang="ru-RU" sz="900" dirty="0">
                          <a:effectLst/>
                          <a:sym typeface="Symbol" panose="05050102010706020507" pitchFamily="18" charset="2"/>
                        </a:rPr>
                        <a:t></a:t>
                      </a:r>
                      <a:r>
                        <a:rPr lang="ru-RU" sz="900" dirty="0">
                          <a:effectLst/>
                        </a:rPr>
                        <a:t> ПРО_НОМ 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и т.д.</a:t>
                      </a:r>
                      <a:endParaRPr lang="ru-RU" sz="12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        </a:t>
                      </a:r>
                      <a:endParaRPr lang="ru-RU" sz="1200" dirty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339403" y="3863830"/>
            <a:ext cx="3219450" cy="5778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 indent="336550">
              <a:defRPr>
                <a:solidFill>
                  <a:schemeClr val="tx1"/>
                </a:solidFill>
                <a:latin typeface="PT Sans" panose="020B0503020203020204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anose="020B0503020203020204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anose="020B0503020203020204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anose="020B0503020203020204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anose="020B0503020203020204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anose="020B0503020203020204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anose="020B0503020203020204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anose="020B0503020203020204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anose="020B0503020203020204" pitchFamily="34" charset="-52"/>
              </a:defRPr>
            </a:lvl9pPr>
          </a:lstStyle>
          <a:p>
            <a:pPr algn="just">
              <a:spcBef>
                <a:spcPts val="450"/>
              </a:spcBef>
              <a:defRPr/>
            </a:pPr>
            <a:r>
              <a:rPr lang="ru-RU" altLang="ru-RU" sz="1000">
                <a:solidFill>
                  <a:srgbClr val="57575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ФЗ </a:t>
            </a:r>
            <a:r>
              <a:rPr lang="ru-RU" altLang="ru-RU" sz="700">
                <a:solidFill>
                  <a:srgbClr val="575756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СЛУ_ЗАРП </a:t>
            </a:r>
            <a:r>
              <a:rPr lang="ru-RU" altLang="ru-RU" sz="700">
                <a:solidFill>
                  <a:srgbClr val="575756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ru-RU" altLang="ru-RU" sz="700">
                <a:solidFill>
                  <a:srgbClr val="575756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ПРО_НОМ</a:t>
            </a:r>
            <a:r>
              <a:rPr lang="ru-RU" altLang="ru-RU" sz="700">
                <a:solidFill>
                  <a:srgbClr val="57575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1000">
                <a:solidFill>
                  <a:srgbClr val="57575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верно для данного </a:t>
            </a:r>
            <a:r>
              <a:rPr lang="ru-RU" altLang="ru-RU" sz="1000" b="1" i="1">
                <a:solidFill>
                  <a:srgbClr val="57575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экземпляра</a:t>
            </a:r>
            <a:r>
              <a:rPr lang="ru-RU" altLang="ru-RU" sz="1000">
                <a:solidFill>
                  <a:srgbClr val="57575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отношения (примера), но не для предметной области в принципе.</a:t>
            </a:r>
          </a:p>
        </p:txBody>
      </p:sp>
    </p:spTree>
    <p:extLst>
      <p:ext uri="{BB962C8B-B14F-4D97-AF65-F5344CB8AC3E}">
        <p14:creationId xmlns:p14="http://schemas.microsoft.com/office/powerpoint/2010/main" val="115399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ФЗ в отношениях </a:t>
            </a:r>
            <a:r>
              <a:rPr lang="ru-RU" dirty="0" smtClean="0"/>
              <a:t>реляционной СУБД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340768"/>
            <a:ext cx="8496944" cy="5256584"/>
          </a:xfrm>
        </p:spPr>
        <p:txBody>
          <a:bodyPr anchor="t">
            <a:normAutofit/>
          </a:bodyPr>
          <a:lstStyle/>
          <a:p>
            <a:r>
              <a:rPr lang="ru-RU" dirty="0" smtClean="0"/>
              <a:t>ФЗ верные на всей области определения отношения являются </a:t>
            </a:r>
            <a:r>
              <a:rPr lang="ru-RU" b="1" dirty="0" smtClean="0"/>
              <a:t>инвариантами</a:t>
            </a:r>
            <a:r>
              <a:rPr lang="ru-RU" dirty="0" smtClean="0"/>
              <a:t> или </a:t>
            </a:r>
            <a:r>
              <a:rPr lang="ru-RU" b="1" i="1" dirty="0" smtClean="0"/>
              <a:t>ограничениями целостности </a:t>
            </a:r>
            <a:r>
              <a:rPr lang="ru-RU" dirty="0" smtClean="0"/>
              <a:t>данной переменной отношения</a:t>
            </a:r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>
                <a:solidFill>
                  <a:srgbClr val="C00000"/>
                </a:solidFill>
              </a:rPr>
              <a:t>Если атрибут </a:t>
            </a:r>
            <a:r>
              <a:rPr lang="en-US" dirty="0" smtClean="0">
                <a:solidFill>
                  <a:srgbClr val="C00000"/>
                </a:solidFill>
              </a:rPr>
              <a:t>A </a:t>
            </a:r>
            <a:r>
              <a:rPr lang="ru-RU" dirty="0" smtClean="0">
                <a:solidFill>
                  <a:srgbClr val="C00000"/>
                </a:solidFill>
              </a:rPr>
              <a:t>отношения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ru-RU" dirty="0" smtClean="0">
                <a:solidFill>
                  <a:srgbClr val="C00000"/>
                </a:solidFill>
              </a:rPr>
              <a:t> является </a:t>
            </a:r>
            <a:r>
              <a:rPr lang="ru-RU" b="1" dirty="0" smtClean="0">
                <a:solidFill>
                  <a:srgbClr val="C00000"/>
                </a:solidFill>
              </a:rPr>
              <a:t>потенциальным ключом</a:t>
            </a:r>
            <a:r>
              <a:rPr lang="ru-RU" dirty="0" smtClean="0">
                <a:solidFill>
                  <a:srgbClr val="C00000"/>
                </a:solidFill>
              </a:rPr>
              <a:t>, то для любого подмножеств атрибутов </a:t>
            </a:r>
            <a:r>
              <a:rPr lang="en-US" dirty="0" smtClean="0">
                <a:solidFill>
                  <a:srgbClr val="C00000"/>
                </a:solidFill>
              </a:rPr>
              <a:t>B</a:t>
            </a:r>
            <a:r>
              <a:rPr lang="ru-RU" dirty="0" smtClean="0">
                <a:solidFill>
                  <a:srgbClr val="C00000"/>
                </a:solidFill>
              </a:rPr>
              <a:t> этого отношения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>
                <a:solidFill>
                  <a:srgbClr val="C00000"/>
                </a:solidFill>
                <a:sym typeface="Symbol" panose="05050102010706020507" pitchFamily="18" charset="2"/>
              </a:rPr>
              <a:t>B.</a:t>
            </a:r>
            <a:endParaRPr lang="ru-RU" dirty="0" smtClean="0">
              <a:solidFill>
                <a:srgbClr val="C00000"/>
              </a:solidFill>
              <a:sym typeface="Symbol" panose="05050102010706020507" pitchFamily="18" charset="2"/>
            </a:endParaRPr>
          </a:p>
          <a:p>
            <a:endParaRPr lang="en-US" dirty="0" smtClean="0">
              <a:solidFill>
                <a:srgbClr val="C00000"/>
              </a:solidFill>
              <a:sym typeface="Symbol" panose="05050102010706020507" pitchFamily="18" charset="2"/>
            </a:endParaRPr>
          </a:p>
          <a:p>
            <a:r>
              <a:rPr lang="ru-RU" dirty="0" smtClean="0"/>
              <a:t>ФЗ </a:t>
            </a:r>
            <a:r>
              <a:rPr lang="en-US" dirty="0"/>
              <a:t>A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 smtClean="0">
                <a:sym typeface="Symbol" panose="05050102010706020507" pitchFamily="18" charset="2"/>
              </a:rPr>
              <a:t>B</a:t>
            </a:r>
            <a:r>
              <a:rPr lang="ru-RU" dirty="0" smtClean="0">
                <a:sym typeface="Symbol" panose="05050102010706020507" pitchFamily="18" charset="2"/>
              </a:rPr>
              <a:t> называется </a:t>
            </a:r>
            <a:r>
              <a:rPr lang="ru-RU" b="1" dirty="0" smtClean="0">
                <a:sym typeface="Symbol" panose="05050102010706020507" pitchFamily="18" charset="2"/>
              </a:rPr>
              <a:t>тривиальной</a:t>
            </a:r>
            <a:r>
              <a:rPr lang="ru-RU" dirty="0" smtClean="0">
                <a:sym typeface="Symbol" panose="05050102010706020507" pitchFamily="18" charset="2"/>
              </a:rPr>
              <a:t> если </a:t>
            </a:r>
            <a:r>
              <a:rPr lang="en-US" dirty="0" smtClean="0">
                <a:sym typeface="Symbol" panose="05050102010706020507" pitchFamily="18" charset="2"/>
              </a:rPr>
              <a:t>BA.</a:t>
            </a:r>
          </a:p>
          <a:p>
            <a:pPr lvl="1"/>
            <a:r>
              <a:rPr lang="ru-RU" dirty="0" smtClean="0">
                <a:sym typeface="Symbol" panose="05050102010706020507" pitchFamily="18" charset="2"/>
              </a:rPr>
              <a:t>Любая тривиальная ФЗ всегда выполняется</a:t>
            </a:r>
          </a:p>
          <a:p>
            <a:pPr lvl="1"/>
            <a:r>
              <a:rPr lang="ru-RU" dirty="0" smtClean="0">
                <a:sym typeface="Symbol" panose="05050102010706020507" pitchFamily="18" charset="2"/>
              </a:rPr>
              <a:t>Частный случай  </a:t>
            </a:r>
            <a:r>
              <a:rPr lang="en-US" dirty="0"/>
              <a:t>A</a:t>
            </a:r>
            <a:r>
              <a:rPr lang="en-US" dirty="0" smtClean="0">
                <a:sym typeface="Symbol" panose="05050102010706020507" pitchFamily="18" charset="2"/>
              </a:rPr>
              <a:t>A</a:t>
            </a:r>
            <a:endParaRPr lang="ru-RU" dirty="0" smtClean="0">
              <a:sym typeface="Symbol" panose="05050102010706020507" pitchFamily="18" charset="2"/>
            </a:endParaRPr>
          </a:p>
          <a:p>
            <a:pPr lvl="1"/>
            <a:endParaRPr lang="ru-RU" dirty="0">
              <a:sym typeface="Symbol" panose="05050102010706020507" pitchFamily="18" charset="2"/>
            </a:endParaRPr>
          </a:p>
          <a:p>
            <a:pPr lvl="1"/>
            <a:endParaRPr lang="ru-RU" dirty="0" smtClean="0">
              <a:sym typeface="Symbol" panose="05050102010706020507" pitchFamily="18" charset="2"/>
            </a:endParaRPr>
          </a:p>
          <a:p>
            <a:r>
              <a:rPr lang="ru-RU" dirty="0" smtClean="0">
                <a:sym typeface="Symbol" panose="05050102010706020507" pitchFamily="18" charset="2"/>
              </a:rPr>
              <a:t> ФЗ </a:t>
            </a:r>
            <a:r>
              <a:rPr lang="en-US" dirty="0"/>
              <a:t>A</a:t>
            </a:r>
            <a:r>
              <a:rPr lang="en-US" dirty="0">
                <a:sym typeface="Symbol" panose="05050102010706020507" pitchFamily="18" charset="2"/>
              </a:rPr>
              <a:t>B</a:t>
            </a:r>
            <a:r>
              <a:rPr lang="ru-RU" dirty="0">
                <a:sym typeface="Symbol" panose="05050102010706020507" pitchFamily="18" charset="2"/>
              </a:rPr>
              <a:t> называется </a:t>
            </a:r>
            <a:r>
              <a:rPr lang="ru-RU" b="1" dirty="0" smtClean="0">
                <a:sym typeface="Symbol" panose="05050102010706020507" pitchFamily="18" charset="2"/>
              </a:rPr>
              <a:t>транзитивной</a:t>
            </a:r>
            <a:r>
              <a:rPr lang="ru-RU" dirty="0" smtClean="0">
                <a:sym typeface="Symbol" panose="05050102010706020507" pitchFamily="18" charset="2"/>
              </a:rPr>
              <a:t> если существует такой атрибут С, что имеются ФЗ </a:t>
            </a:r>
            <a:r>
              <a:rPr lang="en-US" dirty="0"/>
              <a:t>A</a:t>
            </a:r>
            <a:r>
              <a:rPr lang="en-US" dirty="0" smtClean="0">
                <a:sym typeface="Symbol" panose="05050102010706020507" pitchFamily="18" charset="2"/>
              </a:rPr>
              <a:t></a:t>
            </a:r>
            <a:r>
              <a:rPr lang="ru-RU" dirty="0" smtClean="0">
                <a:sym typeface="Symbol" panose="05050102010706020507" pitchFamily="18" charset="2"/>
              </a:rPr>
              <a:t>С и С</a:t>
            </a:r>
            <a:r>
              <a:rPr lang="en-US" dirty="0" smtClean="0">
                <a:sym typeface="Symbol" panose="05050102010706020507" pitchFamily="18" charset="2"/>
              </a:rPr>
              <a:t>B</a:t>
            </a:r>
            <a:r>
              <a:rPr lang="ru-RU" dirty="0" smtClean="0">
                <a:sym typeface="Symbol" panose="05050102010706020507" pitchFamily="18" charset="2"/>
              </a:rPr>
              <a:t> и отсутствует ФЗ С</a:t>
            </a:r>
            <a:r>
              <a:rPr lang="en-US" dirty="0" smtClean="0">
                <a:sym typeface="Symbol" panose="05050102010706020507" pitchFamily="18" charset="2"/>
              </a:rPr>
              <a:t></a:t>
            </a:r>
            <a:r>
              <a:rPr lang="en-US" dirty="0">
                <a:sym typeface="Symbol" panose="05050102010706020507" pitchFamily="18" charset="2"/>
              </a:rPr>
              <a:t>A</a:t>
            </a:r>
            <a:r>
              <a:rPr lang="ru-RU" dirty="0" smtClean="0">
                <a:sym typeface="Symbol" panose="05050102010706020507" pitchFamily="18" charset="2"/>
              </a:rPr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4211960" y="2182159"/>
            <a:ext cx="4032448" cy="6480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При проектирование схем БД рассматриваются только такие ФЗ</a:t>
            </a:r>
            <a:endParaRPr lang="ru-RU" sz="1600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851920" y="4911567"/>
            <a:ext cx="4752528" cy="6480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Т.к. Тривиальные ФЗ выполняются всегда, они не трактуются как ограничения целостности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060389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Правила вывода ФЗ:</a:t>
            </a:r>
            <a:br>
              <a:rPr lang="ru-RU" dirty="0"/>
            </a:br>
            <a:r>
              <a:rPr lang="ru-RU" dirty="0"/>
              <a:t>Аксиомы </a:t>
            </a:r>
            <a:r>
              <a:rPr lang="ru-RU" dirty="0" err="1"/>
              <a:t>Армстронга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4163" y="1341438"/>
            <a:ext cx="8528050" cy="1173162"/>
          </a:xfrm>
          <a:solidFill>
            <a:schemeClr val="tx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25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dirty="0"/>
              <a:t>Пусть </a:t>
            </a:r>
            <a:r>
              <a:rPr lang="en-GB" dirty="0"/>
              <a:t>A</a:t>
            </a:r>
            <a:r>
              <a:rPr lang="ru-RU" dirty="0"/>
              <a:t>, </a:t>
            </a:r>
            <a:r>
              <a:rPr lang="en-GB" dirty="0"/>
              <a:t>B </a:t>
            </a:r>
            <a:r>
              <a:rPr lang="ru-RU" dirty="0"/>
              <a:t>и </a:t>
            </a:r>
            <a:r>
              <a:rPr lang="en-GB" dirty="0"/>
              <a:t>C</a:t>
            </a:r>
            <a:r>
              <a:rPr lang="ru-RU" dirty="0"/>
              <a:t> – атрибуты </a:t>
            </a:r>
            <a:br>
              <a:rPr lang="ru-RU" dirty="0"/>
            </a:br>
            <a:r>
              <a:rPr lang="ru-RU" dirty="0"/>
              <a:t>(в общем случае – составные) отношения </a:t>
            </a:r>
            <a:r>
              <a:rPr lang="en-US" dirty="0"/>
              <a:t>R</a:t>
            </a:r>
            <a:r>
              <a:rPr lang="ru-RU" dirty="0"/>
              <a:t>.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dirty="0"/>
              <a:t>Множества </a:t>
            </a:r>
            <a:r>
              <a:rPr lang="en-GB" dirty="0"/>
              <a:t>A</a:t>
            </a:r>
            <a:r>
              <a:rPr lang="ru-RU" dirty="0"/>
              <a:t>, </a:t>
            </a:r>
            <a:r>
              <a:rPr lang="en-GB" dirty="0"/>
              <a:t>B </a:t>
            </a:r>
            <a:r>
              <a:rPr lang="ru-RU" dirty="0"/>
              <a:t>и </a:t>
            </a:r>
            <a:r>
              <a:rPr lang="en-GB" dirty="0"/>
              <a:t>C</a:t>
            </a:r>
            <a:r>
              <a:rPr lang="ru-RU" dirty="0"/>
              <a:t> могут иметь непустое пресечение.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dirty="0"/>
              <a:t>Примем обозначение </a:t>
            </a:r>
            <a:r>
              <a:rPr lang="en-GB" dirty="0"/>
              <a:t>AB</a:t>
            </a:r>
            <a:r>
              <a:rPr lang="ru-RU" dirty="0">
                <a:sym typeface="Symbol" panose="05050102010706020507" pitchFamily="18" charset="2"/>
              </a:rPr>
              <a:t></a:t>
            </a:r>
            <a:r>
              <a:rPr lang="en-US" dirty="0"/>
              <a:t>A</a:t>
            </a:r>
            <a:r>
              <a:rPr lang="ru-RU" dirty="0"/>
              <a:t> UNION </a:t>
            </a:r>
            <a:r>
              <a:rPr lang="en-US" dirty="0"/>
              <a:t>B</a:t>
            </a:r>
            <a:endParaRPr lang="ru-RU" dirty="0"/>
          </a:p>
        </p:txBody>
      </p:sp>
      <p:sp>
        <p:nvSpPr>
          <p:cNvPr id="12292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2F8AE7-B981-4A79-9DD3-69EFC414F6DE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sp>
        <p:nvSpPr>
          <p:cNvPr id="5" name="Объект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3498" y="2636912"/>
            <a:ext cx="8528982" cy="4032448"/>
          </a:xfrm>
          <a:prstGeom prst="rect">
            <a:avLst/>
          </a:prstGeom>
          <a:blipFill>
            <a:blip r:embed="rId3"/>
            <a:stretch>
              <a:fillRect l="-643" t="-1059" r="-429" b="-1967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532319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Правила вывода ФЗ: Расширения (правила) Дейта:</a:t>
            </a:r>
          </a:p>
        </p:txBody>
      </p:sp>
      <p:sp>
        <p:nvSpPr>
          <p:cNvPr id="3" name="Объект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683568" y="2910990"/>
            <a:ext cx="7848872" cy="2520281"/>
          </a:xfrm>
          <a:blipFill>
            <a:blip r:embed="rId2"/>
            <a:stretch>
              <a:fillRect l="-699" t="-1211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  <p:sp>
        <p:nvSpPr>
          <p:cNvPr id="14340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734EB6-E7BC-42C2-BC74-906FDB2DD051}" type="slidenum">
              <a:rPr lang="ru-RU" altLang="ru-RU" sz="700">
                <a:solidFill>
                  <a:schemeClr val="bg1"/>
                </a:solidFill>
                <a:latin typeface="PT Sans" pitchFamily="34" charset="-52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ru-RU" altLang="ru-RU" sz="700">
              <a:solidFill>
                <a:schemeClr val="bg1"/>
              </a:solidFill>
              <a:latin typeface="PT Sans" pitchFamily="34" charset="-52"/>
            </a:endParaRPr>
          </a:p>
        </p:txBody>
      </p:sp>
      <p:sp>
        <p:nvSpPr>
          <p:cNvPr id="5" name="Объект 2"/>
          <p:cNvSpPr txBox="1">
            <a:spLocks/>
          </p:cNvSpPr>
          <p:nvPr/>
        </p:nvSpPr>
        <p:spPr bwMode="auto">
          <a:xfrm>
            <a:off x="284163" y="1341438"/>
            <a:ext cx="8528050" cy="1367482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dirty="0"/>
              <a:t>Пусть </a:t>
            </a:r>
            <a:r>
              <a:rPr lang="en-GB" dirty="0"/>
              <a:t>A</a:t>
            </a:r>
            <a:r>
              <a:rPr lang="ru-RU" dirty="0"/>
              <a:t>, </a:t>
            </a:r>
            <a:r>
              <a:rPr lang="en-GB" dirty="0"/>
              <a:t>B </a:t>
            </a:r>
            <a:r>
              <a:rPr lang="ru-RU" dirty="0"/>
              <a:t>и </a:t>
            </a:r>
            <a:r>
              <a:rPr lang="en-GB" dirty="0"/>
              <a:t>C</a:t>
            </a:r>
            <a:r>
              <a:rPr lang="ru-RU" dirty="0"/>
              <a:t> – атрибуты </a:t>
            </a:r>
            <a:br>
              <a:rPr lang="ru-RU" dirty="0"/>
            </a:br>
            <a:r>
              <a:rPr lang="ru-RU" dirty="0"/>
              <a:t>(в общем случае – составные) отношения </a:t>
            </a:r>
            <a:r>
              <a:rPr lang="en-US" dirty="0"/>
              <a:t>R</a:t>
            </a:r>
            <a:r>
              <a:rPr lang="ru-RU" dirty="0"/>
              <a:t>.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dirty="0"/>
              <a:t>Множества </a:t>
            </a:r>
            <a:r>
              <a:rPr lang="en-GB" dirty="0"/>
              <a:t>A</a:t>
            </a:r>
            <a:r>
              <a:rPr lang="ru-RU" dirty="0"/>
              <a:t>, </a:t>
            </a:r>
            <a:r>
              <a:rPr lang="en-GB" dirty="0"/>
              <a:t>B </a:t>
            </a:r>
            <a:r>
              <a:rPr lang="ru-RU" dirty="0"/>
              <a:t>и </a:t>
            </a:r>
            <a:r>
              <a:rPr lang="en-GB" dirty="0"/>
              <a:t>C</a:t>
            </a:r>
            <a:r>
              <a:rPr lang="ru-RU" dirty="0"/>
              <a:t> могут иметь непустое пресечение.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dirty="0"/>
              <a:t>Примем обозначение </a:t>
            </a:r>
            <a:r>
              <a:rPr lang="en-GB" dirty="0"/>
              <a:t>AB</a:t>
            </a:r>
            <a:r>
              <a:rPr lang="ru-RU" dirty="0">
                <a:sym typeface="Symbol" panose="05050102010706020507" pitchFamily="18" charset="2"/>
              </a:rPr>
              <a:t></a:t>
            </a:r>
            <a:r>
              <a:rPr lang="en-US" dirty="0"/>
              <a:t>A</a:t>
            </a:r>
            <a:r>
              <a:rPr lang="ru-RU" dirty="0"/>
              <a:t> UNION </a:t>
            </a:r>
            <a:r>
              <a:rPr lang="en-US" dirty="0"/>
              <a:t>B</a:t>
            </a:r>
            <a:endParaRPr lang="ru-RU" dirty="0"/>
          </a:p>
        </p:txBody>
      </p:sp>
      <p:sp>
        <p:nvSpPr>
          <p:cNvPr id="6" name="Скругленный прямоугольник 7"/>
          <p:cNvSpPr/>
          <p:nvPr/>
        </p:nvSpPr>
        <p:spPr>
          <a:xfrm>
            <a:off x="684213" y="5516563"/>
            <a:ext cx="7632700" cy="9032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400" dirty="0"/>
              <a:t>Математически обоснованные алгоритмы </a:t>
            </a:r>
            <a:r>
              <a:rPr lang="ru-RU" sz="2400" dirty="0" smtClean="0"/>
              <a:t>вывода на основе аксиом </a:t>
            </a:r>
            <a:r>
              <a:rPr lang="ru-RU" sz="2400" dirty="0" err="1" smtClean="0"/>
              <a:t>Армстронга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47175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Многозначные </a:t>
            </a:r>
            <a:br>
              <a:rPr lang="ru-RU" dirty="0"/>
            </a:br>
            <a:r>
              <a:rPr lang="ru-RU" dirty="0"/>
              <a:t>функциональные зависимости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0825" y="1412875"/>
            <a:ext cx="8713788" cy="5329238"/>
          </a:xfrm>
        </p:spPr>
        <p:txBody>
          <a:bodyPr anchor="t">
            <a:normAutofit/>
          </a:bodyPr>
          <a:lstStyle/>
          <a:p>
            <a:pPr>
              <a:spcBef>
                <a:spcPts val="1200"/>
              </a:spcBef>
              <a:defRPr/>
            </a:pPr>
            <a:r>
              <a:rPr lang="ru-RU" dirty="0"/>
              <a:t>Функциональные зависимости могут быть </a:t>
            </a:r>
            <a:r>
              <a:rPr lang="ru-RU" dirty="0">
                <a:solidFill>
                  <a:srgbClr val="C00000"/>
                </a:solidFill>
              </a:rPr>
              <a:t>многозначными</a:t>
            </a:r>
            <a:r>
              <a:rPr lang="ru-RU" dirty="0"/>
              <a:t>. </a:t>
            </a:r>
          </a:p>
          <a:p>
            <a:pPr>
              <a:spcBef>
                <a:spcPts val="1200"/>
              </a:spcBef>
              <a:defRPr/>
            </a:pPr>
            <a:r>
              <a:rPr lang="ru-RU" b="1" dirty="0"/>
              <a:t>Многозначная зависимость (</a:t>
            </a:r>
            <a:r>
              <a:rPr lang="en-US" b="1" dirty="0"/>
              <a:t>MFD</a:t>
            </a:r>
            <a:r>
              <a:rPr lang="ru-RU" b="1" dirty="0"/>
              <a:t>)</a:t>
            </a:r>
            <a:r>
              <a:rPr lang="ru-RU" dirty="0"/>
              <a:t> — обобщение понятия функциональной зависимости, использующееся в теории баз данных.</a:t>
            </a:r>
          </a:p>
          <a:p>
            <a:pPr>
              <a:spcBef>
                <a:spcPts val="1200"/>
              </a:spcBef>
              <a:defRPr/>
            </a:pPr>
            <a:r>
              <a:rPr lang="ru-RU" i="1" dirty="0"/>
              <a:t>Неформальное определение:</a:t>
            </a:r>
          </a:p>
          <a:p>
            <a:pPr lvl="1">
              <a:spcBef>
                <a:spcPts val="1200"/>
              </a:spcBef>
              <a:defRPr/>
            </a:pPr>
            <a:r>
              <a:rPr lang="ru-RU" dirty="0"/>
              <a:t>Пусть дано отношение r со схемой (заголовком) R , A и B — некоторые подмножества множества атрибутов отношения r. Множество B </a:t>
            </a:r>
            <a:r>
              <a:rPr lang="ru-RU" b="1" dirty="0"/>
              <a:t>многозначно функционально зависит</a:t>
            </a:r>
            <a:r>
              <a:rPr lang="ru-RU" dirty="0"/>
              <a:t> от A тогда и только тогда, когда каждое значение множества A связано с непустым множеством значений множества B.</a:t>
            </a:r>
          </a:p>
          <a:p>
            <a:pPr>
              <a:spcBef>
                <a:spcPts val="1200"/>
              </a:spcBef>
              <a:defRPr/>
            </a:pPr>
            <a:endParaRPr lang="ru-RU" dirty="0"/>
          </a:p>
        </p:txBody>
      </p:sp>
      <p:sp>
        <p:nvSpPr>
          <p:cNvPr id="15364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452BE1-B1FD-4E16-9425-D2043A876DED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Многозначные </a:t>
            </a:r>
            <a:br>
              <a:rPr lang="ru-RU" dirty="0"/>
            </a:br>
            <a:r>
              <a:rPr lang="ru-RU" dirty="0"/>
              <a:t>функциональные зависимости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0825" y="1412875"/>
            <a:ext cx="8713788" cy="5329238"/>
          </a:xfrm>
        </p:spPr>
        <p:txBody>
          <a:bodyPr anchor="t">
            <a:normAutofit/>
          </a:bodyPr>
          <a:lstStyle/>
          <a:p>
            <a:pPr>
              <a:spcBef>
                <a:spcPts val="1200"/>
              </a:spcBef>
              <a:defRPr/>
            </a:pPr>
            <a:r>
              <a:rPr lang="ru-RU" dirty="0" smtClean="0"/>
              <a:t>На </a:t>
            </a:r>
            <a:r>
              <a:rPr lang="ru-RU" dirty="0"/>
              <a:t>практике многозначные зависимости </a:t>
            </a:r>
            <a:r>
              <a:rPr lang="ru-RU" dirty="0">
                <a:solidFill>
                  <a:srgbClr val="FF0000"/>
                </a:solidFill>
              </a:rPr>
              <a:t>являются парными</a:t>
            </a:r>
            <a:r>
              <a:rPr lang="ru-RU" dirty="0"/>
              <a:t>, кроме </a:t>
            </a:r>
            <a:r>
              <a:rPr lang="ru-RU" i="1" dirty="0"/>
              <a:t>тривиальны</a:t>
            </a:r>
            <a:r>
              <a:rPr lang="ru-RU" dirty="0"/>
              <a:t>х (случай не парных – составные ключи при реализации множественных ассоциаций, тогда третье множество - пустое).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  <a:defRPr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То есть, в переменной отношения R с атрибутами А,В,С существует многозначная зависимость A⟹B, когда множество значений атрибута В, соответствующее паре значений А и С, зависит от значения А, и не зависит от значения С.</a:t>
            </a:r>
          </a:p>
          <a:p>
            <a:pPr>
              <a:spcBef>
                <a:spcPts val="1200"/>
              </a:spcBef>
              <a:defRPr/>
            </a:pPr>
            <a:r>
              <a:rPr lang="ru-RU" i="1" dirty="0"/>
              <a:t>Формальное определение:</a:t>
            </a:r>
          </a:p>
          <a:p>
            <a:pPr lvl="1">
              <a:spcBef>
                <a:spcPts val="1200"/>
              </a:spcBef>
              <a:defRPr/>
            </a:pPr>
            <a:r>
              <a:rPr lang="ru-RU" dirty="0"/>
              <a:t>Пусть существует некоторое отношение r со схемой R, а также два произвольных подмножества атрибутов A, B ⊆ R. Пусть C = R ∖ ( A ∪ B ). В этом случае B </a:t>
            </a:r>
            <a:r>
              <a:rPr lang="ru-RU" b="1" dirty="0"/>
              <a:t>многозначно зависит</a:t>
            </a:r>
            <a:r>
              <a:rPr lang="ru-RU" dirty="0"/>
              <a:t> от A, тогда и только тогда, когда множество значений атрибута B, соответствующее заданной паре [</a:t>
            </a:r>
            <a:r>
              <a:rPr lang="ru-RU" dirty="0" err="1"/>
              <a:t>a:A;c:C</a:t>
            </a:r>
            <a:r>
              <a:rPr lang="ru-RU" dirty="0"/>
              <a:t>] отношения r, зависит от a и не зависит от c. </a:t>
            </a:r>
          </a:p>
          <a:p>
            <a:pPr>
              <a:spcBef>
                <a:spcPts val="1200"/>
              </a:spcBef>
              <a:defRPr/>
            </a:pPr>
            <a:endParaRPr lang="ru-RU" dirty="0"/>
          </a:p>
        </p:txBody>
      </p:sp>
      <p:sp>
        <p:nvSpPr>
          <p:cNvPr id="15364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452BE1-B1FD-4E16-9425-D2043A876DED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38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МФЗ: пример</a:t>
            </a:r>
          </a:p>
        </p:txBody>
      </p:sp>
      <p:sp>
        <p:nvSpPr>
          <p:cNvPr id="16387" name="Объект 2"/>
          <p:cNvSpPr>
            <a:spLocks noGrp="1" noChangeArrowheads="1"/>
          </p:cNvSpPr>
          <p:nvPr>
            <p:ph idx="1"/>
          </p:nvPr>
        </p:nvSpPr>
        <p:spPr>
          <a:xfrm>
            <a:off x="174625" y="1412875"/>
            <a:ext cx="8718550" cy="1958975"/>
          </a:xfrm>
        </p:spPr>
        <p:txBody>
          <a:bodyPr anchor="t"/>
          <a:lstStyle/>
          <a:p>
            <a:r>
              <a:rPr lang="ru-RU" altLang="ru-RU" smtClean="0"/>
              <a:t>Символически </a:t>
            </a:r>
            <a:r>
              <a:rPr lang="en-GB" altLang="ru-RU" smtClean="0"/>
              <a:t>MFD </a:t>
            </a:r>
            <a:r>
              <a:rPr lang="ru-RU" altLang="ru-RU" smtClean="0"/>
              <a:t>выражается записью A ↠ B или А </a:t>
            </a:r>
            <a:r>
              <a:rPr lang="ru-RU" altLang="ru-RU" smtClean="0">
                <a:sym typeface="Symbol" panose="05050102010706020507" pitchFamily="18" charset="2"/>
              </a:rPr>
              <a:t></a:t>
            </a:r>
            <a:r>
              <a:rPr lang="ru-RU" altLang="ru-RU" smtClean="0"/>
              <a:t> В </a:t>
            </a:r>
          </a:p>
          <a:p>
            <a:r>
              <a:rPr lang="ru-RU" altLang="ru-RU" smtClean="0"/>
              <a:t>Многозначная зависимость A ↠ B называется </a:t>
            </a:r>
            <a:r>
              <a:rPr lang="ru-RU" altLang="ru-RU" b="1" smtClean="0"/>
              <a:t>тривиальной</a:t>
            </a:r>
            <a:r>
              <a:rPr lang="ru-RU" altLang="ru-RU" smtClean="0"/>
              <a:t>, если выполняется хотя бы одно из условий: </a:t>
            </a:r>
          </a:p>
          <a:p>
            <a:pPr marL="600075" lvl="1" indent="-257175">
              <a:buFont typeface="Arial" panose="020B0604020202020204" pitchFamily="34" charset="0"/>
              <a:buAutoNum type="arabicPeriod"/>
            </a:pPr>
            <a:r>
              <a:rPr lang="ru-RU" altLang="ru-RU" smtClean="0"/>
              <a:t>Множество A является </a:t>
            </a:r>
            <a:r>
              <a:rPr lang="ru-RU" altLang="ru-RU" smtClean="0">
                <a:hlinkClick r:id="rId2" tooltip="Надмножество"/>
              </a:rPr>
              <a:t>надмножеством</a:t>
            </a:r>
            <a:r>
              <a:rPr lang="ru-RU" altLang="ru-RU" smtClean="0"/>
              <a:t> B: B ⊆ A </a:t>
            </a:r>
          </a:p>
          <a:p>
            <a:pPr marL="600075" lvl="1" indent="-257175">
              <a:buFont typeface="Arial" panose="020B0604020202020204" pitchFamily="34" charset="0"/>
              <a:buAutoNum type="arabicPeriod"/>
            </a:pPr>
            <a:r>
              <a:rPr lang="ru-RU" altLang="ru-RU" smtClean="0"/>
              <a:t>Объединение A и B образует весь заголовок отношения. </a:t>
            </a:r>
            <a:r>
              <a:rPr lang="en-US" altLang="ru-RU" smtClean="0"/>
              <a:t>A ∪ B = R </a:t>
            </a:r>
            <a:endParaRPr lang="ru-RU" altLang="ru-RU" smtClean="0"/>
          </a:p>
          <a:p>
            <a:endParaRPr lang="ru-RU" altLang="ru-RU" smtClean="0"/>
          </a:p>
        </p:txBody>
      </p:sp>
      <p:sp>
        <p:nvSpPr>
          <p:cNvPr id="16388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B7542C-2326-4A62-AF61-C92283DDB9CA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36760" y="3336131"/>
            <a:ext cx="4967288" cy="3429000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400" dirty="0"/>
              <a:t>Рассмотрим отношение </a:t>
            </a:r>
            <a:r>
              <a:rPr lang="ru-RU" sz="1400" b="1" dirty="0"/>
              <a:t>Преподаватель</a:t>
            </a:r>
            <a:r>
              <a:rPr lang="ru-RU" sz="1400" dirty="0"/>
              <a:t>(</a:t>
            </a:r>
            <a:r>
              <a:rPr lang="ru-RU" sz="1400" i="1" u="sng" dirty="0"/>
              <a:t>Номер</a:t>
            </a:r>
            <a:r>
              <a:rPr lang="ru-RU" sz="1400" dirty="0"/>
              <a:t>,</a:t>
            </a:r>
            <a:r>
              <a:rPr lang="ru-RU" sz="1400" i="1" dirty="0"/>
              <a:t> </a:t>
            </a:r>
            <a:r>
              <a:rPr lang="ru-RU" sz="1400" i="1" u="sng" dirty="0" err="1"/>
              <a:t>Имя_ребенка</a:t>
            </a:r>
            <a:r>
              <a:rPr lang="ru-RU" sz="1400" dirty="0"/>
              <a:t>,</a:t>
            </a:r>
            <a:r>
              <a:rPr lang="ru-RU" sz="1400" i="1" dirty="0"/>
              <a:t> </a:t>
            </a:r>
            <a:r>
              <a:rPr lang="ru-RU" sz="1400" i="1" u="sng" dirty="0"/>
              <a:t>Предмет</a:t>
            </a:r>
            <a:r>
              <a:rPr lang="ru-RU" sz="1400" dirty="0"/>
              <a:t>,</a:t>
            </a:r>
            <a:r>
              <a:rPr lang="ru-RU" sz="1400" i="1" dirty="0"/>
              <a:t> Должность</a:t>
            </a:r>
            <a:r>
              <a:rPr lang="ru-RU" sz="1400" dirty="0"/>
              <a:t>). </a:t>
            </a:r>
            <a:br>
              <a:rPr lang="ru-RU" sz="1400" dirty="0"/>
            </a:br>
            <a:r>
              <a:rPr lang="ru-RU" sz="1400" dirty="0"/>
              <a:t>Предметная область накладывает следующие ограничения:</a:t>
            </a:r>
          </a:p>
          <a:p>
            <a:pPr lvl="1">
              <a:defRPr/>
            </a:pPr>
            <a:r>
              <a:rPr lang="ru-RU" sz="1400" dirty="0"/>
              <a:t>каждый преподаватель может иметь несколько детей,</a:t>
            </a:r>
          </a:p>
          <a:p>
            <a:pPr lvl="1">
              <a:defRPr/>
            </a:pPr>
            <a:r>
              <a:rPr lang="ru-RU" sz="1400" dirty="0"/>
              <a:t>каждый преподаватель может вести несколько предметов,</a:t>
            </a:r>
          </a:p>
          <a:p>
            <a:pPr lvl="1">
              <a:defRPr/>
            </a:pPr>
            <a:r>
              <a:rPr lang="ru-RU" sz="1400" dirty="0"/>
              <a:t>каждый преподаватель может занимать только одну должность,</a:t>
            </a:r>
          </a:p>
          <a:p>
            <a:pPr lvl="1">
              <a:defRPr/>
            </a:pPr>
            <a:r>
              <a:rPr lang="ru-RU" sz="1400" dirty="0"/>
              <a:t>каждый предмет могут вести несколько преподавателей.</a:t>
            </a:r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5257800" y="3378798"/>
            <a:ext cx="3635375" cy="3218554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350" dirty="0"/>
              <a:t>Тогда отношение </a:t>
            </a:r>
            <a:r>
              <a:rPr lang="ru-RU" sz="1350" b="1" dirty="0"/>
              <a:t>Преподаватель</a:t>
            </a:r>
            <a:r>
              <a:rPr lang="ru-RU" sz="1350" dirty="0"/>
              <a:t> имеет две многозначные зависимости и одну функциональную:</a:t>
            </a:r>
          </a:p>
          <a:p>
            <a:pPr lvl="1">
              <a:defRPr/>
            </a:pPr>
            <a:r>
              <a:rPr lang="ru-RU" sz="1200" dirty="0" err="1"/>
              <a:t>Номер</a:t>
            </a:r>
            <a:r>
              <a:rPr lang="ru-RU" sz="1200" dirty="0" err="1">
                <a:sym typeface="Symbol" panose="05050102010706020507" pitchFamily="18" charset="2"/>
              </a:rPr>
              <a:t></a:t>
            </a:r>
            <a:r>
              <a:rPr lang="ru-RU" sz="1200" dirty="0" err="1"/>
              <a:t>Имя_ребенка</a:t>
            </a:r>
            <a:r>
              <a:rPr lang="ru-RU" sz="1200" dirty="0"/>
              <a:t>,</a:t>
            </a:r>
          </a:p>
          <a:p>
            <a:pPr lvl="1">
              <a:defRPr/>
            </a:pPr>
            <a:r>
              <a:rPr lang="ru-RU" sz="1200" dirty="0" err="1"/>
              <a:t>Номер</a:t>
            </a:r>
            <a:r>
              <a:rPr lang="ru-RU" sz="1200" dirty="0" err="1">
                <a:sym typeface="Symbol" panose="05050102010706020507" pitchFamily="18" charset="2"/>
              </a:rPr>
              <a:t></a:t>
            </a:r>
            <a:r>
              <a:rPr lang="ru-RU" sz="1200" dirty="0" err="1"/>
              <a:t>Предмет</a:t>
            </a:r>
            <a:r>
              <a:rPr lang="ru-RU" sz="1200" dirty="0"/>
              <a:t>,</a:t>
            </a:r>
          </a:p>
          <a:p>
            <a:pPr lvl="1">
              <a:defRPr/>
            </a:pPr>
            <a:r>
              <a:rPr lang="ru-RU" sz="1200" dirty="0" err="1"/>
              <a:t>Номер→Должность</a:t>
            </a:r>
            <a:r>
              <a:rPr lang="ru-RU" sz="1200" dirty="0"/>
              <a:t>.</a:t>
            </a:r>
          </a:p>
          <a:p>
            <a:pPr>
              <a:defRPr/>
            </a:pPr>
            <a:endParaRPr lang="ru-RU" sz="1350" dirty="0"/>
          </a:p>
        </p:txBody>
      </p:sp>
      <p:cxnSp>
        <p:nvCxnSpPr>
          <p:cNvPr id="8" name="Прямая соединительная линия 7"/>
          <p:cNvCxnSpPr>
            <a:cxnSpLocks/>
          </p:cNvCxnSpPr>
          <p:nvPr/>
        </p:nvCxnSpPr>
        <p:spPr>
          <a:xfrm>
            <a:off x="374588" y="3274220"/>
            <a:ext cx="8280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19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Правила вывода МФЗ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288" y="1916113"/>
            <a:ext cx="8569325" cy="4826000"/>
          </a:xfrm>
        </p:spPr>
        <p:txBody>
          <a:bodyPr anchor="t">
            <a:normAutofit fontScale="85000" lnSpcReduction="20000"/>
          </a:bodyPr>
          <a:lstStyle/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ru-RU" dirty="0"/>
              <a:t>Пусть у нас есть отношение r ( R ) и множества атрибутов A , B , C , D ⊆ R . </a:t>
            </a:r>
          </a:p>
          <a:p>
            <a:pPr>
              <a:spcBef>
                <a:spcPts val="600"/>
              </a:spcBef>
              <a:defRPr/>
            </a:pPr>
            <a:r>
              <a:rPr lang="ru-RU" b="1" dirty="0"/>
              <a:t>Группа 1:</a:t>
            </a:r>
            <a:r>
              <a:rPr lang="ru-RU" dirty="0"/>
              <a:t> базовые правила. </a:t>
            </a:r>
          </a:p>
          <a:p>
            <a:pPr lvl="1">
              <a:spcBef>
                <a:spcPts val="600"/>
              </a:spcBef>
              <a:defRPr/>
            </a:pPr>
            <a:r>
              <a:rPr lang="ru-RU" b="1" dirty="0"/>
              <a:t>Дополнение</a:t>
            </a:r>
            <a:r>
              <a:rPr lang="ru-RU" dirty="0"/>
              <a:t> </a:t>
            </a:r>
            <a:r>
              <a:rPr lang="en-US" dirty="0"/>
              <a:t>( A ∪ B ∪ C = R ) ∧ ( B ∩ C ⊆ A ) ⇒ ( ( A ↠ B ) ⇔ ( A ↠ C ) )</a:t>
            </a:r>
            <a:endParaRPr lang="ru-RU" dirty="0"/>
          </a:p>
          <a:p>
            <a:pPr lvl="1">
              <a:spcBef>
                <a:spcPts val="600"/>
              </a:spcBef>
              <a:defRPr/>
            </a:pPr>
            <a:r>
              <a:rPr lang="ru-RU" b="1" dirty="0"/>
              <a:t>Транзитивность</a:t>
            </a:r>
            <a:r>
              <a:rPr lang="ru-RU" dirty="0"/>
              <a:t> </a:t>
            </a:r>
            <a:r>
              <a:rPr lang="en-US" dirty="0"/>
              <a:t>( A ↠ B ) ∧ ( B ↠ C ) ⇒ ( A ↠ C ∖ B ) </a:t>
            </a:r>
            <a:endParaRPr lang="ru-RU" dirty="0"/>
          </a:p>
          <a:p>
            <a:pPr lvl="1">
              <a:spcBef>
                <a:spcPts val="600"/>
              </a:spcBef>
              <a:defRPr/>
            </a:pPr>
            <a:r>
              <a:rPr lang="ru-RU" b="1" dirty="0" err="1"/>
              <a:t>Рефлексивность</a:t>
            </a:r>
            <a:r>
              <a:rPr lang="ru-RU" dirty="0"/>
              <a:t> </a:t>
            </a:r>
            <a:r>
              <a:rPr lang="en-US" dirty="0"/>
              <a:t>( B ⊆ A ) ⇒ ( A ↠ B ) </a:t>
            </a:r>
            <a:endParaRPr lang="ru-RU" dirty="0"/>
          </a:p>
          <a:p>
            <a:pPr lvl="1">
              <a:spcBef>
                <a:spcPts val="600"/>
              </a:spcBef>
              <a:defRPr/>
            </a:pPr>
            <a:r>
              <a:rPr lang="ru-RU" b="1" dirty="0"/>
              <a:t>Приращение</a:t>
            </a:r>
            <a:r>
              <a:rPr lang="ru-RU" dirty="0"/>
              <a:t> </a:t>
            </a:r>
            <a:r>
              <a:rPr lang="en-US" dirty="0"/>
              <a:t>( A ↠ B ) ∧ ( C ⊆ D ) ⇒ ( A D ↠ B C ) </a:t>
            </a:r>
            <a:endParaRPr lang="ru-RU" dirty="0"/>
          </a:p>
          <a:p>
            <a:pPr>
              <a:spcBef>
                <a:spcPts val="600"/>
              </a:spcBef>
              <a:defRPr/>
            </a:pPr>
            <a:r>
              <a:rPr lang="ru-RU" b="1" dirty="0"/>
              <a:t>Группа 2:</a:t>
            </a:r>
            <a:r>
              <a:rPr lang="ru-RU" dirty="0"/>
              <a:t> выводятся несколько дополнительных правил, упрощающих задачу вывода многозначных зависимостей. </a:t>
            </a:r>
          </a:p>
          <a:p>
            <a:pPr lvl="1">
              <a:spcBef>
                <a:spcPts val="600"/>
              </a:spcBef>
              <a:defRPr/>
            </a:pPr>
            <a:r>
              <a:rPr lang="ru-RU" b="1" dirty="0" err="1"/>
              <a:t>Псевдотранзитивность</a:t>
            </a:r>
            <a:r>
              <a:rPr lang="ru-RU" dirty="0"/>
              <a:t> ( </a:t>
            </a:r>
            <a:r>
              <a:rPr lang="en-US" dirty="0"/>
              <a:t>A </a:t>
            </a:r>
            <a:r>
              <a:rPr lang="ru-RU" dirty="0"/>
              <a:t>↠ </a:t>
            </a:r>
            <a:r>
              <a:rPr lang="en-US" dirty="0"/>
              <a:t>B</a:t>
            </a:r>
            <a:r>
              <a:rPr lang="ru-RU" dirty="0"/>
              <a:t> ) ∧ ( </a:t>
            </a:r>
            <a:r>
              <a:rPr lang="en-US" dirty="0"/>
              <a:t>B C </a:t>
            </a:r>
            <a:r>
              <a:rPr lang="ru-RU" dirty="0"/>
              <a:t>↠ </a:t>
            </a:r>
            <a:r>
              <a:rPr lang="en-US" dirty="0"/>
              <a:t>D</a:t>
            </a:r>
            <a:r>
              <a:rPr lang="ru-RU" dirty="0"/>
              <a:t> ) ⇒ ( </a:t>
            </a:r>
            <a:r>
              <a:rPr lang="en-US" dirty="0"/>
              <a:t>A C </a:t>
            </a:r>
            <a:r>
              <a:rPr lang="ru-RU" dirty="0"/>
              <a:t>↠ </a:t>
            </a:r>
            <a:r>
              <a:rPr lang="en-US" dirty="0"/>
              <a:t>D </a:t>
            </a:r>
            <a:r>
              <a:rPr lang="ru-RU" dirty="0"/>
              <a:t>∖ </a:t>
            </a:r>
            <a:r>
              <a:rPr lang="en-US" dirty="0"/>
              <a:t>B C</a:t>
            </a:r>
            <a:r>
              <a:rPr lang="ru-RU" dirty="0"/>
              <a:t> ) </a:t>
            </a:r>
          </a:p>
          <a:p>
            <a:pPr lvl="1">
              <a:spcBef>
                <a:spcPts val="600"/>
              </a:spcBef>
              <a:defRPr/>
            </a:pPr>
            <a:r>
              <a:rPr lang="ru-RU" b="1" dirty="0"/>
              <a:t>Объединение</a:t>
            </a:r>
            <a:r>
              <a:rPr lang="ru-RU" dirty="0"/>
              <a:t> </a:t>
            </a:r>
            <a:r>
              <a:rPr lang="en-US" dirty="0"/>
              <a:t>( A ↠ B ) ∧ ( A ↠ C ) ⇒ ( A ↠ B C ) </a:t>
            </a:r>
            <a:endParaRPr lang="ru-RU" dirty="0"/>
          </a:p>
          <a:p>
            <a:pPr lvl="1">
              <a:spcBef>
                <a:spcPts val="600"/>
              </a:spcBef>
              <a:defRPr/>
            </a:pPr>
            <a:r>
              <a:rPr lang="ru-RU" b="1" dirty="0"/>
              <a:t>Декомпозиция</a:t>
            </a:r>
            <a:r>
              <a:rPr lang="ru-RU" dirty="0"/>
              <a:t> </a:t>
            </a:r>
            <a:r>
              <a:rPr lang="en-US" dirty="0"/>
              <a:t>( A ↠ B C ) ⇒ ( A ↠ B ∩ C ) ∧ ( A ↠ B ∖ C ) ∧ ( A ↠ C ∖ B ) </a:t>
            </a:r>
            <a:endParaRPr lang="ru-RU" dirty="0"/>
          </a:p>
          <a:p>
            <a:pPr>
              <a:spcBef>
                <a:spcPts val="600"/>
              </a:spcBef>
              <a:defRPr/>
            </a:pPr>
            <a:r>
              <a:rPr lang="ru-RU" b="1" dirty="0"/>
              <a:t>Группа 3:</a:t>
            </a:r>
            <a:r>
              <a:rPr lang="ru-RU" dirty="0"/>
              <a:t> устанавливается связь между функциональными и многозначными зависимостями. </a:t>
            </a:r>
          </a:p>
          <a:p>
            <a:pPr lvl="1">
              <a:spcBef>
                <a:spcPts val="600"/>
              </a:spcBef>
              <a:defRPr/>
            </a:pPr>
            <a:r>
              <a:rPr lang="ru-RU" b="1" dirty="0"/>
              <a:t>Репликация (копирование)</a:t>
            </a:r>
            <a:r>
              <a:rPr lang="ru-RU" dirty="0"/>
              <a:t> ( </a:t>
            </a:r>
            <a:r>
              <a:rPr lang="en-US" dirty="0"/>
              <a:t>A</a:t>
            </a:r>
            <a:r>
              <a:rPr lang="ru-RU" dirty="0"/>
              <a:t> → </a:t>
            </a:r>
            <a:r>
              <a:rPr lang="en-US" dirty="0"/>
              <a:t>B</a:t>
            </a:r>
            <a:r>
              <a:rPr lang="ru-RU" dirty="0"/>
              <a:t> ) ⇒ ( </a:t>
            </a:r>
            <a:r>
              <a:rPr lang="en-US" dirty="0"/>
              <a:t>A </a:t>
            </a:r>
            <a:r>
              <a:rPr lang="ru-RU" dirty="0"/>
              <a:t>↠ </a:t>
            </a:r>
            <a:r>
              <a:rPr lang="en-US" dirty="0"/>
              <a:t>B</a:t>
            </a:r>
            <a:r>
              <a:rPr lang="ru-RU" dirty="0"/>
              <a:t> ) </a:t>
            </a:r>
          </a:p>
          <a:p>
            <a:pPr lvl="1">
              <a:spcBef>
                <a:spcPts val="600"/>
              </a:spcBef>
              <a:defRPr/>
            </a:pPr>
            <a:r>
              <a:rPr lang="ru-RU" b="1" dirty="0"/>
              <a:t>Слияние</a:t>
            </a:r>
            <a:r>
              <a:rPr lang="ru-RU" dirty="0"/>
              <a:t> ( </a:t>
            </a:r>
            <a:r>
              <a:rPr lang="en-US" dirty="0"/>
              <a:t>A </a:t>
            </a:r>
            <a:r>
              <a:rPr lang="ru-RU" dirty="0"/>
              <a:t>↠ </a:t>
            </a:r>
            <a:r>
              <a:rPr lang="en-US" dirty="0"/>
              <a:t>B</a:t>
            </a:r>
            <a:r>
              <a:rPr lang="ru-RU" dirty="0"/>
              <a:t> ) ∧ ( </a:t>
            </a:r>
            <a:r>
              <a:rPr lang="en-US" dirty="0"/>
              <a:t>C</a:t>
            </a:r>
            <a:r>
              <a:rPr lang="ru-RU" dirty="0"/>
              <a:t> → </a:t>
            </a:r>
            <a:r>
              <a:rPr lang="en-US" dirty="0"/>
              <a:t>D</a:t>
            </a:r>
            <a:r>
              <a:rPr lang="ru-RU" dirty="0"/>
              <a:t> ) ∧ ( </a:t>
            </a:r>
            <a:r>
              <a:rPr lang="en-US" dirty="0"/>
              <a:t>D </a:t>
            </a:r>
            <a:r>
              <a:rPr lang="ru-RU" dirty="0"/>
              <a:t>⊆ </a:t>
            </a:r>
            <a:r>
              <a:rPr lang="en-US" dirty="0"/>
              <a:t>B</a:t>
            </a:r>
            <a:r>
              <a:rPr lang="ru-RU" dirty="0"/>
              <a:t> ) ∧ ( </a:t>
            </a:r>
            <a:r>
              <a:rPr lang="en-US" dirty="0"/>
              <a:t>B</a:t>
            </a:r>
            <a:r>
              <a:rPr lang="ru-RU" dirty="0"/>
              <a:t> ∩ </a:t>
            </a:r>
            <a:r>
              <a:rPr lang="en-US" dirty="0"/>
              <a:t>C</a:t>
            </a:r>
            <a:r>
              <a:rPr lang="ru-RU" dirty="0"/>
              <a:t> = ∅ ) ⇒ ( </a:t>
            </a:r>
            <a:r>
              <a:rPr lang="en-US" dirty="0"/>
              <a:t>A</a:t>
            </a:r>
            <a:r>
              <a:rPr lang="ru-RU" dirty="0"/>
              <a:t> → </a:t>
            </a:r>
            <a:r>
              <a:rPr lang="en-US" dirty="0"/>
              <a:t>D</a:t>
            </a:r>
            <a:r>
              <a:rPr lang="ru-RU" dirty="0"/>
              <a:t> ) </a:t>
            </a:r>
          </a:p>
          <a:p>
            <a:pPr>
              <a:spcBef>
                <a:spcPts val="600"/>
              </a:spcBef>
              <a:defRPr/>
            </a:pPr>
            <a:r>
              <a:rPr lang="ru-RU" b="1" dirty="0"/>
              <a:t>Группа 4:</a:t>
            </a:r>
            <a:r>
              <a:rPr lang="ru-RU" dirty="0"/>
              <a:t> для функциональных зависимостей, выводятся из вышеприведенных правил. </a:t>
            </a:r>
          </a:p>
          <a:p>
            <a:pPr lvl="1">
              <a:spcBef>
                <a:spcPts val="600"/>
              </a:spcBef>
              <a:defRPr/>
            </a:pPr>
            <a:r>
              <a:rPr lang="en-US" dirty="0"/>
              <a:t>( A ↠ B ) ∧ ( A B → C ) ⇒ ( A → C ∖ B ) </a:t>
            </a:r>
            <a:endParaRPr lang="ru-RU" dirty="0"/>
          </a:p>
        </p:txBody>
      </p:sp>
      <p:sp>
        <p:nvSpPr>
          <p:cNvPr id="17412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32A84E-8386-4D36-AED7-E88292EDC438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95288" y="1325563"/>
            <a:ext cx="8569325" cy="5238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ru-RU" sz="1400" dirty="0"/>
              <a:t>В 1977 году </a:t>
            </a:r>
            <a:r>
              <a:rPr lang="ru-RU" sz="1400" dirty="0" err="1"/>
              <a:t>Бэри</a:t>
            </a:r>
            <a:r>
              <a:rPr lang="ru-RU" sz="1400" dirty="0"/>
              <a:t>, </a:t>
            </a:r>
            <a:r>
              <a:rPr lang="ru-RU" sz="1400" dirty="0" err="1"/>
              <a:t>Феджин</a:t>
            </a:r>
            <a:r>
              <a:rPr lang="ru-RU" sz="1400" dirty="0"/>
              <a:t> и </a:t>
            </a:r>
            <a:r>
              <a:rPr lang="ru-RU" sz="1400" dirty="0" err="1"/>
              <a:t>Ховард</a:t>
            </a:r>
            <a:r>
              <a:rPr lang="ru-RU" sz="1400" dirty="0"/>
              <a:t> установили, что правила вывода </a:t>
            </a:r>
            <a:r>
              <a:rPr lang="ru-RU" sz="1400" dirty="0" err="1"/>
              <a:t>Армстронга</a:t>
            </a:r>
            <a:r>
              <a:rPr lang="ru-RU" sz="1400" dirty="0"/>
              <a:t> можно обобщить и распространить, как на функциональные, так и на многозначные зависимости. </a:t>
            </a:r>
          </a:p>
        </p:txBody>
      </p:sp>
    </p:spTree>
    <p:extLst>
      <p:ext uri="{BB962C8B-B14F-4D97-AF65-F5344CB8AC3E}">
        <p14:creationId xmlns:p14="http://schemas.microsoft.com/office/powerpoint/2010/main" val="37278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ru-RU" sz="40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Математическое проектирование</a:t>
            </a:r>
            <a:br>
              <a:rPr lang="ru-RU" sz="40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40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схем баз данных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57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Математическое проектирование</a:t>
            </a:r>
            <a:br>
              <a:rPr lang="ru-RU" dirty="0"/>
            </a:br>
            <a:r>
              <a:rPr lang="ru-RU" dirty="0"/>
              <a:t>схемы базы данных</a:t>
            </a:r>
          </a:p>
        </p:txBody>
      </p:sp>
      <p:sp>
        <p:nvSpPr>
          <p:cNvPr id="55299" name="Объект 5"/>
          <p:cNvSpPr>
            <a:spLocks noGrp="1" noChangeArrowheads="1"/>
          </p:cNvSpPr>
          <p:nvPr>
            <p:ph idx="1"/>
          </p:nvPr>
        </p:nvSpPr>
        <p:spPr>
          <a:xfrm>
            <a:off x="684213" y="1484313"/>
            <a:ext cx="7848600" cy="1152525"/>
          </a:xfrm>
        </p:spPr>
        <p:txBody>
          <a:bodyPr anchor="t"/>
          <a:lstStyle/>
          <a:p>
            <a:r>
              <a:rPr lang="ru-RU" altLang="ru-RU" smtClean="0"/>
              <a:t>Пример формального описания схемы базы данных при помощи механизма функциональных зависимостей</a:t>
            </a:r>
          </a:p>
        </p:txBody>
      </p:sp>
      <p:sp>
        <p:nvSpPr>
          <p:cNvPr id="55300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D276EB-4EDE-4328-8F42-183158DD0430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55301" name="Рисунок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0" y="3071813"/>
            <a:ext cx="2732088" cy="268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трелка вправо 1"/>
          <p:cNvSpPr/>
          <p:nvPr/>
        </p:nvSpPr>
        <p:spPr>
          <a:xfrm>
            <a:off x="3732213" y="3932238"/>
            <a:ext cx="811212" cy="7826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4738688" y="3343275"/>
            <a:ext cx="2847975" cy="2044700"/>
          </a:xfrm>
          <a:prstGeom prst="roundRect">
            <a:avLst>
              <a:gd name="adj" fmla="val 10903"/>
            </a:avLst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ru-RU" sz="2100" dirty="0"/>
              <a:t>Создание схемы</a:t>
            </a:r>
          </a:p>
          <a:p>
            <a:pPr algn="ctr">
              <a:defRPr/>
            </a:pPr>
            <a:r>
              <a:rPr lang="ru-RU" sz="2100" dirty="0"/>
              <a:t> базы данных </a:t>
            </a:r>
          </a:p>
          <a:p>
            <a:pPr algn="ctr">
              <a:defRPr/>
            </a:pPr>
            <a:r>
              <a:rPr lang="ru-RU" sz="2100" dirty="0"/>
              <a:t>на основе </a:t>
            </a:r>
            <a:r>
              <a:rPr lang="ru-RU" sz="2100" dirty="0">
                <a:solidFill>
                  <a:srgbClr val="C00000"/>
                </a:solidFill>
              </a:rPr>
              <a:t>функциональных зависимостей</a:t>
            </a:r>
          </a:p>
          <a:p>
            <a:pPr algn="ctr">
              <a:defRPr/>
            </a:pPr>
            <a:r>
              <a:rPr lang="ru-RU" sz="2100" dirty="0">
                <a:solidFill>
                  <a:schemeClr val="tx1"/>
                </a:solidFill>
              </a:rPr>
              <a:t>и только</a:t>
            </a:r>
          </a:p>
        </p:txBody>
      </p:sp>
    </p:spTree>
    <p:extLst>
      <p:ext uri="{BB962C8B-B14F-4D97-AF65-F5344CB8AC3E}">
        <p14:creationId xmlns:p14="http://schemas.microsoft.com/office/powerpoint/2010/main" val="174414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ФЗ и формирование отношений</a:t>
            </a:r>
          </a:p>
        </p:txBody>
      </p:sp>
      <p:sp>
        <p:nvSpPr>
          <p:cNvPr id="58371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301408-2677-448D-AC33-518B7D8B4F0B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</p:nvPr>
        </p:nvGraphicFramePr>
        <p:xfrm>
          <a:off x="251520" y="1340768"/>
          <a:ext cx="8713093" cy="528721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4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42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В схеме данных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В заданном множестве ФЗ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u="sng" dirty="0"/>
                        <a:t>Атрибуты</a:t>
                      </a:r>
                      <a:r>
                        <a:rPr lang="ru-RU" sz="1400" dirty="0"/>
                        <a:t> атомарны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u="sng" dirty="0"/>
                        <a:t>ПЕРЕМЕННЫЕ</a:t>
                      </a:r>
                      <a:r>
                        <a:rPr lang="ru-RU" sz="1400" dirty="0"/>
                        <a:t>:</a:t>
                      </a:r>
                      <a:br>
                        <a:rPr lang="ru-RU" sz="1400" dirty="0"/>
                      </a:br>
                      <a:r>
                        <a:rPr lang="ru-RU" sz="1400" dirty="0"/>
                        <a:t>Каждую переменную мы можем считать отдельным атрибутом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67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Каждый не ключевой атрибут неприводимо (функционально полно) зависит от потенциального ключа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u="sng" dirty="0"/>
                        <a:t>Детерминанты ФЗ </a:t>
                      </a:r>
                      <a:r>
                        <a:rPr lang="ru-RU" sz="1400" dirty="0"/>
                        <a:t>показывают, потенциальными ключами каких отношений (отношений с какими атрибутами) они могут являться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Объединение в одно отношение не многозначных зависимостей с общим детерминантом</a:t>
                      </a:r>
                    </a:p>
                    <a:p>
                      <a:pPr algn="ctr"/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u="sng" dirty="0"/>
                        <a:t>Детерминанты</a:t>
                      </a:r>
                      <a:r>
                        <a:rPr lang="ru-RU" sz="1400" dirty="0"/>
                        <a:t> всех функциональных зависимостей являются потенциальными ключами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Отсутствуют транзитивные функциональные зависимости не ключевых атрибутов от ключевых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Наличие транзитивных зависимостей можно определить на основе исходного набора.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Переменная отношения </a:t>
                      </a:r>
                      <a:r>
                        <a:rPr lang="ru-RU" sz="1400" u="none" dirty="0"/>
                        <a:t>не содержит нетривиальных многозначных зависимостей</a:t>
                      </a:r>
                      <a:endParaRPr lang="ru-RU" sz="1400" i="1" u="none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68580" marR="68580" marT="34290" marB="34290">
                    <a:blipFill>
                      <a:blip r:embed="rId3"/>
                      <a:stretch>
                        <a:fillRect l="-75583" t="-522414" r="-491" b="-141379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Каждая нетривиальная зависимость соединения в ней определяется потенциальным ключом (ключами) этого отношения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68580" marR="68580" marT="34290" marB="34290">
                    <a:blipFill>
                      <a:blip r:embed="rId3"/>
                      <a:stretch>
                        <a:fillRect l="-75583" t="-475000" r="-491" b="-7895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9323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Пример</a:t>
            </a:r>
          </a:p>
        </p:txBody>
      </p:sp>
      <p:sp>
        <p:nvSpPr>
          <p:cNvPr id="56323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AF8876-F130-4915-9E19-CD92F838DE13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56324" name="Рисунок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25" y="1604963"/>
            <a:ext cx="2400300" cy="235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5" name="Рисунок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" y="2563813"/>
            <a:ext cx="4881563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Стрелка влево 6"/>
          <p:cNvSpPr/>
          <p:nvPr/>
        </p:nvSpPr>
        <p:spPr>
          <a:xfrm>
            <a:off x="5970588" y="2255838"/>
            <a:ext cx="492125" cy="6397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90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Определение связей</a:t>
            </a:r>
          </a:p>
        </p:txBody>
      </p:sp>
      <p:sp>
        <p:nvSpPr>
          <p:cNvPr id="60419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086E01-27D8-4A3E-86EA-7238CF69FABA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60420" name="Объект 4"/>
          <p:cNvPicPr>
            <a:picLocks noGrp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0038" y="3327400"/>
            <a:ext cx="6153150" cy="3149600"/>
          </a:xfrm>
        </p:spPr>
      </p:pic>
      <p:pic>
        <p:nvPicPr>
          <p:cNvPr id="60421" name="Рисунок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6063" y="1355725"/>
            <a:ext cx="2400300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Стрелка влево 6"/>
          <p:cNvSpPr/>
          <p:nvPr/>
        </p:nvSpPr>
        <p:spPr>
          <a:xfrm>
            <a:off x="5961063" y="1895475"/>
            <a:ext cx="492125" cy="6397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874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Выявление сложных связей и соотнесение схемы с предметной областью</a:t>
            </a:r>
          </a:p>
        </p:txBody>
      </p:sp>
      <p:sp>
        <p:nvSpPr>
          <p:cNvPr id="62467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C7C325-A1AE-4935-AE0E-4ACB093FCE8D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62468" name="Рисунок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2513013"/>
            <a:ext cx="5810250" cy="324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9" name="Рисунок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2955925"/>
            <a:ext cx="2400300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Стрелка влево 6"/>
          <p:cNvSpPr/>
          <p:nvPr/>
        </p:nvSpPr>
        <p:spPr>
          <a:xfrm>
            <a:off x="5961063" y="3657600"/>
            <a:ext cx="492125" cy="6397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37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Оптимизация схемы базы данных </a:t>
            </a:r>
            <a:br>
              <a:rPr lang="ru-RU" dirty="0"/>
            </a:br>
            <a:r>
              <a:rPr lang="ru-RU" b="1" dirty="0"/>
              <a:t>на основе анализа зависимостей</a:t>
            </a:r>
          </a:p>
        </p:txBody>
      </p:sp>
      <p:sp>
        <p:nvSpPr>
          <p:cNvPr id="64515" name="Объект 2"/>
          <p:cNvSpPr>
            <a:spLocks noGrp="1" noChangeArrowheads="1"/>
          </p:cNvSpPr>
          <p:nvPr>
            <p:ph idx="1"/>
          </p:nvPr>
        </p:nvSpPr>
        <p:spPr>
          <a:xfrm>
            <a:off x="315913" y="1311275"/>
            <a:ext cx="8680450" cy="842963"/>
          </a:xfrm>
        </p:spPr>
        <p:txBody>
          <a:bodyPr/>
          <a:lstStyle/>
          <a:p>
            <a:pPr lvl="1"/>
            <a:r>
              <a:rPr lang="ru-RU" altLang="ru-RU" smtClean="0"/>
              <a:t>Рассмотрим пример, приведенный выше. В нем </a:t>
            </a:r>
            <a:r>
              <a:rPr lang="en-US" altLang="ru-RU" b="1" i="1" smtClean="0"/>
              <a:t>u </a:t>
            </a:r>
            <a:r>
              <a:rPr lang="ru-RU" altLang="ru-RU" smtClean="0"/>
              <a:t>достижима из </a:t>
            </a:r>
            <a:r>
              <a:rPr lang="en-US" altLang="ru-RU" b="1" i="1" smtClean="0"/>
              <a:t>R </a:t>
            </a:r>
            <a:r>
              <a:rPr lang="ru-RU" altLang="ru-RU" smtClean="0"/>
              <a:t>двумя путями:</a:t>
            </a:r>
          </a:p>
          <a:p>
            <a:endParaRPr lang="ru-RU" altLang="ru-RU" smtClean="0"/>
          </a:p>
        </p:txBody>
      </p:sp>
      <p:sp>
        <p:nvSpPr>
          <p:cNvPr id="64516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31C4D2-5B80-4949-8401-F78360768512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sp>
        <p:nvSpPr>
          <p:cNvPr id="5" name="Прямоугольник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9304" y="2130112"/>
            <a:ext cx="8177112" cy="107491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ru-RU">
                <a:noFill/>
              </a:rPr>
              <a:t> </a:t>
            </a:r>
          </a:p>
        </p:txBody>
      </p:sp>
      <p:sp>
        <p:nvSpPr>
          <p:cNvPr id="64518" name="Объект 2"/>
          <p:cNvSpPr txBox="1">
            <a:spLocks noChangeArrowheads="1"/>
          </p:cNvSpPr>
          <p:nvPr/>
        </p:nvSpPr>
        <p:spPr bwMode="auto">
          <a:xfrm>
            <a:off x="0" y="3381375"/>
            <a:ext cx="8996363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r>
              <a:rPr lang="ru-RU" altLang="ru-RU" sz="1700">
                <a:solidFill>
                  <a:srgbClr val="818180"/>
                </a:solidFill>
              </a:rPr>
              <a:t>Многозначная зависимость </a:t>
            </a:r>
            <a:r>
              <a:rPr lang="en-US" altLang="ru-RU" sz="1700" b="1" i="1">
                <a:solidFill>
                  <a:srgbClr val="818180"/>
                </a:solidFill>
              </a:rPr>
              <a:t>u</a:t>
            </a:r>
            <a:r>
              <a:rPr lang="ru-RU" altLang="ru-RU" sz="1700">
                <a:solidFill>
                  <a:srgbClr val="818180"/>
                </a:solidFill>
              </a:rPr>
              <a:t> от </a:t>
            </a:r>
            <a:r>
              <a:rPr lang="en-US" altLang="ru-RU" sz="1700" b="1" i="1">
                <a:solidFill>
                  <a:srgbClr val="818180"/>
                </a:solidFill>
              </a:rPr>
              <a:t>R</a:t>
            </a:r>
            <a:r>
              <a:rPr lang="en-US" altLang="ru-RU" sz="1700">
                <a:solidFill>
                  <a:srgbClr val="818180"/>
                </a:solidFill>
              </a:rPr>
              <a:t> </a:t>
            </a:r>
            <a:r>
              <a:rPr lang="ru-RU" altLang="ru-RU" sz="1700">
                <a:solidFill>
                  <a:srgbClr val="818180"/>
                </a:solidFill>
              </a:rPr>
              <a:t>уже заложена в схеме через зависимости:</a:t>
            </a:r>
          </a:p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endParaRPr lang="ru-RU" altLang="ru-RU" sz="1700">
              <a:solidFill>
                <a:srgbClr val="818180"/>
              </a:solidFill>
            </a:endParaRPr>
          </a:p>
        </p:txBody>
      </p:sp>
      <p:sp>
        <p:nvSpPr>
          <p:cNvPr id="7" name="Прямоугольник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86116" y="3772099"/>
            <a:ext cx="1780818" cy="778868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ru-RU">
                <a:noFill/>
              </a:rPr>
              <a:t> </a:t>
            </a:r>
          </a:p>
        </p:txBody>
      </p:sp>
      <p:sp>
        <p:nvSpPr>
          <p:cNvPr id="64520" name="Объект 2"/>
          <p:cNvSpPr txBox="1">
            <a:spLocks noChangeArrowheads="1"/>
          </p:cNvSpPr>
          <p:nvPr/>
        </p:nvSpPr>
        <p:spPr bwMode="auto">
          <a:xfrm>
            <a:off x="0" y="4727575"/>
            <a:ext cx="8820150" cy="1090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r>
              <a:rPr lang="ru-RU" altLang="ru-RU" sz="1600">
                <a:solidFill>
                  <a:srgbClr val="818180"/>
                </a:solidFill>
              </a:rPr>
              <a:t>Это значит, что отдельно она не нужна и можно ее удалить. </a:t>
            </a:r>
            <a:r>
              <a:rPr lang="ru-RU" altLang="ru-RU" sz="1600" u="sng">
                <a:solidFill>
                  <a:srgbClr val="818180"/>
                </a:solidFill>
              </a:rPr>
              <a:t>Если же бизнес – логика требовала бы обратного, то в различных случаях к атрибуту могли быть добавлены различные индексы</a:t>
            </a:r>
            <a:r>
              <a:rPr lang="ru-RU" altLang="ru-RU" sz="1600">
                <a:solidFill>
                  <a:srgbClr val="818180"/>
                </a:solidFill>
              </a:rPr>
              <a:t>, например:</a:t>
            </a:r>
          </a:p>
        </p:txBody>
      </p:sp>
      <p:sp>
        <p:nvSpPr>
          <p:cNvPr id="9" name="Прямоугольник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43912" y="5359138"/>
            <a:ext cx="2093778" cy="1271438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ru-RU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622832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Итоговый результат примера</a:t>
            </a:r>
          </a:p>
        </p:txBody>
      </p:sp>
      <p:sp>
        <p:nvSpPr>
          <p:cNvPr id="66563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03C15A-F5CC-4B29-BC15-743A6BB8E05A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66564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188" y="1484784"/>
            <a:ext cx="2400300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Стрелка влево 5"/>
          <p:cNvSpPr/>
          <p:nvPr/>
        </p:nvSpPr>
        <p:spPr>
          <a:xfrm>
            <a:off x="5961063" y="1914525"/>
            <a:ext cx="492125" cy="6397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66566" name="Рисунок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3411538"/>
            <a:ext cx="6418262" cy="283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7366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ru-RU" sz="40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Нормализация </a:t>
            </a:r>
            <a:br>
              <a:rPr lang="ru-RU" sz="40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40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схем баз данных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17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Проектирование реляционных баз данных </a:t>
            </a:r>
            <a:br>
              <a:rPr lang="ru-RU" dirty="0"/>
            </a:br>
            <a:r>
              <a:rPr lang="ru-RU" dirty="0"/>
              <a:t>на основе принципов нормализации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388" y="1268413"/>
            <a:ext cx="8856662" cy="5473700"/>
          </a:xfrm>
        </p:spPr>
        <p:txBody>
          <a:bodyPr anchor="t">
            <a:normAutofit fontScale="92500" lnSpcReduction="10000"/>
          </a:bodyPr>
          <a:lstStyle/>
          <a:p>
            <a:pPr>
              <a:spcBef>
                <a:spcPts val="1200"/>
              </a:spcBef>
              <a:defRPr/>
            </a:pPr>
            <a:r>
              <a:rPr lang="ru-RU" dirty="0"/>
              <a:t>При проектировании базы данных решаются две основные проблемы. </a:t>
            </a:r>
          </a:p>
          <a:p>
            <a:pPr lvl="1">
              <a:spcBef>
                <a:spcPts val="1200"/>
              </a:spcBef>
              <a:defRPr/>
            </a:pPr>
            <a:r>
              <a:rPr lang="ru-RU" i="1" dirty="0">
                <a:solidFill>
                  <a:srgbClr val="C00000"/>
                </a:solidFill>
              </a:rPr>
              <a:t>Каким образом </a:t>
            </a:r>
            <a:r>
              <a:rPr lang="ru-RU" b="1" i="1" dirty="0">
                <a:solidFill>
                  <a:srgbClr val="C00000"/>
                </a:solidFill>
              </a:rPr>
              <a:t>отобразить объекты предметной области </a:t>
            </a:r>
            <a:r>
              <a:rPr lang="ru-RU" i="1" dirty="0">
                <a:solidFill>
                  <a:srgbClr val="C00000"/>
                </a:solidFill>
              </a:rPr>
              <a:t>в абстрактные объекты модели данных, чтобы это отображение не противоречило семантике предметной области и было, по возможности, лучшим (эффективным, удобным и т. д.)?</a:t>
            </a:r>
            <a:r>
              <a:rPr lang="ru-RU" i="1" dirty="0"/>
              <a:t> </a:t>
            </a:r>
            <a:br>
              <a:rPr lang="ru-RU" i="1" dirty="0"/>
            </a:br>
            <a:r>
              <a:rPr lang="ru-RU" dirty="0"/>
              <a:t>Часто эту проблему называют </a:t>
            </a:r>
            <a:r>
              <a:rPr lang="ru-RU" b="1" dirty="0"/>
              <a:t>проблемой логического проектирования баз данных.</a:t>
            </a:r>
            <a:endParaRPr lang="ru-RU" dirty="0"/>
          </a:p>
          <a:p>
            <a:pPr lvl="1">
              <a:spcBef>
                <a:spcPts val="1200"/>
              </a:spcBef>
              <a:defRPr/>
            </a:pPr>
            <a:r>
              <a:rPr lang="ru-RU" i="1" dirty="0">
                <a:solidFill>
                  <a:srgbClr val="C00000"/>
                </a:solidFill>
              </a:rPr>
              <a:t>Как обеспечить </a:t>
            </a:r>
            <a:r>
              <a:rPr lang="ru-RU" b="1" i="1" dirty="0">
                <a:solidFill>
                  <a:srgbClr val="C00000"/>
                </a:solidFill>
              </a:rPr>
              <a:t>эффективность выполнения запросов </a:t>
            </a:r>
            <a:r>
              <a:rPr lang="ru-RU" i="1" dirty="0">
                <a:solidFill>
                  <a:srgbClr val="C00000"/>
                </a:solidFill>
              </a:rPr>
              <a:t>к базе данных, т. е. каким образом, имея в виду особенности конкретной СУБД, расположить данные во внешней памяти, создания каких дополнительных структур (например, индексов) потребовать и т. д.? </a:t>
            </a:r>
            <a:br>
              <a:rPr lang="ru-RU" i="1" dirty="0">
                <a:solidFill>
                  <a:srgbClr val="C00000"/>
                </a:solidFill>
              </a:rPr>
            </a:br>
            <a:r>
              <a:rPr lang="ru-RU" dirty="0"/>
              <a:t>Эту проблему обычно называют </a:t>
            </a:r>
            <a:r>
              <a:rPr lang="ru-RU" b="1" dirty="0"/>
              <a:t>проблемой физического проектирования баз данных</a:t>
            </a:r>
            <a:r>
              <a:rPr lang="ru-RU" dirty="0"/>
              <a:t>.</a:t>
            </a:r>
          </a:p>
          <a:p>
            <a:pPr>
              <a:spcBef>
                <a:spcPts val="1200"/>
              </a:spcBef>
              <a:defRPr/>
            </a:pPr>
            <a:r>
              <a:rPr lang="ru-RU" dirty="0"/>
              <a:t>Процесс поэтапного проектирования БД: итерационная </a:t>
            </a:r>
            <a:r>
              <a:rPr lang="ru-RU" b="1" dirty="0"/>
              <a:t>нормализация </a:t>
            </a:r>
            <a:r>
              <a:rPr lang="ru-RU" dirty="0"/>
              <a:t>схем отношений </a:t>
            </a:r>
            <a:br>
              <a:rPr lang="ru-RU" dirty="0"/>
            </a:br>
            <a:r>
              <a:rPr lang="ru-RU" dirty="0"/>
              <a:t>(</a:t>
            </a:r>
            <a:r>
              <a:rPr lang="ru-RU" i="1" dirty="0"/>
              <a:t>каждая следующая нормальная форма обладает свойствами, в некотором смысле, лучшими, чем предыдущая</a:t>
            </a:r>
            <a:r>
              <a:rPr lang="ru-RU" dirty="0"/>
              <a:t>).  </a:t>
            </a:r>
          </a:p>
          <a:p>
            <a:pPr>
              <a:spcBef>
                <a:spcPts val="1200"/>
              </a:spcBef>
              <a:defRPr/>
            </a:pPr>
            <a:r>
              <a:rPr lang="ru-RU" dirty="0"/>
              <a:t>Отношение находится в некоторой </a:t>
            </a:r>
            <a:r>
              <a:rPr lang="ru-RU" b="1" i="1" dirty="0"/>
              <a:t>нормальной форме</a:t>
            </a:r>
            <a:r>
              <a:rPr lang="ru-RU" dirty="0"/>
              <a:t>, если удовлетворяет свойственному ей </a:t>
            </a:r>
            <a:r>
              <a:rPr lang="ru-RU" b="1" i="1" dirty="0"/>
              <a:t>набору ограничений</a:t>
            </a:r>
            <a:endParaRPr lang="ru-RU" dirty="0"/>
          </a:p>
          <a:p>
            <a:pPr>
              <a:spcBef>
                <a:spcPts val="1200"/>
              </a:spcBef>
              <a:defRPr/>
            </a:pPr>
            <a:endParaRPr lang="ru-RU" dirty="0"/>
          </a:p>
        </p:txBody>
      </p:sp>
      <p:sp>
        <p:nvSpPr>
          <p:cNvPr id="23556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3D1DB2-6461-4241-9EEC-2887ACBB4809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92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Декомпозиция без потерь</a:t>
            </a:r>
          </a:p>
        </p:txBody>
      </p:sp>
      <p:sp>
        <p:nvSpPr>
          <p:cNvPr id="18435" name="Объект 2"/>
          <p:cNvSpPr>
            <a:spLocks noGrp="1" noChangeArrowheads="1"/>
          </p:cNvSpPr>
          <p:nvPr>
            <p:ph idx="1"/>
          </p:nvPr>
        </p:nvSpPr>
        <p:spPr>
          <a:xfrm>
            <a:off x="250825" y="1341438"/>
            <a:ext cx="8569325" cy="2303462"/>
          </a:xfrm>
        </p:spPr>
        <p:txBody>
          <a:bodyPr anchor="t"/>
          <a:lstStyle/>
          <a:p>
            <a:pPr>
              <a:spcBef>
                <a:spcPts val="1200"/>
              </a:spcBef>
            </a:pPr>
            <a:r>
              <a:rPr lang="ru-RU" altLang="ru-RU" smtClean="0"/>
              <a:t>Функциональные зависимости используются для декомпозиции (разбиения отношения путем проекции) отношений </a:t>
            </a:r>
            <a:r>
              <a:rPr lang="ru-RU" altLang="ru-RU" b="1" i="1" smtClean="0"/>
              <a:t>без потерь</a:t>
            </a:r>
            <a:r>
              <a:rPr lang="ru-RU" altLang="ru-RU" smtClean="0"/>
              <a:t>. </a:t>
            </a:r>
          </a:p>
          <a:p>
            <a:pPr>
              <a:spcBef>
                <a:spcPts val="1200"/>
              </a:spcBef>
            </a:pPr>
            <a:r>
              <a:rPr lang="ru-RU" altLang="ru-RU" smtClean="0"/>
              <a:t> Декомпозиция считается выполненной правильно, если любой один и тот же запрос, примененный к исходному отношению и к полученным в результате декомпозиции отношениям, дает один и тот же результат.</a:t>
            </a:r>
          </a:p>
          <a:p>
            <a:pPr>
              <a:spcBef>
                <a:spcPts val="1200"/>
              </a:spcBef>
            </a:pPr>
            <a:endParaRPr lang="ru-RU" altLang="ru-RU" smtClean="0"/>
          </a:p>
          <a:p>
            <a:pPr>
              <a:spcBef>
                <a:spcPts val="1200"/>
              </a:spcBef>
            </a:pPr>
            <a:endParaRPr lang="ru-RU" altLang="ru-RU" smtClean="0"/>
          </a:p>
        </p:txBody>
      </p:sp>
      <p:sp>
        <p:nvSpPr>
          <p:cNvPr id="18436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AA8542-8D14-41AB-9C39-4BD8A03C432F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395288" y="3754438"/>
          <a:ext cx="6142037" cy="281940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801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6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67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841"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Пример отношения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 R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: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</a:t>
                      </a:r>
                      <a:r>
                        <a:rPr lang="ru-RU" sz="1600" dirty="0">
                          <a:effectLst/>
                        </a:rPr>
                        <a:t>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</a:t>
                      </a:r>
                      <a:r>
                        <a:rPr lang="ru-RU" sz="1600">
                          <a:effectLst/>
                        </a:rPr>
                        <a:t>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</a:t>
                      </a:r>
                      <a:r>
                        <a:rPr lang="ru-RU" sz="1600">
                          <a:effectLst/>
                        </a:rPr>
                        <a:t>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2382">
                <a:tc rowSpan="3"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N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_паспорта (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PK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ФИО </a:t>
                      </a: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Город</a:t>
                      </a: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Индекс</a:t>
                      </a: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Должность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N</a:t>
                      </a:r>
                      <a:r>
                        <a:rPr lang="ru-RU" sz="1600" dirty="0">
                          <a:solidFill>
                            <a:srgbClr val="FF0000"/>
                          </a:solidFill>
                          <a:effectLst/>
                        </a:rPr>
                        <a:t>_паспорта </a:t>
                      </a: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ФИО </a:t>
                      </a: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Город</a:t>
                      </a: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Должность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N</a:t>
                      </a:r>
                      <a:r>
                        <a:rPr lang="ru-RU" sz="1600" dirty="0">
                          <a:solidFill>
                            <a:srgbClr val="FF0000"/>
                          </a:solidFill>
                          <a:effectLst/>
                        </a:rPr>
                        <a:t>_паспорта </a:t>
                      </a: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ФИО </a:t>
                      </a: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Индекс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N</a:t>
                      </a:r>
                      <a:r>
                        <a:rPr lang="ru-RU" sz="1600" dirty="0">
                          <a:solidFill>
                            <a:srgbClr val="FF0000"/>
                          </a:solidFill>
                          <a:effectLst/>
                        </a:rPr>
                        <a:t>_паспорта</a:t>
                      </a: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ФИО </a:t>
                      </a: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Город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42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R2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506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FF0000"/>
                          </a:solidFill>
                          <a:effectLst/>
                        </a:rPr>
                        <a:t>Город</a:t>
                      </a: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Индекс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N</a:t>
                      </a:r>
                      <a:r>
                        <a:rPr lang="ru-RU" sz="1600" dirty="0">
                          <a:solidFill>
                            <a:srgbClr val="FF0000"/>
                          </a:solidFill>
                          <a:effectLst/>
                        </a:rPr>
                        <a:t>_паспорта </a:t>
                      </a: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Город</a:t>
                      </a: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Должность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FF0000"/>
                          </a:solidFill>
                          <a:effectLst/>
                        </a:rPr>
                        <a:t>Город</a:t>
                      </a: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Индекс</a:t>
                      </a:r>
                    </a:p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Должность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6808788" y="4286250"/>
            <a:ext cx="1781175" cy="1755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PT Sans" panose="020B0503020203020204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anose="020B0503020203020204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anose="020B0503020203020204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anose="020B0503020203020204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anose="020B0503020203020204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anose="020B0503020203020204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anose="020B0503020203020204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anose="020B0503020203020204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anose="020B0503020203020204" pitchFamily="34" charset="-52"/>
              </a:defRPr>
            </a:lvl9pPr>
          </a:lstStyle>
          <a:p>
            <a:pPr>
              <a:defRPr/>
            </a:pPr>
            <a:r>
              <a:rPr lang="ru-RU" altLang="ru-RU">
                <a:solidFill>
                  <a:srgbClr val="FFFFFF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декомпозиция называется </a:t>
            </a:r>
            <a:r>
              <a:rPr lang="ru-RU" altLang="ru-RU" i="1">
                <a:solidFill>
                  <a:srgbClr val="FFFFFF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декомпозицией без потерь,</a:t>
            </a:r>
            <a:r>
              <a:rPr lang="ru-RU" altLang="ru-RU">
                <a:solidFill>
                  <a:srgbClr val="FFFFFF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если является обратимой</a:t>
            </a:r>
            <a:endParaRPr lang="ru-RU" altLang="ru-RU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908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Пример потери исходной информации (зависимостей) при декомпозиции</a:t>
            </a:r>
          </a:p>
        </p:txBody>
      </p:sp>
      <p:sp>
        <p:nvSpPr>
          <p:cNvPr id="19459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C7B67D-1E0E-4D9C-ABDB-279232E511E1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19460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975"/>
          <a:stretch>
            <a:fillRect/>
          </a:stretch>
        </p:blipFill>
        <p:spPr bwMode="auto">
          <a:xfrm>
            <a:off x="149225" y="1903413"/>
            <a:ext cx="4494213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0143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Пример потери исходной информации (зависимостей) при декомпозиции</a:t>
            </a:r>
          </a:p>
        </p:txBody>
      </p:sp>
      <p:sp>
        <p:nvSpPr>
          <p:cNvPr id="20483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DE7E52-30E7-4CDD-B6B8-299C916468DB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20484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" y="1903413"/>
            <a:ext cx="8809038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4992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Корректность и построение декомпозиции отношений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7663" y="1341438"/>
            <a:ext cx="8472487" cy="1943100"/>
          </a:xfrm>
        </p:spPr>
        <p:txBody>
          <a:bodyPr anchor="t">
            <a:normAutofit lnSpcReduction="10000"/>
          </a:bodyPr>
          <a:lstStyle/>
          <a:p>
            <a:pPr>
              <a:defRPr/>
            </a:pPr>
            <a:r>
              <a:rPr lang="ru-RU" b="1" u="sng" dirty="0"/>
              <a:t>Теорема Хита</a:t>
            </a:r>
            <a:endParaRPr lang="ru-RU" dirty="0"/>
          </a:p>
          <a:p>
            <a:pPr lvl="1">
              <a:defRPr/>
            </a:pPr>
            <a:r>
              <a:rPr lang="ru-RU" dirty="0"/>
              <a:t>Корректность декомпозиции отношений определяется </a:t>
            </a:r>
            <a:r>
              <a:rPr lang="ru-RU" b="1" i="1" dirty="0"/>
              <a:t>теоремой Хита.</a:t>
            </a:r>
            <a:endParaRPr lang="ru-RU" dirty="0"/>
          </a:p>
          <a:p>
            <a:pPr lvl="1">
              <a:defRPr/>
            </a:pPr>
            <a:r>
              <a:rPr lang="ru-RU" dirty="0"/>
              <a:t>Если задано отношение R{</a:t>
            </a:r>
            <a:r>
              <a:rPr lang="en-US" dirty="0"/>
              <a:t>X</a:t>
            </a:r>
            <a:r>
              <a:rPr lang="ru-RU" dirty="0"/>
              <a:t>,</a:t>
            </a:r>
            <a:r>
              <a:rPr lang="en-US" dirty="0"/>
              <a:t>Y</a:t>
            </a:r>
            <a:r>
              <a:rPr lang="ru-RU" dirty="0"/>
              <a:t>,</a:t>
            </a:r>
            <a:r>
              <a:rPr lang="en-US" dirty="0"/>
              <a:t>Z</a:t>
            </a:r>
            <a:r>
              <a:rPr lang="ru-RU" dirty="0"/>
              <a:t>} и существует </a:t>
            </a:r>
            <a:r>
              <a:rPr lang="en-US" dirty="0"/>
              <a:t>X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Y</a:t>
            </a:r>
            <a:r>
              <a:rPr lang="ru-RU" dirty="0"/>
              <a:t>, то </a:t>
            </a:r>
            <a:br>
              <a:rPr lang="ru-RU" dirty="0"/>
            </a:br>
            <a:r>
              <a:rPr lang="en-US" dirty="0"/>
              <a:t>R = (R as R</a:t>
            </a:r>
            <a:r>
              <a:rPr lang="en-US" baseline="-25000" dirty="0"/>
              <a:t>1</a:t>
            </a:r>
            <a:r>
              <a:rPr lang="en-US" dirty="0"/>
              <a:t> PROJECT (X,Y) ) JOIN</a:t>
            </a:r>
            <a:r>
              <a:rPr lang="en-US" baseline="-25000" dirty="0"/>
              <a:t>R1.Y=R2.Y</a:t>
            </a:r>
            <a:r>
              <a:rPr lang="en-US" dirty="0"/>
              <a:t> (R as R</a:t>
            </a:r>
            <a:r>
              <a:rPr lang="en-US" baseline="-25000" dirty="0"/>
              <a:t>2</a:t>
            </a:r>
            <a:r>
              <a:rPr lang="en-US" dirty="0"/>
              <a:t> PROJECT (Y,Z) )</a:t>
            </a:r>
            <a:endParaRPr lang="ru-RU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 </a:t>
            </a:r>
            <a:endParaRPr lang="ru-RU" dirty="0"/>
          </a:p>
        </p:txBody>
      </p:sp>
      <p:sp>
        <p:nvSpPr>
          <p:cNvPr id="21508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E4A8C0E-E2D6-41E6-9454-576666962D3A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363538" y="2997200"/>
            <a:ext cx="8113712" cy="3716338"/>
          </a:xfrm>
          <a:prstGeom prst="rect">
            <a:avLst/>
          </a:prstGeom>
        </p:spPr>
        <p:txBody>
          <a:bodyPr lIns="68580" tIns="34290" rIns="68580" bIns="3429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  <a:defRPr/>
            </a:pPr>
            <a:r>
              <a:rPr lang="ru-RU" b="1" u="sng" dirty="0"/>
              <a:t>Теорема </a:t>
            </a:r>
            <a:r>
              <a:rPr lang="ru-RU" b="1" u="sng" dirty="0" err="1"/>
              <a:t>Риссанена</a:t>
            </a:r>
            <a:endParaRPr lang="ru-RU" dirty="0"/>
          </a:p>
          <a:p>
            <a:pPr marL="0" indent="0">
              <a:buFont typeface="Wingdings 3" charset="2"/>
              <a:buNone/>
              <a:defRPr/>
            </a:pPr>
            <a:r>
              <a:rPr lang="ru-RU" dirty="0"/>
              <a:t>Необходимые и достаточные условия независимости проекций (получаемых при нормализации) отношения обеспечивает теорема </a:t>
            </a:r>
            <a:r>
              <a:rPr lang="ru-RU" dirty="0" err="1"/>
              <a:t>Риссанена</a:t>
            </a:r>
            <a:r>
              <a:rPr lang="ru-RU" dirty="0"/>
              <a:t>. </a:t>
            </a:r>
          </a:p>
          <a:p>
            <a:pPr lvl="1">
              <a:defRPr/>
            </a:pPr>
            <a:r>
              <a:rPr lang="ru-RU" sz="1800" dirty="0"/>
              <a:t>Проекции </a:t>
            </a:r>
            <a:r>
              <a:rPr lang="ru-RU" sz="1800" i="1" dirty="0"/>
              <a:t>r</a:t>
            </a:r>
            <a:r>
              <a:rPr lang="ru-RU" sz="1800" baseline="-25000" dirty="0"/>
              <a:t>1</a:t>
            </a:r>
            <a:r>
              <a:rPr lang="ru-RU" sz="1800" dirty="0"/>
              <a:t> и </a:t>
            </a:r>
            <a:r>
              <a:rPr lang="ru-RU" sz="1800" i="1" dirty="0"/>
              <a:t>r</a:t>
            </a:r>
            <a:r>
              <a:rPr lang="ru-RU" sz="1800" baseline="-25000" dirty="0"/>
              <a:t>2</a:t>
            </a:r>
            <a:r>
              <a:rPr lang="ru-RU" sz="1800" dirty="0"/>
              <a:t> отношения </a:t>
            </a:r>
            <a:r>
              <a:rPr lang="ru-RU" sz="1800" i="1" dirty="0"/>
              <a:t>r</a:t>
            </a:r>
            <a:r>
              <a:rPr lang="ru-RU" sz="1800" dirty="0"/>
              <a:t> являются </a:t>
            </a:r>
            <a:r>
              <a:rPr lang="ru-RU" sz="1800" i="1" dirty="0"/>
              <a:t>независимыми</a:t>
            </a:r>
            <a:r>
              <a:rPr lang="ru-RU" sz="1800" dirty="0"/>
              <a:t> тогда и только тогда, когда: </a:t>
            </a:r>
          </a:p>
          <a:p>
            <a:pPr lvl="2">
              <a:defRPr/>
            </a:pPr>
            <a:r>
              <a:rPr lang="ru-RU" dirty="0"/>
              <a:t>каждая FD в отношении </a:t>
            </a:r>
            <a:r>
              <a:rPr lang="ru-RU" i="1" dirty="0"/>
              <a:t>r</a:t>
            </a:r>
            <a:r>
              <a:rPr lang="ru-RU" dirty="0"/>
              <a:t> логически следует из FD в </a:t>
            </a:r>
            <a:r>
              <a:rPr lang="ru-RU" i="1" dirty="0"/>
              <a:t>r</a:t>
            </a:r>
            <a:r>
              <a:rPr lang="ru-RU" baseline="-25000" dirty="0"/>
              <a:t>1</a:t>
            </a:r>
            <a:r>
              <a:rPr lang="ru-RU" dirty="0"/>
              <a:t> и </a:t>
            </a:r>
            <a:r>
              <a:rPr lang="ru-RU" i="1" dirty="0"/>
              <a:t>r</a:t>
            </a:r>
            <a:r>
              <a:rPr lang="ru-RU" baseline="-25000" dirty="0"/>
              <a:t>2</a:t>
            </a:r>
            <a:r>
              <a:rPr lang="ru-RU" dirty="0"/>
              <a:t>;</a:t>
            </a:r>
          </a:p>
          <a:p>
            <a:pPr lvl="2">
              <a:defRPr/>
            </a:pPr>
            <a:r>
              <a:rPr lang="ru-RU" dirty="0"/>
              <a:t>общие атрибуты </a:t>
            </a:r>
            <a:r>
              <a:rPr lang="ru-RU" i="1" dirty="0"/>
              <a:t>r</a:t>
            </a:r>
            <a:r>
              <a:rPr lang="ru-RU" baseline="-25000" dirty="0"/>
              <a:t>1</a:t>
            </a:r>
            <a:r>
              <a:rPr lang="ru-RU" dirty="0"/>
              <a:t> и </a:t>
            </a:r>
            <a:r>
              <a:rPr lang="ru-RU" i="1" dirty="0"/>
              <a:t>r</a:t>
            </a:r>
            <a:r>
              <a:rPr lang="ru-RU" baseline="-25000" dirty="0"/>
              <a:t>2</a:t>
            </a:r>
            <a:r>
              <a:rPr lang="ru-RU" dirty="0"/>
              <a:t> образуют возможный ключ хотя бы для одного из этих отношений.</a:t>
            </a:r>
          </a:p>
          <a:p>
            <a:pPr marL="0" indent="0">
              <a:buFont typeface="Wingdings 3" charset="2"/>
              <a:buNone/>
              <a:defRPr/>
            </a:pPr>
            <a:r>
              <a:rPr lang="ru-RU" i="1" dirty="0">
                <a:solidFill>
                  <a:srgbClr val="C00000"/>
                </a:solidFill>
              </a:rPr>
              <a:t>Атомарным отношением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/>
              <a:t>называется отношение, которое невозможно декомпозировать на независимые проекции. </a:t>
            </a:r>
          </a:p>
          <a:p>
            <a:pPr marL="0" indent="0">
              <a:buFont typeface="Wingdings 3" charset="2"/>
              <a:buNone/>
              <a:defRPr/>
            </a:pPr>
            <a:r>
              <a:rPr lang="ru-RU" sz="1400" i="1" dirty="0"/>
              <a:t>Далеко не всегда для неатомарных (не являющихся атомарными) отношений требуется декомпозиция на атомарные проекции</a:t>
            </a:r>
            <a:r>
              <a:rPr lang="ru-RU" sz="1400" dirty="0"/>
              <a:t>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404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Нормальные формы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0825" y="1412875"/>
            <a:ext cx="8713788" cy="5256213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ru-RU" dirty="0"/>
              <a:t>Обычно выделяется следующая последовательность нормальных форм: </a:t>
            </a:r>
          </a:p>
          <a:p>
            <a:pPr lvl="1">
              <a:defRPr/>
            </a:pPr>
            <a:r>
              <a:rPr lang="ru-RU" dirty="0"/>
              <a:t>первая нормальная форма (1NF);</a:t>
            </a:r>
          </a:p>
          <a:p>
            <a:pPr lvl="1">
              <a:defRPr/>
            </a:pPr>
            <a:r>
              <a:rPr lang="ru-RU" dirty="0"/>
              <a:t>вторая нормальная форма (2NF);</a:t>
            </a:r>
          </a:p>
          <a:p>
            <a:pPr lvl="1">
              <a:defRPr/>
            </a:pPr>
            <a:r>
              <a:rPr lang="ru-RU" dirty="0"/>
              <a:t>третья нормальная форма (3NF);</a:t>
            </a:r>
          </a:p>
          <a:p>
            <a:pPr lvl="1">
              <a:defRPr/>
            </a:pPr>
            <a:r>
              <a:rPr lang="ru-RU" dirty="0"/>
              <a:t>нормальная форма </a:t>
            </a:r>
            <a:r>
              <a:rPr lang="ru-RU" dirty="0" err="1"/>
              <a:t>Бойса</a:t>
            </a:r>
            <a:r>
              <a:rPr lang="ru-RU" dirty="0"/>
              <a:t>-Кодда (BCNF);</a:t>
            </a:r>
          </a:p>
          <a:p>
            <a:pPr lvl="1">
              <a:defRPr/>
            </a:pPr>
            <a:r>
              <a:rPr lang="ru-RU" dirty="0"/>
              <a:t>четвертая нормальная форма (4NF);</a:t>
            </a:r>
          </a:p>
          <a:p>
            <a:pPr lvl="1">
              <a:defRPr/>
            </a:pPr>
            <a:r>
              <a:rPr lang="ru-RU" dirty="0"/>
              <a:t>пятая нормальная форма, или нормальная форма проекции-соединения (5NF или PJ/NF).</a:t>
            </a:r>
          </a:p>
          <a:p>
            <a:pPr>
              <a:defRPr/>
            </a:pPr>
            <a:r>
              <a:rPr lang="ru-RU" dirty="0"/>
              <a:t>Основные свойства нормальных форм состоят в следующем: </a:t>
            </a:r>
          </a:p>
          <a:p>
            <a:pPr lvl="1">
              <a:defRPr/>
            </a:pPr>
            <a:r>
              <a:rPr lang="ru-RU" dirty="0"/>
              <a:t>каждая следующая нормальная форма в некотором смысле лучше предыдущей нормальной формы;</a:t>
            </a:r>
          </a:p>
          <a:p>
            <a:pPr lvl="1">
              <a:defRPr/>
            </a:pPr>
            <a:r>
              <a:rPr lang="ru-RU" dirty="0"/>
              <a:t>при переходе к следующей нормальной форме свойства предыдущих нормальных форм сохраняются.</a:t>
            </a:r>
          </a:p>
          <a:p>
            <a:pPr>
              <a:defRPr/>
            </a:pPr>
            <a:r>
              <a:rPr lang="ru-RU" b="1" dirty="0"/>
              <a:t>Нормализация</a:t>
            </a:r>
            <a:r>
              <a:rPr lang="ru-RU" dirty="0"/>
              <a:t> - декомпозиция отношения, находящегося в предыдущей нормальной форме, на два или более отношений, которые удовлетворяют требованиям следующей нормальной формы. </a:t>
            </a:r>
          </a:p>
          <a:p>
            <a:pPr>
              <a:defRPr/>
            </a:pPr>
            <a:endParaRPr lang="ru-RU" dirty="0"/>
          </a:p>
        </p:txBody>
      </p:sp>
      <p:sp>
        <p:nvSpPr>
          <p:cNvPr id="24580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4AFA44-995E-4EC3-8725-A4BBDCE97E0E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90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Первая нормальная форма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388" y="1700213"/>
            <a:ext cx="8208962" cy="2881312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  <a:defRPr/>
            </a:pPr>
            <a:r>
              <a:rPr lang="ru-RU" dirty="0"/>
              <a:t>Значения всех атрибутов отношения </a:t>
            </a:r>
            <a:r>
              <a:rPr lang="ru-RU" dirty="0" err="1"/>
              <a:t>атомарны</a:t>
            </a:r>
            <a:r>
              <a:rPr lang="ru-RU" dirty="0"/>
              <a:t> (а</a:t>
            </a:r>
            <a:r>
              <a:rPr lang="ru-RU" i="1" dirty="0"/>
              <a:t>томарность</a:t>
            </a:r>
            <a:r>
              <a:rPr lang="ru-RU" dirty="0"/>
              <a:t> значения трактуется в том смысле, что значение типизировано, и с этим значением можно работать только с помощью операций соответствующего типа данных - адрес). </a:t>
            </a:r>
          </a:p>
          <a:p>
            <a:pPr lvl="1">
              <a:spcBef>
                <a:spcPts val="600"/>
              </a:spcBef>
              <a:defRPr/>
            </a:pPr>
            <a:r>
              <a:rPr lang="ru-RU" i="1" dirty="0"/>
              <a:t>Правило: каждая таблица имеет первичный ключ, состоящий из наименьшего возможного количества полей.</a:t>
            </a:r>
            <a:endParaRPr lang="ru-RU" dirty="0"/>
          </a:p>
          <a:p>
            <a:pPr lvl="1">
              <a:spcBef>
                <a:spcPts val="600"/>
              </a:spcBef>
              <a:defRPr/>
            </a:pPr>
            <a:r>
              <a:rPr lang="ru-RU" i="1" dirty="0"/>
              <a:t>Правило: поля не имеют дубликатов в каждой записи и каждое поле содержит только одно значение.</a:t>
            </a:r>
            <a:endParaRPr lang="ru-RU" dirty="0"/>
          </a:p>
          <a:p>
            <a:pPr lvl="1">
              <a:spcBef>
                <a:spcPts val="600"/>
              </a:spcBef>
              <a:defRPr/>
            </a:pPr>
            <a:r>
              <a:rPr lang="ru-RU" i="1" dirty="0"/>
              <a:t>Правило: порядок записей таблицы не должен иметь значения</a:t>
            </a:r>
            <a:r>
              <a:rPr lang="ru-RU" b="1" i="1" dirty="0"/>
              <a:t>.</a:t>
            </a:r>
            <a:endParaRPr lang="ru-RU" dirty="0"/>
          </a:p>
          <a:p>
            <a:pPr>
              <a:spcBef>
                <a:spcPts val="600"/>
              </a:spcBef>
              <a:defRPr/>
            </a:pPr>
            <a:endParaRPr lang="ru-RU" dirty="0"/>
          </a:p>
        </p:txBody>
      </p:sp>
      <p:sp>
        <p:nvSpPr>
          <p:cNvPr id="25604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7962900" y="6492875"/>
            <a:ext cx="68421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F5FFEC-BCE5-4ECB-9E62-24783C68B311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25605" name="Рисунок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645025"/>
            <a:ext cx="5924550" cy="165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5954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Первая нормальная форма (2)</a:t>
            </a:r>
          </a:p>
        </p:txBody>
      </p:sp>
      <p:sp>
        <p:nvSpPr>
          <p:cNvPr id="26627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7962900" y="6492875"/>
            <a:ext cx="68421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D76B2B2-1E86-4793-AB00-8EC5F9F05D37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26628" name="Рисунок 4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1381125"/>
            <a:ext cx="748665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24471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Первая нормальная форма (2)</a:t>
            </a:r>
          </a:p>
        </p:txBody>
      </p:sp>
      <p:sp>
        <p:nvSpPr>
          <p:cNvPr id="27651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7962900" y="6492875"/>
            <a:ext cx="68421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C34EBE-87F4-421A-9166-C81438076261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27652" name="Рисунок 5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3443288"/>
            <a:ext cx="7572375" cy="157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Рисунок 10" descr="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1381125"/>
            <a:ext cx="748665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Крест 7"/>
          <p:cNvSpPr/>
          <p:nvPr/>
        </p:nvSpPr>
        <p:spPr>
          <a:xfrm rot="18413759">
            <a:off x="7381875" y="1414463"/>
            <a:ext cx="1450975" cy="1504950"/>
          </a:xfrm>
          <a:prstGeom prst="plus">
            <a:avLst>
              <a:gd name="adj" fmla="val 46209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6695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Первая нормальная форма (2)</a:t>
            </a:r>
          </a:p>
        </p:txBody>
      </p:sp>
      <p:sp>
        <p:nvSpPr>
          <p:cNvPr id="28675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7962900" y="6492875"/>
            <a:ext cx="68421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DECB55-FD53-4A75-8B9E-EDE2CDF93DB5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28676" name="Рисунок 5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3443288"/>
            <a:ext cx="7572375" cy="157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Рисунок 10" descr="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1381125"/>
            <a:ext cx="748665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Крест 7"/>
          <p:cNvSpPr/>
          <p:nvPr/>
        </p:nvSpPr>
        <p:spPr>
          <a:xfrm rot="18413759">
            <a:off x="7381875" y="1414463"/>
            <a:ext cx="1450975" cy="1504950"/>
          </a:xfrm>
          <a:prstGeom prst="plus">
            <a:avLst>
              <a:gd name="adj" fmla="val 46209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22300" y="5392738"/>
            <a:ext cx="7600950" cy="13239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1200"/>
              </a:spcAft>
              <a:defRPr/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Верным решением в данном случае будет умножение строк с дублированием данных или сразу выделение автомобилей в отдельную таблицу и использование внешнего ключа, который ссылается на эту таблицу.</a:t>
            </a:r>
          </a:p>
        </p:txBody>
      </p:sp>
      <p:sp>
        <p:nvSpPr>
          <p:cNvPr id="9" name="Крест 8"/>
          <p:cNvSpPr/>
          <p:nvPr/>
        </p:nvSpPr>
        <p:spPr>
          <a:xfrm rot="18413759">
            <a:off x="7238206" y="3420269"/>
            <a:ext cx="1449388" cy="1504950"/>
          </a:xfrm>
          <a:prstGeom prst="plus">
            <a:avLst>
              <a:gd name="adj" fmla="val 46209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5611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Первая нормальная форма: Пример</a:t>
            </a:r>
          </a:p>
        </p:txBody>
      </p:sp>
      <p:pic>
        <p:nvPicPr>
          <p:cNvPr id="29699" name="Объект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288" y="1509713"/>
            <a:ext cx="7489825" cy="1565275"/>
          </a:xfrm>
        </p:spPr>
      </p:pic>
      <p:sp>
        <p:nvSpPr>
          <p:cNvPr id="29700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DDA6472-27FE-42BE-9EA0-221F0A383990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29701" name="Рисунок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563" y="3086100"/>
            <a:ext cx="5916612" cy="357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1991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Вторая нормальная форма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0" y="1408113"/>
            <a:ext cx="8640763" cy="1876425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defRPr/>
            </a:pPr>
            <a:r>
              <a:rPr lang="ru-RU" dirty="0"/>
              <a:t>Переменная отношения находится во </a:t>
            </a:r>
            <a:r>
              <a:rPr lang="ru-RU" i="1" dirty="0"/>
              <a:t>второй нормальной форме (2NF)</a:t>
            </a:r>
            <a:r>
              <a:rPr lang="ru-RU" dirty="0"/>
              <a:t> тогда и только тогда, 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  <a:defRPr/>
            </a:pPr>
            <a:r>
              <a:rPr lang="ru-RU" dirty="0"/>
              <a:t>когда она находится в первой нормальной форме, </a:t>
            </a:r>
            <a:br>
              <a:rPr lang="ru-RU" dirty="0"/>
            </a:br>
            <a:r>
              <a:rPr lang="ru-RU" dirty="0"/>
              <a:t>и каждый </a:t>
            </a:r>
            <a:r>
              <a:rPr lang="ru-RU" b="1" i="1" dirty="0"/>
              <a:t>неключевой</a:t>
            </a:r>
            <a:r>
              <a:rPr lang="ru-RU" dirty="0"/>
              <a:t> -атрибут </a:t>
            </a:r>
            <a:r>
              <a:rPr lang="ru-RU" b="1" i="1" dirty="0"/>
              <a:t>минимально функционально зависит от первичного ключа</a:t>
            </a:r>
            <a:r>
              <a:rPr lang="ru-RU" dirty="0"/>
              <a:t>. </a:t>
            </a:r>
          </a:p>
          <a:p>
            <a:pPr>
              <a:spcBef>
                <a:spcPts val="1200"/>
              </a:spcBef>
              <a:defRPr/>
            </a:pPr>
            <a:endParaRPr lang="ru-RU" dirty="0"/>
          </a:p>
        </p:txBody>
      </p:sp>
      <p:sp>
        <p:nvSpPr>
          <p:cNvPr id="30724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A6BE8C-CA84-41D7-9846-0F6E6B949178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30725" name="Рисунок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3292475"/>
            <a:ext cx="5976937" cy="320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337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Вторая нормальная форма: аномалии</a:t>
            </a:r>
          </a:p>
        </p:txBody>
      </p:sp>
      <p:sp>
        <p:nvSpPr>
          <p:cNvPr id="31747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E3CE7C-AE2D-436C-8B04-E9541D29BFEB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50825" y="1341438"/>
          <a:ext cx="4321175" cy="2068512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011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73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3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4639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 u="sng" dirty="0">
                          <a:effectLst/>
                        </a:rPr>
                        <a:t>Код поставщика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Город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Статус города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 u="sng">
                          <a:effectLst/>
                        </a:rPr>
                        <a:t>Код товара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Количество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553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Москва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20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300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553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Москва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20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400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553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Москва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20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3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100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553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Ярославль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10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4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200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553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3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Ставрополь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30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5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300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553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3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Ставрополь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30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6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400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553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4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Псков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15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7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100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5" marR="7145" marT="7140" marB="714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800" name="Прямоугольник 5"/>
          <p:cNvSpPr>
            <a:spLocks noChangeArrowheads="1"/>
          </p:cNvSpPr>
          <p:nvPr/>
        </p:nvSpPr>
        <p:spPr bwMode="auto">
          <a:xfrm>
            <a:off x="4632325" y="1466850"/>
            <a:ext cx="4260850" cy="181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3655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45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зависимости:</a:t>
            </a:r>
            <a:endParaRPr lang="ru-RU" altLang="ru-RU" sz="18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450"/>
              </a:spcBef>
              <a:buFont typeface="Arial" panose="020B0604020202020204" pitchFamily="34" charset="0"/>
              <a:buAutoNum type="arabicPeriod"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{Код поставщика, Код товара} -&gt; {Количество},</a:t>
            </a:r>
            <a:endParaRPr lang="ru-RU" altLang="ru-RU" sz="1800"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ru-RU" altLang="ru-RU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{Код поставщика} -&gt; {Город},</a:t>
            </a:r>
            <a:endParaRPr lang="ru-RU" altLang="ru-RU" sz="1800">
              <a:solidFill>
                <a:srgbClr val="C00000"/>
              </a:solidFill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ru-RU" altLang="ru-RU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{Код поставщика} -&gt; {Статус},</a:t>
            </a:r>
            <a:endParaRPr lang="ru-RU" altLang="ru-RU" sz="1800">
              <a:solidFill>
                <a:srgbClr val="C00000"/>
              </a:solidFill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{Город} -&gt; {Статус}</a:t>
            </a:r>
            <a:endParaRPr lang="ru-RU" altLang="ru-RU" sz="1800">
              <a:latin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31801" name="Объект 2"/>
          <p:cNvSpPr txBox="1">
            <a:spLocks noChangeArrowheads="1"/>
          </p:cNvSpPr>
          <p:nvPr/>
        </p:nvSpPr>
        <p:spPr bwMode="auto">
          <a:xfrm>
            <a:off x="39688" y="3709988"/>
            <a:ext cx="8577262" cy="280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r>
              <a:rPr lang="ru-RU" altLang="ru-RU" sz="1600">
                <a:solidFill>
                  <a:srgbClr val="818180"/>
                </a:solidFill>
              </a:rPr>
              <a:t>Первичный ключ в отношении: {</a:t>
            </a:r>
            <a:r>
              <a:rPr lang="ru-RU" altLang="ru-RU" sz="1600" b="1">
                <a:solidFill>
                  <a:srgbClr val="818180"/>
                </a:solidFill>
              </a:rPr>
              <a:t>Код поставщика, Код товара</a:t>
            </a:r>
            <a:r>
              <a:rPr lang="ru-RU" altLang="ru-RU" sz="1600">
                <a:solidFill>
                  <a:srgbClr val="818180"/>
                </a:solidFill>
              </a:rPr>
              <a:t>}.</a:t>
            </a:r>
          </a:p>
          <a:p>
            <a:pPr lvl="1"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r>
              <a:rPr lang="ru-RU" altLang="ru-RU" sz="1600" b="1">
                <a:solidFill>
                  <a:srgbClr val="818180"/>
                </a:solidFill>
              </a:rPr>
              <a:t>Аномалия вставки</a:t>
            </a:r>
            <a:r>
              <a:rPr lang="ru-RU" altLang="ru-RU" sz="1600">
                <a:solidFill>
                  <a:srgbClr val="818180"/>
                </a:solidFill>
              </a:rPr>
              <a:t>. В отношение нельзя добавить информацию о поставщике, который ещё не поставил ни одного товара.</a:t>
            </a:r>
          </a:p>
          <a:p>
            <a:pPr lvl="1"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r>
              <a:rPr lang="ru-RU" altLang="ru-RU" sz="1600" b="1">
                <a:solidFill>
                  <a:srgbClr val="818180"/>
                </a:solidFill>
              </a:rPr>
              <a:t>Аномалия удаления</a:t>
            </a:r>
            <a:r>
              <a:rPr lang="ru-RU" altLang="ru-RU" sz="1600">
                <a:solidFill>
                  <a:srgbClr val="818180"/>
                </a:solidFill>
              </a:rPr>
              <a:t>. Если от поставщика была только одна поставка, то при удалении информации о ней будет удалена и вся информация о поставщике.</a:t>
            </a:r>
          </a:p>
          <a:p>
            <a:pPr lvl="1"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r>
              <a:rPr lang="ru-RU" altLang="ru-RU" sz="1600" b="1">
                <a:solidFill>
                  <a:srgbClr val="818180"/>
                </a:solidFill>
              </a:rPr>
              <a:t>Аномалия обновления</a:t>
            </a:r>
            <a:r>
              <a:rPr lang="ru-RU" altLang="ru-RU" sz="1600">
                <a:solidFill>
                  <a:srgbClr val="818180"/>
                </a:solidFill>
              </a:rPr>
              <a:t>. Если необходимо изменить какую-либо информацию о поставщике (например, поставщик переехал в другой город), то придётся изменять значения атрибутов во всех записях о поставках от него. </a:t>
            </a:r>
          </a:p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</a:pPr>
            <a:endParaRPr lang="ru-RU" altLang="ru-RU" sz="1600">
              <a:solidFill>
                <a:srgbClr val="8181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898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Вторая нормальная форма: пример</a:t>
            </a:r>
          </a:p>
        </p:txBody>
      </p:sp>
      <p:sp>
        <p:nvSpPr>
          <p:cNvPr id="32771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1919C9-8522-4B5F-BB29-194DB51AA142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3313113" y="1370013"/>
          <a:ext cx="5435600" cy="2044700"/>
        </p:xfrm>
        <a:graphic>
          <a:graphicData uri="http://schemas.openxmlformats.org/drawingml/2006/table">
            <a:tbl>
              <a:tblPr firstRow="1" firstCol="1" bandRow="1">
                <a:tableStyleId>{5A111915-BE36-4E01-A7E5-04B1672EAD32}</a:tableStyleId>
              </a:tblPr>
              <a:tblGrid>
                <a:gridCol w="1272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0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0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3906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u="sng" dirty="0">
                          <a:effectLst/>
                        </a:rPr>
                        <a:t>Код поставщика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Город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Статус города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u="sng" dirty="0">
                          <a:effectLst/>
                        </a:rPr>
                        <a:t>Код товара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Количество</a:t>
                      </a:r>
                      <a:endParaRPr lang="ru-RU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85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1</a:t>
                      </a:r>
                      <a:endParaRPr lang="ru-RU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Москва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20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1</a:t>
                      </a:r>
                      <a:endParaRPr lang="ru-RU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300</a:t>
                      </a:r>
                      <a:endParaRPr lang="ru-RU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85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1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Москва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20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2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400</a:t>
                      </a:r>
                      <a:endParaRPr lang="ru-RU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85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1</a:t>
                      </a:r>
                      <a:endParaRPr lang="ru-RU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Москва</a:t>
                      </a:r>
                      <a:endParaRPr lang="ru-RU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20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3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100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85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2</a:t>
                      </a:r>
                      <a:endParaRPr lang="ru-RU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Ярославль</a:t>
                      </a:r>
                      <a:endParaRPr lang="ru-RU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10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4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200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85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3</a:t>
                      </a:r>
                      <a:endParaRPr lang="ru-RU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Ставрополь</a:t>
                      </a:r>
                      <a:endParaRPr lang="ru-RU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30</a:t>
                      </a:r>
                      <a:endParaRPr lang="ru-RU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5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300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85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3</a:t>
                      </a:r>
                      <a:endParaRPr lang="ru-RU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Ставрополь</a:t>
                      </a:r>
                      <a:endParaRPr lang="ru-RU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30</a:t>
                      </a:r>
                      <a:endParaRPr lang="ru-RU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6</a:t>
                      </a:r>
                      <a:endParaRPr lang="ru-RU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400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85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4</a:t>
                      </a:r>
                      <a:endParaRPr lang="ru-RU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Псков</a:t>
                      </a:r>
                      <a:endParaRPr lang="ru-RU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</a:rPr>
                        <a:t>15</a:t>
                      </a:r>
                      <a:endParaRPr lang="ru-RU" sz="2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7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100</a:t>
                      </a:r>
                      <a:endParaRPr lang="ru-RU" sz="2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44" marR="7144" marT="6731" marB="673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900113" y="4048125"/>
          <a:ext cx="3438525" cy="1762125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146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145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effectLst/>
                        </a:rPr>
                        <a:t>Код поставщика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effectLst/>
                        </a:rPr>
                        <a:t>Код товара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>
                          <a:effectLst/>
                        </a:rPr>
                        <a:t>Количество</a:t>
                      </a:r>
                      <a:endParaRPr lang="ru-RU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83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effectLst/>
                        </a:rPr>
                        <a:t>1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effectLst/>
                        </a:rPr>
                        <a:t>1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>
                          <a:effectLst/>
                        </a:rPr>
                        <a:t>300</a:t>
                      </a:r>
                      <a:endParaRPr lang="ru-RU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283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effectLst/>
                        </a:rPr>
                        <a:t>1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effectLst/>
                        </a:rPr>
                        <a:t>2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>
                          <a:effectLst/>
                        </a:rPr>
                        <a:t>400</a:t>
                      </a:r>
                      <a:endParaRPr lang="ru-RU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283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>
                          <a:effectLst/>
                        </a:rPr>
                        <a:t>1</a:t>
                      </a:r>
                      <a:endParaRPr lang="ru-RU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effectLst/>
                        </a:rPr>
                        <a:t>3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effectLst/>
                        </a:rPr>
                        <a:t>100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283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>
                          <a:effectLst/>
                        </a:rPr>
                        <a:t>2</a:t>
                      </a:r>
                      <a:endParaRPr lang="ru-RU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effectLst/>
                        </a:rPr>
                        <a:t>4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effectLst/>
                        </a:rPr>
                        <a:t>200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283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>
                          <a:effectLst/>
                        </a:rPr>
                        <a:t>3</a:t>
                      </a:r>
                      <a:endParaRPr lang="ru-RU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effectLst/>
                        </a:rPr>
                        <a:t>5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effectLst/>
                        </a:rPr>
                        <a:t>300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283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>
                          <a:effectLst/>
                        </a:rPr>
                        <a:t>3</a:t>
                      </a:r>
                      <a:endParaRPr lang="ru-RU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>
                          <a:effectLst/>
                        </a:rPr>
                        <a:t>6</a:t>
                      </a:r>
                      <a:endParaRPr lang="ru-RU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effectLst/>
                        </a:rPr>
                        <a:t>400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283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>
                          <a:effectLst/>
                        </a:rPr>
                        <a:t>4</a:t>
                      </a:r>
                      <a:endParaRPr lang="ru-RU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>
                          <a:effectLst/>
                        </a:rPr>
                        <a:t>7</a:t>
                      </a:r>
                      <a:endParaRPr lang="ru-RU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effectLst/>
                        </a:rPr>
                        <a:t>100</a:t>
                      </a:r>
                      <a:endParaRPr lang="ru-RU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6711" marB="671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5445125" y="4033838"/>
          <a:ext cx="3214688" cy="1174750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071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602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Код поставщика</a:t>
                      </a:r>
                    </a:p>
                  </a:txBody>
                  <a:tcPr marL="7144" marR="7144" marT="6736" marB="6736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Город</a:t>
                      </a:r>
                    </a:p>
                  </a:txBody>
                  <a:tcPr marL="7144" marR="7144" marT="6736" marB="6736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Статус города</a:t>
                      </a:r>
                    </a:p>
                  </a:txBody>
                  <a:tcPr marL="7144" marR="7144" marT="6736" marB="673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144" marR="7144" marT="6736" marB="6736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Москва</a:t>
                      </a:r>
                    </a:p>
                  </a:txBody>
                  <a:tcPr marL="7144" marR="7144" marT="6736" marB="6736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7144" marR="7144" marT="6736" marB="673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7144" marR="7144" marT="6736" marB="6736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Ярославль</a:t>
                      </a:r>
                    </a:p>
                  </a:txBody>
                  <a:tcPr marL="7144" marR="7144" marT="6736" marB="6736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144" marR="7144" marT="6736" marB="673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144" marR="7144" marT="6736" marB="6736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Ставрополь</a:t>
                      </a:r>
                    </a:p>
                  </a:txBody>
                  <a:tcPr marL="7144" marR="7144" marT="6736" marB="6736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7144" marR="7144" marT="6736" marB="673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7144" marR="7144" marT="6736" marB="6736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Псков</a:t>
                      </a:r>
                    </a:p>
                  </a:txBody>
                  <a:tcPr marL="7144" marR="7144" marT="6736" marB="6736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7144" marR="7144" marT="6736" marB="673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Стрелка вниз 10"/>
          <p:cNvSpPr/>
          <p:nvPr/>
        </p:nvSpPr>
        <p:spPr>
          <a:xfrm>
            <a:off x="3427413" y="3525838"/>
            <a:ext cx="609600" cy="3429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" name="Стрелка вниз 11"/>
          <p:cNvSpPr/>
          <p:nvPr/>
        </p:nvSpPr>
        <p:spPr>
          <a:xfrm>
            <a:off x="6738938" y="3552825"/>
            <a:ext cx="628650" cy="3429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2886" name="Прямоугольник 12"/>
          <p:cNvSpPr>
            <a:spLocks noChangeArrowheads="1"/>
          </p:cNvSpPr>
          <p:nvPr/>
        </p:nvSpPr>
        <p:spPr bwMode="auto">
          <a:xfrm>
            <a:off x="0" y="5930900"/>
            <a:ext cx="47879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33655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ts val="450"/>
              </a:spcBef>
              <a:buFontTx/>
              <a:buNone/>
            </a:pPr>
            <a:r>
              <a:rPr lang="ru-RU" altLang="ru-RU" sz="1600">
                <a:cs typeface="Times New Roman" panose="02020603050405020304" pitchFamily="18" charset="0"/>
              </a:rPr>
              <a:t>Первому отношению соответствуют :</a:t>
            </a:r>
            <a:endParaRPr lang="ru-RU" altLang="ru-RU" sz="16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450"/>
              </a:spcBef>
              <a:buFontTx/>
              <a:buNone/>
            </a:pPr>
            <a:r>
              <a:rPr lang="ru-RU" altLang="ru-RU" sz="1600">
                <a:cs typeface="Times New Roman" panose="02020603050405020304" pitchFamily="18" charset="0"/>
              </a:rPr>
              <a:t>{Код поставщика, Код товара} -&gt; {Количество}</a:t>
            </a:r>
            <a:endParaRPr lang="ru-RU" altLang="ru-RU" sz="1600">
              <a:cs typeface="Calibri" panose="020F0502020204030204" pitchFamily="34" charset="0"/>
            </a:endParaRPr>
          </a:p>
        </p:txBody>
      </p:sp>
      <p:sp>
        <p:nvSpPr>
          <p:cNvPr id="32887" name="Прямоугольник 13"/>
          <p:cNvSpPr>
            <a:spLocks noChangeArrowheads="1"/>
          </p:cNvSpPr>
          <p:nvPr/>
        </p:nvSpPr>
        <p:spPr bwMode="auto">
          <a:xfrm>
            <a:off x="5341938" y="5487988"/>
            <a:ext cx="3438525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600">
                <a:latin typeface="PT Sans" pitchFamily="34" charset="-52"/>
              </a:rPr>
              <a:t>Второму отношению соответствуют: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1600">
                <a:latin typeface="PT Sans" pitchFamily="34" charset="-52"/>
              </a:rPr>
              <a:t>{Код поставщика} -&gt; {Город},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1600">
                <a:latin typeface="PT Sans" pitchFamily="34" charset="-52"/>
              </a:rPr>
              <a:t>{Код поставщика} -&gt; {Статус},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1600">
                <a:latin typeface="PT Sans" pitchFamily="34" charset="-52"/>
              </a:rPr>
              <a:t>{Город} -&gt; {Статус}</a:t>
            </a:r>
          </a:p>
        </p:txBody>
      </p:sp>
      <p:sp>
        <p:nvSpPr>
          <p:cNvPr id="32888" name="Прямоугольник 14"/>
          <p:cNvSpPr>
            <a:spLocks noChangeArrowheads="1"/>
          </p:cNvSpPr>
          <p:nvPr/>
        </p:nvSpPr>
        <p:spPr bwMode="auto">
          <a:xfrm>
            <a:off x="134938" y="1454150"/>
            <a:ext cx="2801937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33655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450"/>
              </a:spcBef>
              <a:buFontTx/>
              <a:buNone/>
            </a:pPr>
            <a:r>
              <a:rPr lang="ru-RU" altLang="ru-RU" sz="18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Физический смысл</a:t>
            </a:r>
            <a:r>
              <a:rPr lang="ru-RU" altLang="ru-RU" sz="1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избыточности исходного отношения заключается в том, что оно описывает не одну сущность, а две — поставку и поставщика.</a:t>
            </a:r>
          </a:p>
        </p:txBody>
      </p:sp>
    </p:spTree>
    <p:extLst>
      <p:ext uri="{BB962C8B-B14F-4D97-AF65-F5344CB8AC3E}">
        <p14:creationId xmlns:p14="http://schemas.microsoft.com/office/powerpoint/2010/main" val="3894103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Третья нормальная форма</a:t>
            </a:r>
          </a:p>
        </p:txBody>
      </p:sp>
      <p:sp>
        <p:nvSpPr>
          <p:cNvPr id="34819" name="Объект 2"/>
          <p:cNvSpPr>
            <a:spLocks noGrp="1" noChangeArrowheads="1"/>
          </p:cNvSpPr>
          <p:nvPr>
            <p:ph idx="1"/>
          </p:nvPr>
        </p:nvSpPr>
        <p:spPr>
          <a:xfrm>
            <a:off x="211138" y="1506538"/>
            <a:ext cx="8537575" cy="2643187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ru-RU" altLang="ru-RU" smtClean="0"/>
              <a:t>Третья нормальная форма связана с </a:t>
            </a:r>
            <a:r>
              <a:rPr lang="ru-RU" altLang="ru-RU" b="1" smtClean="0"/>
              <a:t>транзитивными зависимостями</a:t>
            </a:r>
            <a:r>
              <a:rPr lang="ru-RU" altLang="ru-RU" smtClean="0"/>
              <a:t>. </a:t>
            </a:r>
          </a:p>
          <a:p>
            <a:pPr>
              <a:spcBef>
                <a:spcPts val="1200"/>
              </a:spcBef>
            </a:pPr>
            <a:r>
              <a:rPr lang="ru-RU" altLang="ru-RU" smtClean="0"/>
              <a:t>Транзитивные зависимости между полями базы данных существует тогда, когда </a:t>
            </a:r>
            <a:r>
              <a:rPr lang="ru-RU" altLang="ru-RU" u="sng" smtClean="0"/>
              <a:t>значения не ключевых полей зависят от значений других не ключевых полей</a:t>
            </a:r>
            <a:r>
              <a:rPr lang="ru-RU" altLang="ru-RU" smtClean="0"/>
              <a:t>. </a:t>
            </a:r>
          </a:p>
          <a:p>
            <a:pPr>
              <a:spcBef>
                <a:spcPts val="1200"/>
              </a:spcBef>
            </a:pPr>
            <a:r>
              <a:rPr lang="ru-RU" altLang="ru-RU" b="1" i="1" smtClean="0"/>
              <a:t>Правило: </a:t>
            </a:r>
            <a:r>
              <a:rPr lang="ru-RU" altLang="ru-RU" smtClean="0"/>
              <a:t>не может быть транзитивных зависимостей между полями в таблице.</a:t>
            </a:r>
          </a:p>
          <a:p>
            <a:pPr>
              <a:spcBef>
                <a:spcPts val="1200"/>
              </a:spcBef>
            </a:pPr>
            <a:endParaRPr lang="ru-RU" altLang="ru-RU" smtClean="0"/>
          </a:p>
        </p:txBody>
      </p:sp>
      <p:sp>
        <p:nvSpPr>
          <p:cNvPr id="34820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3D8E00-6BBB-45CE-BC79-4295041E83FB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34821" name="Рисунок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4300538"/>
            <a:ext cx="5957888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7564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Третья нормальная форма: аномалии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2088" y="3656013"/>
            <a:ext cx="8796337" cy="2941637"/>
          </a:xfrm>
        </p:spPr>
        <p:txBody>
          <a:bodyPr>
            <a:normAutofit fontScale="85000" lnSpcReduction="10000"/>
          </a:bodyPr>
          <a:lstStyle/>
          <a:p>
            <a:pPr>
              <a:spcBef>
                <a:spcPts val="1200"/>
              </a:spcBef>
              <a:defRPr/>
            </a:pPr>
            <a:r>
              <a:rPr lang="ru-RU" b="1" dirty="0"/>
              <a:t>Аномалии обновлений, возникающие из-за наличия транзитивных функциональных зависимостей: добавления, удаления, вставки</a:t>
            </a:r>
            <a:endParaRPr lang="ru-RU" dirty="0"/>
          </a:p>
          <a:p>
            <a:pPr lvl="1">
              <a:spcBef>
                <a:spcPts val="1200"/>
              </a:spcBef>
              <a:defRPr/>
            </a:pPr>
            <a:r>
              <a:rPr lang="ru-RU" i="1" dirty="0"/>
              <a:t>Добавление кортежей.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Невозможно сохранить данные о новом городе или провинции, пока не появится игрок оттуда. (Первичный ключ не может содержать неопределенные значения.)</a:t>
            </a:r>
          </a:p>
          <a:p>
            <a:pPr lvl="1">
              <a:spcBef>
                <a:spcPts val="1200"/>
              </a:spcBef>
              <a:defRPr/>
            </a:pPr>
            <a:r>
              <a:rPr lang="ru-RU" i="1" dirty="0"/>
              <a:t>Удаление кортежей.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При увольнении последнего игрока из провинции (города) мы утратим сведения о них.</a:t>
            </a:r>
          </a:p>
          <a:p>
            <a:pPr lvl="1">
              <a:spcBef>
                <a:spcPts val="1200"/>
              </a:spcBef>
              <a:defRPr/>
            </a:pPr>
            <a:r>
              <a:rPr lang="ru-RU" i="1" dirty="0"/>
              <a:t>Модификация кортежей.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При изменении наименования города в провинции, мы будем вынуждены изменить значение во всех записях игроков оттуда.</a:t>
            </a:r>
          </a:p>
        </p:txBody>
      </p:sp>
      <p:sp>
        <p:nvSpPr>
          <p:cNvPr id="35844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E3B981-39B4-4C85-B8C7-39BA63612CE5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35845" name="Рисунок 4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277938"/>
            <a:ext cx="5040312" cy="236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5219700" y="2922588"/>
            <a:ext cx="3768725" cy="5873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spcBef>
                <a:spcPts val="450"/>
              </a:spcBef>
              <a:spcAft>
                <a:spcPts val="0"/>
              </a:spcAft>
              <a:defRPr/>
            </a:pPr>
            <a:r>
              <a:rPr lang="ru-RU" sz="1400" dirty="0"/>
              <a:t>Второй пример:</a:t>
            </a:r>
          </a:p>
          <a:p>
            <a:pPr algn="just">
              <a:spcBef>
                <a:spcPts val="450"/>
              </a:spcBef>
              <a:spcAft>
                <a:spcPts val="0"/>
              </a:spcAft>
              <a:defRPr/>
            </a:pPr>
            <a:r>
              <a:rPr lang="ru-RU" sz="1400" dirty="0"/>
              <a:t>оклад и зарплата = оклад – 13% оклада</a:t>
            </a: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5195888" y="1438275"/>
            <a:ext cx="3768725" cy="13287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spcBef>
                <a:spcPts val="450"/>
              </a:spcBef>
              <a:spcAft>
                <a:spcPts val="0"/>
              </a:spcAft>
              <a:defRPr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Если вы знаете почтовый код, то вы уже знаете город и провинцию</a:t>
            </a:r>
            <a:r>
              <a:rPr lang="ru-RU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indent="337661" algn="just">
              <a:spcBef>
                <a:spcPts val="450"/>
              </a:spcBef>
              <a:spcAft>
                <a:spcPts val="0"/>
              </a:spcAft>
              <a:defRPr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связь между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Postal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-&gt;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City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 indent="337661" algn="just">
              <a:spcBef>
                <a:spcPts val="450"/>
              </a:spcBef>
              <a:spcAft>
                <a:spcPts val="0"/>
              </a:spcAft>
              <a:defRPr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Postal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-&gt;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Province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24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Третья нормальная форма: Пример</a:t>
            </a:r>
          </a:p>
        </p:txBody>
      </p:sp>
      <p:pic>
        <p:nvPicPr>
          <p:cNvPr id="36867" name="Рисунок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1268413"/>
            <a:ext cx="8412162" cy="302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42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Что меняется в процессе нормализации</a:t>
            </a:r>
          </a:p>
        </p:txBody>
      </p:sp>
      <p:pic>
        <p:nvPicPr>
          <p:cNvPr id="37891" name="Рисунок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060575"/>
            <a:ext cx="8316913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23252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Нормальная форма </a:t>
            </a:r>
            <a:r>
              <a:rPr lang="ru-RU" dirty="0" err="1"/>
              <a:t>Бойса</a:t>
            </a:r>
            <a:r>
              <a:rPr lang="ru-RU" dirty="0"/>
              <a:t>-Кодда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900" y="1341438"/>
            <a:ext cx="8712200" cy="5256212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  <a:defRPr/>
            </a:pPr>
            <a:r>
              <a:rPr lang="ru-RU" dirty="0"/>
              <a:t>Имеется один частный случай, который (почти) удовлетворяет требованиям 2NF и 3NF, но, тем не менее, порождает </a:t>
            </a:r>
            <a:r>
              <a:rPr lang="ru-RU" u="sng" dirty="0"/>
              <a:t>аномалии обновления.</a:t>
            </a:r>
            <a:r>
              <a:rPr lang="ru-RU" dirty="0"/>
              <a:t> </a:t>
            </a:r>
          </a:p>
          <a:p>
            <a:pPr lvl="1">
              <a:spcBef>
                <a:spcPts val="1200"/>
              </a:spcBef>
              <a:defRPr/>
            </a:pPr>
            <a:r>
              <a:rPr lang="ru-RU" dirty="0"/>
              <a:t>Это тот случай, когда </a:t>
            </a:r>
            <a:r>
              <a:rPr lang="ru-RU" b="1" dirty="0"/>
              <a:t>у отношения имеется несколько возможных ключей, и некоторые из этих возможных ключей «перекрываются»,</a:t>
            </a:r>
            <a:r>
              <a:rPr lang="ru-RU" dirty="0"/>
              <a:t> т. е. содержат </a:t>
            </a:r>
            <a:r>
              <a:rPr lang="ru-RU" u="sng" dirty="0"/>
              <a:t>общие атрибуты. </a:t>
            </a:r>
          </a:p>
          <a:p>
            <a:pPr>
              <a:spcBef>
                <a:spcPts val="1200"/>
              </a:spcBef>
              <a:defRPr/>
            </a:pPr>
            <a:r>
              <a:rPr lang="ru-RU" dirty="0"/>
              <a:t>Если обнаружился второй столбец (комбинация столбцов), позволяющий однозначно идентифицировать строку, то для приведения к нормальной форме </a:t>
            </a:r>
            <a:r>
              <a:rPr lang="ru-RU" dirty="0" err="1"/>
              <a:t>Бойса</a:t>
            </a:r>
            <a:r>
              <a:rPr lang="ru-RU" dirty="0"/>
              <a:t>-Кодда такие данные надо вынести в отдельную таблицу.</a:t>
            </a:r>
          </a:p>
          <a:p>
            <a:pPr>
              <a:spcBef>
                <a:spcPts val="1200"/>
              </a:spcBef>
              <a:defRPr/>
            </a:pPr>
            <a:endParaRPr lang="ru-RU" dirty="0"/>
          </a:p>
          <a:p>
            <a:pPr>
              <a:spcBef>
                <a:spcPts val="1200"/>
              </a:spcBef>
              <a:defRPr/>
            </a:pPr>
            <a:r>
              <a:rPr lang="ru-RU" b="1" dirty="0"/>
              <a:t>Нормальная форма </a:t>
            </a:r>
            <a:r>
              <a:rPr lang="ru-RU" b="1" dirty="0" err="1"/>
              <a:t>Бойса</a:t>
            </a:r>
            <a:r>
              <a:rPr lang="ru-RU" b="1" dirty="0"/>
              <a:t>-Кодда (НФБК): </a:t>
            </a:r>
            <a:r>
              <a:rPr lang="ru-RU" dirty="0"/>
              <a:t>отношение находится в НФБК тогда и только тогда, когда </a:t>
            </a:r>
            <a:r>
              <a:rPr lang="ru-RU" u="sng" dirty="0"/>
              <a:t>каждый его детерминант является потенциальным ключом.</a:t>
            </a:r>
          </a:p>
          <a:p>
            <a:pPr lvl="1">
              <a:spcBef>
                <a:spcPts val="1200"/>
              </a:spcBef>
              <a:defRPr/>
            </a:pPr>
            <a:r>
              <a:rPr lang="ru-RU" b="1" i="1" dirty="0"/>
              <a:t>Детерминант</a:t>
            </a:r>
            <a:r>
              <a:rPr lang="ru-RU" i="1" dirty="0"/>
              <a:t> –</a:t>
            </a:r>
            <a:r>
              <a:rPr lang="ru-RU" dirty="0"/>
              <a:t> любой атрибут, от которого полностью ФЗ некоторый другой атрибут</a:t>
            </a:r>
          </a:p>
          <a:p>
            <a:pPr>
              <a:spcBef>
                <a:spcPts val="1200"/>
              </a:spcBef>
              <a:defRPr/>
            </a:pPr>
            <a:endParaRPr lang="ru-RU" dirty="0"/>
          </a:p>
        </p:txBody>
      </p:sp>
      <p:sp>
        <p:nvSpPr>
          <p:cNvPr id="38916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4434CB-B54E-48D1-B6CF-5412B1D9414A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04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Нормальная форма </a:t>
            </a:r>
            <a:r>
              <a:rPr lang="ru-RU" dirty="0" err="1"/>
              <a:t>Бойса</a:t>
            </a:r>
            <a:r>
              <a:rPr lang="ru-RU" dirty="0"/>
              <a:t>-Кодда: Пример</a:t>
            </a:r>
          </a:p>
        </p:txBody>
      </p:sp>
      <p:sp>
        <p:nvSpPr>
          <p:cNvPr id="39939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B22CDB-DBA4-4D46-A2E9-3B12C1AE51B8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508000" y="1484313"/>
          <a:ext cx="8167688" cy="1774825"/>
        </p:xfrm>
        <a:graphic>
          <a:graphicData uri="http://schemas.openxmlformats.org/drawingml/2006/table">
            <a:tbl>
              <a:tblPr firstRow="1" firstCol="1" bandRow="1">
                <a:tableStyleId>{5A111915-BE36-4E01-A7E5-04B1672EAD32}</a:tableStyleId>
              </a:tblPr>
              <a:tblGrid>
                <a:gridCol w="1633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3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3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3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35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4442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Номер клиента</a:t>
                      </a:r>
                      <a:endParaRPr lang="ru-RU" sz="1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6" marR="68576" marT="34314" marB="34314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rgbClr val="FFFF00"/>
                          </a:solidFill>
                          <a:effectLst/>
                        </a:rPr>
                        <a:t>Дата собеседования</a:t>
                      </a:r>
                      <a:endParaRPr lang="ru-RU" sz="1400" kern="1200" dirty="0">
                        <a:solidFill>
                          <a:srgbClr val="FFFF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6" marR="68576" marT="34314" marB="34314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Время собеседования</a:t>
                      </a:r>
                      <a:endParaRPr lang="ru-RU" sz="1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6" marR="68576" marT="34314" marB="34314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rgbClr val="FFFF00"/>
                          </a:solidFill>
                          <a:effectLst/>
                        </a:rPr>
                        <a:t>Номер комнаты</a:t>
                      </a:r>
                      <a:endParaRPr lang="ru-RU" sz="1400" kern="1200" dirty="0">
                        <a:solidFill>
                          <a:srgbClr val="FFFF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6" marR="68576" marT="34314" marB="34314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rgbClr val="FFFF00"/>
                          </a:solidFill>
                          <a:effectLst/>
                        </a:rPr>
                        <a:t>Номер сотрудника</a:t>
                      </a:r>
                      <a:endParaRPr lang="ru-RU" sz="1400" kern="1200" dirty="0">
                        <a:solidFill>
                          <a:srgbClr val="FFFF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6" marR="68576" marT="34314" marB="34314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9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С345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9" marB="71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13.10.03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9" marB="71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13.00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9" marB="71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103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9" marB="71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А138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9" marB="714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9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С355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9" marB="71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13.10.03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9" marB="71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13.05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9" marB="71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103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9" marB="71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А136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9" marB="714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9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С368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9" marB="71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13.09.03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9" marB="71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13.00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9" marB="71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102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9" marB="71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А154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9" marB="714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9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С366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9" marB="71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13.09.03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9" marB="71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13.30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9" marB="71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105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9" marB="71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А207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4" marR="7144" marT="7149" marB="714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107950" y="3937000"/>
          <a:ext cx="5256213" cy="1630363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890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2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91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Номер клиента</a:t>
                      </a:r>
                    </a:p>
                  </a:txBody>
                  <a:tcPr marL="68575" marR="68575" marT="32653" marB="32653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Дата собеседования</a:t>
                      </a:r>
                    </a:p>
                  </a:txBody>
                  <a:tcPr marL="68575" marR="68575" marT="32653" marB="32653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Время собеседования</a:t>
                      </a:r>
                    </a:p>
                  </a:txBody>
                  <a:tcPr marL="68575" marR="68575" marT="32653" marB="32653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Номер Сотрудника</a:t>
                      </a:r>
                    </a:p>
                  </a:txBody>
                  <a:tcPr marL="68575" marR="68575" marT="32653" marB="32653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612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С345</a:t>
                      </a:r>
                    </a:p>
                  </a:txBody>
                  <a:tcPr marL="68575" marR="68575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13.10.03</a:t>
                      </a:r>
                    </a:p>
                  </a:txBody>
                  <a:tcPr marL="68575" marR="68575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13.00</a:t>
                      </a:r>
                    </a:p>
                  </a:txBody>
                  <a:tcPr marL="68575" marR="68575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А138</a:t>
                      </a:r>
                    </a:p>
                  </a:txBody>
                  <a:tcPr marL="68575" marR="68575" marT="32653" marB="3265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612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С355</a:t>
                      </a:r>
                    </a:p>
                  </a:txBody>
                  <a:tcPr marL="68575" marR="68575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13.10.03</a:t>
                      </a:r>
                    </a:p>
                  </a:txBody>
                  <a:tcPr marL="68575" marR="68575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13.05</a:t>
                      </a:r>
                    </a:p>
                  </a:txBody>
                  <a:tcPr marL="68575" marR="68575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А136</a:t>
                      </a:r>
                    </a:p>
                  </a:txBody>
                  <a:tcPr marL="68575" marR="68575" marT="32653" marB="3265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612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С368</a:t>
                      </a:r>
                    </a:p>
                  </a:txBody>
                  <a:tcPr marL="68575" marR="68575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13.09.03</a:t>
                      </a:r>
                    </a:p>
                  </a:txBody>
                  <a:tcPr marL="68575" marR="68575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13.00</a:t>
                      </a:r>
                    </a:p>
                  </a:txBody>
                  <a:tcPr marL="68575" marR="68575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А154</a:t>
                      </a:r>
                    </a:p>
                  </a:txBody>
                  <a:tcPr marL="68575" marR="68575" marT="32653" marB="3265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612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С366</a:t>
                      </a:r>
                    </a:p>
                  </a:txBody>
                  <a:tcPr marL="68575" marR="68575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13.09.03</a:t>
                      </a:r>
                    </a:p>
                  </a:txBody>
                  <a:tcPr marL="68575" marR="68575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13.30</a:t>
                      </a:r>
                    </a:p>
                  </a:txBody>
                  <a:tcPr marL="68575" marR="68575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А207</a:t>
                      </a:r>
                    </a:p>
                  </a:txBody>
                  <a:tcPr marL="68575" marR="68575" marT="32653" marB="3265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5461000" y="3937000"/>
          <a:ext cx="3600450" cy="1630363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50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91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solidFill>
                            <a:srgbClr val="FFFF00"/>
                          </a:solidFill>
                          <a:effectLst/>
                        </a:rPr>
                        <a:t>Дата собеседования</a:t>
                      </a:r>
                      <a:endParaRPr lang="ru-RU" sz="1300" kern="1200" dirty="0">
                        <a:solidFill>
                          <a:srgbClr val="FFFF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9" marR="68579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solidFill>
                            <a:srgbClr val="FFFF00"/>
                          </a:solidFill>
                          <a:effectLst/>
                        </a:rPr>
                        <a:t>Номер сотрудника</a:t>
                      </a:r>
                      <a:endParaRPr lang="ru-RU" sz="1300" kern="1200" dirty="0">
                        <a:solidFill>
                          <a:srgbClr val="FFFF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9" marR="68579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solidFill>
                            <a:srgbClr val="FFFF00"/>
                          </a:solidFill>
                          <a:effectLst/>
                        </a:rPr>
                        <a:t>Номер комнаты</a:t>
                      </a:r>
                      <a:endParaRPr lang="ru-RU" sz="1300" kern="1200" dirty="0">
                        <a:solidFill>
                          <a:srgbClr val="FFFF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9" marR="68579" marT="32653" marB="3265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612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13.10.03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9" marR="68579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А138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9" marR="68579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103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9" marR="68579" marT="32653" marB="3265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612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13.10.03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9" marR="68579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А136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9" marR="68579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103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9" marR="68579" marT="32653" marB="3265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612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13.09.03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9" marR="68579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А154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9" marR="68579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102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9" marR="68579" marT="32653" marB="3265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612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13.09.03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9" marR="68579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А207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9" marR="68579" marT="32653" marB="32653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105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9" marR="68579" marT="32653" marB="3265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Стрелка вниз 12"/>
          <p:cNvSpPr/>
          <p:nvPr/>
        </p:nvSpPr>
        <p:spPr>
          <a:xfrm>
            <a:off x="2339975" y="3405188"/>
            <a:ext cx="635000" cy="3889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4" name="Стрелка вниз 13"/>
          <p:cNvSpPr/>
          <p:nvPr/>
        </p:nvSpPr>
        <p:spPr>
          <a:xfrm>
            <a:off x="6875463" y="3425825"/>
            <a:ext cx="635000" cy="3889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833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Многозначные зависимости </a:t>
            </a:r>
            <a:br>
              <a:rPr lang="ru-RU" dirty="0"/>
            </a:br>
            <a:r>
              <a:rPr lang="ru-RU" dirty="0"/>
              <a:t>и четвертая нормальная форма</a:t>
            </a:r>
          </a:p>
        </p:txBody>
      </p:sp>
      <p:sp>
        <p:nvSpPr>
          <p:cNvPr id="40963" name="Объект 2"/>
          <p:cNvSpPr>
            <a:spLocks noGrp="1" noChangeArrowheads="1"/>
          </p:cNvSpPr>
          <p:nvPr>
            <p:ph idx="1"/>
          </p:nvPr>
        </p:nvSpPr>
        <p:spPr>
          <a:xfrm>
            <a:off x="280988" y="1322388"/>
            <a:ext cx="8683625" cy="1974850"/>
          </a:xfrm>
        </p:spPr>
        <p:txBody>
          <a:bodyPr/>
          <a:lstStyle/>
          <a:p>
            <a:r>
              <a:rPr lang="ru-RU" altLang="ru-RU" smtClean="0"/>
              <a:t>Четвертая нормальная форма касается отношений, в которых имеются </a:t>
            </a:r>
            <a:r>
              <a:rPr lang="ru-RU" altLang="ru-RU" b="1" smtClean="0"/>
              <a:t>повторяющиеся наборы данных.</a:t>
            </a:r>
            <a:r>
              <a:rPr lang="ru-RU" altLang="ru-RU" smtClean="0"/>
              <a:t> Декомпозиция, основанная на функциональных зависимостях, не приводит к исключению такой избыточности. </a:t>
            </a:r>
            <a:r>
              <a:rPr lang="ru-RU" altLang="ru-RU" u="sng" smtClean="0"/>
              <a:t>В этом случае используют декомпозицию, основанную на </a:t>
            </a:r>
            <a:r>
              <a:rPr lang="ru-RU" altLang="ru-RU" i="1" u="sng" smtClean="0"/>
              <a:t>многозначных зависимостях</a:t>
            </a:r>
            <a:r>
              <a:rPr lang="ru-RU" altLang="ru-RU" u="sng" smtClean="0"/>
              <a:t>. </a:t>
            </a:r>
            <a:endParaRPr lang="ru-RU" altLang="ru-RU" smtClean="0"/>
          </a:p>
          <a:p>
            <a:endParaRPr lang="ru-RU" altLang="ru-RU" smtClean="0"/>
          </a:p>
        </p:txBody>
      </p:sp>
      <p:sp>
        <p:nvSpPr>
          <p:cNvPr id="40964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0E6146-D72B-470A-BA80-B87049F852C3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4096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3" y="3033713"/>
            <a:ext cx="4779962" cy="169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Прямоугольник 7"/>
          <p:cNvSpPr>
            <a:spLocks noChangeArrowheads="1"/>
          </p:cNvSpPr>
          <p:nvPr/>
        </p:nvSpPr>
        <p:spPr bwMode="auto">
          <a:xfrm>
            <a:off x="4962525" y="2979738"/>
            <a:ext cx="35988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сведений о том, что преподаватель В будет также вести лекции по курсу ИНФОРМАТИКА</a:t>
            </a:r>
            <a:endParaRPr lang="ru-RU" altLang="ru-RU" sz="1800" i="1">
              <a:latin typeface="PT Sans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5898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Многозначные зависимости </a:t>
            </a:r>
            <a:br>
              <a:rPr lang="ru-RU" dirty="0"/>
            </a:br>
            <a:r>
              <a:rPr lang="ru-RU" dirty="0"/>
              <a:t>и четвертая нормальная форма</a:t>
            </a:r>
          </a:p>
        </p:txBody>
      </p:sp>
      <p:sp>
        <p:nvSpPr>
          <p:cNvPr id="41987" name="Объект 2"/>
          <p:cNvSpPr>
            <a:spLocks noGrp="1" noChangeArrowheads="1"/>
          </p:cNvSpPr>
          <p:nvPr>
            <p:ph idx="1"/>
          </p:nvPr>
        </p:nvSpPr>
        <p:spPr>
          <a:xfrm>
            <a:off x="280988" y="1322388"/>
            <a:ext cx="8683625" cy="1974850"/>
          </a:xfrm>
        </p:spPr>
        <p:txBody>
          <a:bodyPr/>
          <a:lstStyle/>
          <a:p>
            <a:r>
              <a:rPr lang="ru-RU" altLang="ru-RU" smtClean="0"/>
              <a:t>Четвертая нормальная форма касается отношений, в которых имеются </a:t>
            </a:r>
            <a:r>
              <a:rPr lang="ru-RU" altLang="ru-RU" b="1" smtClean="0"/>
              <a:t>повторяющиеся наборы данных.</a:t>
            </a:r>
            <a:r>
              <a:rPr lang="ru-RU" altLang="ru-RU" smtClean="0"/>
              <a:t> Декомпозиция, основанная на функциональных зависимостях, не приводит к исключению такой избыточности. </a:t>
            </a:r>
            <a:r>
              <a:rPr lang="ru-RU" altLang="ru-RU" u="sng" smtClean="0"/>
              <a:t>В этом случае используют декомпозицию, основанную на </a:t>
            </a:r>
            <a:r>
              <a:rPr lang="ru-RU" altLang="ru-RU" i="1" u="sng" smtClean="0"/>
              <a:t>многозначных зависимостях</a:t>
            </a:r>
            <a:r>
              <a:rPr lang="ru-RU" altLang="ru-RU" u="sng" smtClean="0"/>
              <a:t>. </a:t>
            </a:r>
            <a:endParaRPr lang="ru-RU" altLang="ru-RU" smtClean="0"/>
          </a:p>
          <a:p>
            <a:endParaRPr lang="ru-RU" altLang="ru-RU" smtClean="0"/>
          </a:p>
        </p:txBody>
      </p:sp>
      <p:sp>
        <p:nvSpPr>
          <p:cNvPr id="41988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433FF1-3A38-44A1-A228-AD7D90473719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41989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3" y="3033713"/>
            <a:ext cx="4779962" cy="169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0" name="Рисунок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3" y="5422900"/>
            <a:ext cx="4751387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Крест 6"/>
          <p:cNvSpPr/>
          <p:nvPr/>
        </p:nvSpPr>
        <p:spPr>
          <a:xfrm>
            <a:off x="2068513" y="4926013"/>
            <a:ext cx="211137" cy="217487"/>
          </a:xfrm>
          <a:prstGeom prst="plus">
            <a:avLst>
              <a:gd name="adj" fmla="val 40693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1992" name="Прямоугольник 7"/>
          <p:cNvSpPr>
            <a:spLocks noChangeArrowheads="1"/>
          </p:cNvSpPr>
          <p:nvPr/>
        </p:nvSpPr>
        <p:spPr bwMode="auto">
          <a:xfrm>
            <a:off x="4962525" y="2979738"/>
            <a:ext cx="3598863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сведений о том, что преподаватель В будет также вести лекции по курсу ИНФОРМАТИКА приведет к необходимости добавления двух кортежей (по количеству написанных им учебников) вместо одного. </a:t>
            </a:r>
          </a:p>
          <a:p>
            <a:pPr>
              <a:spcBef>
                <a:spcPct val="0"/>
              </a:spcBef>
              <a:buFontTx/>
              <a:buNone/>
            </a:pPr>
            <a:endParaRPr lang="ru-RU" altLang="ru-RU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1800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то же время, отношение ПРЕПОДАВАТЕЛИ находится в нормальной форме Бойса-Кодда (ключевой атрибут – ФАМИЛИЯ)</a:t>
            </a:r>
            <a:endParaRPr lang="ru-RU" altLang="ru-RU" sz="1800" i="1">
              <a:solidFill>
                <a:srgbClr val="C00000"/>
              </a:solidFill>
              <a:latin typeface="PT Sans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8873368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Четвертая нормальная форма</a:t>
            </a:r>
          </a:p>
        </p:txBody>
      </p:sp>
      <p:sp>
        <p:nvSpPr>
          <p:cNvPr id="43011" name="Объект 13"/>
          <p:cNvSpPr>
            <a:spLocks noGrp="1" noChangeArrowheads="1"/>
          </p:cNvSpPr>
          <p:nvPr>
            <p:ph idx="1"/>
          </p:nvPr>
        </p:nvSpPr>
        <p:spPr>
          <a:xfrm>
            <a:off x="395288" y="1484313"/>
            <a:ext cx="8353425" cy="4681537"/>
          </a:xfrm>
        </p:spPr>
        <p:txBody>
          <a:bodyPr anchor="t"/>
          <a:lstStyle/>
          <a:p>
            <a:pPr>
              <a:spcBef>
                <a:spcPts val="1200"/>
              </a:spcBef>
            </a:pPr>
            <a:r>
              <a:rPr lang="ru-RU" altLang="ru-RU" b="1" i="1" u="sng" smtClean="0"/>
              <a:t>Определение четвертой нормальной формы:</a:t>
            </a:r>
            <a:r>
              <a:rPr lang="ru-RU" altLang="ru-RU" i="1" smtClean="0"/>
              <a:t> </a:t>
            </a:r>
            <a:endParaRPr lang="ru-RU" altLang="ru-RU" smtClean="0"/>
          </a:p>
          <a:p>
            <a:pPr lvl="1">
              <a:spcBef>
                <a:spcPts val="1200"/>
              </a:spcBef>
            </a:pPr>
            <a:r>
              <a:rPr lang="ru-RU" altLang="ru-RU" b="1" smtClean="0"/>
              <a:t>Отношение находится в 4NF если оно находится в BCNF и в нем отстутсвуют многозначные зависимости, не являющиеся функциональными зависимостями. </a:t>
            </a:r>
            <a:endParaRPr lang="ru-RU" altLang="ru-RU" smtClean="0"/>
          </a:p>
          <a:p>
            <a:pPr>
              <a:spcBef>
                <a:spcPts val="1200"/>
              </a:spcBef>
            </a:pPr>
            <a:r>
              <a:rPr lang="ru-RU" altLang="ru-RU" smtClean="0"/>
              <a:t>Следовательно, так как проблема многозначных зависимостей связана с многозначными атрибутами, то </a:t>
            </a:r>
          </a:p>
          <a:p>
            <a:pPr lvl="1">
              <a:spcBef>
                <a:spcPts val="1200"/>
              </a:spcBef>
            </a:pPr>
            <a:r>
              <a:rPr lang="ru-RU" altLang="ru-RU" smtClean="0"/>
              <a:t>разрешить данную проблему можно с помощью </a:t>
            </a:r>
            <a:r>
              <a:rPr lang="ru-RU" altLang="ru-RU" smtClean="0">
                <a:solidFill>
                  <a:srgbClr val="C00000"/>
                </a:solidFill>
              </a:rPr>
              <a:t>помещения каждого многозначного атрибута в свою собственную таблицу </a:t>
            </a:r>
            <a:r>
              <a:rPr lang="ru-RU" altLang="ru-RU" smtClean="0"/>
              <a:t>совместно с ключом, от которого зависит атрибут.</a:t>
            </a:r>
          </a:p>
          <a:p>
            <a:pPr>
              <a:spcBef>
                <a:spcPts val="1200"/>
              </a:spcBef>
            </a:pPr>
            <a:endParaRPr lang="ru-RU" altLang="ru-RU" smtClean="0"/>
          </a:p>
        </p:txBody>
      </p:sp>
      <p:sp>
        <p:nvSpPr>
          <p:cNvPr id="43012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4DE52F-F65C-4161-ABEE-05B9A82E3227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85087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Четвертая нормальная форма: Пример</a:t>
            </a:r>
          </a:p>
        </p:txBody>
      </p:sp>
      <p:sp>
        <p:nvSpPr>
          <p:cNvPr id="44035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E1C89C-3E7B-49A9-8BC9-E941458C93D1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pic>
        <p:nvPicPr>
          <p:cNvPr id="44036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392238"/>
            <a:ext cx="3994150" cy="130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7" name="Рисунок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4452938"/>
            <a:ext cx="7072313" cy="12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Стрелка вниз 10"/>
          <p:cNvSpPr/>
          <p:nvPr/>
        </p:nvSpPr>
        <p:spPr>
          <a:xfrm>
            <a:off x="831850" y="3384550"/>
            <a:ext cx="590550" cy="6429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" name="Стрелка вниз 11"/>
          <p:cNvSpPr/>
          <p:nvPr/>
        </p:nvSpPr>
        <p:spPr>
          <a:xfrm>
            <a:off x="3711575" y="3454400"/>
            <a:ext cx="590550" cy="6429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4040" name="Прямоугольник 12"/>
          <p:cNvSpPr>
            <a:spLocks noChangeArrowheads="1"/>
          </p:cNvSpPr>
          <p:nvPr/>
        </p:nvSpPr>
        <p:spPr bwMode="auto">
          <a:xfrm>
            <a:off x="4364038" y="1414463"/>
            <a:ext cx="4672012" cy="264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3655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ts val="45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Появление аномалии обновления объясняется тем, что в отношении ПРЕПОДАВАТЕЛИ:</a:t>
            </a:r>
            <a:endParaRPr lang="ru-RU" altLang="ru-RU" sz="18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450"/>
              </a:spcBef>
              <a:buFont typeface="Arial" panose="020B0604020202020204" pitchFamily="34" charset="0"/>
              <a:buAutoNum type="arabicPeriod"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множество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значений атрибута КУРС зависит от множества значений атрибута ФАМИЛИЯ; </a:t>
            </a:r>
            <a:endParaRPr lang="ru-RU" altLang="ru-RU" sz="1800"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множества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значений атрибута УЧЕБНИК зависит от множества значений атрибута ФАМИЛИЯ. </a:t>
            </a:r>
            <a:endParaRPr lang="ru-RU" altLang="ru-RU" sz="1800">
              <a:latin typeface="Times New Roman" panose="02020603050405020304" pitchFamily="18" charset="0"/>
              <a:cs typeface="Calibri" panose="020F0502020204030204" pitchFamily="34" charset="0"/>
            </a:endParaRPr>
          </a:p>
        </p:txBody>
      </p:sp>
      <p:pic>
        <p:nvPicPr>
          <p:cNvPr id="44041" name="Рисунок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83"/>
          <a:stretch>
            <a:fillRect/>
          </a:stretch>
        </p:blipFill>
        <p:spPr bwMode="auto">
          <a:xfrm>
            <a:off x="346075" y="2689225"/>
            <a:ext cx="397986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439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Зависимости по соединению </a:t>
            </a:r>
            <a:br>
              <a:rPr lang="ru-RU" dirty="0"/>
            </a:br>
            <a:r>
              <a:rPr lang="ru-RU" dirty="0"/>
              <a:t>и пятая нормальная форма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6050" y="1268413"/>
            <a:ext cx="8818563" cy="4824412"/>
          </a:xfrm>
        </p:spPr>
        <p:txBody>
          <a:bodyPr anchor="t">
            <a:normAutofit fontScale="85000" lnSpcReduction="10000"/>
          </a:bodyPr>
          <a:lstStyle/>
          <a:p>
            <a:pPr>
              <a:spcBef>
                <a:spcPts val="1200"/>
              </a:spcBef>
              <a:defRPr/>
            </a:pPr>
            <a:r>
              <a:rPr lang="ru-RU" dirty="0"/>
              <a:t>Существуют отношения, для которых </a:t>
            </a:r>
            <a:r>
              <a:rPr lang="ru-RU" b="1" dirty="0"/>
              <a:t>нельзя</a:t>
            </a:r>
            <a:r>
              <a:rPr lang="ru-RU" dirty="0"/>
              <a:t> выполнить декомпозицию без потерь на две проекции, но которые можно подвергнуть декомпозиции без потерь на три (или более) проекций. </a:t>
            </a:r>
          </a:p>
          <a:p>
            <a:pPr>
              <a:spcBef>
                <a:spcPts val="1200"/>
              </a:spcBef>
              <a:defRPr/>
            </a:pPr>
            <a:r>
              <a:rPr lang="ru-RU" dirty="0"/>
              <a:t>Этот факт получил название </a:t>
            </a:r>
            <a:r>
              <a:rPr lang="ru-RU" b="1" dirty="0"/>
              <a:t>зависимости по соединению</a:t>
            </a:r>
            <a:r>
              <a:rPr lang="ru-RU" dirty="0"/>
              <a:t>, а такие отношения называют </a:t>
            </a:r>
            <a:r>
              <a:rPr lang="ru-RU" b="1" dirty="0"/>
              <a:t>3-декомпозируемые отношения</a:t>
            </a:r>
            <a:r>
              <a:rPr lang="ru-RU" dirty="0"/>
              <a:t> (ясно, что любое отношение можно назвать "n-декомпозируемым", где n &gt;= 2). </a:t>
            </a:r>
          </a:p>
          <a:p>
            <a:pPr lvl="1">
              <a:spcBef>
                <a:spcPts val="1200"/>
              </a:spcBef>
              <a:defRPr/>
            </a:pPr>
            <a:r>
              <a:rPr lang="ru-RU" dirty="0"/>
              <a:t>Зависимость по соединению является </a:t>
            </a:r>
            <a:r>
              <a:rPr lang="ru-RU" dirty="0" err="1"/>
              <a:t>обощением</a:t>
            </a:r>
            <a:r>
              <a:rPr lang="ru-RU" dirty="0"/>
              <a:t> многозначной зависимости. </a:t>
            </a:r>
          </a:p>
          <a:p>
            <a:pPr lvl="1">
              <a:spcBef>
                <a:spcPts val="1200"/>
              </a:spcBef>
              <a:defRPr/>
            </a:pPr>
            <a:r>
              <a:rPr lang="ru-RU" i="1" dirty="0"/>
              <a:t>Отношения, в которых имеются зависимости по соединению, не являющиеся одновременно ни многозначными, ни функциональными, также характеризуются аномалиями обновления.</a:t>
            </a:r>
            <a:r>
              <a:rPr lang="ru-RU" dirty="0"/>
              <a:t> Поэтому, вводится понятие пятой нормальной формы. </a:t>
            </a:r>
          </a:p>
          <a:p>
            <a:pPr lvl="1">
              <a:spcBef>
                <a:spcPts val="1200"/>
              </a:spcBef>
              <a:defRPr/>
            </a:pPr>
            <a:endParaRPr lang="ru-RU" dirty="0"/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  <a:defRPr/>
            </a:pPr>
            <a:r>
              <a:rPr lang="ru-RU" b="1" i="1" u="sng" dirty="0"/>
              <a:t>Определение пятой нормальной формы:</a:t>
            </a:r>
            <a:r>
              <a:rPr lang="ru-RU" i="1" dirty="0"/>
              <a:t> </a:t>
            </a:r>
            <a:endParaRPr lang="ru-RU" dirty="0"/>
          </a:p>
          <a:p>
            <a:pPr>
              <a:spcBef>
                <a:spcPts val="1200"/>
              </a:spcBef>
              <a:defRPr/>
            </a:pPr>
            <a:r>
              <a:rPr lang="ru-RU" b="1" dirty="0"/>
              <a:t>Отношение находится в 5НФ тогда и только тогда, когда любая зависимость по соединению в нем определяется только его возможными ключами. </a:t>
            </a:r>
            <a:endParaRPr lang="ru-RU" dirty="0"/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  <a:defRPr/>
            </a:pPr>
            <a:r>
              <a:rPr lang="ru-RU" i="1" dirty="0"/>
              <a:t>Другими словами, каждая проекция такого отношения содержит </a:t>
            </a:r>
            <a:r>
              <a:rPr lang="ru-RU" b="1" i="1" dirty="0"/>
              <a:t>не менее одного возможного ключа</a:t>
            </a:r>
            <a:r>
              <a:rPr lang="ru-RU" i="1" dirty="0"/>
              <a:t> и </a:t>
            </a:r>
            <a:r>
              <a:rPr lang="ru-RU" b="1" i="1" dirty="0"/>
              <a:t>не менее одного </a:t>
            </a:r>
            <a:r>
              <a:rPr lang="ru-RU" b="1" i="1" dirty="0" err="1"/>
              <a:t>неключевого</a:t>
            </a:r>
            <a:r>
              <a:rPr lang="ru-RU" b="1" i="1" dirty="0"/>
              <a:t> атрибута</a:t>
            </a:r>
            <a:r>
              <a:rPr lang="ru-RU" i="1" dirty="0"/>
              <a:t>. </a:t>
            </a:r>
            <a:endParaRPr lang="ru-RU" dirty="0"/>
          </a:p>
          <a:p>
            <a:pPr>
              <a:spcBef>
                <a:spcPts val="1200"/>
              </a:spcBef>
              <a:defRPr/>
            </a:pPr>
            <a:endParaRPr lang="ru-RU" dirty="0"/>
          </a:p>
        </p:txBody>
      </p:sp>
      <p:sp>
        <p:nvSpPr>
          <p:cNvPr id="45060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DF5313-A6C4-4ED4-8E4B-1F233CA68587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701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Пятая нормальная форма</a:t>
            </a:r>
          </a:p>
        </p:txBody>
      </p:sp>
      <p:sp>
        <p:nvSpPr>
          <p:cNvPr id="46083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EDDEF8-56BE-46BB-ADB5-708339BF32B4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06375" y="1344613"/>
          <a:ext cx="3573463" cy="3740150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125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Продавец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Фирма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Товар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Иванов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Рога и Копыта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Пылесос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Иванов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Рога и Копыта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Хлебница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Петров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 err="1">
                          <a:effectLst/>
                        </a:rPr>
                        <a:t>Безенчук&amp;Ко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Сучкорез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Петров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Безенчук&amp;Ко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Пылесос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Петров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Безенчук&amp;Ко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Хлебница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Петров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 err="1">
                          <a:effectLst/>
                        </a:rPr>
                        <a:t>Безенчук&amp;Ко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Зонт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Сидоров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Безенчук&amp;Ко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Пылесос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Сидоров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Безенчук&amp;Ко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Телескоп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Сидоров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Рога и Копыта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Пылесос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Сидоров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Рога и Копыта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Лампа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Сидоров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Геркулес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Вешалка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6136" name="Прямоугольник 5"/>
          <p:cNvSpPr>
            <a:spLocks noChangeArrowheads="1"/>
          </p:cNvSpPr>
          <p:nvPr/>
        </p:nvSpPr>
        <p:spPr bwMode="auto">
          <a:xfrm>
            <a:off x="193675" y="5256213"/>
            <a:ext cx="3154363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3655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ts val="450"/>
              </a:spcBef>
              <a:buFontTx/>
              <a:buNone/>
            </a:pPr>
            <a:r>
              <a:rPr lang="ru-RU" altLang="ru-RU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Если дополнительных условий нет, то данное отношение, которое находится в 4-ой нормальной форме, является корректным и отражает все необходимые ограничения.</a:t>
            </a:r>
          </a:p>
        </p:txBody>
      </p:sp>
    </p:spTree>
    <p:extLst>
      <p:ext uri="{BB962C8B-B14F-4D97-AF65-F5344CB8AC3E}">
        <p14:creationId xmlns:p14="http://schemas.microsoft.com/office/powerpoint/2010/main" val="248673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Пятая нормальная форма (2)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24300" y="1330325"/>
            <a:ext cx="4911725" cy="5411788"/>
          </a:xfrm>
        </p:spPr>
        <p:txBody>
          <a:bodyPr anchor="t">
            <a:noAutofit/>
          </a:bodyPr>
          <a:lstStyle/>
          <a:p>
            <a:pPr>
              <a:defRPr/>
            </a:pPr>
            <a:r>
              <a:rPr lang="ru-RU" sz="1400" dirty="0"/>
              <a:t>Предположим, что нужно учесть следующее ограничение: </a:t>
            </a:r>
          </a:p>
          <a:p>
            <a:pPr lvl="1">
              <a:defRPr/>
            </a:pPr>
            <a:r>
              <a:rPr lang="ru-RU" sz="1200" b="1" dirty="0"/>
              <a:t>каждый продавец имеет в своём ассортименте ограниченный список фирм и ограниченный список типов товаров и предлагает товары из списка товаров, производимые фирмами из списка фирм.</a:t>
            </a:r>
            <a:endParaRPr lang="ru-RU" sz="1200" dirty="0"/>
          </a:p>
          <a:p>
            <a:pPr lvl="1">
              <a:defRPr/>
            </a:pPr>
            <a:r>
              <a:rPr lang="ru-RU" sz="1200" dirty="0"/>
              <a:t>То есть продавец </a:t>
            </a:r>
            <a:r>
              <a:rPr lang="ru-RU" sz="1200" u="sng" dirty="0"/>
              <a:t>не имеет право торговать какими угодно товарами каких угодно фирм</a:t>
            </a:r>
            <a:r>
              <a:rPr lang="ru-RU" sz="1200" dirty="0"/>
              <a:t>. </a:t>
            </a:r>
          </a:p>
          <a:p>
            <a:pPr lvl="1">
              <a:defRPr/>
            </a:pPr>
            <a:r>
              <a:rPr lang="ru-RU" sz="1200" dirty="0"/>
              <a:t>Если продавец </a:t>
            </a:r>
            <a:r>
              <a:rPr lang="ru-RU" sz="1200" i="1" dirty="0"/>
              <a:t>П</a:t>
            </a:r>
            <a:r>
              <a:rPr lang="ru-RU" sz="1200" dirty="0"/>
              <a:t> имеет право торговать товарами фирмы </a:t>
            </a:r>
            <a:r>
              <a:rPr lang="ru-RU" sz="1200" i="1" dirty="0"/>
              <a:t>Ф</a:t>
            </a:r>
            <a:r>
              <a:rPr lang="ru-RU" sz="1200" dirty="0"/>
              <a:t>, и если продавец </a:t>
            </a:r>
            <a:r>
              <a:rPr lang="ru-RU" sz="1200" i="1" dirty="0"/>
              <a:t>П</a:t>
            </a:r>
            <a:r>
              <a:rPr lang="ru-RU" sz="1200" dirty="0"/>
              <a:t> имеет право торговать товарами типа </a:t>
            </a:r>
            <a:r>
              <a:rPr lang="ru-RU" sz="1200" i="1" dirty="0"/>
              <a:t>Т</a:t>
            </a:r>
            <a:r>
              <a:rPr lang="ru-RU" sz="1200" dirty="0"/>
              <a:t>, то в этом случае в ассортимент продавца </a:t>
            </a:r>
            <a:r>
              <a:rPr lang="ru-RU" sz="1200" i="1" dirty="0"/>
              <a:t>П</a:t>
            </a:r>
            <a:r>
              <a:rPr lang="ru-RU" sz="1200" dirty="0"/>
              <a:t> входят товары типа </a:t>
            </a:r>
            <a:r>
              <a:rPr lang="ru-RU" sz="1200" i="1" dirty="0"/>
              <a:t>Т</a:t>
            </a:r>
            <a:r>
              <a:rPr lang="ru-RU" sz="1200" dirty="0"/>
              <a:t> фирмы </a:t>
            </a:r>
            <a:r>
              <a:rPr lang="ru-RU" sz="1200" i="1" dirty="0"/>
              <a:t>Ф</a:t>
            </a:r>
            <a:r>
              <a:rPr lang="ru-RU" sz="1200" dirty="0"/>
              <a:t> при условии, что фирма </a:t>
            </a:r>
            <a:r>
              <a:rPr lang="ru-RU" sz="1200" i="1" dirty="0"/>
              <a:t>Ф</a:t>
            </a:r>
            <a:r>
              <a:rPr lang="ru-RU" sz="1200" dirty="0"/>
              <a:t> производит товары типа </a:t>
            </a:r>
            <a:r>
              <a:rPr lang="ru-RU" sz="1200" i="1" dirty="0"/>
              <a:t>Т</a:t>
            </a:r>
            <a:r>
              <a:rPr lang="ru-RU" sz="1200" dirty="0"/>
              <a:t>.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ru-RU" sz="1400" i="1" dirty="0"/>
              <a:t>В рассматриваемом примере, в частности, предполагается, что </a:t>
            </a:r>
          </a:p>
          <a:p>
            <a:pPr lvl="2">
              <a:defRPr/>
            </a:pPr>
            <a:r>
              <a:rPr lang="ru-RU" sz="1100" i="1" dirty="0"/>
              <a:t>продавец Иванов имеет право торговать товарами только фирмы «Рога и Копыта», </a:t>
            </a:r>
          </a:p>
          <a:p>
            <a:pPr lvl="2">
              <a:defRPr/>
            </a:pPr>
            <a:r>
              <a:rPr lang="ru-RU" sz="1100" i="1" dirty="0"/>
              <a:t>продавец Петров — товарами только фирмы «</a:t>
            </a:r>
            <a:r>
              <a:rPr lang="ru-RU" sz="1100" i="1" dirty="0" err="1"/>
              <a:t>Безенчук&amp;Ко</a:t>
            </a:r>
            <a:r>
              <a:rPr lang="ru-RU" sz="1100" i="1" dirty="0"/>
              <a:t>», </a:t>
            </a:r>
          </a:p>
          <a:p>
            <a:pPr lvl="2">
              <a:defRPr/>
            </a:pPr>
            <a:r>
              <a:rPr lang="ru-RU" sz="1100" i="1" dirty="0"/>
              <a:t>зато продавец Сидоров не имеет право торговать хлебницами и сучкорезами и т.д.</a:t>
            </a:r>
          </a:p>
          <a:p>
            <a:pPr>
              <a:defRPr/>
            </a:pPr>
            <a:r>
              <a:rPr lang="ru-RU" sz="1400" dirty="0"/>
              <a:t>Предложенное выше отношение не может исключить ситуации, при которых </a:t>
            </a:r>
            <a:r>
              <a:rPr lang="ru-RU" sz="1400" dirty="0">
                <a:solidFill>
                  <a:srgbClr val="C00000"/>
                </a:solidFill>
              </a:rPr>
              <a:t>данное ограничение будет нарушено</a:t>
            </a:r>
            <a:r>
              <a:rPr lang="ru-RU" sz="1400" dirty="0"/>
              <a:t>. </a:t>
            </a:r>
          </a:p>
        </p:txBody>
      </p:sp>
      <p:sp>
        <p:nvSpPr>
          <p:cNvPr id="47108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4766B9-7F15-4DDB-A905-F9F9935FA1C6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06375" y="1344613"/>
          <a:ext cx="3573463" cy="3740150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125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Продавец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Фирма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Товар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Иванов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Рога и Копыта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Пылесос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Иванов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Рога и Копыта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Хлебница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Петров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 err="1">
                          <a:effectLst/>
                        </a:rPr>
                        <a:t>Безенчук&amp;Ко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Сучкорез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Петров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Безенчук&amp;Ко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Пылесос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Петров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Безенчук&amp;Ко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Хлебница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Петров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 err="1">
                          <a:effectLst/>
                        </a:rPr>
                        <a:t>Безенчук&amp;Ко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Зонт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Сидоров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Безенчук&amp;Ко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Пылесос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Сидоров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Безенчук&amp;Ко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Телескоп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Сидоров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Рога и Копыта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Пылесос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Сидоров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Рога и Копыта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Лампа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Сидоров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</a:rPr>
                        <a:t>Геркулес</a:t>
                      </a:r>
                      <a:endParaRPr lang="ru-RU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Вешалка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2" marR="68582" marT="34289" marB="34289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7161" name="Прямоугольник 5"/>
          <p:cNvSpPr>
            <a:spLocks noChangeArrowheads="1"/>
          </p:cNvSpPr>
          <p:nvPr/>
        </p:nvSpPr>
        <p:spPr bwMode="auto">
          <a:xfrm>
            <a:off x="193675" y="5256213"/>
            <a:ext cx="3154363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3655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ts val="450"/>
              </a:spcBef>
              <a:buFontTx/>
              <a:buNone/>
            </a:pPr>
            <a:r>
              <a:rPr lang="ru-RU" altLang="ru-RU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Если дополнительных условий нет, то данное отношение, которое находится в 4-ой нормальной форме, является корректным и отражает все необходимые ограничения.</a:t>
            </a:r>
          </a:p>
        </p:txBody>
      </p:sp>
    </p:spTree>
    <p:extLst>
      <p:ext uri="{BB962C8B-B14F-4D97-AF65-F5344CB8AC3E}">
        <p14:creationId xmlns:p14="http://schemas.microsoft.com/office/powerpoint/2010/main" val="13267864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Пятая нормальная форма: </a:t>
            </a:r>
            <a:br>
              <a:rPr lang="ru-RU" dirty="0"/>
            </a:br>
            <a:r>
              <a:rPr lang="ru-RU" dirty="0"/>
              <a:t>формальное описание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0825" y="1412875"/>
            <a:ext cx="8713788" cy="4464050"/>
          </a:xfrm>
        </p:spPr>
        <p:txBody>
          <a:bodyPr anchor="t">
            <a:normAutofit lnSpcReduction="10000"/>
          </a:bodyPr>
          <a:lstStyle/>
          <a:p>
            <a:pPr>
              <a:spcBef>
                <a:spcPts val="1200"/>
              </a:spcBef>
              <a:defRPr/>
            </a:pPr>
            <a:r>
              <a:rPr lang="ru-RU" b="1" dirty="0"/>
              <a:t>Поскольку рассматриваемое ограничение удовлетворяется тогда и только тогда, когда отношение равносильно </a:t>
            </a:r>
            <a:r>
              <a:rPr lang="ru-RU" b="1" i="1" dirty="0">
                <a:solidFill>
                  <a:srgbClr val="C00000"/>
                </a:solidFill>
              </a:rPr>
              <a:t>соединению трех его проекций</a:t>
            </a:r>
            <a:r>
              <a:rPr lang="ru-RU" b="1" dirty="0"/>
              <a:t>, такое ограничение еще называют </a:t>
            </a:r>
            <a:r>
              <a:rPr lang="ru-RU" b="1" dirty="0">
                <a:solidFill>
                  <a:srgbClr val="C00000"/>
                </a:solidFill>
              </a:rPr>
              <a:t>зависимостью соединения </a:t>
            </a:r>
            <a:r>
              <a:rPr lang="ru-RU" b="1" dirty="0"/>
              <a:t>(или зависимостью проекции-соединения).</a:t>
            </a:r>
            <a:endParaRPr lang="ru-RU" dirty="0"/>
          </a:p>
          <a:p>
            <a:pPr lvl="1">
              <a:spcBef>
                <a:spcPts val="1200"/>
              </a:spcBef>
              <a:defRPr/>
            </a:pPr>
            <a:r>
              <a:rPr lang="ru-RU" dirty="0"/>
              <a:t> Отношение R{А, В, С} может быть декомпозировано без потерь на проекции с атрибутами {А, В} и {А, С} тогда и только тогда, </a:t>
            </a:r>
            <a:br>
              <a:rPr lang="ru-RU" dirty="0"/>
            </a:br>
            <a:r>
              <a:rPr lang="ru-RU" dirty="0"/>
              <a:t>когда для отношения R выполняются многозначные зависимости </a:t>
            </a:r>
            <a:br>
              <a:rPr lang="ru-RU" dirty="0"/>
            </a:br>
            <a:r>
              <a:rPr lang="ru-RU" dirty="0"/>
              <a:t>А →→ В (и А →→ С).</a:t>
            </a:r>
          </a:p>
          <a:p>
            <a:pPr lvl="1">
              <a:spcBef>
                <a:spcPts val="1200"/>
              </a:spcBef>
              <a:defRPr/>
            </a:pPr>
            <a:r>
              <a:rPr lang="ru-RU" dirty="0"/>
              <a:t>Можно видеть, что фактически многозначная зависимость А →→ В эквивалентна (является частным случаем) зависимости соединения *(АВ, АС).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  <a:defRPr/>
            </a:pPr>
            <a:r>
              <a:rPr lang="ru-RU" dirty="0"/>
              <a:t>Пятая нормальная форма является окончательной нормальной формой по отношению к операциям проекции и соединения.</a:t>
            </a:r>
          </a:p>
          <a:p>
            <a:pPr>
              <a:spcBef>
                <a:spcPts val="1200"/>
              </a:spcBef>
              <a:defRPr/>
            </a:pPr>
            <a:endParaRPr lang="ru-RU" dirty="0"/>
          </a:p>
        </p:txBody>
      </p:sp>
      <p:sp>
        <p:nvSpPr>
          <p:cNvPr id="48132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FF054F-C67E-46D8-AB66-9DFE0D946521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94928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Пятая нормальная форма: Пример</a:t>
            </a:r>
          </a:p>
        </p:txBody>
      </p:sp>
      <p:sp>
        <p:nvSpPr>
          <p:cNvPr id="49155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2D3E0E-49D6-4FA1-829C-35CF3EBB4647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42888" y="1341438"/>
          <a:ext cx="3870325" cy="3363912"/>
        </p:xfrm>
        <a:graphic>
          <a:graphicData uri="http://schemas.openxmlformats.org/drawingml/2006/table">
            <a:tbl>
              <a:tblPr firstRow="1" firstCol="1" bandRow="1">
                <a:tableStyleId>{5A111915-BE36-4E01-A7E5-04B1672EAD32}</a:tableStyleId>
              </a:tblPr>
              <a:tblGrid>
                <a:gridCol w="1028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4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6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32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Продавец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Фирма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Товар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32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Иванов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Рога и Копыта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Пылесос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32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Иванов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Рога и Копыта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Хлебница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32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Петров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 err="1">
                          <a:effectLst/>
                        </a:rPr>
                        <a:t>Безенчук&amp;Ко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Сучкорез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32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Петров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 err="1">
                          <a:effectLst/>
                        </a:rPr>
                        <a:t>Безенчук&amp;Ко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Пылесос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32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Петров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 err="1">
                          <a:effectLst/>
                        </a:rPr>
                        <a:t>Безенчук&amp;Ко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Хлебница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32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Петров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 err="1">
                          <a:effectLst/>
                        </a:rPr>
                        <a:t>Безенчук&amp;Ко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Зонт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32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Сидоров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Безенчук&amp;Ко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Пылесос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32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Сидоров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Безенчук&amp;Ко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Телескоп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32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Сидоров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Рога и Копыта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Пылесос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32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Сидоров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Рога и Копыта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Лампа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32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Сидоров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Геркулес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Вешалка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5" marR="68585" marT="32371" marB="32371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5237163" y="1327150"/>
          <a:ext cx="3656012" cy="2711450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828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954">
                <a:tc gridSpan="2"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Товары продавцов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954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Продавец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Товар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954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Иванов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Пылесос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954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Иванов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Хлебница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954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Петров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Сучкорез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954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Петров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Пылесос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954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Петров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Хлебница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954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Петров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Зонт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954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Сидоров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Телескоп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954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Сидоров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Пылесос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954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Сидоров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Лампа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954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Сидоров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Вешалка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4" marB="6654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5237163" y="4259263"/>
          <a:ext cx="3656012" cy="2486025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828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002">
                <a:tc gridSpan="2"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Товары фирм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002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Фирма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Товар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002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Рога и Копыта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Пылесос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002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Рога и Копыта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Хлебница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002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Рога и Копыта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Лампа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002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Безенчук&amp;Ко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Сучкорез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002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Безенчук&amp;Ко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Пылесос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002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Безенчук&amp;Ко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Хлебница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002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Безенчук&amp;Ко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Зонт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002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Безенчук&amp;Ко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Телескоп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6002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Геркулес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Вешалка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7" marR="7147" marT="6656" marB="6656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830388" y="5148263"/>
          <a:ext cx="3013075" cy="1581150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506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879">
                <a:tc gridSpan="2"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Фирмы продавцов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1" marR="7141" marT="6649" marB="6649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8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Продавец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1" marR="7141" marT="6649" marB="66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Фирма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1" marR="7141" marT="6649" marB="664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8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Иванов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1" marR="7141" marT="6649" marB="66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Рога и Копыта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1" marR="7141" marT="6649" marB="664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8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Петров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1" marR="7141" marT="6649" marB="66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 err="1">
                          <a:effectLst/>
                        </a:rPr>
                        <a:t>Безенчук&amp;Ко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1" marR="7141" marT="6649" marB="664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8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Сидоров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1" marR="7141" marT="6649" marB="66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 err="1">
                          <a:effectLst/>
                        </a:rPr>
                        <a:t>Безенчук&amp;Ко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1" marR="7141" marT="6649" marB="664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8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Сидоров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1" marR="7141" marT="6649" marB="66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Рога и Копыта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1" marR="7141" marT="6649" marB="664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879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>
                          <a:effectLst/>
                        </a:rPr>
                        <a:t>Сидоров</a:t>
                      </a:r>
                      <a:endParaRPr lang="ru-RU" sz="13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1" marR="7141" marT="6649" marB="6649" anchor="ctr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300" kern="1200" dirty="0">
                          <a:effectLst/>
                        </a:rPr>
                        <a:t>Геркулес</a:t>
                      </a:r>
                      <a:endParaRPr lang="ru-RU" sz="13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41" marR="7141" marT="6649" marB="6649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Стрелка вправо 8"/>
          <p:cNvSpPr/>
          <p:nvPr/>
        </p:nvSpPr>
        <p:spPr>
          <a:xfrm>
            <a:off x="4346575" y="2136775"/>
            <a:ext cx="657225" cy="438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" name="Стрелка вправо 9"/>
          <p:cNvSpPr/>
          <p:nvPr/>
        </p:nvSpPr>
        <p:spPr>
          <a:xfrm>
            <a:off x="4371975" y="4318000"/>
            <a:ext cx="657225" cy="438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Стрелка вниз 10"/>
          <p:cNvSpPr/>
          <p:nvPr/>
        </p:nvSpPr>
        <p:spPr>
          <a:xfrm>
            <a:off x="3117850" y="4779963"/>
            <a:ext cx="438150" cy="2952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663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Ключевые моменты </a:t>
            </a:r>
            <a:br>
              <a:rPr lang="ru-RU" dirty="0"/>
            </a:br>
            <a:r>
              <a:rPr lang="ru-RU" dirty="0"/>
              <a:t>с точки зрения информационной безопасности</a:t>
            </a:r>
          </a:p>
        </p:txBody>
      </p:sp>
      <p:sp>
        <p:nvSpPr>
          <p:cNvPr id="50179" name="Объект 2"/>
          <p:cNvSpPr>
            <a:spLocks noGrp="1" noChangeArrowheads="1"/>
          </p:cNvSpPr>
          <p:nvPr>
            <p:ph idx="1"/>
          </p:nvPr>
        </p:nvSpPr>
        <p:spPr>
          <a:xfrm>
            <a:off x="395288" y="1471613"/>
            <a:ext cx="8194675" cy="5126037"/>
          </a:xfrm>
        </p:spPr>
        <p:txBody>
          <a:bodyPr anchor="t"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ru-RU" altLang="ru-RU" smtClean="0"/>
              <a:t>Понятие и существование функциональных зависимостей</a:t>
            </a:r>
          </a:p>
          <a:p>
            <a:pPr lvl="1">
              <a:spcBef>
                <a:spcPts val="1200"/>
              </a:spcBef>
            </a:pPr>
            <a:r>
              <a:rPr lang="ru-RU" altLang="ru-RU" smtClean="0"/>
              <a:t>Обычные функциональные зависимости</a:t>
            </a:r>
          </a:p>
          <a:p>
            <a:pPr lvl="1">
              <a:spcBef>
                <a:spcPts val="1200"/>
              </a:spcBef>
            </a:pPr>
            <a:r>
              <a:rPr lang="ru-RU" altLang="ru-RU" smtClean="0"/>
              <a:t>Многозначные функциональные зависимости</a:t>
            </a:r>
          </a:p>
          <a:p>
            <a:pPr lvl="1">
              <a:spcBef>
                <a:spcPts val="1200"/>
              </a:spcBef>
            </a:pPr>
            <a:r>
              <a:rPr lang="ru-RU" altLang="ru-RU" smtClean="0"/>
              <a:t>Более сложные функциональные зависимости (соединение и т.д.)</a:t>
            </a:r>
          </a:p>
          <a:p>
            <a:pPr>
              <a:spcBef>
                <a:spcPts val="1200"/>
              </a:spcBef>
            </a:pPr>
            <a:r>
              <a:rPr lang="ru-RU" altLang="ru-RU" smtClean="0"/>
              <a:t>Математический аппарат работы с функциональными зависимостями</a:t>
            </a:r>
          </a:p>
          <a:p>
            <a:pPr lvl="1">
              <a:spcBef>
                <a:spcPts val="1200"/>
              </a:spcBef>
            </a:pPr>
            <a:r>
              <a:rPr lang="ru-RU" altLang="ru-RU" smtClean="0"/>
              <a:t>Аксиомы армстронга, правила Дейта</a:t>
            </a:r>
          </a:p>
          <a:p>
            <a:pPr lvl="1">
              <a:spcBef>
                <a:spcPts val="1200"/>
              </a:spcBef>
            </a:pPr>
            <a:r>
              <a:rPr lang="ru-RU" altLang="ru-RU" smtClean="0"/>
              <a:t>Алгоритмы построения замыканий</a:t>
            </a:r>
          </a:p>
          <a:p>
            <a:pPr>
              <a:spcBef>
                <a:spcPts val="1200"/>
              </a:spcBef>
            </a:pPr>
            <a:r>
              <a:rPr lang="ru-RU" altLang="ru-RU" smtClean="0"/>
              <a:t>Связь функциональных зависимостей и схемы базы данных</a:t>
            </a:r>
          </a:p>
          <a:p>
            <a:pPr lvl="1">
              <a:spcBef>
                <a:spcPts val="1200"/>
              </a:spcBef>
            </a:pPr>
            <a:r>
              <a:rPr lang="ru-RU" altLang="ru-RU" smtClean="0"/>
              <a:t>Функциональные зависимости используются для создания эффективных схем баз данных</a:t>
            </a:r>
          </a:p>
          <a:p>
            <a:pPr lvl="1">
              <a:spcBef>
                <a:spcPts val="1200"/>
              </a:spcBef>
            </a:pPr>
            <a:r>
              <a:rPr lang="ru-RU" altLang="ru-RU" smtClean="0"/>
              <a:t>Схема базы данных через механизм функциональных зависимостей связана с закономерностями предметной области</a:t>
            </a:r>
          </a:p>
          <a:p>
            <a:pPr>
              <a:spcBef>
                <a:spcPts val="1200"/>
              </a:spcBef>
            </a:pPr>
            <a:endParaRPr lang="ru-RU" altLang="ru-RU" smtClean="0"/>
          </a:p>
        </p:txBody>
      </p:sp>
      <p:sp>
        <p:nvSpPr>
          <p:cNvPr id="50180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7C6A1C-ADDF-403B-A5EA-76D261C55D67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392484"/>
      </p:ext>
    </p:extLst>
  </p:cSld>
  <p:clrMapOvr>
    <a:masterClrMapping/>
  </p:clrMapOvr>
</p:sld>
</file>

<file path=ppt/theme/theme1.xml><?xml version="1.0" encoding="utf-8"?>
<a:theme xmlns:a="http://schemas.openxmlformats.org/drawingml/2006/main" name="SCC">
  <a:themeElements>
    <a:clrScheme name="Политех">
      <a:dk1>
        <a:srgbClr val="575756"/>
      </a:dk1>
      <a:lt1>
        <a:srgbClr val="FFFFFF"/>
      </a:lt1>
      <a:dk2>
        <a:srgbClr val="575756"/>
      </a:dk2>
      <a:lt2>
        <a:srgbClr val="BCBCBC"/>
      </a:lt2>
      <a:accent1>
        <a:srgbClr val="369461"/>
      </a:accent1>
      <a:accent2>
        <a:srgbClr val="DB3519"/>
      </a:accent2>
      <a:accent3>
        <a:srgbClr val="007789"/>
      </a:accent3>
      <a:accent4>
        <a:srgbClr val="90984F"/>
      </a:accent4>
      <a:accent5>
        <a:srgbClr val="2FA0E1"/>
      </a:accent5>
      <a:accent6>
        <a:srgbClr val="F0961D"/>
      </a:accent6>
      <a:hlink>
        <a:srgbClr val="E25A0B"/>
      </a:hlink>
      <a:folHlink>
        <a:srgbClr val="850006"/>
      </a:folHlink>
    </a:clrScheme>
    <a:fontScheme name="Политех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politech_new</Template>
  <TotalTime>11989</TotalTime>
  <Words>4117</Words>
  <Application>Microsoft Office PowerPoint</Application>
  <PresentationFormat>Экран (4:3)</PresentationFormat>
  <Paragraphs>725</Paragraphs>
  <Slides>50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50</vt:i4>
      </vt:variant>
    </vt:vector>
  </HeadingPairs>
  <TitlesOfParts>
    <vt:vector size="58" baseType="lpstr">
      <vt:lpstr>Arial</vt:lpstr>
      <vt:lpstr>Calibri</vt:lpstr>
      <vt:lpstr>Cambria Math</vt:lpstr>
      <vt:lpstr>PT Sans</vt:lpstr>
      <vt:lpstr>Symbol</vt:lpstr>
      <vt:lpstr>Times New Roman</vt:lpstr>
      <vt:lpstr>Wingdings 3</vt:lpstr>
      <vt:lpstr>SCC</vt:lpstr>
      <vt:lpstr>СУБД для специалиста  по информационной безопасности</vt:lpstr>
      <vt:lpstr>Темы лекции</vt:lpstr>
      <vt:lpstr>Функциональные зависимости  и математическое проектирование схемы данных</vt:lpstr>
      <vt:lpstr>Понятие функциональной зависимости</vt:lpstr>
      <vt:lpstr>ФЗ в отношениях реляционной СУБД</vt:lpstr>
      <vt:lpstr>Правила вывода ФЗ: Аксиомы Армстронга</vt:lpstr>
      <vt:lpstr>Правила вывода ФЗ: Расширения (правила) Дейта:</vt:lpstr>
      <vt:lpstr>Многозначные  функциональные зависимости</vt:lpstr>
      <vt:lpstr>Многозначные  функциональные зависимости</vt:lpstr>
      <vt:lpstr>МФЗ: пример</vt:lpstr>
      <vt:lpstr>Правила вывода МФЗ</vt:lpstr>
      <vt:lpstr>Математическое проектирование схем баз данных</vt:lpstr>
      <vt:lpstr>Математическое проектирование схемы базы данных</vt:lpstr>
      <vt:lpstr>ФЗ и формирование отношений</vt:lpstr>
      <vt:lpstr>Пример</vt:lpstr>
      <vt:lpstr>Определение связей</vt:lpstr>
      <vt:lpstr>Выявление сложных связей и соотнесение схемы с предметной областью</vt:lpstr>
      <vt:lpstr>Оптимизация схемы базы данных  на основе анализа зависимостей</vt:lpstr>
      <vt:lpstr>Итоговый результат примера</vt:lpstr>
      <vt:lpstr>Нормализация  схем баз данных</vt:lpstr>
      <vt:lpstr>Проектирование реляционных баз данных  на основе принципов нормализации</vt:lpstr>
      <vt:lpstr>Декомпозиция без потерь</vt:lpstr>
      <vt:lpstr>Пример потери исходной информации (зависимостей) при декомпозиции</vt:lpstr>
      <vt:lpstr>Пример потери исходной информации (зависимостей) при декомпозиции</vt:lpstr>
      <vt:lpstr>Корректность и построение декомпозиции отношений</vt:lpstr>
      <vt:lpstr>Нормальные формы</vt:lpstr>
      <vt:lpstr>Первая нормальная форма</vt:lpstr>
      <vt:lpstr>Первая нормальная форма (2)</vt:lpstr>
      <vt:lpstr>Первая нормальная форма (2)</vt:lpstr>
      <vt:lpstr>Первая нормальная форма (2)</vt:lpstr>
      <vt:lpstr>Первая нормальная форма: Пример</vt:lpstr>
      <vt:lpstr>Вторая нормальная форма</vt:lpstr>
      <vt:lpstr>Вторая нормальная форма: аномалии</vt:lpstr>
      <vt:lpstr>Вторая нормальная форма: пример</vt:lpstr>
      <vt:lpstr>Третья нормальная форма</vt:lpstr>
      <vt:lpstr>Третья нормальная форма: аномалии</vt:lpstr>
      <vt:lpstr>Третья нормальная форма: Пример</vt:lpstr>
      <vt:lpstr>Что меняется в процессе нормализации</vt:lpstr>
      <vt:lpstr>Нормальная форма Бойса-Кодда</vt:lpstr>
      <vt:lpstr>Нормальная форма Бойса-Кодда: Пример</vt:lpstr>
      <vt:lpstr>Многозначные зависимости  и четвертая нормальная форма</vt:lpstr>
      <vt:lpstr>Многозначные зависимости  и четвертая нормальная форма</vt:lpstr>
      <vt:lpstr>Четвертая нормальная форма</vt:lpstr>
      <vt:lpstr>Четвертая нормальная форма: Пример</vt:lpstr>
      <vt:lpstr>Зависимости по соединению  и пятая нормальная форма</vt:lpstr>
      <vt:lpstr>Пятая нормальная форма</vt:lpstr>
      <vt:lpstr>Пятая нормальная форма (2)</vt:lpstr>
      <vt:lpstr>Пятая нормальная форма:  формальное описание</vt:lpstr>
      <vt:lpstr>Пятая нормальная форма: Пример</vt:lpstr>
      <vt:lpstr>Ключевые моменты  с точки зрения информационной безопасности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 UNIX: Архитектура ОС. Стандарт POSIX</dc:title>
  <dc:creator>Василий</dc:creator>
  <cp:lastModifiedBy>Maria</cp:lastModifiedBy>
  <cp:revision>593</cp:revision>
  <dcterms:created xsi:type="dcterms:W3CDTF">2018-04-03T06:05:28Z</dcterms:created>
  <dcterms:modified xsi:type="dcterms:W3CDTF">2024-02-14T13:55:40Z</dcterms:modified>
</cp:coreProperties>
</file>