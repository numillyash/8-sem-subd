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64"/>
  </p:notesMasterIdLst>
  <p:sldIdLst>
    <p:sldId id="381" r:id="rId2"/>
    <p:sldId id="387" r:id="rId3"/>
    <p:sldId id="468" r:id="rId4"/>
    <p:sldId id="531" r:id="rId5"/>
    <p:sldId id="532" r:id="rId6"/>
    <p:sldId id="533" r:id="rId7"/>
    <p:sldId id="534" r:id="rId8"/>
    <p:sldId id="535" r:id="rId9"/>
    <p:sldId id="536" r:id="rId10"/>
    <p:sldId id="537" r:id="rId11"/>
    <p:sldId id="538" r:id="rId12"/>
    <p:sldId id="539" r:id="rId13"/>
    <p:sldId id="540" r:id="rId14"/>
    <p:sldId id="541" r:id="rId15"/>
    <p:sldId id="542" r:id="rId16"/>
    <p:sldId id="543" r:id="rId17"/>
    <p:sldId id="544" r:id="rId18"/>
    <p:sldId id="545" r:id="rId19"/>
    <p:sldId id="546" r:id="rId20"/>
    <p:sldId id="547" r:id="rId21"/>
    <p:sldId id="548" r:id="rId22"/>
    <p:sldId id="549" r:id="rId23"/>
    <p:sldId id="550" r:id="rId24"/>
    <p:sldId id="551" r:id="rId25"/>
    <p:sldId id="552" r:id="rId26"/>
    <p:sldId id="553" r:id="rId27"/>
    <p:sldId id="554" r:id="rId28"/>
    <p:sldId id="555" r:id="rId29"/>
    <p:sldId id="556" r:id="rId30"/>
    <p:sldId id="557" r:id="rId31"/>
    <p:sldId id="558" r:id="rId32"/>
    <p:sldId id="559" r:id="rId33"/>
    <p:sldId id="560" r:id="rId34"/>
    <p:sldId id="561" r:id="rId35"/>
    <p:sldId id="562" r:id="rId36"/>
    <p:sldId id="563" r:id="rId37"/>
    <p:sldId id="564" r:id="rId38"/>
    <p:sldId id="565" r:id="rId39"/>
    <p:sldId id="566" r:id="rId40"/>
    <p:sldId id="567" r:id="rId41"/>
    <p:sldId id="568" r:id="rId42"/>
    <p:sldId id="569" r:id="rId43"/>
    <p:sldId id="570" r:id="rId44"/>
    <p:sldId id="571" r:id="rId45"/>
    <p:sldId id="572" r:id="rId46"/>
    <p:sldId id="573" r:id="rId47"/>
    <p:sldId id="574" r:id="rId48"/>
    <p:sldId id="575" r:id="rId49"/>
    <p:sldId id="576" r:id="rId50"/>
    <p:sldId id="577" r:id="rId51"/>
    <p:sldId id="578" r:id="rId52"/>
    <p:sldId id="579" r:id="rId53"/>
    <p:sldId id="580" r:id="rId54"/>
    <p:sldId id="581" r:id="rId55"/>
    <p:sldId id="582" r:id="rId56"/>
    <p:sldId id="583" r:id="rId57"/>
    <p:sldId id="584" r:id="rId58"/>
    <p:sldId id="585" r:id="rId59"/>
    <p:sldId id="586" r:id="rId60"/>
    <p:sldId id="587" r:id="rId61"/>
    <p:sldId id="588" r:id="rId62"/>
    <p:sldId id="589" r:id="rId6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Мария Полтавцева" initials="МП" lastIdx="1" clrIdx="0">
    <p:extLst>
      <p:ext uri="{19B8F6BF-5375-455C-9EA6-DF929625EA0E}">
        <p15:presenceInfo xmlns:p15="http://schemas.microsoft.com/office/powerpoint/2012/main" userId="30c9d96cf1c6ac9c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69461"/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793D81CF-94F2-401A-BA57-92F5A7B2D0C5}" styleName="Средний стиль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912" autoAdjust="0"/>
    <p:restoredTop sz="89692" autoAdjust="0"/>
  </p:normalViewPr>
  <p:slideViewPr>
    <p:cSldViewPr snapToObjects="1">
      <p:cViewPr varScale="1">
        <p:scale>
          <a:sx n="100" d="100"/>
          <a:sy n="100" d="100"/>
        </p:scale>
        <p:origin x="2046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20.02.2024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22145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598979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412496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6152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5731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896544"/>
          </a:xfrm>
        </p:spPr>
        <p:txBody>
          <a:bodyPr anchor="t">
            <a:normAutofit fontScale="92500" lnSpcReduction="20000"/>
          </a:bodyPr>
          <a:lstStyle/>
          <a:p>
            <a:r>
              <a:rPr lang="ru-RU" dirty="0"/>
              <a:t>Защита от </a:t>
            </a:r>
            <a:r>
              <a:rPr lang="en-US" dirty="0"/>
              <a:t>SQL</a:t>
            </a:r>
            <a:r>
              <a:rPr lang="ru-RU" dirty="0"/>
              <a:t> – </a:t>
            </a:r>
            <a:r>
              <a:rPr lang="ru-RU" dirty="0" smtClean="0"/>
              <a:t>инъекций</a:t>
            </a:r>
            <a:endParaRPr lang="ru-RU" dirty="0"/>
          </a:p>
          <a:p>
            <a:pPr lvl="1"/>
            <a:r>
              <a:rPr lang="ru-RU" dirty="0"/>
              <a:t>Основы защиты: внешние и встроенные средства, особенности атак</a:t>
            </a:r>
          </a:p>
          <a:p>
            <a:pPr lvl="1"/>
            <a:r>
              <a:rPr lang="ru-RU" dirty="0"/>
              <a:t>Подстановка данных и связывание переменных</a:t>
            </a:r>
          </a:p>
          <a:p>
            <a:pPr lvl="1"/>
            <a:r>
              <a:rPr lang="ru-RU" dirty="0" smtClean="0"/>
              <a:t>Инъекции </a:t>
            </a:r>
            <a:r>
              <a:rPr lang="ru-RU" dirty="0"/>
              <a:t>в другие языки запросов</a:t>
            </a:r>
          </a:p>
          <a:p>
            <a:r>
              <a:rPr lang="ru-RU" dirty="0"/>
              <a:t>Эскалация привилегий</a:t>
            </a:r>
          </a:p>
          <a:p>
            <a:pPr lvl="1"/>
            <a:r>
              <a:rPr lang="ru-RU" dirty="0"/>
              <a:t>Основные техники</a:t>
            </a:r>
          </a:p>
          <a:p>
            <a:pPr lvl="1"/>
            <a:r>
              <a:rPr lang="ru-RU" dirty="0"/>
              <a:t>Реактивная и </a:t>
            </a:r>
            <a:r>
              <a:rPr lang="ru-RU" dirty="0" err="1"/>
              <a:t>проактивная</a:t>
            </a:r>
            <a:r>
              <a:rPr lang="ru-RU" dirty="0"/>
              <a:t> защита</a:t>
            </a:r>
          </a:p>
          <a:p>
            <a:pPr lvl="1"/>
            <a:r>
              <a:rPr lang="ru-RU" dirty="0" smtClean="0"/>
              <a:t>Не реляционные СУБД</a:t>
            </a:r>
          </a:p>
          <a:p>
            <a:r>
              <a:rPr lang="ru-RU" dirty="0"/>
              <a:t>Основы транзакционной обработки данных</a:t>
            </a:r>
          </a:p>
          <a:p>
            <a:r>
              <a:rPr lang="ru-RU" dirty="0"/>
              <a:t>Триггеры</a:t>
            </a:r>
          </a:p>
          <a:p>
            <a:pPr lvl="1"/>
            <a:r>
              <a:rPr lang="ru-RU" dirty="0" smtClean="0"/>
              <a:t>Основы технологии</a:t>
            </a:r>
          </a:p>
          <a:p>
            <a:pPr lvl="1"/>
            <a:r>
              <a:rPr lang="ru-RU" dirty="0" smtClean="0"/>
              <a:t>Использование в задачах безопасности</a:t>
            </a:r>
          </a:p>
          <a:p>
            <a:pPr lvl="1"/>
            <a:r>
              <a:rPr lang="ru-RU" dirty="0" smtClean="0"/>
              <a:t>Организация пользовательского аудита</a:t>
            </a:r>
          </a:p>
          <a:p>
            <a:r>
              <a:rPr lang="ru-RU" dirty="0" smtClean="0"/>
              <a:t>Представления</a:t>
            </a:r>
            <a:endParaRPr lang="ru-RU" dirty="0"/>
          </a:p>
          <a:p>
            <a:pPr lvl="1"/>
            <a:r>
              <a:rPr lang="ru-RU" dirty="0"/>
              <a:t>Понятие представления</a:t>
            </a:r>
          </a:p>
          <a:p>
            <a:pPr lvl="1"/>
            <a:r>
              <a:rPr lang="ru-RU" dirty="0"/>
              <a:t>Виды представлений</a:t>
            </a:r>
          </a:p>
          <a:p>
            <a:pPr lvl="1"/>
            <a:r>
              <a:rPr lang="ru-RU" dirty="0"/>
              <a:t>Применение и уязвимости представлений </a:t>
            </a:r>
          </a:p>
          <a:p>
            <a:pPr lvl="1"/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Защита от </a:t>
            </a:r>
            <a:r>
              <a:rPr lang="en-US" dirty="0" err="1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SQLi</a:t>
            </a:r>
            <a:r>
              <a:rPr lang="en-US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 smtClean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эскалация привилегий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548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12861F-CAAD-282C-7403-6C707E5C3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Защита от </a:t>
            </a:r>
            <a:r>
              <a:rPr lang="en-US" dirty="0"/>
              <a:t>SQLi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3899B7F-63D1-F499-949B-DF8D310A22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1CB863F-850F-71F7-A6A2-4747C8A2D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368" y="1726354"/>
            <a:ext cx="7711264" cy="3718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19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620A80-BCD2-3833-89DC-FD180266D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Общие рекомендации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9A4E20-884F-9552-1BA1-CE5CA2DBC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784" y="1473764"/>
            <a:ext cx="8460432" cy="4752528"/>
          </a:xfrm>
        </p:spPr>
        <p:txBody>
          <a:bodyPr>
            <a:normAutofit/>
          </a:bodyPr>
          <a:lstStyle/>
          <a:p>
            <a:r>
              <a:rPr lang="ru-RU" dirty="0"/>
              <a:t>Реакция на большие входные данные неожиданного формата;</a:t>
            </a:r>
          </a:p>
          <a:p>
            <a:r>
              <a:rPr lang="ru-RU" dirty="0"/>
              <a:t>Реакция на ввод дополнительных экранированных инструкций в текстовое поле или строковые переменные;</a:t>
            </a:r>
          </a:p>
          <a:p>
            <a:r>
              <a:rPr lang="ru-RU" dirty="0"/>
              <a:t>Проверка типов и размеров всех вводимых данных;</a:t>
            </a:r>
          </a:p>
          <a:p>
            <a:r>
              <a:rPr lang="ru-RU" dirty="0"/>
              <a:t>Отклоняйте записи, содержащие двоичные данные, управляющие последовательности и символы комментария. </a:t>
            </a:r>
          </a:p>
          <a:p>
            <a:pPr lvl="1"/>
            <a:r>
              <a:rPr lang="ru-RU" dirty="0"/>
              <a:t>Это поможет предотвратить внедрение сценария и защитит от некоторых приемов атаки, использующих переполнение буфера. </a:t>
            </a:r>
          </a:p>
          <a:p>
            <a:r>
              <a:rPr lang="ru-RU" dirty="0"/>
              <a:t>Не объединяйте введенные пользователем данные без проверки.</a:t>
            </a:r>
          </a:p>
          <a:p>
            <a:pPr lvl="1"/>
            <a:r>
              <a:rPr lang="ru-RU" dirty="0"/>
              <a:t>Объединение строк является основной точкой входа для внедрения сценария.</a:t>
            </a:r>
          </a:p>
          <a:p>
            <a:r>
              <a:rPr lang="ru-RU" dirty="0"/>
              <a:t>При работе с XML-документами - соответствие схеме.</a:t>
            </a:r>
          </a:p>
          <a:p>
            <a:r>
              <a:rPr lang="ru-RU" dirty="0"/>
              <a:t>Функции и хранимые процедуры вместно прямой вставки данных в </a:t>
            </a:r>
            <a:r>
              <a:rPr lang="en-US" dirty="0"/>
              <a:t>SQL</a:t>
            </a:r>
            <a:r>
              <a:rPr lang="ru-RU" dirty="0"/>
              <a:t>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91972DE-1ECD-BE79-C894-E35B4FF1E2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93923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5ADD-C80C-006E-3B42-CE962C0E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средств защиты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5C23E1-F0B2-36D2-96D1-A00AFBE9F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24810D5-3A9F-66F1-6BA8-4DDB224679B6}"/>
              </a:ext>
            </a:extLst>
          </p:cNvPr>
          <p:cNvSpPr txBox="1">
            <a:spLocks/>
          </p:cNvSpPr>
          <p:nvPr/>
        </p:nvSpPr>
        <p:spPr>
          <a:xfrm>
            <a:off x="395536" y="1318150"/>
            <a:ext cx="8882303" cy="92343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Использование чисел</a:t>
            </a:r>
          </a:p>
          <a:p>
            <a:pPr lvl="1"/>
            <a:r>
              <a:rPr lang="ru-RU" dirty="0"/>
              <a:t>для обхода </a:t>
            </a:r>
            <a:r>
              <a:rPr lang="ru-RU" dirty="0" err="1"/>
              <a:t>magic_quotes</a:t>
            </a:r>
            <a:r>
              <a:rPr lang="ru-RU" dirty="0"/>
              <a:t>() и подобных фильтров, в том числе и WAF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D9B6AD3-C06D-8665-5906-86048B904F5C}"/>
              </a:ext>
            </a:extLst>
          </p:cNvPr>
          <p:cNvSpPr/>
          <p:nvPr/>
        </p:nvSpPr>
        <p:spPr>
          <a:xfrm>
            <a:off x="1445530" y="2330244"/>
            <a:ext cx="7060276" cy="23206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0</a:t>
            </a:r>
            <a:r>
              <a:rPr lang="en-US" sz="16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xHEX</a:t>
            </a: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_ЧИСЛО (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SM</a:t>
            </a: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):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CHAR</a:t>
            </a: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(0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x</a:t>
            </a: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66) (</a:t>
            </a:r>
            <a:r>
              <a:rPr lang="en-US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</a:t>
            </a: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0x5045 (это не число, а строка) (M)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ru-RU" sz="16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0x50 + 0x45 (теперь это число) (M)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Пример</a:t>
            </a:r>
            <a:r>
              <a:rPr lang="en-US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:</a:t>
            </a:r>
            <a:endParaRPr lang="ru-RU" sz="1600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LOAD_FILE(0x633A5C626F6F742E696E69) (M)</a:t>
            </a:r>
            <a:endParaRPr lang="ru-RU" sz="1600" dirty="0">
              <a:solidFill>
                <a:srgbClr val="C0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ru-RU" sz="1600" dirty="0">
                <a:latin typeface="Times New Roman" panose="02020603050405020304" pitchFamily="18" charset="0"/>
                <a:ea typeface="Calibri" panose="020F0502020204030204" pitchFamily="34" charset="0"/>
              </a:rPr>
              <a:t>Покажет содержание файла c:\boot.ini</a:t>
            </a:r>
            <a:endParaRPr lang="ru-RU" sz="1600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sp>
        <p:nvSpPr>
          <p:cNvPr id="7" name="Объект 2">
            <a:extLst>
              <a:ext uri="{FF2B5EF4-FFF2-40B4-BE49-F238E27FC236}">
                <a16:creationId xmlns:a16="http://schemas.microsoft.com/office/drawing/2014/main" id="{5C408991-B710-86DF-A593-07E41DE51181}"/>
              </a:ext>
            </a:extLst>
          </p:cNvPr>
          <p:cNvSpPr txBox="1">
            <a:spLocks/>
          </p:cNvSpPr>
          <p:nvPr/>
        </p:nvSpPr>
        <p:spPr>
          <a:xfrm>
            <a:off x="638090" y="4880590"/>
            <a:ext cx="8882303" cy="559869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Конкатенация строк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6B9C4DE-69FE-E262-B230-50D5AF8DE18F}"/>
              </a:ext>
            </a:extLst>
          </p:cNvPr>
          <p:cNvSpPr/>
          <p:nvPr/>
        </p:nvSpPr>
        <p:spPr>
          <a:xfrm>
            <a:off x="1259632" y="5601280"/>
            <a:ext cx="6096000" cy="6093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+ (S): SELECT login + '-' + password FROM members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|| (*MO): SELECT login || '-' || password FROM members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2782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5ADD-C80C-006E-3B42-CE962C0E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средств защиты - продолжение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5C23E1-F0B2-36D2-96D1-A00AFBE9F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F970578-C6F9-F3B5-B8ED-944B1D04057A}"/>
              </a:ext>
            </a:extLst>
          </p:cNvPr>
          <p:cNvSpPr txBox="1">
            <a:spLocks/>
          </p:cNvSpPr>
          <p:nvPr/>
        </p:nvSpPr>
        <p:spPr>
          <a:xfrm>
            <a:off x="395536" y="1491839"/>
            <a:ext cx="8882303" cy="83290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fontScale="92500" lnSpcReduction="20000"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dirty="0"/>
              <a:t>Обход проверки подлинности</a:t>
            </a:r>
          </a:p>
          <a:p>
            <a:pPr lvl="1"/>
            <a:r>
              <a:rPr lang="ru-RU" dirty="0"/>
              <a:t>злоумышленник может объединить результаты с известным паролем и его </a:t>
            </a:r>
            <a:r>
              <a:rPr lang="ru-RU" dirty="0" err="1"/>
              <a:t>хешем</a:t>
            </a:r>
            <a:endParaRPr lang="ru-RU" dirty="0"/>
          </a:p>
          <a:p>
            <a:endParaRPr lang="ru-RU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0366F94-0D4E-AD7A-EE3F-7C747DE697F6}"/>
              </a:ext>
            </a:extLst>
          </p:cNvPr>
          <p:cNvSpPr/>
          <p:nvPr/>
        </p:nvSpPr>
        <p:spPr>
          <a:xfrm>
            <a:off x="655142" y="2166128"/>
            <a:ext cx="8481753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Username : admin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Password : 1234 ' AND 1=0 UNION ALL SELECT 'admin', '81dc9bdb52d04dc20036dbd8313ed05581dc9bdb52d04dc20036dbd8313ed055 = MD5(1234)</a:t>
            </a:r>
            <a:endParaRPr lang="ru-RU" sz="1400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0" name="Объект 2">
            <a:extLst>
              <a:ext uri="{FF2B5EF4-FFF2-40B4-BE49-F238E27FC236}">
                <a16:creationId xmlns:a16="http://schemas.microsoft.com/office/drawing/2014/main" id="{E9DCA6E0-0E40-8923-D556-3F56150C2FD5}"/>
              </a:ext>
            </a:extLst>
          </p:cNvPr>
          <p:cNvSpPr txBox="1">
            <a:spLocks/>
          </p:cNvSpPr>
          <p:nvPr/>
        </p:nvSpPr>
        <p:spPr>
          <a:xfrm>
            <a:off x="454866" y="3206659"/>
            <a:ext cx="8077573" cy="3276995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ru-RU" sz="1800" dirty="0"/>
              <a:t>Инъекция </a:t>
            </a:r>
            <a:r>
              <a:rPr lang="ru-RU" sz="1800" dirty="0" err="1"/>
              <a:t>нулл</a:t>
            </a:r>
            <a:r>
              <a:rPr lang="ru-RU" sz="1800" dirty="0"/>
              <a:t>-байта</a:t>
            </a:r>
          </a:p>
          <a:p>
            <a:r>
              <a:rPr lang="ru-RU" sz="1800" dirty="0"/>
              <a:t>Смешанное содержимое</a:t>
            </a:r>
          </a:p>
          <a:p>
            <a:pPr lvl="1"/>
            <a:r>
              <a:rPr lang="ru-RU" sz="1600" dirty="0"/>
              <a:t>Например преобразуем &lt;</a:t>
            </a:r>
            <a:r>
              <a:rPr lang="ru-RU" sz="1600" dirty="0" err="1"/>
              <a:t>script</a:t>
            </a:r>
            <a:r>
              <a:rPr lang="ru-RU" sz="1600" dirty="0"/>
              <a:t>&gt; в &lt;</a:t>
            </a:r>
            <a:r>
              <a:rPr lang="ru-RU" sz="1600" dirty="0" err="1"/>
              <a:t>sCrIPt</a:t>
            </a:r>
            <a:r>
              <a:rPr lang="ru-RU" sz="1600" dirty="0"/>
              <a:t>&gt;</a:t>
            </a:r>
          </a:p>
          <a:p>
            <a:r>
              <a:rPr lang="ru-RU" sz="1800" dirty="0"/>
              <a:t>Встроенные комментарии</a:t>
            </a:r>
          </a:p>
          <a:p>
            <a:pPr lvl="1"/>
            <a:r>
              <a:rPr lang="ru-RU" sz="1600" dirty="0"/>
              <a:t>использование комментария в атакующем запросе. Например, / *! SELECT * /  может быть пропущен защитным средством, но обработан в веб-приложении.</a:t>
            </a:r>
          </a:p>
          <a:p>
            <a:r>
              <a:rPr lang="ru-RU" sz="1800" dirty="0"/>
              <a:t>Раздробленные запросы (</a:t>
            </a:r>
            <a:r>
              <a:rPr lang="ru-RU" sz="1800" dirty="0" err="1"/>
              <a:t>chunked</a:t>
            </a:r>
            <a:r>
              <a:rPr lang="ru-RU" sz="1800" dirty="0"/>
              <a:t>) и другие средства,</a:t>
            </a:r>
            <a:br>
              <a:rPr lang="ru-RU" sz="1800" dirty="0"/>
            </a:br>
            <a:r>
              <a:rPr lang="ru-RU" sz="1800" dirty="0"/>
              <a:t> типовые для веб-запросов</a:t>
            </a:r>
          </a:p>
        </p:txBody>
      </p:sp>
    </p:spTree>
    <p:extLst>
      <p:ext uri="{BB962C8B-B14F-4D97-AF65-F5344CB8AC3E}">
        <p14:creationId xmlns:p14="http://schemas.microsoft.com/office/powerpoint/2010/main" val="1383796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585ADD-C80C-006E-3B42-CE962C0EB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Уязвимости средств защиты - продолжение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E5C23E1-F0B2-36D2-96D1-A00AFBE9F3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05E2471-A75C-689A-7286-AADA3D3632BF}"/>
              </a:ext>
            </a:extLst>
          </p:cNvPr>
          <p:cNvSpPr txBox="1"/>
          <p:nvPr/>
        </p:nvSpPr>
        <p:spPr>
          <a:xfrm>
            <a:off x="670166" y="1341803"/>
            <a:ext cx="7992888" cy="5078313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defPPr>
              <a:defRPr lang="ru-RU"/>
            </a:defPPr>
            <a:lvl1pPr marL="342900" indent="-342900">
              <a:spcBef>
                <a:spcPct val="20000"/>
              </a:spcBef>
              <a:buFont typeface="Arial" pitchFamily="34" charset="0"/>
              <a:buChar char="•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  <a:defRPr sz="1600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>
              <a:spcBef>
                <a:spcPts val="600"/>
              </a:spcBef>
            </a:pPr>
            <a:r>
              <a:rPr lang="ru-RU" dirty="0"/>
              <a:t>URL </a:t>
            </a:r>
            <a:r>
              <a:rPr lang="ru-RU" dirty="0" err="1"/>
              <a:t>encoding</a:t>
            </a:r>
            <a:r>
              <a:rPr lang="ru-RU" dirty="0"/>
              <a:t> (</a:t>
            </a:r>
            <a:r>
              <a:rPr lang="ru-RU" dirty="0" err="1"/>
              <a:t>hex</a:t>
            </a:r>
            <a:r>
              <a:rPr lang="ru-RU" dirty="0"/>
              <a:t>)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Использование 16-ричного представления символов, например %27 </a:t>
            </a:r>
            <a:br>
              <a:rPr lang="ru-RU" dirty="0"/>
            </a:br>
            <a:r>
              <a:rPr lang="ru-RU" dirty="0"/>
              <a:t>- символа кавычки. 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Может быть использовано в сочетании в другими методами обхода.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Могут встречаться другие функции преобразования, например функция </a:t>
            </a:r>
            <a:r>
              <a:rPr lang="ru-RU" dirty="0" err="1"/>
              <a:t>reverse</a:t>
            </a:r>
            <a:r>
              <a:rPr lang="ru-RU" dirty="0"/>
              <a:t>: </a:t>
            </a:r>
            <a:r>
              <a:rPr lang="ru-RU" dirty="0" err="1"/>
              <a:t>reverse</a:t>
            </a:r>
            <a:r>
              <a:rPr lang="ru-RU" dirty="0"/>
              <a:t>(‘&gt;</a:t>
            </a:r>
            <a:r>
              <a:rPr lang="ru-RU" dirty="0" err="1"/>
              <a:t>tpircs</a:t>
            </a:r>
            <a:r>
              <a:rPr lang="ru-RU" dirty="0"/>
              <a:t>/&lt;)</a:t>
            </a:r>
            <a:r>
              <a:rPr lang="ru-RU" dirty="0" err="1"/>
              <a:t>niamod.tnemucod</a:t>
            </a:r>
            <a:r>
              <a:rPr lang="ru-RU" dirty="0"/>
              <a:t>(</a:t>
            </a:r>
            <a:r>
              <a:rPr lang="ru-RU" dirty="0" err="1"/>
              <a:t>trela</a:t>
            </a:r>
            <a:r>
              <a:rPr lang="ru-RU" dirty="0"/>
              <a:t>&gt;</a:t>
            </a:r>
            <a:r>
              <a:rPr lang="ru-RU" dirty="0" err="1"/>
              <a:t>tpircs</a:t>
            </a:r>
            <a:r>
              <a:rPr lang="ru-RU" dirty="0"/>
              <a:t>&lt;‘)</a:t>
            </a:r>
          </a:p>
          <a:p>
            <a:pPr>
              <a:spcBef>
                <a:spcPts val="600"/>
              </a:spcBef>
            </a:pPr>
            <a:r>
              <a:rPr lang="ru-RU" dirty="0"/>
              <a:t>Разделение ключевых слов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При добавлении спецсимволов и т.п. в качестве разделителя, они вырезаются защитными средствами и на выходе мы получаем обработанный, но целый код: </a:t>
            </a:r>
            <a:r>
              <a:rPr lang="ru-RU" b="1" dirty="0"/>
              <a:t>&lt;SEL &lt;ECT&gt; =&gt; &lt;SELECT&gt;</a:t>
            </a:r>
          </a:p>
          <a:p>
            <a:pPr>
              <a:spcBef>
                <a:spcPts val="600"/>
              </a:spcBef>
            </a:pPr>
            <a:r>
              <a:rPr lang="ru-RU" dirty="0"/>
              <a:t>Дублирование ключевых слов</a:t>
            </a:r>
          </a:p>
          <a:p>
            <a:pPr lvl="1">
              <a:spcBef>
                <a:spcPts val="600"/>
              </a:spcBef>
            </a:pPr>
            <a:r>
              <a:rPr lang="ru-RU" dirty="0"/>
              <a:t>Пример: </a:t>
            </a:r>
            <a:r>
              <a:rPr lang="ru-RU" b="1" dirty="0"/>
              <a:t>SELECTSELECT</a:t>
            </a:r>
            <a:r>
              <a:rPr lang="ru-RU" dirty="0"/>
              <a:t> будет обработан и из него будет вырезан первый SELECT, на выходе получим SELECT</a:t>
            </a:r>
          </a:p>
          <a:p>
            <a:pPr>
              <a:spcBef>
                <a:spcPts val="600"/>
              </a:spcBef>
            </a:pPr>
            <a:r>
              <a:rPr lang="ru-RU" dirty="0"/>
              <a:t>Переполнение буфера</a:t>
            </a:r>
          </a:p>
          <a:p>
            <a:pPr>
              <a:spcBef>
                <a:spcPts val="600"/>
              </a:spcBef>
            </a:pPr>
            <a:r>
              <a:rPr lang="ru-RU" dirty="0"/>
              <a:t>* * * </a:t>
            </a:r>
          </a:p>
        </p:txBody>
      </p:sp>
    </p:spTree>
    <p:extLst>
      <p:ext uri="{BB962C8B-B14F-4D97-AF65-F5344CB8AC3E}">
        <p14:creationId xmlns:p14="http://schemas.microsoft.com/office/powerpoint/2010/main" val="34838732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214409-C9F9-2069-31BE-EF2E15C71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Встроенные средства защиты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244F5C-46AA-192A-81DD-009DBE3CE8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880320"/>
          </a:xfrm>
        </p:spPr>
        <p:txBody>
          <a:bodyPr/>
          <a:lstStyle/>
          <a:p>
            <a:r>
              <a:rPr lang="ru-RU" b="1" dirty="0"/>
              <a:t>Техники:</a:t>
            </a:r>
          </a:p>
          <a:p>
            <a:pPr lvl="1"/>
            <a:r>
              <a:rPr lang="ru-RU" dirty="0"/>
              <a:t>Проверка входных данных</a:t>
            </a:r>
          </a:p>
          <a:p>
            <a:pPr lvl="1"/>
            <a:r>
              <a:rPr lang="ru-RU" dirty="0"/>
              <a:t>Квотирование (контроль формата, размерности/длины и т.д.)</a:t>
            </a:r>
          </a:p>
          <a:p>
            <a:pPr lvl="1"/>
            <a:r>
              <a:rPr lang="ru-RU" dirty="0"/>
              <a:t>Экранирование спецсимволов</a:t>
            </a:r>
          </a:p>
          <a:p>
            <a:pPr lvl="1"/>
            <a:r>
              <a:rPr lang="ru-RU" i="1" dirty="0">
                <a:solidFill>
                  <a:schemeClr val="accent1"/>
                </a:solidFill>
              </a:rPr>
              <a:t>Использование подстановки (связанных переменных)</a:t>
            </a:r>
          </a:p>
          <a:p>
            <a:pPr lvl="1"/>
            <a:r>
              <a:rPr lang="ru-RU" i="1" dirty="0">
                <a:solidFill>
                  <a:schemeClr val="accent1"/>
                </a:solidFill>
              </a:rPr>
              <a:t>Использование триггеров</a:t>
            </a:r>
          </a:p>
          <a:p>
            <a:pPr lvl="1"/>
            <a:r>
              <a:rPr lang="ru-RU" i="1" dirty="0">
                <a:solidFill>
                  <a:schemeClr val="accent1"/>
                </a:solidFill>
              </a:rPr>
              <a:t>Использование </a:t>
            </a:r>
            <a:r>
              <a:rPr lang="ru-RU" i="1" dirty="0">
                <a:solidFill>
                  <a:srgbClr val="C00000"/>
                </a:solidFill>
              </a:rPr>
              <a:t>хранимых процедур </a:t>
            </a:r>
            <a:r>
              <a:rPr lang="ru-RU" i="1" dirty="0">
                <a:solidFill>
                  <a:schemeClr val="accent1"/>
                </a:solidFill>
              </a:rPr>
              <a:t>и </a:t>
            </a:r>
            <a:r>
              <a:rPr lang="en-US" i="1" dirty="0">
                <a:solidFill>
                  <a:schemeClr val="accent1"/>
                </a:solidFill>
              </a:rPr>
              <a:t>WHITE</a:t>
            </a:r>
            <a:r>
              <a:rPr lang="ru-RU" i="1" dirty="0">
                <a:solidFill>
                  <a:schemeClr val="accent1"/>
                </a:solidFill>
              </a:rPr>
              <a:t> – листа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960B447-CF7C-3766-28D0-C3C0630DF3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2A513DCD-056E-DA3C-ECDC-5200EC3B6B1C}"/>
              </a:ext>
            </a:extLst>
          </p:cNvPr>
          <p:cNvSpPr txBox="1">
            <a:spLocks/>
          </p:cNvSpPr>
          <p:nvPr/>
        </p:nvSpPr>
        <p:spPr>
          <a:xfrm>
            <a:off x="683568" y="3929577"/>
            <a:ext cx="8596668" cy="978851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Проблема </a:t>
            </a:r>
            <a:r>
              <a:rPr lang="ru-RU" dirty="0">
                <a:solidFill>
                  <a:srgbClr val="C00000"/>
                </a:solidFill>
              </a:rPr>
              <a:t>управления привилегиями </a:t>
            </a:r>
          </a:p>
          <a:p>
            <a:pPr lvl="1"/>
            <a:r>
              <a:rPr lang="en-US" dirty="0" err="1"/>
              <a:t>db</a:t>
            </a:r>
            <a:r>
              <a:rPr lang="ru-RU" dirty="0"/>
              <a:t>_</a:t>
            </a:r>
            <a:r>
              <a:rPr lang="en-US" dirty="0" err="1"/>
              <a:t>datareader</a:t>
            </a:r>
            <a:r>
              <a:rPr lang="ru-RU" dirty="0"/>
              <a:t>, </a:t>
            </a:r>
            <a:r>
              <a:rPr lang="en-US" dirty="0" err="1"/>
              <a:t>db</a:t>
            </a:r>
            <a:r>
              <a:rPr lang="ru-RU" dirty="0"/>
              <a:t>_</a:t>
            </a:r>
            <a:r>
              <a:rPr lang="en-US" dirty="0" err="1"/>
              <a:t>datawriter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 err="1"/>
              <a:t>db</a:t>
            </a:r>
            <a:r>
              <a:rPr lang="ru-RU" dirty="0"/>
              <a:t>_</a:t>
            </a:r>
            <a:r>
              <a:rPr lang="en-US" dirty="0"/>
              <a:t>owner</a:t>
            </a:r>
            <a:r>
              <a:rPr lang="ru-RU" dirty="0"/>
              <a:t>. </a:t>
            </a:r>
          </a:p>
        </p:txBody>
      </p:sp>
      <p:sp>
        <p:nvSpPr>
          <p:cNvPr id="6" name="Стрелка вниз 14">
            <a:extLst>
              <a:ext uri="{FF2B5EF4-FFF2-40B4-BE49-F238E27FC236}">
                <a16:creationId xmlns:a16="http://schemas.microsoft.com/office/drawing/2014/main" id="{3123733E-287C-A09E-E736-511C8EB98F86}"/>
              </a:ext>
            </a:extLst>
          </p:cNvPr>
          <p:cNvSpPr/>
          <p:nvPr/>
        </p:nvSpPr>
        <p:spPr>
          <a:xfrm>
            <a:off x="2483768" y="4886605"/>
            <a:ext cx="739140" cy="70866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D23FDA3-9BDF-D516-C14C-1E225203F8EF}"/>
              </a:ext>
            </a:extLst>
          </p:cNvPr>
          <p:cNvSpPr/>
          <p:nvPr/>
        </p:nvSpPr>
        <p:spPr>
          <a:xfrm>
            <a:off x="5898896" y="4179359"/>
            <a:ext cx="2428875" cy="10724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b="1" dirty="0"/>
              <a:t>Автоматическая проверка типа/параметров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7FD1F52-118B-8FB7-2E31-6E833A0789E4}"/>
              </a:ext>
            </a:extLst>
          </p:cNvPr>
          <p:cNvSpPr/>
          <p:nvPr/>
        </p:nvSpPr>
        <p:spPr>
          <a:xfrm>
            <a:off x="1231572" y="5703061"/>
            <a:ext cx="3243532" cy="431136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Повышение привилегий</a:t>
            </a:r>
          </a:p>
        </p:txBody>
      </p:sp>
    </p:spTree>
    <p:extLst>
      <p:ext uri="{BB962C8B-B14F-4D97-AF65-F5344CB8AC3E}">
        <p14:creationId xmlns:p14="http://schemas.microsoft.com/office/powerpoint/2010/main" val="26973682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B35038-D1F0-1B49-661B-0B0B2AF8E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NoSQL </a:t>
            </a:r>
            <a:r>
              <a:rPr lang="ru-RU" dirty="0"/>
              <a:t>Инъекции: пример </a:t>
            </a:r>
            <a:r>
              <a:rPr lang="en-US" dirty="0"/>
              <a:t>MongoDB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C07F6B8-7B3C-34E7-A2AF-7BF1E82EEE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B53F974-2578-1046-3385-53EC90478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674" y="1427426"/>
            <a:ext cx="8596668" cy="3880773"/>
          </a:xfrm>
        </p:spPr>
        <p:txBody>
          <a:bodyPr anchor="t"/>
          <a:lstStyle/>
          <a:p>
            <a:r>
              <a:rPr lang="ru-RU" dirty="0"/>
              <a:t>Использование комментариев</a:t>
            </a:r>
          </a:p>
          <a:p>
            <a:r>
              <a:rPr lang="ru-RU" dirty="0"/>
              <a:t>Инъекция в регулярное выражение</a:t>
            </a:r>
          </a:p>
          <a:p>
            <a:r>
              <a:rPr lang="ru-RU" dirty="0"/>
              <a:t>Внедрение операторов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9077441-7F44-09FC-C553-B12DAE0FA3D3}"/>
              </a:ext>
            </a:extLst>
          </p:cNvPr>
          <p:cNvSpPr/>
          <p:nvPr/>
        </p:nvSpPr>
        <p:spPr>
          <a:xfrm>
            <a:off x="2046411" y="2581921"/>
            <a:ext cx="6622342" cy="701731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«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eval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(“</a:t>
            </a:r>
            <a:r>
              <a:rPr lang="en-US" b="1" dirty="0" err="1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db.users.find</a:t>
            </a:r>
            <a:r>
              <a:rPr lang="en-US" b="1" dirty="0">
                <a:solidFill>
                  <a:srgbClr val="0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(name: {‘</a:t>
            </a:r>
            <a:r>
              <a:rPr lang="en-US" b="1" dirty="0">
                <a:solidFill>
                  <a:srgbClr val="FF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Courier New" panose="02070309020205020404" pitchFamily="49" charset="0"/>
              </a:rPr>
              <a:t>root’})»</a:t>
            </a:r>
            <a:r>
              <a:rPr lang="ru-RU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indent="450215" algn="just">
              <a:spcAft>
                <a:spcPts val="0"/>
              </a:spcAft>
            </a:pP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Используется для обхода аутентификации.</a:t>
            </a:r>
            <a:endParaRPr lang="ru-RU" dirty="0">
              <a:effectLst/>
              <a:latin typeface="Times New Roman" panose="02020603050405020304" pitchFamily="18" charset="0"/>
              <a:ea typeface="Calibri" panose="020F0502020204030204" pitchFamily="34" charset="0"/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E659B72-D9C7-ECC7-8ABA-55DC5AB0D73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3446013"/>
            <a:ext cx="6126914" cy="178251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C3BE271-3C69-ABEB-F258-25AB0B85DD35}"/>
              </a:ext>
            </a:extLst>
          </p:cNvPr>
          <p:cNvSpPr/>
          <p:nvPr/>
        </p:nvSpPr>
        <p:spPr>
          <a:xfrm>
            <a:off x="677334" y="5305448"/>
            <a:ext cx="5101461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оператор «$</a:t>
            </a:r>
            <a:r>
              <a:rPr lang="ru-RU" dirty="0" err="1">
                <a:latin typeface="Times New Roman" panose="02020603050405020304" pitchFamily="18" charset="0"/>
                <a:ea typeface="Calibri" panose="020F0502020204030204" pitchFamily="34" charset="0"/>
              </a:rPr>
              <a:t>or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» используется как логическое ИЛИ</a:t>
            </a:r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107CB1B7-2BFE-7840-642C-509B80FABBBC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224" y="6126025"/>
            <a:ext cx="3109662" cy="2559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0FB2DBE-523F-E37C-8FC7-79473FE83F96}"/>
              </a:ext>
            </a:extLst>
          </p:cNvPr>
          <p:cNvPicPr/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7334" y="5773600"/>
            <a:ext cx="5086350" cy="352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745A89C7-7BD6-3208-B674-15DCE108287D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4048" y="6160434"/>
            <a:ext cx="3363786" cy="278636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Стрелка вправо 11">
            <a:extLst>
              <a:ext uri="{FF2B5EF4-FFF2-40B4-BE49-F238E27FC236}">
                <a16:creationId xmlns:a16="http://schemas.microsoft.com/office/drawing/2014/main" id="{1A4B207E-4401-D75D-00A5-50BE57429D83}"/>
              </a:ext>
            </a:extLst>
          </p:cNvPr>
          <p:cNvSpPr/>
          <p:nvPr/>
        </p:nvSpPr>
        <p:spPr>
          <a:xfrm>
            <a:off x="4356957" y="6046260"/>
            <a:ext cx="465827" cy="44904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5485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11B0CC-AC7C-A0DC-BB97-788E588622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Эскалация привилегий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8D6C64-56C0-F007-49E8-7CBC6FF16C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864096"/>
          </a:xfrm>
        </p:spPr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ru-RU" b="1" dirty="0"/>
              <a:t>Преодоление парольной защиты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Эксплуатация процедур и функций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16F9CFE-EBC7-EE00-35FC-A1EDA3258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A67D73D5-5F7F-47CB-9DA3-C48DE695F47F}"/>
              </a:ext>
            </a:extLst>
          </p:cNvPr>
          <p:cNvSpPr txBox="1">
            <a:spLocks/>
          </p:cNvSpPr>
          <p:nvPr/>
        </p:nvSpPr>
        <p:spPr>
          <a:xfrm>
            <a:off x="1763688" y="2388253"/>
            <a:ext cx="6768752" cy="448102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Ø"/>
            </a:pPr>
            <a:r>
              <a:rPr lang="ru-RU" sz="1800" dirty="0"/>
              <a:t>Стандартные учетные записи с паролем по умолчанию.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/>
              <a:t>Установление имени пользователя при помощи стандартных словарей или путем выявления типичных системных имен.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1600" dirty="0"/>
              <a:t>С последующим подбором пароля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/>
              <a:t>Использование сторонних систем: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1600" dirty="0"/>
              <a:t>Эксплуатация подключений;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ru-RU" sz="1600" dirty="0"/>
              <a:t>Доступ к файловой системе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файлы командной оболочки;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командные скрипты;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файлы журналов;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конфигурационные файлы;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трассировочные файлы;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ru-RU" sz="1400" dirty="0"/>
              <a:t>файлы дампов.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ru-RU" sz="1800" dirty="0"/>
              <a:t>Перехват </a:t>
            </a:r>
            <a:r>
              <a:rPr lang="ru-RU" sz="1800" dirty="0" err="1"/>
              <a:t>аутентификационных</a:t>
            </a:r>
            <a:r>
              <a:rPr lang="ru-RU" sz="1800" dirty="0"/>
              <a:t> данных.</a:t>
            </a:r>
          </a:p>
          <a:p>
            <a:pPr>
              <a:buFont typeface="Wingdings" panose="05000000000000000000" pitchFamily="2" charset="2"/>
              <a:buChar char="Ø"/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2439750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78BFD9-D7EB-8C39-40A8-A06844C7FC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доверенных процедур для эскалации привилегий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AA0E8F7-69FC-1AAC-A70B-58E7C7928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lvl="0">
              <a:spcBef>
                <a:spcPts val="600"/>
              </a:spcBef>
            </a:pPr>
            <a:r>
              <a:rPr lang="ru-RU" sz="1800" dirty="0"/>
              <a:t>Наличие прямого доступа к процедурам другого пользователя (привилегированного)</a:t>
            </a:r>
          </a:p>
          <a:p>
            <a:pPr lvl="1">
              <a:spcBef>
                <a:spcPts val="600"/>
              </a:spcBef>
            </a:pPr>
            <a:r>
              <a:rPr lang="ru-RU" sz="1600" dirty="0"/>
              <a:t>Инъекции, ошибки переполнения буфера и т.д.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Свойство TRUSTWORTHY (или его аналог)</a:t>
            </a:r>
          </a:p>
          <a:p>
            <a:pPr lvl="1">
              <a:spcBef>
                <a:spcPts val="600"/>
              </a:spcBef>
            </a:pPr>
            <a:r>
              <a:rPr lang="ru-RU" sz="1600" dirty="0"/>
              <a:t>Позволяет использовать ресурсы данной базы объектам, находящимся вне ее </a:t>
            </a:r>
          </a:p>
          <a:p>
            <a:pPr lvl="1">
              <a:spcBef>
                <a:spcPts val="600"/>
              </a:spcBef>
            </a:pPr>
            <a:r>
              <a:rPr lang="ru-RU" sz="1600" dirty="0"/>
              <a:t>С базой данных в этом случае связаны доверенные процедуры, которые можно вызвать извне и тогда эксплуатировать.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Использовано выполнение от имени другой учетной записи внутри процедуры</a:t>
            </a:r>
          </a:p>
          <a:p>
            <a:pPr lvl="1">
              <a:spcBef>
                <a:spcPts val="600"/>
              </a:spcBef>
            </a:pPr>
            <a:r>
              <a:rPr lang="ru-RU" sz="1600" dirty="0"/>
              <a:t>Например, для доступа к внешним ресурсам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Хранимые процедуры, подписанные сертификатом </a:t>
            </a:r>
          </a:p>
          <a:p>
            <a:pPr lvl="1">
              <a:spcBef>
                <a:spcPts val="600"/>
              </a:spcBef>
            </a:pPr>
            <a:r>
              <a:rPr lang="ru-RU" sz="1600" dirty="0"/>
              <a:t>Уровень доверия – сертификат</a:t>
            </a:r>
          </a:p>
          <a:p>
            <a:pPr>
              <a:spcBef>
                <a:spcPts val="600"/>
              </a:spcBef>
            </a:pP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4596F81-3B99-61A7-997C-39EDEB88F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D13A801D-753D-FBF8-FBF9-4F419B1516A4}"/>
              </a:ext>
            </a:extLst>
          </p:cNvPr>
          <p:cNvSpPr/>
          <p:nvPr/>
        </p:nvSpPr>
        <p:spPr>
          <a:xfrm>
            <a:off x="1403648" y="5949280"/>
            <a:ext cx="5904656" cy="670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Реактивная защита – аналогично </a:t>
            </a:r>
            <a:r>
              <a:rPr lang="en-US" dirty="0"/>
              <a:t>SQLi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7461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B61B1-7D6A-4368-D406-3D5CFC3F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Проактивная</a:t>
            </a:r>
            <a:r>
              <a:rPr lang="ru-RU" dirty="0"/>
              <a:t> защита - анализ путей повышения привилегий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C91182-DC66-D45D-3983-82C45283D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CBFBDB8-A624-17AF-0FDA-3C0D0370CE63}"/>
              </a:ext>
            </a:extLst>
          </p:cNvPr>
          <p:cNvSpPr txBox="1">
            <a:spLocks/>
          </p:cNvSpPr>
          <p:nvPr/>
        </p:nvSpPr>
        <p:spPr>
          <a:xfrm>
            <a:off x="596079" y="1268760"/>
            <a:ext cx="7686902" cy="30963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dirty="0"/>
              <a:t>Извлекается список доступных пользователю процедур</a:t>
            </a: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pg_proc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pr,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pg_authid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id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proowner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id.oid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prosecdef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 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 '{user}'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routine_nameFROM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information_schema.role_routine_grants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WHERE grantee = '{user}‘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grantor&lt;&gt; '{user}’)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Данные процедур в системных таблицах показывают, от чьего имени идет выполнение запроса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F88D173-0C15-4925-4DCA-B2E33611B43A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30235" y="4526689"/>
          <a:ext cx="7392331" cy="19566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8875">
                  <a:extLst>
                    <a:ext uri="{9D8B030D-6E8A-4147-A177-3AD203B41FA5}">
                      <a16:colId xmlns:a16="http://schemas.microsoft.com/office/drawing/2014/main" val="1573548073"/>
                    </a:ext>
                  </a:extLst>
                </a:gridCol>
                <a:gridCol w="723630">
                  <a:extLst>
                    <a:ext uri="{9D8B030D-6E8A-4147-A177-3AD203B41FA5}">
                      <a16:colId xmlns:a16="http://schemas.microsoft.com/office/drawing/2014/main" val="105438909"/>
                    </a:ext>
                  </a:extLst>
                </a:gridCol>
                <a:gridCol w="2170634">
                  <a:extLst>
                    <a:ext uri="{9D8B030D-6E8A-4147-A177-3AD203B41FA5}">
                      <a16:colId xmlns:a16="http://schemas.microsoft.com/office/drawing/2014/main" val="3358493748"/>
                    </a:ext>
                  </a:extLst>
                </a:gridCol>
                <a:gridCol w="3459192">
                  <a:extLst>
                    <a:ext uri="{9D8B030D-6E8A-4147-A177-3AD203B41FA5}">
                      <a16:colId xmlns:a16="http://schemas.microsoft.com/office/drawing/2014/main" val="3465293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Имя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Ссылки по внешнему ключу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1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Идентификатор строки (скрытый атрибут; должен выбираться явно)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7034641"/>
                  </a:ext>
                </a:extLst>
              </a:tr>
              <a:tr h="189357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proname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Имя функции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proowner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oid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pg_authid.oid</a:t>
                      </a:r>
                      <a:endParaRPr lang="ru-RU" sz="1400" b="1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C00000"/>
                          </a:solidFill>
                          <a:effectLst/>
                        </a:rPr>
                        <a:t>Владелец функции</a:t>
                      </a:r>
                      <a:endParaRPr lang="ru-RU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67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prosecdef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bool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Функция определяет контекст безопасности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5497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476762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B61B1-7D6A-4368-D406-3D5CFC3FD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/>
              <a:t>Проактивная</a:t>
            </a:r>
            <a:r>
              <a:rPr lang="ru-RU" dirty="0"/>
              <a:t> защита - анализ путей повышения привилегий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9C91182-DC66-D45D-3983-82C45283DF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1CBFBDB8-A624-17AF-0FDA-3C0D0370CE63}"/>
              </a:ext>
            </a:extLst>
          </p:cNvPr>
          <p:cNvSpPr txBox="1">
            <a:spLocks/>
          </p:cNvSpPr>
          <p:nvPr/>
        </p:nvSpPr>
        <p:spPr>
          <a:xfrm>
            <a:off x="596079" y="1268760"/>
            <a:ext cx="7686902" cy="30963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dirty="0"/>
              <a:t>Извлекается список доступных пользователю процедур</a:t>
            </a: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rolname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pg_proc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pr,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pg_authid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id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WHERE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proowner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id.oid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prosecdef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true 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rolname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&lt;&gt; '{user}'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AND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proname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in 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(SELECT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routine_nameFROM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information_schema.role_routine_grants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534988" indent="-85725">
              <a:spcBef>
                <a:spcPts val="600"/>
              </a:spcBef>
              <a:buFont typeface="Arial" pitchFamily="34" charset="0"/>
              <a:buNone/>
            </a:pP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WHERE grantee = '{user}‘</a:t>
            </a:r>
            <a:r>
              <a:rPr lang="ru-RU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AND grantor&lt;&gt; '{user}’)</a:t>
            </a:r>
            <a:endParaRPr lang="ru-RU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spcBef>
                <a:spcPts val="600"/>
              </a:spcBef>
            </a:pPr>
            <a:endParaRPr lang="ru-RU" dirty="0"/>
          </a:p>
          <a:p>
            <a:pPr>
              <a:spcBef>
                <a:spcPts val="600"/>
              </a:spcBef>
            </a:pPr>
            <a:r>
              <a:rPr lang="ru-RU" dirty="0"/>
              <a:t>Данные процедур в системных таблицах показывают, от чьего имени идет выполнение запроса</a:t>
            </a:r>
          </a:p>
          <a:p>
            <a:pPr>
              <a:spcBef>
                <a:spcPts val="600"/>
              </a:spcBef>
            </a:pPr>
            <a:endParaRPr lang="ru-RU" dirty="0"/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FF88D173-0C15-4925-4DCA-B2E33611B43A}"/>
              </a:ext>
            </a:extLst>
          </p:cNvPr>
          <p:cNvGraphicFramePr>
            <a:graphicFrameLocks noGrp="1"/>
          </p:cNvGraphicFramePr>
          <p:nvPr/>
        </p:nvGraphicFramePr>
        <p:xfrm>
          <a:off x="630235" y="4526689"/>
          <a:ext cx="7392331" cy="195669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038875">
                  <a:extLst>
                    <a:ext uri="{9D8B030D-6E8A-4147-A177-3AD203B41FA5}">
                      <a16:colId xmlns:a16="http://schemas.microsoft.com/office/drawing/2014/main" val="1573548073"/>
                    </a:ext>
                  </a:extLst>
                </a:gridCol>
                <a:gridCol w="723630">
                  <a:extLst>
                    <a:ext uri="{9D8B030D-6E8A-4147-A177-3AD203B41FA5}">
                      <a16:colId xmlns:a16="http://schemas.microsoft.com/office/drawing/2014/main" val="105438909"/>
                    </a:ext>
                  </a:extLst>
                </a:gridCol>
                <a:gridCol w="2170634">
                  <a:extLst>
                    <a:ext uri="{9D8B030D-6E8A-4147-A177-3AD203B41FA5}">
                      <a16:colId xmlns:a16="http://schemas.microsoft.com/office/drawing/2014/main" val="3358493748"/>
                    </a:ext>
                  </a:extLst>
                </a:gridCol>
                <a:gridCol w="3459192">
                  <a:extLst>
                    <a:ext uri="{9D8B030D-6E8A-4147-A177-3AD203B41FA5}">
                      <a16:colId xmlns:a16="http://schemas.microsoft.com/office/drawing/2014/main" val="346529387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Имя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Тип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Ссылки по внешнему ключу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Описание</a:t>
                      </a:r>
                    </a:p>
                  </a:txBody>
                  <a:tcPr marL="68580" marR="68580" marT="0" marB="0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110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oid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Идентификатор строки (скрытый атрибут; должен выбираться явно)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7034641"/>
                  </a:ext>
                </a:extLst>
              </a:tr>
              <a:tr h="189357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proname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name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Имя функции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48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proowner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oid</a:t>
                      </a:r>
                      <a:endParaRPr lang="ru-RU" sz="14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indent="0" algn="just" defTabSz="457200" rtl="0" eaLnBrk="1" latinLnBrk="0" hangingPunct="1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400" b="1" kern="1200" dirty="0" err="1">
                          <a:solidFill>
                            <a:srgbClr val="C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pg_authid.oid</a:t>
                      </a:r>
                      <a:endParaRPr lang="ru-RU" sz="1400" b="1" kern="1200" dirty="0">
                        <a:solidFill>
                          <a:srgbClr val="C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b="1" dirty="0">
                          <a:solidFill>
                            <a:srgbClr val="C00000"/>
                          </a:solidFill>
                          <a:effectLst/>
                        </a:rPr>
                        <a:t>Владелец функции</a:t>
                      </a:r>
                      <a:endParaRPr lang="ru-RU" sz="1400" b="1" dirty="0">
                        <a:solidFill>
                          <a:srgbClr val="C00000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56679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prosecdef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>
                          <a:effectLst/>
                        </a:rPr>
                        <a:t>bool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 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0"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400" dirty="0">
                          <a:effectLst/>
                        </a:rPr>
                        <a:t>Функция определяет контекст безопасности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5497456"/>
                  </a:ext>
                </a:extLst>
              </a:tr>
            </a:tbl>
          </a:graphicData>
        </a:graphic>
      </p:graphicFrame>
      <p:sp>
        <p:nvSpPr>
          <p:cNvPr id="3" name="Правая фигурная скобка 2">
            <a:extLst>
              <a:ext uri="{FF2B5EF4-FFF2-40B4-BE49-F238E27FC236}">
                <a16:creationId xmlns:a16="http://schemas.microsoft.com/office/drawing/2014/main" id="{E3A05E0E-2C4B-B215-23AF-72231AF09188}"/>
              </a:ext>
            </a:extLst>
          </p:cNvPr>
          <p:cNvSpPr/>
          <p:nvPr/>
        </p:nvSpPr>
        <p:spPr>
          <a:xfrm>
            <a:off x="7936937" y="1268760"/>
            <a:ext cx="465827" cy="5328592"/>
          </a:xfrm>
          <a:prstGeom prst="rightBrace">
            <a:avLst>
              <a:gd name="adj1" fmla="val 92118"/>
              <a:gd name="adj2" fmla="val 50000"/>
            </a:avLst>
          </a:prstGeom>
          <a:ln w="381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2312FE8-D51A-A24B-97B5-B57EF9C657E4}"/>
              </a:ext>
            </a:extLst>
          </p:cNvPr>
          <p:cNvSpPr/>
          <p:nvPr/>
        </p:nvSpPr>
        <p:spPr>
          <a:xfrm rot="16200000">
            <a:off x="7088103" y="3700141"/>
            <a:ext cx="3286940" cy="4658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Take-Grant </a:t>
            </a:r>
            <a:r>
              <a:rPr lang="ru-RU" b="1" dirty="0"/>
              <a:t>граф</a:t>
            </a:r>
          </a:p>
        </p:txBody>
      </p:sp>
    </p:spTree>
    <p:extLst>
      <p:ext uri="{BB962C8B-B14F-4D97-AF65-F5344CB8AC3E}">
        <p14:creationId xmlns:p14="http://schemas.microsoft.com/office/powerpoint/2010/main" val="2969154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691CE03-8426-937E-DA60-0CCDEC107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TG</a:t>
            </a:r>
            <a:r>
              <a:rPr lang="ru-RU" dirty="0"/>
              <a:t> – граф анализа привилегий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2F784AB-5D49-89EA-BF19-E670AEA69C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5" name="image12.png">
            <a:extLst>
              <a:ext uri="{FF2B5EF4-FFF2-40B4-BE49-F238E27FC236}">
                <a16:creationId xmlns:a16="http://schemas.microsoft.com/office/drawing/2014/main" id="{C0B49648-5491-9BD5-6F8A-446866445CFA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23528" y="1380747"/>
            <a:ext cx="5904656" cy="2592288"/>
          </a:xfrm>
          <a:prstGeom prst="rect">
            <a:avLst/>
          </a:prstGeom>
          <a:ln/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7FA09F22-BA3E-415C-2661-A78C08F392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6665" y="3889166"/>
            <a:ext cx="5513561" cy="25111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67498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1C2FEA-A29B-347E-0408-A70C1BC94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Эскалация привилегий в </a:t>
            </a:r>
            <a:r>
              <a:rPr lang="en-US" dirty="0"/>
              <a:t>NoSQL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D5F7840-0FDB-A0A4-C558-2BF35DDAFF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solidFill>
                  <a:srgbClr val="C00000"/>
                </a:solidFill>
              </a:rPr>
              <a:t>Подходы для эскалации привилегий аналогичны</a:t>
            </a:r>
          </a:p>
          <a:p>
            <a:pPr lvl="1"/>
            <a:r>
              <a:rPr lang="ru-RU" dirty="0"/>
              <a:t>Атака переполнения буфера </a:t>
            </a:r>
            <a:endParaRPr lang="en-US" dirty="0"/>
          </a:p>
          <a:p>
            <a:pPr lvl="2"/>
            <a:r>
              <a:rPr lang="ru-RU" dirty="0"/>
              <a:t>Возможна в любом продукте с уязвимостями данного типа;</a:t>
            </a:r>
          </a:p>
          <a:p>
            <a:pPr lvl="1"/>
            <a:r>
              <a:rPr lang="ru-RU" dirty="0"/>
              <a:t>Инъекции в языки запросов</a:t>
            </a:r>
            <a:endParaRPr lang="en-US" dirty="0"/>
          </a:p>
          <a:p>
            <a:pPr lvl="2"/>
            <a:r>
              <a:rPr lang="ru-RU" dirty="0"/>
              <a:t>Пример: внедрение </a:t>
            </a:r>
            <a:r>
              <a:rPr lang="en-US" dirty="0" err="1"/>
              <a:t>javascript</a:t>
            </a:r>
            <a:r>
              <a:rPr lang="en-US" dirty="0"/>
              <a:t> </a:t>
            </a:r>
            <a:r>
              <a:rPr lang="ru-RU" dirty="0"/>
              <a:t>кода в параметр $</a:t>
            </a:r>
            <a:r>
              <a:rPr lang="en-US" dirty="0"/>
              <a:t>where </a:t>
            </a:r>
            <a:r>
              <a:rPr lang="ru-RU" dirty="0"/>
              <a:t>для </a:t>
            </a:r>
            <a:r>
              <a:rPr lang="en-US" dirty="0"/>
              <a:t>MongoDB, </a:t>
            </a:r>
            <a:endParaRPr lang="ru-RU" dirty="0"/>
          </a:p>
          <a:p>
            <a:pPr marL="914400" lvl="2" indent="0">
              <a:buNone/>
            </a:pPr>
            <a:r>
              <a:rPr lang="ru-RU" dirty="0"/>
              <a:t>	</a:t>
            </a:r>
          </a:p>
          <a:p>
            <a:pPr marL="914400" lvl="2" indent="0">
              <a:buNone/>
            </a:pPr>
            <a:endParaRPr lang="en-US" dirty="0"/>
          </a:p>
          <a:p>
            <a:r>
              <a:rPr lang="ru-RU" dirty="0"/>
              <a:t>Эскалация через вызов функции </a:t>
            </a:r>
            <a:r>
              <a:rPr lang="ru-RU" i="1" dirty="0">
                <a:solidFill>
                  <a:schemeClr val="accent2"/>
                </a:solidFill>
              </a:rPr>
              <a:t>редка</a:t>
            </a:r>
          </a:p>
          <a:p>
            <a:pPr lvl="1"/>
            <a:r>
              <a:rPr lang="ru-RU" dirty="0"/>
              <a:t>Не развито написание и использование встроенных компонент: триггеров, процедур, функций…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741316-AD0E-90E7-B355-04DCC6FC07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023713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Транзакционная 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обработка данных</a:t>
            </a: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06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8A4E40-AAE1-DE4E-2D69-050818FB85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транзакции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B8D6B6A-CD0D-F47E-1A78-83AF6D64E4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7EB70450-3289-6B4D-0FB0-3292E65795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27856" y="1916832"/>
            <a:ext cx="7848600" cy="2690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40592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4A1D3D-8887-B729-0651-72F1565F9F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транзакции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93D1C25-7AC4-6E71-7957-4D0476C177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35696" y="1449689"/>
            <a:ext cx="5834366" cy="4752975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1E469CA-70EE-F577-162E-E7FFEE991B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103595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F44EDE-C964-7C1F-FCD6-C8131EB72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Свойства транзакций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F57DCB3-1255-67E6-29C9-DE4E49ADF3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9BD7C36-2E85-0C31-6B3C-F8BAC6A602F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683568" y="2815127"/>
          <a:ext cx="7848872" cy="340155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8417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646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80274"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Свойства транзакций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ctr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Ответственная подсистема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5035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Atomicity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Подсистема восстановления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5035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Consistency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Поддержка ограничений целостности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0274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Isolation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Подсистема управления параллельным выполнением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5035"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Durability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tc>
                  <a:txBody>
                    <a:bodyPr/>
                    <a:lstStyle/>
                    <a:p>
                      <a:pPr indent="0" algn="l">
                        <a:spcBef>
                          <a:spcPts val="600"/>
                        </a:spcBef>
                        <a:spcAft>
                          <a:spcPts val="0"/>
                        </a:spcAft>
                      </a:pPr>
                      <a:r>
                        <a:rPr lang="ru-RU" sz="2000" dirty="0">
                          <a:effectLst/>
                        </a:rPr>
                        <a:t>Подсистема восстановления</a:t>
                      </a:r>
                      <a:endParaRPr lang="ru-RU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37160" marR="137160" marT="137160" marB="13716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AF2C4B8-A323-ED85-9DF1-616FCDE9805F}"/>
              </a:ext>
            </a:extLst>
          </p:cNvPr>
          <p:cNvSpPr/>
          <p:nvPr/>
        </p:nvSpPr>
        <p:spPr>
          <a:xfrm>
            <a:off x="3419872" y="1484784"/>
            <a:ext cx="2448272" cy="864096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/>
              <a:t>A C I D</a:t>
            </a:r>
            <a:endParaRPr lang="ru-RU" sz="3600" b="1" dirty="0"/>
          </a:p>
        </p:txBody>
      </p:sp>
    </p:spTree>
    <p:extLst>
      <p:ext uri="{BB962C8B-B14F-4D97-AF65-F5344CB8AC3E}">
        <p14:creationId xmlns:p14="http://schemas.microsoft.com/office/powerpoint/2010/main" val="11104377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3EC49D-23DC-3036-CF2E-602399C9E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Выполнение транзакций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0EEA60B-0665-E958-40A1-DE0848A77C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8" name="Picture 2" descr="https://m.studref.com/htm/img/15/11270/149.png">
            <a:extLst>
              <a:ext uri="{FF2B5EF4-FFF2-40B4-BE49-F238E27FC236}">
                <a16:creationId xmlns:a16="http://schemas.microsoft.com/office/drawing/2014/main" id="{63E4D1DB-C59E-697D-1702-F5432325EB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6913" y="1424912"/>
            <a:ext cx="6696075" cy="4981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74C4FB32-E611-AC11-6E9A-0BE0646D7377}"/>
              </a:ext>
            </a:extLst>
          </p:cNvPr>
          <p:cNvSpPr/>
          <p:nvPr/>
        </p:nvSpPr>
        <p:spPr>
          <a:xfrm>
            <a:off x="755576" y="1280897"/>
            <a:ext cx="4464496" cy="5316455"/>
          </a:xfrm>
          <a:prstGeom prst="roundRect">
            <a:avLst>
              <a:gd name="adj" fmla="val 11664"/>
            </a:avLst>
          </a:prstGeom>
          <a:noFill/>
          <a:ln>
            <a:prstDash val="sys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63039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2A027D-31E6-0E45-58D0-398601443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Требования к транзакционной системе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82C7F5-EADB-E2F6-7885-12A0F68EB7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2664296"/>
          </a:xfrm>
        </p:spPr>
        <p:txBody>
          <a:bodyPr anchor="t">
            <a:noAutofit/>
          </a:bodyPr>
          <a:lstStyle/>
          <a:p>
            <a:pPr lvl="0">
              <a:spcBef>
                <a:spcPts val="600"/>
              </a:spcBef>
            </a:pPr>
            <a:r>
              <a:rPr lang="ru-RU" sz="1800" dirty="0"/>
              <a:t>Поддержка не явно заданного оператора </a:t>
            </a:r>
            <a:r>
              <a:rPr lang="en-US" sz="1800" dirty="0"/>
              <a:t>ROLLBACK</a:t>
            </a:r>
            <a:r>
              <a:rPr lang="ru-RU" sz="1800" dirty="0"/>
              <a:t> – для всех транзакций, которые по какой-то причине окончились неудачей, даже если он не указан в выполняемом коде транзакции.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Обработка сообщений, генерируемых транзакцией.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Поддержка журнала восстановления транзакций. 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Неразрывность операций.</a:t>
            </a:r>
          </a:p>
          <a:p>
            <a:pPr lvl="0">
              <a:spcBef>
                <a:spcPts val="600"/>
              </a:spcBef>
            </a:pPr>
            <a:r>
              <a:rPr lang="ru-RU" sz="1800" dirty="0"/>
              <a:t>Выполнение прикладной программы как последовательности транзакций.</a:t>
            </a:r>
          </a:p>
          <a:p>
            <a:pPr>
              <a:spcBef>
                <a:spcPts val="600"/>
              </a:spcBef>
            </a:pPr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C795344-901D-0C40-82FF-A923C19376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7A57F0C5-A3F1-D4B6-EBC4-9F8928D8AE18}"/>
              </a:ext>
            </a:extLst>
          </p:cNvPr>
          <p:cNvSpPr/>
          <p:nvPr/>
        </p:nvSpPr>
        <p:spPr>
          <a:xfrm>
            <a:off x="683568" y="4509120"/>
            <a:ext cx="7056784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Проблема параллельного доступа</a:t>
            </a:r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F6F537FE-265F-B576-A747-203E5F394560}"/>
              </a:ext>
            </a:extLst>
          </p:cNvPr>
          <p:cNvSpPr txBox="1">
            <a:spLocks/>
          </p:cNvSpPr>
          <p:nvPr/>
        </p:nvSpPr>
        <p:spPr>
          <a:xfrm>
            <a:off x="683568" y="5281736"/>
            <a:ext cx="7848872" cy="1332148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600"/>
              </a:spcBef>
            </a:pPr>
            <a:r>
              <a:rPr lang="ru-RU" sz="1800" dirty="0"/>
              <a:t>Транзакции чередуются для параллельного выполнения запросов</a:t>
            </a:r>
          </a:p>
          <a:p>
            <a:pPr>
              <a:spcBef>
                <a:spcPts val="600"/>
              </a:spcBef>
            </a:pPr>
            <a:r>
              <a:rPr lang="ru-RU" sz="1800" dirty="0"/>
              <a:t>Одновременная работа с одними и теми же данными вызывает аномалии (проблемы)</a:t>
            </a:r>
          </a:p>
          <a:p>
            <a:pPr>
              <a:spcBef>
                <a:spcPts val="600"/>
              </a:spcBef>
            </a:pPr>
            <a:endParaRPr lang="ru-RU" sz="1800" dirty="0"/>
          </a:p>
        </p:txBody>
      </p:sp>
    </p:spTree>
    <p:extLst>
      <p:ext uri="{BB962C8B-B14F-4D97-AF65-F5344CB8AC3E}">
        <p14:creationId xmlns:p14="http://schemas.microsoft.com/office/powerpoint/2010/main" val="1127636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Триггеры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управление событиями и организация аудита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27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3E738-90F0-B13A-560D-5FFE3488F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триггера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2BAFC9C-AA2E-5285-1737-B0FAD21C8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080120"/>
          </a:xfrm>
        </p:spPr>
        <p:txBody>
          <a:bodyPr anchor="t"/>
          <a:lstStyle/>
          <a:p>
            <a:r>
              <a:rPr lang="ru-RU" b="1" dirty="0">
                <a:latin typeface="Times New Roman" panose="02020603050405020304" pitchFamily="18" charset="0"/>
                <a:ea typeface="Calibri" panose="020F0502020204030204" pitchFamily="34" charset="0"/>
              </a:rPr>
              <a:t>Триггер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 –  это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процедура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, хранимая в базе данных и вызываемая автоматически при </a:t>
            </a:r>
            <a:r>
              <a:rPr lang="ru-RU" i="1" dirty="0">
                <a:latin typeface="Times New Roman" panose="02020603050405020304" pitchFamily="18" charset="0"/>
                <a:ea typeface="Calibri" panose="020F0502020204030204" pitchFamily="34" charset="0"/>
              </a:rPr>
              <a:t>возникновении каких-либо событий</a:t>
            </a: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. 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B3C73E3-05AF-4D6C-82DD-F6C0582893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90CB83-55A9-8A58-5E07-579EC0E2F0F4}"/>
              </a:ext>
            </a:extLst>
          </p:cNvPr>
          <p:cNvSpPr/>
          <p:nvPr/>
        </p:nvSpPr>
        <p:spPr>
          <a:xfrm>
            <a:off x="682618" y="2557528"/>
            <a:ext cx="6096000" cy="338554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/>
              <a:t>CREATE TRIGGER </a:t>
            </a:r>
            <a:r>
              <a:rPr lang="en-US" sz="1600" dirty="0" err="1"/>
              <a:t>i_tbPeoples</a:t>
            </a:r>
            <a:r>
              <a:rPr lang="en-US" sz="1600" dirty="0"/>
              <a:t> </a:t>
            </a:r>
            <a:endParaRPr lang="ru-RU" sz="1600" dirty="0"/>
          </a:p>
          <a:p>
            <a:r>
              <a:rPr lang="en-US" sz="1600" b="1" dirty="0"/>
              <a:t>ON </a:t>
            </a:r>
            <a:r>
              <a:rPr lang="en-US" sz="1600" dirty="0" err="1"/>
              <a:t>dbo.tbPeoples</a:t>
            </a:r>
            <a:endParaRPr lang="en-US" sz="1600" dirty="0"/>
          </a:p>
          <a:p>
            <a:r>
              <a:rPr lang="en-US" sz="1600" b="1" dirty="0"/>
              <a:t>FOR INSERT </a:t>
            </a:r>
          </a:p>
          <a:p>
            <a:r>
              <a:rPr lang="en-US" sz="1600" b="1" dirty="0"/>
              <a:t>AS</a:t>
            </a:r>
          </a:p>
          <a:p>
            <a:r>
              <a:rPr lang="en-US" sz="1600" dirty="0"/>
              <a:t> </a:t>
            </a:r>
            <a:r>
              <a:rPr lang="ru-RU" sz="1600" dirty="0"/>
              <a:t>	</a:t>
            </a:r>
            <a:r>
              <a:rPr lang="en-US" sz="1600" dirty="0"/>
              <a:t>DECLARE @Name varchar(50)</a:t>
            </a:r>
          </a:p>
          <a:p>
            <a:r>
              <a:rPr lang="en-US" sz="1600" dirty="0"/>
              <a:t> </a:t>
            </a:r>
            <a:r>
              <a:rPr lang="ru-RU" sz="1600" dirty="0"/>
              <a:t>	</a:t>
            </a:r>
            <a:r>
              <a:rPr lang="en-US" sz="1600" dirty="0"/>
              <a:t>SELECT @Name=</a:t>
            </a:r>
            <a:r>
              <a:rPr lang="en-US" sz="1600" dirty="0" err="1"/>
              <a:t>vcName</a:t>
            </a:r>
            <a:endParaRPr lang="en-US" sz="1600" dirty="0"/>
          </a:p>
          <a:p>
            <a:r>
              <a:rPr lang="en-US" sz="1600" dirty="0"/>
              <a:t> </a:t>
            </a:r>
            <a:r>
              <a:rPr lang="ru-RU" sz="1600" dirty="0"/>
              <a:t>		</a:t>
            </a:r>
            <a:r>
              <a:rPr lang="en-US" sz="1600" dirty="0"/>
              <a:t>FROM </a:t>
            </a:r>
            <a:r>
              <a:rPr lang="en-US" sz="1600" dirty="0">
                <a:solidFill>
                  <a:srgbClr val="E80000"/>
                </a:solidFill>
              </a:rPr>
              <a:t>inserted</a:t>
            </a:r>
          </a:p>
          <a:p>
            <a:r>
              <a:rPr lang="en-US" sz="1600" dirty="0"/>
              <a:t> </a:t>
            </a:r>
            <a:r>
              <a:rPr lang="ru-RU" sz="1600" dirty="0"/>
              <a:t>	</a:t>
            </a:r>
            <a:endParaRPr lang="en-US" sz="1600" dirty="0"/>
          </a:p>
          <a:p>
            <a:r>
              <a:rPr lang="en-US" sz="1600" dirty="0"/>
              <a:t>	IF @Name='ВАСЯ'</a:t>
            </a:r>
          </a:p>
          <a:p>
            <a:r>
              <a:rPr lang="en-US" sz="1600" dirty="0"/>
              <a:t>  </a:t>
            </a:r>
            <a:r>
              <a:rPr lang="ru-RU" sz="1600" dirty="0"/>
              <a:t>	</a:t>
            </a:r>
            <a:r>
              <a:rPr lang="en-US" sz="1600" dirty="0"/>
              <a:t>BEGIN </a:t>
            </a:r>
            <a:endParaRPr lang="ru-RU" sz="1600" dirty="0"/>
          </a:p>
          <a:p>
            <a:r>
              <a:rPr lang="ru-RU" sz="1600" dirty="0"/>
              <a:t>		</a:t>
            </a:r>
            <a:r>
              <a:rPr lang="en-US" sz="1600" dirty="0"/>
              <a:t> PRINT 'ОШИБКА'</a:t>
            </a:r>
          </a:p>
          <a:p>
            <a:r>
              <a:rPr lang="ru-RU" sz="1600" dirty="0"/>
              <a:t>		</a:t>
            </a:r>
            <a:r>
              <a:rPr lang="en-US" sz="1600" dirty="0"/>
              <a:t> </a:t>
            </a:r>
            <a:r>
              <a:rPr lang="en-US" sz="1600" dirty="0">
                <a:solidFill>
                  <a:srgbClr val="E80000"/>
                </a:solidFill>
              </a:rPr>
              <a:t>ROLLBACK TRANSACTION</a:t>
            </a:r>
          </a:p>
          <a:p>
            <a:r>
              <a:rPr lang="en-US" sz="1600" dirty="0"/>
              <a:t>  </a:t>
            </a:r>
            <a:r>
              <a:rPr lang="ru-RU" sz="1600" dirty="0"/>
              <a:t>	</a:t>
            </a:r>
            <a:r>
              <a:rPr lang="en-US" sz="1600" dirty="0"/>
              <a:t>END</a:t>
            </a:r>
            <a:endParaRPr lang="ru-RU" sz="16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1F10DB8-D63A-E5A5-9DB1-F046C969E69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5952" b="32299"/>
          <a:stretch/>
        </p:blipFill>
        <p:spPr>
          <a:xfrm>
            <a:off x="4883009" y="2564904"/>
            <a:ext cx="3722619" cy="1895726"/>
          </a:xfrm>
          <a:prstGeom prst="rect">
            <a:avLst/>
          </a:prstGeom>
          <a:ln>
            <a:solidFill>
              <a:schemeClr val="accent1"/>
            </a:solidFill>
          </a:ln>
        </p:spPr>
      </p:pic>
    </p:spTree>
    <p:extLst>
      <p:ext uri="{BB962C8B-B14F-4D97-AF65-F5344CB8AC3E}">
        <p14:creationId xmlns:p14="http://schemas.microsoft.com/office/powerpoint/2010/main" val="989475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93113F-804E-8EFC-6215-1F0DAC64A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триггеров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BFA3214B-9B73-253F-6C79-4A4B8042C58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7575" y="1611475"/>
            <a:ext cx="7938881" cy="3528392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D7A0657-EC61-48F6-7D40-3D39CF5C5B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19465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CC494-80AF-283E-ED2E-3A03D86F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в различных СУБД - по типу события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032A50E9-43CF-53CD-C3CD-212D54C5380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7700" y="1556792"/>
            <a:ext cx="7848600" cy="3626137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673DBF-D782-A280-5618-C86090CB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645952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81CC494-80AF-283E-ED2E-3A03D86FA5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в различных СУБД - по типу триггера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673DBF-D782-A280-5618-C86090CBDC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8" name="Объект 7">
            <a:extLst>
              <a:ext uri="{FF2B5EF4-FFF2-40B4-BE49-F238E27FC236}">
                <a16:creationId xmlns:a16="http://schemas.microsoft.com/office/drawing/2014/main" id="{D25A06A8-1168-C1AA-1AB5-B850C2F6C4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5059" y="1332299"/>
            <a:ext cx="8093881" cy="4193401"/>
          </a:xfrm>
        </p:spPr>
      </p:pic>
    </p:spTree>
    <p:extLst>
      <p:ext uri="{BB962C8B-B14F-4D97-AF65-F5344CB8AC3E}">
        <p14:creationId xmlns:p14="http://schemas.microsoft.com/office/powerpoint/2010/main" val="7236230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2051B50-C0FA-69D6-5BA3-D01CC4E6B6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Работа с данными до и после события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2141422-7669-42CF-3D7A-015C19EC4F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FD3012B-40D7-6446-61B2-DADA053F3B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13" y="1659746"/>
            <a:ext cx="7848600" cy="4402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83853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55BC4-9883-8E5F-B5F8-220E21889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работы с изменяемыми данными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9D2F16-E772-8295-10A9-D89CFDCF72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  <p:graphicFrame>
        <p:nvGraphicFramePr>
          <p:cNvPr id="6" name="Таблица 4">
            <a:extLst>
              <a:ext uri="{FF2B5EF4-FFF2-40B4-BE49-F238E27FC236}">
                <a16:creationId xmlns:a16="http://schemas.microsoft.com/office/drawing/2014/main" id="{EDE85861-C8CA-1409-D479-DA83C34D0BE8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76767" y="1412776"/>
          <a:ext cx="3791286" cy="22250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1895643">
                  <a:extLst>
                    <a:ext uri="{9D8B030D-6E8A-4147-A177-3AD203B41FA5}">
                      <a16:colId xmlns:a16="http://schemas.microsoft.com/office/drawing/2014/main" val="3135261291"/>
                    </a:ext>
                  </a:extLst>
                </a:gridCol>
                <a:gridCol w="1895643">
                  <a:extLst>
                    <a:ext uri="{9D8B030D-6E8A-4147-A177-3AD203B41FA5}">
                      <a16:colId xmlns:a16="http://schemas.microsoft.com/office/drawing/2014/main" val="2016429231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Products</a:t>
                      </a:r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94548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 (PK)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Counter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74231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ProductName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Varchar(30)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08292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Manufacturer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Varchar(30)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4224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ProductCount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6873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Price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Float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1331745"/>
                  </a:ext>
                </a:extLst>
              </a:tr>
            </a:tbl>
          </a:graphicData>
        </a:graphic>
      </p:graphicFrame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B076EC3-D677-FA06-8866-6325927F9A09}"/>
              </a:ext>
            </a:extLst>
          </p:cNvPr>
          <p:cNvSpPr/>
          <p:nvPr/>
        </p:nvSpPr>
        <p:spPr>
          <a:xfrm>
            <a:off x="4283968" y="1329492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/>
              <a:t>CREATE TRIGGER </a:t>
            </a:r>
            <a:r>
              <a:rPr lang="en-US" dirty="0" err="1">
                <a:solidFill>
                  <a:schemeClr val="accent2"/>
                </a:solidFill>
              </a:rPr>
              <a:t>Products_INSERT_UPDATE</a:t>
            </a:r>
            <a:endParaRPr lang="en-US" dirty="0">
              <a:solidFill>
                <a:schemeClr val="accent2"/>
              </a:solidFill>
            </a:endParaRPr>
          </a:p>
          <a:p>
            <a:r>
              <a:rPr lang="en-US" b="1" dirty="0"/>
              <a:t>ON</a:t>
            </a:r>
            <a:r>
              <a:rPr lang="en-US" dirty="0"/>
              <a:t> </a:t>
            </a:r>
            <a:r>
              <a:rPr lang="en-US" dirty="0">
                <a:solidFill>
                  <a:srgbClr val="0070C0"/>
                </a:solidFill>
              </a:rPr>
              <a:t>Products</a:t>
            </a:r>
          </a:p>
          <a:p>
            <a:r>
              <a:rPr lang="en-US" b="1" dirty="0"/>
              <a:t>AFTER INSERT, UPDATE</a:t>
            </a:r>
          </a:p>
          <a:p>
            <a:r>
              <a:rPr lang="en-US" b="1" dirty="0"/>
              <a:t>AS</a:t>
            </a:r>
          </a:p>
          <a:p>
            <a:r>
              <a:rPr lang="en-US" dirty="0"/>
              <a:t>   UPDATE Products</a:t>
            </a:r>
          </a:p>
          <a:p>
            <a:r>
              <a:rPr lang="en-US" dirty="0"/>
              <a:t>   SET Price = Price + Price * 0.38</a:t>
            </a:r>
          </a:p>
          <a:p>
            <a:r>
              <a:rPr lang="en-US" dirty="0"/>
              <a:t>   WHERE Id = (SELECT Id FROM </a:t>
            </a:r>
            <a:r>
              <a:rPr lang="en-US" dirty="0">
                <a:solidFill>
                  <a:schemeClr val="accent5"/>
                </a:solidFill>
              </a:rPr>
              <a:t>inserted</a:t>
            </a:r>
            <a:r>
              <a:rPr lang="en-US" dirty="0"/>
              <a:t>)</a:t>
            </a:r>
          </a:p>
          <a:p>
            <a:r>
              <a:rPr lang="en-US" b="1" dirty="0"/>
              <a:t>END</a:t>
            </a:r>
            <a:endParaRPr lang="ru-RU" b="1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C44BB7B-1473-AABC-3390-A9D6CDC68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8033" y="3758772"/>
            <a:ext cx="6991870" cy="2938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328375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76B1C9-E4D4-651B-28B7-794D1ABA0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Порядок выполнения триггеров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AE574C-501B-E9AF-5DA3-78FBADA2F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7101C4D4-0BD5-0A50-D254-8AA89D66784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395536" y="1412776"/>
          <a:ext cx="8128000" cy="366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3712207655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03176849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MS</a:t>
                      </a:r>
                      <a:r>
                        <a:rPr lang="en-US" baseline="0" dirty="0"/>
                        <a:t> SQL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Oracle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1791530"/>
                  </a:ext>
                </a:extLst>
              </a:tr>
              <a:tr h="370840">
                <a:tc rowSpan="3">
                  <a:txBody>
                    <a:bodyPr/>
                    <a:lstStyle/>
                    <a:p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first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для первого триггера цепочки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last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для последнего триггера цепочки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none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– для указания отсутствия определенного порядка выполнения</a:t>
                      </a:r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1.	BEFORE </a:t>
                      </a:r>
                    </a:p>
                    <a:p>
                      <a:r>
                        <a:rPr lang="en-US" dirty="0"/>
                        <a:t>2.	BEFORE for each row </a:t>
                      </a:r>
                    </a:p>
                    <a:p>
                      <a:r>
                        <a:rPr lang="en-US" dirty="0"/>
                        <a:t>3.	 AFTER for each row </a:t>
                      </a:r>
                    </a:p>
                    <a:p>
                      <a:r>
                        <a:rPr lang="en-US" dirty="0"/>
                        <a:t>4.	AFTER</a:t>
                      </a:r>
                    </a:p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3439346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Follows: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245630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580245"/>
                  </a:ext>
                </a:extLst>
              </a:tr>
            </a:tbl>
          </a:graphicData>
        </a:graphic>
      </p:graphicFrame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79AEF95-9CD9-0C56-C820-29C036506FF1}"/>
              </a:ext>
            </a:extLst>
          </p:cNvPr>
          <p:cNvSpPr/>
          <p:nvPr/>
        </p:nvSpPr>
        <p:spPr>
          <a:xfrm>
            <a:off x="4459536" y="3645024"/>
            <a:ext cx="393469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FF00FF"/>
                </a:solidFill>
                <a:latin typeface="Consolas" panose="020B0609020204030204" pitchFamily="49" charset="0"/>
              </a:rPr>
              <a:t>replace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Trg_Name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before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TTable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each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row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follows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Trg_1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u-RU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u-RU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44353715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8F1E16-FEA8-056B-EBD1-305CAF02AD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в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112AF5-6FD0-DE01-84CE-FA36A2CFF9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Используется </a:t>
            </a:r>
            <a:r>
              <a:rPr lang="ru-RU" b="1" dirty="0"/>
              <a:t>триггерная функция</a:t>
            </a:r>
            <a:r>
              <a:rPr lang="ru-RU" dirty="0"/>
              <a:t>.</a:t>
            </a:r>
          </a:p>
          <a:p>
            <a:r>
              <a:rPr lang="ru-RU" dirty="0"/>
              <a:t>Одна и та же триггерная функция может быть использована для нескольких триггеров.</a:t>
            </a:r>
          </a:p>
          <a:p>
            <a:r>
              <a:rPr lang="ru-RU" b="1" dirty="0">
                <a:solidFill>
                  <a:srgbClr val="C00000"/>
                </a:solidFill>
              </a:rPr>
              <a:t>Вызываются в алфавитном порядке </a:t>
            </a:r>
            <a:r>
              <a:rPr lang="ru-RU" dirty="0"/>
              <a:t>по имени триггера </a:t>
            </a:r>
            <a:br>
              <a:rPr lang="ru-RU" dirty="0"/>
            </a:br>
            <a:r>
              <a:rPr lang="ru-RU" dirty="0"/>
              <a:t>(при нескольких триггерах на событие). </a:t>
            </a:r>
          </a:p>
          <a:p>
            <a:r>
              <a:rPr lang="ru-RU" dirty="0"/>
              <a:t>Для триггеров BEFORE и INSTEAD OF потенциально изменённая строка, возвращаемая одним триггером, </a:t>
            </a:r>
            <a:r>
              <a:rPr lang="ru-RU" b="1" dirty="0">
                <a:solidFill>
                  <a:srgbClr val="369461"/>
                </a:solidFill>
              </a:rPr>
              <a:t>становится входящей строкой для следующего триггера</a:t>
            </a:r>
            <a:r>
              <a:rPr lang="ru-RU" dirty="0"/>
              <a:t>. </a:t>
            </a:r>
          </a:p>
          <a:p>
            <a:pPr lvl="1"/>
            <a:r>
              <a:rPr lang="ru-RU" dirty="0"/>
              <a:t>Если любой из триггеров BEFORE или INSTEAD OF возвращает NULL, </a:t>
            </a:r>
            <a:r>
              <a:rPr lang="ru-RU" b="1" dirty="0">
                <a:solidFill>
                  <a:srgbClr val="C00000"/>
                </a:solidFill>
              </a:rPr>
              <a:t>операция для этой строки прекращается </a:t>
            </a:r>
            <a:r>
              <a:rPr lang="ru-RU" dirty="0"/>
              <a:t>и последующие триггеры (для этой строки) не срабатывают.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5125796-C66B-C1FF-3B03-2229DAA6F0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149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999ACD-A567-AD9B-B864-A3F26B748A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 триггеров </a:t>
            </a:r>
            <a:r>
              <a:rPr lang="en-US" dirty="0"/>
              <a:t>PostgreSQL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3EAE36-E643-0BC3-B51C-2454172E3C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CREATE OR REPLACE FUNCTION </a:t>
            </a:r>
            <a:r>
              <a:rPr lang="en-US" sz="1600" b="1" dirty="0" err="1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function_usage_update</a:t>
            </a: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en-US" sz="1600" b="1" dirty="0">
                <a:solidFill>
                  <a:srgbClr val="DB3519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RETURNS TRIGGER LANGUAGE PLPGSQL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 AS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$$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BEGIN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IF </a:t>
            </a:r>
            <a:r>
              <a:rPr lang="en-US" sz="1600" b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OLD.usage</a:t>
            </a:r>
            <a:r>
              <a:rPr lang="en-US" sz="16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true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AND </a:t>
            </a:r>
            <a:r>
              <a:rPr lang="en-US" sz="1600" b="1" dirty="0" err="1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NEW.usage</a:t>
            </a:r>
            <a:r>
              <a:rPr lang="en-US" sz="16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 = false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		RAISE EXCEPTION 'UNABLE TO UPDATE ''true'' to ''false''';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	ELSE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b="1" dirty="0">
                <a:solidFill>
                  <a:srgbClr val="C0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RETURN 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NEW;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	END IF;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END;</a:t>
            </a:r>
          </a:p>
          <a:p>
            <a:pPr marL="0" indent="0">
              <a:buNone/>
            </a:pP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$$;</a:t>
            </a:r>
          </a:p>
          <a:p>
            <a:pPr marL="0" indent="0">
              <a:buNone/>
            </a:pPr>
            <a:endParaRPr lang="en-US" sz="1600" b="1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CREATE OR REPLACE TRIGGER </a:t>
            </a:r>
            <a:r>
              <a:rPr lang="en-US" sz="1600" b="1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usage_update</a:t>
            </a: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BEFORE UPDATE ON prescription</a:t>
            </a:r>
          </a:p>
          <a:p>
            <a:pPr marL="0" indent="0"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 EACH STATEMENT </a:t>
            </a: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EXECUTE PROCEDURE </a:t>
            </a:r>
            <a:r>
              <a:rPr lang="en-US" sz="1600" b="1" dirty="0" err="1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function_usage_update</a:t>
            </a:r>
            <a:r>
              <a:rPr lang="en-US" sz="1600" b="1" dirty="0">
                <a:solidFill>
                  <a:srgbClr val="369461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();</a:t>
            </a:r>
          </a:p>
          <a:p>
            <a:pPr marL="0" indent="0">
              <a:buNone/>
            </a:pP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A385A4-6969-D38A-C012-950009DE43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32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52BA7B11-541E-38D2-3EFF-3C196652456D}"/>
              </a:ext>
            </a:extLst>
          </p:cNvPr>
          <p:cNvSpPr/>
          <p:nvPr/>
        </p:nvSpPr>
        <p:spPr>
          <a:xfrm>
            <a:off x="467544" y="1412776"/>
            <a:ext cx="7704856" cy="3600400"/>
          </a:xfrm>
          <a:prstGeom prst="roundRect">
            <a:avLst>
              <a:gd name="adj" fmla="val 7557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BA9B5B4-79A2-FA15-8BA1-4BA53AA8F23C}"/>
              </a:ext>
            </a:extLst>
          </p:cNvPr>
          <p:cNvSpPr/>
          <p:nvPr/>
        </p:nvSpPr>
        <p:spPr>
          <a:xfrm>
            <a:off x="467544" y="5102899"/>
            <a:ext cx="7704856" cy="1088504"/>
          </a:xfrm>
          <a:prstGeom prst="roundRect">
            <a:avLst>
              <a:gd name="adj" fmla="val 2490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6443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52210146-0D87-3F00-B1B8-F2ABAA0A1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Использование триггеров</a:t>
            </a: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BC110B58-47D4-9415-0561-138007180A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Области применения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001D50A4-2CEC-2176-2F89-1948299B2FC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anchor="t"/>
          <a:lstStyle/>
          <a:p>
            <a:r>
              <a:rPr lang="ru-RU" sz="2000" dirty="0"/>
              <a:t>Поддержка не декларативных ограничений целостности</a:t>
            </a:r>
          </a:p>
          <a:p>
            <a:r>
              <a:rPr lang="ru-RU" sz="2000" dirty="0"/>
              <a:t>Поддержка разграничения прав доступа</a:t>
            </a:r>
          </a:p>
          <a:p>
            <a:r>
              <a:rPr lang="ru-RU" sz="2000" dirty="0"/>
              <a:t>Контроль событий и аудит СУБД</a:t>
            </a:r>
          </a:p>
          <a:p>
            <a:endParaRPr lang="ru-RU" dirty="0"/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5D1D05CF-E9EA-0704-3ABE-A1E94EDCD8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Недостатки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E0763D8E-AD91-4A9C-F6B7-DA2EDDB235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sz="2000" dirty="0"/>
              <a:t>Накладные расходы</a:t>
            </a:r>
          </a:p>
          <a:p>
            <a:r>
              <a:rPr lang="ru-RU" sz="2000" dirty="0"/>
              <a:t>Отсутствие упорядочивания</a:t>
            </a:r>
          </a:p>
          <a:p>
            <a:r>
              <a:rPr lang="ru-RU" sz="2000" dirty="0"/>
              <a:t>Потенциально возможные длинные / рекурсивные цепочки запусков</a:t>
            </a:r>
          </a:p>
          <a:p>
            <a:endParaRPr lang="ru-RU" sz="1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F9A49E4-E112-01AB-F9EC-224CF099D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03201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A6CE1-B533-9B96-82D3-9B96B4C9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Реализация ограничений целостности - 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CF15CF3-CA40-619D-0B5C-A3B475CDB6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41714"/>
            <a:ext cx="7848872" cy="907166"/>
          </a:xfrm>
        </p:spPr>
        <p:txBody>
          <a:bodyPr anchor="t"/>
          <a:lstStyle/>
          <a:p>
            <a:r>
              <a:rPr lang="ru-RU" dirty="0"/>
              <a:t>Запрет нулевых значений в поле </a:t>
            </a:r>
            <a:r>
              <a:rPr lang="ru-RU" i="1" dirty="0"/>
              <a:t>с помощью триггера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4DD6A0-BC1D-3194-40A7-13DE09335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DB003F39-06BA-BDB5-AC77-56F1338367BE}"/>
              </a:ext>
            </a:extLst>
          </p:cNvPr>
          <p:cNvSpPr txBox="1">
            <a:spLocks/>
          </p:cNvSpPr>
          <p:nvPr/>
        </p:nvSpPr>
        <p:spPr>
          <a:xfrm>
            <a:off x="697563" y="2078759"/>
            <a:ext cx="7423058" cy="333752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CREATE TRIGGER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i_tbPeoples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ON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dbo.tbPeoples</a:t>
            </a:r>
            <a:endParaRPr lang="en-US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FOR INSERT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</a:rPr>
              <a:t>AS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IF EXISTS (SELECT *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FROM inserted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WHERE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vcName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is NULL)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BEGIN 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PRINT '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ОШИБКА, вы должны заполнить поле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</a:rPr>
              <a:t>vcName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'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 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ROLLBACK TRANSACTION</a:t>
            </a:r>
          </a:p>
          <a:p>
            <a:pPr marL="0" indent="0">
              <a:buFont typeface="Arial" pitchFamily="34" charset="0"/>
              <a:buNone/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r>
              <a:rPr lang="ru-RU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	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</a:rPr>
              <a:t> END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409089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EA6CE1-B533-9B96-82D3-9B96B4C9EB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Поддержка ссылочной целостности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84DD6A0-BC1D-3194-40A7-13DE093350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35</a:t>
            </a:fld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82E3469-5D08-7D59-7F70-6851CF6ECDA7}"/>
              </a:ext>
            </a:extLst>
          </p:cNvPr>
          <p:cNvSpPr/>
          <p:nvPr/>
        </p:nvSpPr>
        <p:spPr>
          <a:xfrm>
            <a:off x="323528" y="1700808"/>
            <a:ext cx="7037162" cy="464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CREATE TRIGGER 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project_integrity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ON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projects </a:t>
            </a:r>
            <a:endParaRPr lang="ru-RU" sz="16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AFTER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INSERT, UPDATE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b="1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AS</a:t>
            </a:r>
            <a:endParaRPr lang="ru-RU" sz="1100" b="1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IF UPDATE (</a:t>
            </a:r>
            <a:r>
              <a:rPr lang="en-US" sz="1600" dirty="0" err="1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director_no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BEGIN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IF (</a:t>
            </a:r>
            <a:r>
              <a:rPr lang="en-US" sz="16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SELECT </a:t>
            </a:r>
            <a:r>
              <a:rPr lang="en-US" sz="1600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employers.emp_no</a:t>
            </a:r>
            <a:r>
              <a:rPr lang="en-US" sz="16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</a:t>
            </a:r>
            <a:endParaRPr lang="ru-RU" sz="1100" dirty="0">
              <a:solidFill>
                <a:srgbClr val="0070C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898525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FROM employers INNER JOIN inserted ON</a:t>
            </a:r>
            <a:endParaRPr lang="ru-RU" sz="1100" dirty="0">
              <a:solidFill>
                <a:srgbClr val="0070C0"/>
              </a:solidFill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898525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employers.emp_no</a:t>
            </a:r>
            <a:r>
              <a:rPr lang="en-US" sz="1600" dirty="0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 err="1">
                <a:solidFill>
                  <a:srgbClr val="0070C0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inserted.director_no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) 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marL="898525"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IS NULL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	BEGIN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		</a:t>
            </a:r>
            <a:r>
              <a:rPr lang="en-US" sz="1600" dirty="0">
                <a:solidFill>
                  <a:schemeClr val="accent5"/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ROLLBACK</a:t>
            </a: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 TRANSACTION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		PRINT ‘Employer not exists!’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			END</a:t>
            </a:r>
            <a:endParaRPr lang="ru-RU" sz="11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6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END</a:t>
            </a:r>
            <a:endParaRPr lang="ru-RU" sz="1100" dirty="0">
              <a:effectLst/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263772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233EC-6AB7-638A-DD12-2DE7168C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числа подключений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53F056-63CF-E788-1DED-D23FFB724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36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A75711-9244-F032-6BE7-139559D4309B}"/>
              </a:ext>
            </a:extLst>
          </p:cNvPr>
          <p:cNvSpPr/>
          <p:nvPr/>
        </p:nvSpPr>
        <p:spPr>
          <a:xfrm>
            <a:off x="296837" y="1428579"/>
            <a:ext cx="2560320" cy="797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br>
              <a:rPr lang="ru-RU" sz="1600" dirty="0"/>
            </a:br>
            <a:r>
              <a:rPr lang="ru-RU" sz="1600" dirty="0"/>
              <a:t>попытка входа в систему</a:t>
            </a:r>
          </a:p>
        </p:txBody>
      </p:sp>
    </p:spTree>
    <p:extLst>
      <p:ext uri="{BB962C8B-B14F-4D97-AF65-F5344CB8AC3E}">
        <p14:creationId xmlns:p14="http://schemas.microsoft.com/office/powerpoint/2010/main" val="400128767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233EC-6AB7-638A-DD12-2DE7168C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числа подключений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53F056-63CF-E788-1DED-D23FFB724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37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A75711-9244-F032-6BE7-139559D4309B}"/>
              </a:ext>
            </a:extLst>
          </p:cNvPr>
          <p:cNvSpPr/>
          <p:nvPr/>
        </p:nvSpPr>
        <p:spPr>
          <a:xfrm>
            <a:off x="296837" y="1428579"/>
            <a:ext cx="2560320" cy="797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br>
              <a:rPr lang="ru-RU" sz="1600" dirty="0"/>
            </a:br>
            <a:r>
              <a:rPr lang="ru-RU" sz="1600" dirty="0"/>
              <a:t>попытка входа в систему</a:t>
            </a:r>
          </a:p>
        </p:txBody>
      </p:sp>
      <p:sp>
        <p:nvSpPr>
          <p:cNvPr id="9" name="Крест 8">
            <a:extLst>
              <a:ext uri="{FF2B5EF4-FFF2-40B4-BE49-F238E27FC236}">
                <a16:creationId xmlns:a16="http://schemas.microsoft.com/office/drawing/2014/main" id="{3E1931D1-C7E2-91C6-A49A-4D92688E40BE}"/>
              </a:ext>
            </a:extLst>
          </p:cNvPr>
          <p:cNvSpPr/>
          <p:nvPr/>
        </p:nvSpPr>
        <p:spPr>
          <a:xfrm rot="18772062">
            <a:off x="266272" y="1313232"/>
            <a:ext cx="1113906" cy="1136996"/>
          </a:xfrm>
          <a:prstGeom prst="plus">
            <a:avLst>
              <a:gd name="adj" fmla="val 4216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5393F-8B97-0CDB-A3D0-F07BF31BBE3C}"/>
              </a:ext>
            </a:extLst>
          </p:cNvPr>
          <p:cNvSpPr txBox="1"/>
          <p:nvPr/>
        </p:nvSpPr>
        <p:spPr>
          <a:xfrm>
            <a:off x="1317569" y="2220239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регистрируется</a:t>
            </a:r>
          </a:p>
        </p:txBody>
      </p:sp>
      <p:sp>
        <p:nvSpPr>
          <p:cNvPr id="12" name="Стрелка вниз 10">
            <a:extLst>
              <a:ext uri="{FF2B5EF4-FFF2-40B4-BE49-F238E27FC236}">
                <a16:creationId xmlns:a16="http://schemas.microsoft.com/office/drawing/2014/main" id="{18A428BB-1EA3-932F-03B5-7B92832A60DB}"/>
              </a:ext>
            </a:extLst>
          </p:cNvPr>
          <p:cNvSpPr/>
          <p:nvPr/>
        </p:nvSpPr>
        <p:spPr>
          <a:xfrm>
            <a:off x="1007996" y="2317185"/>
            <a:ext cx="432262" cy="6483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B3BA1-146E-3D2D-511B-7110DBC01150}"/>
              </a:ext>
            </a:extLst>
          </p:cNvPr>
          <p:cNvSpPr txBox="1"/>
          <p:nvPr/>
        </p:nvSpPr>
        <p:spPr>
          <a:xfrm>
            <a:off x="243094" y="3471012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Факт входа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E83721-9084-9628-9AA3-550DA644EAC7}"/>
              </a:ext>
            </a:extLst>
          </p:cNvPr>
          <p:cNvSpPr/>
          <p:nvPr/>
        </p:nvSpPr>
        <p:spPr>
          <a:xfrm>
            <a:off x="296837" y="3034377"/>
            <a:ext cx="2560320" cy="3946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r>
              <a:rPr lang="en-US" sz="1600" b="1" dirty="0"/>
              <a:t>LOGON</a:t>
            </a:r>
            <a:endParaRPr lang="ru-RU" sz="1600" b="1" dirty="0"/>
          </a:p>
        </p:txBody>
      </p:sp>
    </p:spTree>
    <p:extLst>
      <p:ext uri="{BB962C8B-B14F-4D97-AF65-F5344CB8AC3E}">
        <p14:creationId xmlns:p14="http://schemas.microsoft.com/office/powerpoint/2010/main" val="1729920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233EC-6AB7-638A-DD12-2DE7168C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числа подключений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53F056-63CF-E788-1DED-D23FFB724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38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A75711-9244-F032-6BE7-139559D4309B}"/>
              </a:ext>
            </a:extLst>
          </p:cNvPr>
          <p:cNvSpPr/>
          <p:nvPr/>
        </p:nvSpPr>
        <p:spPr>
          <a:xfrm>
            <a:off x="296837" y="1428579"/>
            <a:ext cx="2560320" cy="797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br>
              <a:rPr lang="ru-RU" sz="1600" dirty="0"/>
            </a:br>
            <a:r>
              <a:rPr lang="ru-RU" sz="1600" dirty="0"/>
              <a:t>попытка входа в систему</a:t>
            </a:r>
          </a:p>
        </p:txBody>
      </p:sp>
      <p:sp>
        <p:nvSpPr>
          <p:cNvPr id="9" name="Крест 8">
            <a:extLst>
              <a:ext uri="{FF2B5EF4-FFF2-40B4-BE49-F238E27FC236}">
                <a16:creationId xmlns:a16="http://schemas.microsoft.com/office/drawing/2014/main" id="{3E1931D1-C7E2-91C6-A49A-4D92688E40BE}"/>
              </a:ext>
            </a:extLst>
          </p:cNvPr>
          <p:cNvSpPr/>
          <p:nvPr/>
        </p:nvSpPr>
        <p:spPr>
          <a:xfrm rot="18772062">
            <a:off x="266272" y="1313232"/>
            <a:ext cx="1113906" cy="1136996"/>
          </a:xfrm>
          <a:prstGeom prst="plus">
            <a:avLst>
              <a:gd name="adj" fmla="val 4216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5393F-8B97-0CDB-A3D0-F07BF31BBE3C}"/>
              </a:ext>
            </a:extLst>
          </p:cNvPr>
          <p:cNvSpPr txBox="1"/>
          <p:nvPr/>
        </p:nvSpPr>
        <p:spPr>
          <a:xfrm>
            <a:off x="1317569" y="2220239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регистрируется</a:t>
            </a:r>
          </a:p>
        </p:txBody>
      </p:sp>
      <p:sp>
        <p:nvSpPr>
          <p:cNvPr id="12" name="Стрелка вниз 10">
            <a:extLst>
              <a:ext uri="{FF2B5EF4-FFF2-40B4-BE49-F238E27FC236}">
                <a16:creationId xmlns:a16="http://schemas.microsoft.com/office/drawing/2014/main" id="{18A428BB-1EA3-932F-03B5-7B92832A60DB}"/>
              </a:ext>
            </a:extLst>
          </p:cNvPr>
          <p:cNvSpPr/>
          <p:nvPr/>
        </p:nvSpPr>
        <p:spPr>
          <a:xfrm>
            <a:off x="1007996" y="2317185"/>
            <a:ext cx="432262" cy="6483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B3BA1-146E-3D2D-511B-7110DBC01150}"/>
              </a:ext>
            </a:extLst>
          </p:cNvPr>
          <p:cNvSpPr txBox="1"/>
          <p:nvPr/>
        </p:nvSpPr>
        <p:spPr>
          <a:xfrm>
            <a:off x="243094" y="3471012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Факт входа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E83721-9084-9628-9AA3-550DA644EAC7}"/>
              </a:ext>
            </a:extLst>
          </p:cNvPr>
          <p:cNvSpPr/>
          <p:nvPr/>
        </p:nvSpPr>
        <p:spPr>
          <a:xfrm>
            <a:off x="296837" y="3034377"/>
            <a:ext cx="2560320" cy="3946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r>
              <a:rPr lang="en-US" sz="1600" b="1" dirty="0"/>
              <a:t>LOGON</a:t>
            </a:r>
            <a:endParaRPr lang="ru-RU" sz="1600" b="1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5B3DD98-33D9-93EF-8E99-95A211B03C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5113" y="1396489"/>
            <a:ext cx="4605006" cy="2560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001001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A5233EC-6AB7-638A-DD12-2DE7168C72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Контроль числа подключений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53F056-63CF-E788-1DED-D23FFB7244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39</a:t>
            </a:fld>
            <a:endParaRPr lang="ru-RU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3A75711-9244-F032-6BE7-139559D4309B}"/>
              </a:ext>
            </a:extLst>
          </p:cNvPr>
          <p:cNvSpPr/>
          <p:nvPr/>
        </p:nvSpPr>
        <p:spPr>
          <a:xfrm>
            <a:off x="296837" y="1428579"/>
            <a:ext cx="2560320" cy="797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br>
              <a:rPr lang="ru-RU" sz="1600" dirty="0"/>
            </a:br>
            <a:r>
              <a:rPr lang="ru-RU" sz="1600" dirty="0"/>
              <a:t>попытка входа в систему</a:t>
            </a:r>
          </a:p>
        </p:txBody>
      </p:sp>
      <p:sp>
        <p:nvSpPr>
          <p:cNvPr id="9" name="Крест 8">
            <a:extLst>
              <a:ext uri="{FF2B5EF4-FFF2-40B4-BE49-F238E27FC236}">
                <a16:creationId xmlns:a16="http://schemas.microsoft.com/office/drawing/2014/main" id="{3E1931D1-C7E2-91C6-A49A-4D92688E40BE}"/>
              </a:ext>
            </a:extLst>
          </p:cNvPr>
          <p:cNvSpPr/>
          <p:nvPr/>
        </p:nvSpPr>
        <p:spPr>
          <a:xfrm rot="18772062">
            <a:off x="266272" y="1313232"/>
            <a:ext cx="1113906" cy="1136996"/>
          </a:xfrm>
          <a:prstGeom prst="plus">
            <a:avLst>
              <a:gd name="adj" fmla="val 42164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6C5393F-8B97-0CDB-A3D0-F07BF31BBE3C}"/>
              </a:ext>
            </a:extLst>
          </p:cNvPr>
          <p:cNvSpPr txBox="1"/>
          <p:nvPr/>
        </p:nvSpPr>
        <p:spPr>
          <a:xfrm>
            <a:off x="1317569" y="2220239"/>
            <a:ext cx="2206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Не регистрируется</a:t>
            </a:r>
          </a:p>
        </p:txBody>
      </p:sp>
      <p:sp>
        <p:nvSpPr>
          <p:cNvPr id="12" name="Стрелка вниз 10">
            <a:extLst>
              <a:ext uri="{FF2B5EF4-FFF2-40B4-BE49-F238E27FC236}">
                <a16:creationId xmlns:a16="http://schemas.microsoft.com/office/drawing/2014/main" id="{18A428BB-1EA3-932F-03B5-7B92832A60DB}"/>
              </a:ext>
            </a:extLst>
          </p:cNvPr>
          <p:cNvSpPr/>
          <p:nvPr/>
        </p:nvSpPr>
        <p:spPr>
          <a:xfrm>
            <a:off x="1007996" y="2317185"/>
            <a:ext cx="432262" cy="6483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8B3BA1-146E-3D2D-511B-7110DBC01150}"/>
              </a:ext>
            </a:extLst>
          </p:cNvPr>
          <p:cNvSpPr txBox="1"/>
          <p:nvPr/>
        </p:nvSpPr>
        <p:spPr>
          <a:xfrm>
            <a:off x="243094" y="3471012"/>
            <a:ext cx="13756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Факт входа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73E83721-9084-9628-9AA3-550DA644EAC7}"/>
              </a:ext>
            </a:extLst>
          </p:cNvPr>
          <p:cNvSpPr/>
          <p:nvPr/>
        </p:nvSpPr>
        <p:spPr>
          <a:xfrm>
            <a:off x="296837" y="3034377"/>
            <a:ext cx="2560320" cy="394623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/>
              <a:t>Событие: </a:t>
            </a:r>
            <a:r>
              <a:rPr lang="en-US" sz="1600" b="1" dirty="0"/>
              <a:t>LOGON</a:t>
            </a:r>
            <a:endParaRPr lang="ru-RU" sz="1600" b="1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8CE9EB8B-FCE5-B4FD-29ED-24832D1EBBE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4484" y="5494743"/>
            <a:ext cx="8035032" cy="6821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05B88013-D47F-CB80-1CBD-6E55F266FF3B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5113" y="4028075"/>
            <a:ext cx="4605006" cy="12380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F5B3DD98-33D9-93EF-8E99-95A211B03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5113" y="1396489"/>
            <a:ext cx="4605006" cy="2560402"/>
          </a:xfrm>
          <a:prstGeom prst="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D7750C46-E735-2184-88A6-FC3FFEC95FEE}"/>
              </a:ext>
            </a:extLst>
          </p:cNvPr>
          <p:cNvSpPr/>
          <p:nvPr/>
        </p:nvSpPr>
        <p:spPr>
          <a:xfrm>
            <a:off x="823225" y="5914430"/>
            <a:ext cx="863216" cy="262487"/>
          </a:xfrm>
          <a:prstGeom prst="roundRect">
            <a:avLst>
              <a:gd name="adj" fmla="val 2490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52352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106D0-4EBE-71E4-04C2-C1F8AC30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– организация аудита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9736F3-DF54-3E63-C26E-8FB068253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40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300E13-143B-E3F5-CF3A-F78FD08818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1677621"/>
            <a:ext cx="4460518" cy="395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300433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A106D0-4EBE-71E4-04C2-C1F8AC30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Триггеры – организация аудита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49736F3-DF54-3E63-C26E-8FB068253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A04368F-5975-5EB8-45EA-ADAB08497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7624" y="1371465"/>
            <a:ext cx="6498899" cy="507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53083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83BB97-B547-AC7C-75D0-3476916B45E7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3653448"/>
            <a:ext cx="5003800" cy="293179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2CA73C-D929-D4D3-CA78-DE83415AF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Реестр объектов – связь схемы с предметной областью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39DE84-8C18-8FC5-4BD5-83E1429713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ru-RU" dirty="0"/>
              <a:t>Результат:</a:t>
            </a:r>
          </a:p>
          <a:p>
            <a:pPr lvl="1"/>
            <a:r>
              <a:rPr lang="ru-RU" dirty="0"/>
              <a:t>Согласование объектов предметной области </a:t>
            </a:r>
            <a:br>
              <a:rPr lang="ru-RU" dirty="0"/>
            </a:br>
            <a:r>
              <a:rPr lang="ru-RU" dirty="0"/>
              <a:t>и объектов БД</a:t>
            </a:r>
          </a:p>
          <a:p>
            <a:pPr lvl="1"/>
            <a:r>
              <a:rPr lang="ru-RU" dirty="0"/>
              <a:t>Согласование нескольких хранилищ</a:t>
            </a:r>
          </a:p>
          <a:p>
            <a:pPr lvl="1"/>
            <a:r>
              <a:rPr lang="ru-RU" dirty="0"/>
              <a:t>Согласование локализаций</a:t>
            </a:r>
          </a:p>
          <a:p>
            <a:r>
              <a:rPr lang="ru-RU" dirty="0"/>
              <a:t>Применяется:</a:t>
            </a:r>
          </a:p>
          <a:p>
            <a:pPr lvl="1"/>
            <a:r>
              <a:rPr lang="ru-RU" dirty="0"/>
              <a:t>Разграничение прав доступа</a:t>
            </a:r>
          </a:p>
          <a:p>
            <a:pPr lvl="1"/>
            <a:r>
              <a:rPr lang="ru-RU" dirty="0"/>
              <a:t>Поддержка формальной модели доступа</a:t>
            </a:r>
          </a:p>
          <a:p>
            <a:pPr lvl="1"/>
            <a:r>
              <a:rPr lang="ru-RU" dirty="0"/>
              <a:t>Аудит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6235868-C377-8910-D993-3FC66E9FDD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2511809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583BE0-7B4D-B685-C1E5-AACD8242E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Реестр объектов - журнализация и список прав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4AE409-1FD6-788A-A1B2-BC54613EC3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43</a:t>
            </a:fld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32987F3-93C4-E473-0176-D6B2AD00B672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900" y="1515468"/>
            <a:ext cx="4031874" cy="4635853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D376F4-92B7-6603-DA62-C20E44994AF3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2190" y="1540256"/>
            <a:ext cx="4153488" cy="3095437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60AC791-E00A-055B-11C7-AAADB3B80145}"/>
              </a:ext>
            </a:extLst>
          </p:cNvPr>
          <p:cNvSpPr txBox="1"/>
          <p:nvPr/>
        </p:nvSpPr>
        <p:spPr>
          <a:xfrm>
            <a:off x="4863805" y="5317744"/>
            <a:ext cx="31741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i="1" dirty="0">
                <a:solidFill>
                  <a:srgbClr val="C00000"/>
                </a:solidFill>
              </a:rPr>
              <a:t>См.: </a:t>
            </a:r>
          </a:p>
          <a:p>
            <a:r>
              <a:rPr lang="ru-RU" sz="1400" i="1" dirty="0">
                <a:solidFill>
                  <a:srgbClr val="C00000"/>
                </a:solidFill>
              </a:rPr>
              <a:t>С.В. Тарасов «</a:t>
            </a:r>
            <a:r>
              <a:rPr lang="ru-RU" sz="1400" b="1" i="1" dirty="0">
                <a:solidFill>
                  <a:srgbClr val="C00000"/>
                </a:solidFill>
              </a:rPr>
              <a:t>СУБД для программиста</a:t>
            </a:r>
            <a:r>
              <a:rPr lang="ru-RU" sz="1400" i="1" dirty="0">
                <a:solidFill>
                  <a:srgbClr val="C00000"/>
                </a:solidFill>
              </a:rPr>
              <a:t>»</a:t>
            </a:r>
          </a:p>
        </p:txBody>
      </p:sp>
    </p:spTree>
    <p:extLst>
      <p:ext uri="{BB962C8B-B14F-4D97-AF65-F5344CB8AC3E}">
        <p14:creationId xmlns:p14="http://schemas.microsoft.com/office/powerpoint/2010/main" val="250270425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Представления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 расширенное управление доступом</a:t>
            </a:r>
            <a:endParaRPr lang="ru-RU" dirty="0">
              <a:solidFill>
                <a:schemeClr val="tx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0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7A86D1-AE90-E341-22E5-ED35B765F3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Понятие представления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ECA07F5-7704-641C-5D9D-CA82FB3071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7D597910-2306-DE1B-16BE-FA07F8D87ABB}"/>
              </a:ext>
            </a:extLst>
          </p:cNvPr>
          <p:cNvSpPr txBox="1">
            <a:spLocks/>
          </p:cNvSpPr>
          <p:nvPr/>
        </p:nvSpPr>
        <p:spPr>
          <a:xfrm>
            <a:off x="356509" y="1434947"/>
            <a:ext cx="8596668" cy="56835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b="1" i="1" dirty="0"/>
              <a:t>Представление</a:t>
            </a:r>
            <a:r>
              <a:rPr lang="ru-RU" dirty="0"/>
              <a:t> - </a:t>
            </a:r>
            <a:r>
              <a:rPr lang="ru-RU" dirty="0">
                <a:solidFill>
                  <a:srgbClr val="C00000"/>
                </a:solidFill>
              </a:rPr>
              <a:t>именованное реляционное выражение</a:t>
            </a:r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575BCE8F-17C9-DF7F-3DA0-74B34509F9CC}"/>
              </a:ext>
            </a:extLst>
          </p:cNvPr>
          <p:cNvSpPr txBox="1">
            <a:spLocks/>
          </p:cNvSpPr>
          <p:nvPr/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/>
          <a:lstStyle>
            <a:defPPr>
              <a:defRPr lang="ru-RU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27D79F-97CA-4873-BC38-2EA574A6E303}" type="slidenum">
              <a:rPr lang="ru-RU" smtClean="0"/>
              <a:pPr/>
              <a:t>45</a:t>
            </a:fld>
            <a:endParaRPr lang="ru-RU"/>
          </a:p>
        </p:txBody>
      </p:sp>
      <p:sp>
        <p:nvSpPr>
          <p:cNvPr id="7" name="Стрелка вниз 4">
            <a:extLst>
              <a:ext uri="{FF2B5EF4-FFF2-40B4-BE49-F238E27FC236}">
                <a16:creationId xmlns:a16="http://schemas.microsoft.com/office/drawing/2014/main" id="{806CE90D-531A-DDDB-2F16-40F41E2E159B}"/>
              </a:ext>
            </a:extLst>
          </p:cNvPr>
          <p:cNvSpPr/>
          <p:nvPr/>
        </p:nvSpPr>
        <p:spPr>
          <a:xfrm>
            <a:off x="496296" y="1950826"/>
            <a:ext cx="764275" cy="58546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Объект 2">
            <a:extLst>
              <a:ext uri="{FF2B5EF4-FFF2-40B4-BE49-F238E27FC236}">
                <a16:creationId xmlns:a16="http://schemas.microsoft.com/office/drawing/2014/main" id="{FE062201-AE2A-DC53-CA84-22CBF34952B8}"/>
              </a:ext>
            </a:extLst>
          </p:cNvPr>
          <p:cNvSpPr txBox="1">
            <a:spLocks/>
          </p:cNvSpPr>
          <p:nvPr/>
        </p:nvSpPr>
        <p:spPr>
          <a:xfrm>
            <a:off x="1385860" y="1882543"/>
            <a:ext cx="4626300" cy="4826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>
            <a:lvl1pPr marL="342900" indent="-342900">
              <a:spcBef>
                <a:spcPct val="20000"/>
              </a:spcBef>
              <a:buFont typeface="Arial" pitchFamily="34" charset="0"/>
              <a:buChar char="•"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>
              <a:buNone/>
            </a:pPr>
            <a:r>
              <a:rPr lang="ru-RU" sz="1600" i="1" dirty="0">
                <a:solidFill>
                  <a:srgbClr val="369461"/>
                </a:solidFill>
              </a:rPr>
              <a:t>Уровень логической независимости данных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BB6961C-A565-FD8B-9BB6-E9229217225D}"/>
              </a:ext>
            </a:extLst>
          </p:cNvPr>
          <p:cNvSpPr/>
          <p:nvPr/>
        </p:nvSpPr>
        <p:spPr>
          <a:xfrm>
            <a:off x="465636" y="5100798"/>
            <a:ext cx="17665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</a:rPr>
              <a:t>CREATE VIEW </a:t>
            </a:r>
            <a:endParaRPr lang="ru-RU" dirty="0"/>
          </a:p>
        </p:txBody>
      </p:sp>
      <p:sp>
        <p:nvSpPr>
          <p:cNvPr id="10" name="Стрелка вправо 7">
            <a:extLst>
              <a:ext uri="{FF2B5EF4-FFF2-40B4-BE49-F238E27FC236}">
                <a16:creationId xmlns:a16="http://schemas.microsoft.com/office/drawing/2014/main" id="{F6D06F6D-1A73-B2B8-8D25-F554970486F8}"/>
              </a:ext>
            </a:extLst>
          </p:cNvPr>
          <p:cNvSpPr/>
          <p:nvPr/>
        </p:nvSpPr>
        <p:spPr>
          <a:xfrm>
            <a:off x="1911487" y="5581429"/>
            <a:ext cx="641445" cy="37754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03CB01F3-AD19-F190-AA62-C895BF56E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3262" y="2243560"/>
            <a:ext cx="8117209" cy="2976853"/>
          </a:xfrm>
        </p:spPr>
        <p:txBody>
          <a:bodyPr>
            <a:normAutofit/>
          </a:bodyPr>
          <a:lstStyle/>
          <a:p>
            <a:pPr lvl="1"/>
            <a:r>
              <a:rPr lang="ru-RU" sz="1600" b="1" i="1" dirty="0"/>
              <a:t>Выражение, определяющее представление </a:t>
            </a:r>
            <a:r>
              <a:rPr lang="ru-RU" sz="1600" dirty="0"/>
              <a:t>– реляционное выражение</a:t>
            </a:r>
            <a:endParaRPr lang="ru-RU" sz="1600" b="1" i="1" dirty="0"/>
          </a:p>
          <a:p>
            <a:pPr lvl="2"/>
            <a:r>
              <a:rPr lang="ru-RU" dirty="0"/>
              <a:t>не вычисляется в момент создания</a:t>
            </a:r>
          </a:p>
          <a:p>
            <a:pPr lvl="2"/>
            <a:r>
              <a:rPr lang="ru-RU" dirty="0"/>
              <a:t>запоминается в качестве объекта сервера (базы данных) под указанным именем</a:t>
            </a:r>
          </a:p>
          <a:p>
            <a:pPr lvl="1"/>
            <a:r>
              <a:rPr lang="ru-RU" sz="1600" b="1" i="1" dirty="0"/>
              <a:t>Метаданные представления </a:t>
            </a:r>
            <a:r>
              <a:rPr lang="ru-RU" sz="1600" dirty="0"/>
              <a:t>(хранятся физически)</a:t>
            </a:r>
          </a:p>
          <a:p>
            <a:pPr lvl="2"/>
            <a:r>
              <a:rPr lang="ru-RU" dirty="0"/>
              <a:t>имя в каталоге сервера </a:t>
            </a:r>
          </a:p>
          <a:p>
            <a:pPr lvl="2"/>
            <a:r>
              <a:rPr lang="ru-RU" dirty="0"/>
              <a:t>способ получения кортежей  </a:t>
            </a:r>
          </a:p>
          <a:p>
            <a:pPr lvl="1"/>
            <a:r>
              <a:rPr lang="ru-RU" sz="1600" b="1" i="1" dirty="0"/>
              <a:t>Значение представления</a:t>
            </a:r>
            <a:r>
              <a:rPr lang="ru-RU" sz="1600" dirty="0"/>
              <a:t> - результат выполнения его определяющего выражения над базовыми таблицами реляционного сервера.</a:t>
            </a:r>
          </a:p>
          <a:p>
            <a:endParaRPr lang="ru-RU" sz="1600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63FAB27-B61A-85AC-D39D-27BC591C33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0558" y="5104247"/>
            <a:ext cx="4924268" cy="15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30656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DDF145-9C98-7DB5-58EC-950ADED9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Виды представлений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E11EC64-851E-D6D6-C881-A0491A6B96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46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0EF3541-923A-25A2-7181-CDC2F4D80C41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28800"/>
            <a:ext cx="4726203" cy="4629772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0D8E7B7-343D-6DC3-DC3E-ADE7FDAADC01}"/>
              </a:ext>
            </a:extLst>
          </p:cNvPr>
          <p:cNvSpPr/>
          <p:nvPr/>
        </p:nvSpPr>
        <p:spPr>
          <a:xfrm>
            <a:off x="4139952" y="1484784"/>
            <a:ext cx="4536504" cy="8679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CREATE VIEW v</a:t>
            </a:r>
            <a:r>
              <a:rPr lang="ru-RU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without</a:t>
            </a:r>
            <a:r>
              <a:rPr lang="ru-RU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_</a:t>
            </a: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budget</a:t>
            </a:r>
            <a:endParaRPr lang="ru-RU" sz="1400" b="1" dirty="0"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en-US" sz="1400" b="1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AS </a:t>
            </a:r>
            <a:r>
              <a:rPr lang="en-US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SELECT </a:t>
            </a:r>
            <a:r>
              <a:rPr lang="en-US" sz="1400" dirty="0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project_no, </a:t>
            </a:r>
            <a:r>
              <a:rPr lang="en-US" sz="1400" dirty="0" err="1">
                <a:solidFill>
                  <a:srgbClr val="C00000"/>
                </a:solidFill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project_name</a:t>
            </a:r>
            <a:endParaRPr lang="ru-RU" sz="1400" dirty="0">
              <a:solidFill>
                <a:srgbClr val="C00000"/>
              </a:solidFill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20000"/>
              </a:lnSpc>
              <a:spcAft>
                <a:spcPts val="0"/>
              </a:spcAft>
            </a:pPr>
            <a:r>
              <a:rPr lang="ru-RU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FROM </a:t>
            </a:r>
            <a:r>
              <a:rPr lang="ru-RU" sz="1400" dirty="0" err="1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project</a:t>
            </a:r>
            <a:r>
              <a:rPr lang="ru-RU" sz="1400" dirty="0">
                <a:latin typeface="Courier New" panose="02070309020205020404" pitchFamily="49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  <a:endParaRPr lang="ru-RU" sz="1400" dirty="0">
              <a:effectLst/>
              <a:latin typeface="Courier New" panose="02070309020205020404" pitchFamily="49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014116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3A4C5-304F-578E-EC7A-D01F02B7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Примеры представлений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1A465A-FDA0-63D4-F34A-796F7B135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47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7AC190-3A0A-602B-36C2-9C68CA0B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59" y="3709502"/>
            <a:ext cx="4310241" cy="22470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C808E6-D20E-160E-E0F8-2F4F7022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872" y="1448968"/>
            <a:ext cx="2518700" cy="18412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94C2810-F014-0878-6306-5F04E16A6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96" y="4542748"/>
            <a:ext cx="3799008" cy="109440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35E76D-C448-97BD-8811-E63510155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257" y="2707441"/>
            <a:ext cx="1995127" cy="1316266"/>
          </a:xfrm>
          <a:prstGeom prst="rect">
            <a:avLst/>
          </a:prstGeom>
        </p:spPr>
      </p:pic>
      <p:sp>
        <p:nvSpPr>
          <p:cNvPr id="13" name="Стрелка вниз 8">
            <a:extLst>
              <a:ext uri="{FF2B5EF4-FFF2-40B4-BE49-F238E27FC236}">
                <a16:creationId xmlns:a16="http://schemas.microsoft.com/office/drawing/2014/main" id="{113ADD94-C23E-A9C6-4497-CD56642803A6}"/>
              </a:ext>
            </a:extLst>
          </p:cNvPr>
          <p:cNvSpPr/>
          <p:nvPr/>
        </p:nvSpPr>
        <p:spPr>
          <a:xfrm rot="16200000">
            <a:off x="4724330" y="4886286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9">
            <a:extLst>
              <a:ext uri="{FF2B5EF4-FFF2-40B4-BE49-F238E27FC236}">
                <a16:creationId xmlns:a16="http://schemas.microsoft.com/office/drawing/2014/main" id="{6DB9B3C8-7764-0EEB-4D4D-E93CF0C2B9EA}"/>
              </a:ext>
            </a:extLst>
          </p:cNvPr>
          <p:cNvSpPr/>
          <p:nvPr/>
        </p:nvSpPr>
        <p:spPr>
          <a:xfrm rot="10800000">
            <a:off x="1730010" y="3213510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1">
            <a:extLst>
              <a:ext uri="{FF2B5EF4-FFF2-40B4-BE49-F238E27FC236}">
                <a16:creationId xmlns:a16="http://schemas.microsoft.com/office/drawing/2014/main" id="{DCC4935F-5038-26E0-B7D8-01E27EE1DD8A}"/>
              </a:ext>
            </a:extLst>
          </p:cNvPr>
          <p:cNvSpPr/>
          <p:nvPr/>
        </p:nvSpPr>
        <p:spPr>
          <a:xfrm rot="14243943">
            <a:off x="5180818" y="3074446"/>
            <a:ext cx="390698" cy="1270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2FB53CF-4530-9BF3-910B-0E03FD86E5D5}"/>
              </a:ext>
            </a:extLst>
          </p:cNvPr>
          <p:cNvSpPr/>
          <p:nvPr/>
        </p:nvSpPr>
        <p:spPr>
          <a:xfrm>
            <a:off x="139479" y="1463398"/>
            <a:ext cx="25147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FCB9C3A-B6F1-FBAD-BF9C-F5EBE7FC979B}"/>
              </a:ext>
            </a:extLst>
          </p:cNvPr>
          <p:cNvSpPr/>
          <p:nvPr/>
        </p:nvSpPr>
        <p:spPr>
          <a:xfrm>
            <a:off x="5597523" y="1550655"/>
            <a:ext cx="40289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TEmp_Phones_M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</a:rPr>
              <a:t>Маркетинг'</a:t>
            </a:r>
            <a:endParaRPr lang="ru-RU" sz="14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57BB6D-3DBA-D93A-320D-7F72F437D8FD}"/>
              </a:ext>
            </a:extLst>
          </p:cNvPr>
          <p:cNvSpPr/>
          <p:nvPr/>
        </p:nvSpPr>
        <p:spPr>
          <a:xfrm>
            <a:off x="5251696" y="5783342"/>
            <a:ext cx="268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TEmp_Ing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Инженерный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96838155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73CBB9-9F64-D943-AA94-62CD883C20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Применение представлений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C90BAAB-2BC4-DFC2-C9C4-10F47EBF9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48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62D6EB7-224A-303E-496B-D64845C3FC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81" y="1484313"/>
            <a:ext cx="6296864" cy="4752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18286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8CA3F-7C2E-D704-9755-BCD282803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Представления в защищенных БД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6E3F47-B6B8-5A90-26AC-9E2350E1F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dirty="0"/>
              <a:t>Применение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Сокрытие реальной структуры данных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Изоляция объектов и данных при разграничении прав доступа</a:t>
            </a:r>
          </a:p>
          <a:p>
            <a:pPr marL="0" indent="0">
              <a:buFont typeface="+mj-lt"/>
              <a:buNone/>
            </a:pPr>
            <a:endParaRPr lang="ru-RU" sz="2000"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Font typeface="+mj-lt"/>
              <a:buNone/>
            </a:pPr>
            <a:r>
              <a:rPr lang="ru-RU" sz="2000" b="1" dirty="0">
                <a:solidFill>
                  <a:schemeClr val="accent2">
                    <a:lumMod val="75000"/>
                  </a:schemeClr>
                </a:solidFill>
              </a:rPr>
              <a:t>Представления в разделении доступа </a:t>
            </a:r>
          </a:p>
          <a:p>
            <a:pPr marL="0" indent="0">
              <a:buFont typeface="+mj-lt"/>
              <a:buNone/>
            </a:pPr>
            <a:r>
              <a:rPr lang="ru-RU" sz="2000" b="1" dirty="0"/>
              <a:t>Для администратора: </a:t>
            </a:r>
            <a:r>
              <a:rPr lang="ru-RU" sz="2000" dirty="0"/>
              <a:t>Группирование объектов для разделения доступа</a:t>
            </a:r>
          </a:p>
          <a:p>
            <a:pPr marL="0" indent="0">
              <a:buNone/>
            </a:pPr>
            <a:r>
              <a:rPr lang="ru-RU" sz="2000" b="1" dirty="0"/>
              <a:t>Для пользователя: </a:t>
            </a:r>
          </a:p>
          <a:p>
            <a:pPr marL="0" indent="0">
              <a:buNone/>
            </a:pPr>
            <a:r>
              <a:rPr lang="ru-RU" sz="2000" dirty="0"/>
              <a:t>Работа с представлением </a:t>
            </a:r>
            <a:r>
              <a:rPr lang="ru-RU" sz="2000" dirty="0">
                <a:sym typeface="Symbol" panose="05050102010706020507" pitchFamily="18" charset="2"/>
              </a:rPr>
              <a:t> с базовыми таблицами</a:t>
            </a:r>
            <a:endParaRPr lang="ru-RU" sz="2000" dirty="0"/>
          </a:p>
          <a:p>
            <a:pPr marL="0" indent="0">
              <a:buFont typeface="+mj-lt"/>
              <a:buNone/>
            </a:pPr>
            <a:endParaRPr lang="ru-R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b="1" dirty="0"/>
              <a:t>Уязвимости</a:t>
            </a:r>
          </a:p>
          <a:p>
            <a:pPr marL="228600" indent="-228600">
              <a:buFont typeface="+mj-lt"/>
              <a:buAutoNum type="arabicPeriod"/>
            </a:pPr>
            <a:r>
              <a:rPr lang="ru-RU" dirty="0" err="1"/>
              <a:t>Обновляемость</a:t>
            </a:r>
            <a:endParaRPr lang="ru-RU" dirty="0"/>
          </a:p>
          <a:p>
            <a:pPr marL="228600" indent="-228600">
              <a:buFont typeface="+mj-lt"/>
              <a:buAutoNum type="arabicPeriod"/>
            </a:pPr>
            <a:r>
              <a:rPr lang="ru-RU" dirty="0"/>
              <a:t>Особенности вставки данных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F12064F-1FD2-9213-1D92-228F94FC6A1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49</a:t>
            </a:fld>
            <a:endParaRPr lang="ru-RU"/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1C5FB66E-BCBC-47CA-C509-1B5CEA0314A9}"/>
              </a:ext>
            </a:extLst>
          </p:cNvPr>
          <p:cNvSpPr/>
          <p:nvPr/>
        </p:nvSpPr>
        <p:spPr>
          <a:xfrm>
            <a:off x="539552" y="1353540"/>
            <a:ext cx="7920880" cy="1211364"/>
          </a:xfrm>
          <a:prstGeom prst="roundRect">
            <a:avLst>
              <a:gd name="adj" fmla="val 24906"/>
            </a:avLst>
          </a:prstGeom>
          <a:noFill/>
          <a:ln>
            <a:prstDash val="dash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76614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03A4C5-304F-578E-EC7A-D01F02B7C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Обновляемость</a:t>
            </a:r>
            <a:r>
              <a:rPr lang="ru-RU" dirty="0"/>
              <a:t> представлений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1A465A-FDA0-63D4-F34A-796F7B1352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50</a:t>
            </a:fld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D07AC190-3A0A-602B-36C2-9C68CA0BBD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59" y="3709502"/>
            <a:ext cx="4310241" cy="224704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93C808E6-D20E-160E-E0F8-2F4F702256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872" y="1448968"/>
            <a:ext cx="2518700" cy="1841288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694C2810-F014-0878-6306-5F04E16A6C2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96" y="4542748"/>
            <a:ext cx="3799008" cy="1094401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A35E76D-C448-97BD-8811-E63510155E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257" y="2707441"/>
            <a:ext cx="1995127" cy="1316266"/>
          </a:xfrm>
          <a:prstGeom prst="rect">
            <a:avLst/>
          </a:prstGeom>
        </p:spPr>
      </p:pic>
      <p:sp>
        <p:nvSpPr>
          <p:cNvPr id="13" name="Стрелка вниз 8">
            <a:extLst>
              <a:ext uri="{FF2B5EF4-FFF2-40B4-BE49-F238E27FC236}">
                <a16:creationId xmlns:a16="http://schemas.microsoft.com/office/drawing/2014/main" id="{113ADD94-C23E-A9C6-4497-CD56642803A6}"/>
              </a:ext>
            </a:extLst>
          </p:cNvPr>
          <p:cNvSpPr/>
          <p:nvPr/>
        </p:nvSpPr>
        <p:spPr>
          <a:xfrm rot="16200000">
            <a:off x="4724330" y="4886286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Стрелка вниз 9">
            <a:extLst>
              <a:ext uri="{FF2B5EF4-FFF2-40B4-BE49-F238E27FC236}">
                <a16:creationId xmlns:a16="http://schemas.microsoft.com/office/drawing/2014/main" id="{6DB9B3C8-7764-0EEB-4D4D-E93CF0C2B9EA}"/>
              </a:ext>
            </a:extLst>
          </p:cNvPr>
          <p:cNvSpPr/>
          <p:nvPr/>
        </p:nvSpPr>
        <p:spPr>
          <a:xfrm rot="10800000">
            <a:off x="1730010" y="3213510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Стрелка вниз 11">
            <a:extLst>
              <a:ext uri="{FF2B5EF4-FFF2-40B4-BE49-F238E27FC236}">
                <a16:creationId xmlns:a16="http://schemas.microsoft.com/office/drawing/2014/main" id="{DCC4935F-5038-26E0-B7D8-01E27EE1DD8A}"/>
              </a:ext>
            </a:extLst>
          </p:cNvPr>
          <p:cNvSpPr/>
          <p:nvPr/>
        </p:nvSpPr>
        <p:spPr>
          <a:xfrm rot="14243943">
            <a:off x="5180818" y="3074446"/>
            <a:ext cx="390698" cy="1270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D2FB53CF-4530-9BF3-910B-0E03FD86E5D5}"/>
              </a:ext>
            </a:extLst>
          </p:cNvPr>
          <p:cNvSpPr/>
          <p:nvPr/>
        </p:nvSpPr>
        <p:spPr>
          <a:xfrm>
            <a:off x="139479" y="1463398"/>
            <a:ext cx="25147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/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EFCB9C3A-B6F1-FBAD-BF9C-F5EBE7FC979B}"/>
              </a:ext>
            </a:extLst>
          </p:cNvPr>
          <p:cNvSpPr/>
          <p:nvPr/>
        </p:nvSpPr>
        <p:spPr>
          <a:xfrm>
            <a:off x="5597523" y="1550655"/>
            <a:ext cx="402890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TEmp_Phones_M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</a:rPr>
              <a:t>Маркетинг'</a:t>
            </a:r>
            <a:endParaRPr lang="ru-RU" sz="140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57BB6D-3DBA-D93A-320D-7F72F437D8FD}"/>
              </a:ext>
            </a:extLst>
          </p:cNvPr>
          <p:cNvSpPr/>
          <p:nvPr/>
        </p:nvSpPr>
        <p:spPr>
          <a:xfrm>
            <a:off x="5251696" y="5783342"/>
            <a:ext cx="268019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TEmp_Ing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Инженерный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ru-RU" sz="1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99C974-88BB-BDDE-1CD1-6F267C478201}"/>
              </a:ext>
            </a:extLst>
          </p:cNvPr>
          <p:cNvSpPr txBox="1"/>
          <p:nvPr/>
        </p:nvSpPr>
        <p:spPr>
          <a:xfrm>
            <a:off x="3148992" y="2892793"/>
            <a:ext cx="1112805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600" dirty="0">
                <a:solidFill>
                  <a:srgbClr val="C00000"/>
                </a:solidFill>
              </a:rPr>
              <a:t>?</a:t>
            </a:r>
          </a:p>
        </p:txBody>
      </p:sp>
      <p:sp>
        <p:nvSpPr>
          <p:cNvPr id="5" name="Стрелка вниз 9">
            <a:extLst>
              <a:ext uri="{FF2B5EF4-FFF2-40B4-BE49-F238E27FC236}">
                <a16:creationId xmlns:a16="http://schemas.microsoft.com/office/drawing/2014/main" id="{995EF18F-FC2A-98FB-AA25-85A9681C479D}"/>
              </a:ext>
            </a:extLst>
          </p:cNvPr>
          <p:cNvSpPr/>
          <p:nvPr/>
        </p:nvSpPr>
        <p:spPr>
          <a:xfrm rot="10800000">
            <a:off x="1050674" y="6172131"/>
            <a:ext cx="390698" cy="407323"/>
          </a:xfrm>
          <a:prstGeom prst="downArrow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846D07C-C290-F914-900D-F021C338192D}"/>
              </a:ext>
            </a:extLst>
          </p:cNvPr>
          <p:cNvSpPr txBox="1"/>
          <p:nvPr/>
        </p:nvSpPr>
        <p:spPr>
          <a:xfrm>
            <a:off x="1730010" y="6158506"/>
            <a:ext cx="173848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INSERT ….</a:t>
            </a:r>
            <a:endParaRPr lang="ru-RU" sz="2800" b="1" dirty="0">
              <a:solidFill>
                <a:srgbClr val="C00000"/>
              </a:solidFill>
            </a:endParaRPr>
          </a:p>
        </p:txBody>
      </p:sp>
      <p:sp>
        <p:nvSpPr>
          <p:cNvPr id="7" name="Стрелка вниз 9">
            <a:extLst>
              <a:ext uri="{FF2B5EF4-FFF2-40B4-BE49-F238E27FC236}">
                <a16:creationId xmlns:a16="http://schemas.microsoft.com/office/drawing/2014/main" id="{92D4B883-FB78-845E-4127-DA21666E9A7D}"/>
              </a:ext>
            </a:extLst>
          </p:cNvPr>
          <p:cNvSpPr/>
          <p:nvPr/>
        </p:nvSpPr>
        <p:spPr>
          <a:xfrm rot="10800000">
            <a:off x="2354343" y="3194387"/>
            <a:ext cx="390698" cy="40732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 вниз 9">
            <a:extLst>
              <a:ext uri="{FF2B5EF4-FFF2-40B4-BE49-F238E27FC236}">
                <a16:creationId xmlns:a16="http://schemas.microsoft.com/office/drawing/2014/main" id="{AC6E776C-89BB-A000-3A00-B19E7D269BEF}"/>
              </a:ext>
            </a:extLst>
          </p:cNvPr>
          <p:cNvSpPr/>
          <p:nvPr/>
        </p:nvSpPr>
        <p:spPr>
          <a:xfrm rot="10800000">
            <a:off x="7060666" y="3942900"/>
            <a:ext cx="390698" cy="40732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Стрелка вниз 9">
            <a:extLst>
              <a:ext uri="{FF2B5EF4-FFF2-40B4-BE49-F238E27FC236}">
                <a16:creationId xmlns:a16="http://schemas.microsoft.com/office/drawing/2014/main" id="{E3663864-19D6-3326-26C1-4DF580516A8C}"/>
              </a:ext>
            </a:extLst>
          </p:cNvPr>
          <p:cNvSpPr/>
          <p:nvPr/>
        </p:nvSpPr>
        <p:spPr>
          <a:xfrm rot="10800000">
            <a:off x="8093704" y="5783342"/>
            <a:ext cx="390698" cy="407323"/>
          </a:xfrm>
          <a:prstGeom prst="down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575405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3640835-B37C-CD74-0F63-F97736343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Обновляемость</a:t>
            </a:r>
            <a:r>
              <a:rPr lang="ru-RU" dirty="0"/>
              <a:t> представлений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88D94C6-85E3-6A7B-8837-09410FC8C5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51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3CCC095-12B4-0D58-9528-AEE138A91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759" y="3709502"/>
            <a:ext cx="4310241" cy="2247045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692F520E-C855-5FB8-6EDB-588E8CD2D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4872" y="1448968"/>
            <a:ext cx="2518700" cy="184128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B339AD0-243A-464B-433F-1E67028FD63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51696" y="4542748"/>
            <a:ext cx="3799008" cy="109440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3D8AE770-3396-A413-51ED-55C1A9006B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8257" y="2707441"/>
            <a:ext cx="1995127" cy="1316266"/>
          </a:xfrm>
          <a:prstGeom prst="rect">
            <a:avLst/>
          </a:prstGeom>
        </p:spPr>
      </p:pic>
      <p:sp>
        <p:nvSpPr>
          <p:cNvPr id="10" name="Стрелка вниз 8">
            <a:extLst>
              <a:ext uri="{FF2B5EF4-FFF2-40B4-BE49-F238E27FC236}">
                <a16:creationId xmlns:a16="http://schemas.microsoft.com/office/drawing/2014/main" id="{2F0DC1C7-8DF4-DFDD-AAC7-146EA3D1EF74}"/>
              </a:ext>
            </a:extLst>
          </p:cNvPr>
          <p:cNvSpPr/>
          <p:nvPr/>
        </p:nvSpPr>
        <p:spPr>
          <a:xfrm rot="16200000">
            <a:off x="4724330" y="4886286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 вниз 9">
            <a:extLst>
              <a:ext uri="{FF2B5EF4-FFF2-40B4-BE49-F238E27FC236}">
                <a16:creationId xmlns:a16="http://schemas.microsoft.com/office/drawing/2014/main" id="{345AC7E7-B457-10B7-7563-190FF88D4C45}"/>
              </a:ext>
            </a:extLst>
          </p:cNvPr>
          <p:cNvSpPr/>
          <p:nvPr/>
        </p:nvSpPr>
        <p:spPr>
          <a:xfrm rot="10800000">
            <a:off x="1730010" y="3213510"/>
            <a:ext cx="390698" cy="40732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Стрелка вниз 11">
            <a:extLst>
              <a:ext uri="{FF2B5EF4-FFF2-40B4-BE49-F238E27FC236}">
                <a16:creationId xmlns:a16="http://schemas.microsoft.com/office/drawing/2014/main" id="{38D887D6-29B2-D7D5-8C3B-03D6F88A9C88}"/>
              </a:ext>
            </a:extLst>
          </p:cNvPr>
          <p:cNvSpPr/>
          <p:nvPr/>
        </p:nvSpPr>
        <p:spPr>
          <a:xfrm rot="14243943">
            <a:off x="5180818" y="3074446"/>
            <a:ext cx="390698" cy="127011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1D72025-1B6A-B9A0-0B82-66DACC5249F2}"/>
              </a:ext>
            </a:extLst>
          </p:cNvPr>
          <p:cNvSpPr/>
          <p:nvPr/>
        </p:nvSpPr>
        <p:spPr>
          <a:xfrm>
            <a:off x="139479" y="1463398"/>
            <a:ext cx="2514753" cy="95410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CBAE0580-62DA-192C-7D78-E425725AB1DF}"/>
              </a:ext>
            </a:extLst>
          </p:cNvPr>
          <p:cNvSpPr/>
          <p:nvPr/>
        </p:nvSpPr>
        <p:spPr>
          <a:xfrm>
            <a:off x="5597523" y="1484784"/>
            <a:ext cx="2955557" cy="954107"/>
          </a:xfrm>
          <a:prstGeom prst="rect">
            <a:avLst/>
          </a:prstGeom>
          <a:ln w="28575">
            <a:solidFill>
              <a:srgbClr val="C00000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TEmp_Phones_M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FIO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Phone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ru-RU" sz="1400" dirty="0">
                <a:solidFill>
                  <a:srgbClr val="FF0000"/>
                </a:solidFill>
                <a:latin typeface="Consolas" panose="020B0609020204030204" pitchFamily="49" charset="0"/>
              </a:rPr>
              <a:t>Маркетинг'</a:t>
            </a:r>
            <a:endParaRPr lang="ru-RU" sz="1400" dirty="0"/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54E2A31-0642-3087-85BF-EBF2BF6EFBD5}"/>
              </a:ext>
            </a:extLst>
          </p:cNvPr>
          <p:cNvSpPr/>
          <p:nvPr/>
        </p:nvSpPr>
        <p:spPr>
          <a:xfrm>
            <a:off x="5251696" y="5783342"/>
            <a:ext cx="2680192" cy="954107"/>
          </a:xfrm>
          <a:prstGeom prst="rect">
            <a:avLst/>
          </a:prstGeom>
          <a:ln w="38100">
            <a:solidFill>
              <a:srgbClr val="369461"/>
            </a:solidFill>
          </a:ln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TEmp_Ing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TEmp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endParaRPr lang="ru-RU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Dep</a:t>
            </a:r>
            <a:r>
              <a:rPr lang="en-US" sz="14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400" dirty="0" err="1">
                <a:solidFill>
                  <a:srgbClr val="FF0000"/>
                </a:solidFill>
                <a:latin typeface="Consolas" panose="020B0609020204030204" pitchFamily="49" charset="0"/>
              </a:rPr>
              <a:t>Инженерный</a:t>
            </a:r>
            <a:r>
              <a:rPr lang="en-US" sz="14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11419837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F51A17-7E55-5845-0A44-A0B188BE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7" y="1335414"/>
            <a:ext cx="6642002" cy="15649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E726D-69D9-8BB5-910F-B11C1F1B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Синтаксическая зависимость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1CB527-CD98-BF6B-A007-18AB2FFE5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52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BDFA2-5831-F03D-B4B8-E2D355675AEF}"/>
              </a:ext>
            </a:extLst>
          </p:cNvPr>
          <p:cNvSpPr txBox="1"/>
          <p:nvPr/>
        </p:nvSpPr>
        <p:spPr>
          <a:xfrm>
            <a:off x="4572000" y="1286906"/>
            <a:ext cx="4523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AE4E80-E4E8-233E-A398-61D34C3AC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868" y="3032519"/>
            <a:ext cx="3828620" cy="235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2726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2F51A17-7E55-5845-0A44-A0B188BE2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287" y="1335414"/>
            <a:ext cx="6642002" cy="1564979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AE726D-69D9-8BB5-910F-B11C1F1BE6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Синтаксическая зависимость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E1CB527-CD98-BF6B-A007-18AB2FFE53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53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D0BDFA2-5831-F03D-B4B8-E2D355675AEF}"/>
              </a:ext>
            </a:extLst>
          </p:cNvPr>
          <p:cNvSpPr txBox="1"/>
          <p:nvPr/>
        </p:nvSpPr>
        <p:spPr>
          <a:xfrm>
            <a:off x="4572000" y="1286906"/>
            <a:ext cx="4523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C00000"/>
                </a:solidFill>
              </a:rPr>
              <a:t>?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4AE4E80-E4E8-233E-A398-61D34C3AC4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868" y="3032519"/>
            <a:ext cx="3828620" cy="2353260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E76A84F2-4A53-D131-E216-E5FFEB78A8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861" y="4191520"/>
            <a:ext cx="6704428" cy="238851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B697E33-78D0-74F5-5CC7-30B265B7C388}"/>
              </a:ext>
            </a:extLst>
          </p:cNvPr>
          <p:cNvSpPr txBox="1"/>
          <p:nvPr/>
        </p:nvSpPr>
        <p:spPr>
          <a:xfrm>
            <a:off x="4345816" y="4077072"/>
            <a:ext cx="45236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800" dirty="0">
                <a:solidFill>
                  <a:srgbClr val="C00000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2343288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762CE-0CFD-A2C9-0C91-080549B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Стандарты и поддержка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05E564-CBF8-2B52-7469-CE74CF1BA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54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456378E-F49E-26C0-8A61-EBC4C1B4C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5" y="1280728"/>
            <a:ext cx="4811794" cy="5324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Согласно </a:t>
            </a:r>
            <a:r>
              <a:rPr lang="en-US" dirty="0"/>
              <a:t>SQL</a:t>
            </a:r>
            <a:r>
              <a:rPr lang="ru-RU" dirty="0"/>
              <a:t> – 1 </a:t>
            </a:r>
          </a:p>
          <a:p>
            <a:r>
              <a:rPr lang="ru-RU" dirty="0"/>
              <a:t>Не должен содержать:</a:t>
            </a:r>
          </a:p>
          <a:p>
            <a:pPr lvl="1"/>
            <a:r>
              <a:rPr lang="en-US" dirty="0"/>
              <a:t>DISTINCT</a:t>
            </a:r>
            <a:endParaRPr lang="ru-RU" dirty="0"/>
          </a:p>
          <a:p>
            <a:pPr lvl="1"/>
            <a:r>
              <a:rPr lang="ru-RU" dirty="0"/>
              <a:t>Соединения (</a:t>
            </a:r>
            <a:r>
              <a:rPr lang="en-US" dirty="0"/>
              <a:t>JOIN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Вложенных запросов в предложении </a:t>
            </a:r>
            <a:r>
              <a:rPr lang="en-US" dirty="0"/>
              <a:t>WHERE</a:t>
            </a:r>
            <a:endParaRPr lang="ru-RU" dirty="0"/>
          </a:p>
          <a:p>
            <a:pPr lvl="1"/>
            <a:r>
              <a:rPr lang="en-US" dirty="0"/>
              <a:t>GROUP BY</a:t>
            </a:r>
            <a:endParaRPr lang="ru-RU" dirty="0"/>
          </a:p>
          <a:p>
            <a:pPr lvl="1"/>
            <a:r>
              <a:rPr lang="en-US" dirty="0"/>
              <a:t>HAVING</a:t>
            </a:r>
            <a:endParaRPr lang="ru-RU" dirty="0"/>
          </a:p>
          <a:p>
            <a:r>
              <a:rPr lang="ru-RU" dirty="0"/>
              <a:t>Должен содержать:</a:t>
            </a:r>
          </a:p>
          <a:p>
            <a:pPr lvl="1"/>
            <a:r>
              <a:rPr lang="ru-RU" dirty="0"/>
              <a:t>Первичный ключ базового отношения</a:t>
            </a:r>
          </a:p>
          <a:p>
            <a:pPr lvl="1"/>
            <a:r>
              <a:rPr lang="ru-RU" dirty="0"/>
              <a:t>Все атрибуты базового отношения с параметром </a:t>
            </a:r>
            <a:r>
              <a:rPr lang="en-US" dirty="0"/>
              <a:t>NOT NULL</a:t>
            </a:r>
            <a:endParaRPr lang="ru-RU" dirty="0"/>
          </a:p>
          <a:p>
            <a:pPr lvl="1"/>
            <a:r>
              <a:rPr lang="ru-RU" dirty="0"/>
              <a:t>Только простые столбцы (не агрегаты, вычисляемые столбцы и т.д.)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49697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762CE-0CFD-A2C9-0C91-080549B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Стандарты и поддержка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05E564-CBF8-2B52-7469-CE74CF1BA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55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456378E-F49E-26C0-8A61-EBC4C1B4C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5" y="1280728"/>
            <a:ext cx="4811794" cy="5324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Согласно </a:t>
            </a:r>
            <a:r>
              <a:rPr lang="en-US" dirty="0"/>
              <a:t>SQL</a:t>
            </a:r>
            <a:r>
              <a:rPr lang="ru-RU" dirty="0"/>
              <a:t> – 1 </a:t>
            </a:r>
          </a:p>
          <a:p>
            <a:r>
              <a:rPr lang="ru-RU" dirty="0"/>
              <a:t>Не должен содержать:</a:t>
            </a:r>
          </a:p>
          <a:p>
            <a:pPr lvl="1"/>
            <a:r>
              <a:rPr lang="en-US" dirty="0"/>
              <a:t>DISTINCT</a:t>
            </a:r>
            <a:endParaRPr lang="ru-RU" dirty="0"/>
          </a:p>
          <a:p>
            <a:pPr lvl="1"/>
            <a:r>
              <a:rPr lang="ru-RU" dirty="0"/>
              <a:t>Соединения (</a:t>
            </a:r>
            <a:r>
              <a:rPr lang="en-US" dirty="0"/>
              <a:t>JOIN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Вложенных запросов в предложении </a:t>
            </a:r>
            <a:r>
              <a:rPr lang="en-US" dirty="0"/>
              <a:t>WHERE</a:t>
            </a:r>
            <a:endParaRPr lang="ru-RU" dirty="0"/>
          </a:p>
          <a:p>
            <a:pPr lvl="1"/>
            <a:r>
              <a:rPr lang="en-US" dirty="0"/>
              <a:t>GROUP BY</a:t>
            </a:r>
            <a:endParaRPr lang="ru-RU" dirty="0"/>
          </a:p>
          <a:p>
            <a:pPr lvl="1"/>
            <a:r>
              <a:rPr lang="en-US" dirty="0"/>
              <a:t>HAVING</a:t>
            </a:r>
            <a:endParaRPr lang="ru-RU" dirty="0"/>
          </a:p>
          <a:p>
            <a:r>
              <a:rPr lang="ru-RU" dirty="0"/>
              <a:t>Должен содержать:</a:t>
            </a:r>
          </a:p>
          <a:p>
            <a:pPr lvl="1"/>
            <a:r>
              <a:rPr lang="ru-RU" dirty="0"/>
              <a:t>Первичный ключ базового отношения</a:t>
            </a:r>
          </a:p>
          <a:p>
            <a:pPr lvl="1"/>
            <a:r>
              <a:rPr lang="ru-RU" dirty="0"/>
              <a:t>Все атрибуты базового отношения с параметром </a:t>
            </a:r>
            <a:r>
              <a:rPr lang="en-US" dirty="0"/>
              <a:t>NOT NULL</a:t>
            </a:r>
            <a:endParaRPr lang="ru-RU" dirty="0"/>
          </a:p>
          <a:p>
            <a:pPr lvl="1"/>
            <a:r>
              <a:rPr lang="ru-RU" dirty="0"/>
              <a:t>Только простые столбцы (не агрегаты, вычисляемые столбцы и т.д.)</a:t>
            </a:r>
          </a:p>
          <a:p>
            <a:pPr lvl="1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1ADE80-CFFC-08D0-A244-508DEE982EFE}"/>
              </a:ext>
            </a:extLst>
          </p:cNvPr>
          <p:cNvSpPr/>
          <p:nvPr/>
        </p:nvSpPr>
        <p:spPr>
          <a:xfrm>
            <a:off x="5299398" y="1354112"/>
            <a:ext cx="1162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INSERT, UPDATE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197AB0-2FD4-FF98-908E-9E74ADA07214}"/>
              </a:ext>
            </a:extLst>
          </p:cNvPr>
          <p:cNvSpPr/>
          <p:nvPr/>
        </p:nvSpPr>
        <p:spPr>
          <a:xfrm>
            <a:off x="7427120" y="1523514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DELETE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F3C742-0675-7F2F-33AF-233AD0ABA70A}"/>
              </a:ext>
            </a:extLst>
          </p:cNvPr>
          <p:cNvSpPr/>
          <p:nvPr/>
        </p:nvSpPr>
        <p:spPr>
          <a:xfrm>
            <a:off x="5218359" y="2597843"/>
            <a:ext cx="35165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значения, получаемые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из констант или выражений,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 столбце представления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7E2E352-E8F3-B47B-AFB4-BBDB71A05407}"/>
              </a:ext>
            </a:extLst>
          </p:cNvPr>
          <p:cNvCxnSpPr/>
          <p:nvPr/>
        </p:nvCxnSpPr>
        <p:spPr>
          <a:xfrm>
            <a:off x="6236081" y="2067165"/>
            <a:ext cx="740565" cy="423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D86B0DA-DEFB-C20C-98C4-1C9009C7FC4B}"/>
              </a:ext>
            </a:extLst>
          </p:cNvPr>
          <p:cNvCxnSpPr/>
          <p:nvPr/>
        </p:nvCxnSpPr>
        <p:spPr>
          <a:xfrm flipH="1">
            <a:off x="7236631" y="2000443"/>
            <a:ext cx="718839" cy="489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Крест 10">
            <a:extLst>
              <a:ext uri="{FF2B5EF4-FFF2-40B4-BE49-F238E27FC236}">
                <a16:creationId xmlns:a16="http://schemas.microsoft.com/office/drawing/2014/main" id="{A8576CCF-9B46-6543-C29A-D162CA7789C0}"/>
              </a:ext>
            </a:extLst>
          </p:cNvPr>
          <p:cNvSpPr/>
          <p:nvPr/>
        </p:nvSpPr>
        <p:spPr>
          <a:xfrm rot="18955844">
            <a:off x="6520233" y="2164872"/>
            <a:ext cx="270282" cy="275992"/>
          </a:xfrm>
          <a:prstGeom prst="plus">
            <a:avLst>
              <a:gd name="adj" fmla="val 4193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" name="Крест 11">
            <a:extLst>
              <a:ext uri="{FF2B5EF4-FFF2-40B4-BE49-F238E27FC236}">
                <a16:creationId xmlns:a16="http://schemas.microsoft.com/office/drawing/2014/main" id="{FA8330E8-AB78-BEF2-F57E-498C7FC53C71}"/>
              </a:ext>
            </a:extLst>
          </p:cNvPr>
          <p:cNvSpPr/>
          <p:nvPr/>
        </p:nvSpPr>
        <p:spPr>
          <a:xfrm rot="16200000">
            <a:off x="7820329" y="2168832"/>
            <a:ext cx="270282" cy="275992"/>
          </a:xfrm>
          <a:prstGeom prst="plus">
            <a:avLst>
              <a:gd name="adj" fmla="val 419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6644555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0762CE-0CFD-A2C9-0C91-080549B49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Стандарты и поддержка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205E564-CBF8-2B52-7469-CE74CF1BA4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56</a:t>
            </a:fld>
            <a:endParaRPr lang="ru-RU"/>
          </a:p>
        </p:txBody>
      </p:sp>
      <p:sp>
        <p:nvSpPr>
          <p:cNvPr id="5" name="Объект 2">
            <a:extLst>
              <a:ext uri="{FF2B5EF4-FFF2-40B4-BE49-F238E27FC236}">
                <a16:creationId xmlns:a16="http://schemas.microsoft.com/office/drawing/2014/main" id="{6456378E-F49E-26C0-8A61-EBC4C1B4C1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0025" y="1280728"/>
            <a:ext cx="4811794" cy="532451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Согласно </a:t>
            </a:r>
            <a:r>
              <a:rPr lang="en-US" dirty="0"/>
              <a:t>SQL</a:t>
            </a:r>
            <a:r>
              <a:rPr lang="ru-RU" dirty="0"/>
              <a:t> – 1 </a:t>
            </a:r>
          </a:p>
          <a:p>
            <a:r>
              <a:rPr lang="ru-RU" dirty="0"/>
              <a:t>Не должен содержать:</a:t>
            </a:r>
          </a:p>
          <a:p>
            <a:pPr lvl="1"/>
            <a:r>
              <a:rPr lang="en-US" dirty="0"/>
              <a:t>DISTINCT</a:t>
            </a:r>
            <a:endParaRPr lang="ru-RU" dirty="0"/>
          </a:p>
          <a:p>
            <a:pPr lvl="1"/>
            <a:r>
              <a:rPr lang="ru-RU" dirty="0"/>
              <a:t>Соединения (</a:t>
            </a:r>
            <a:r>
              <a:rPr lang="en-US" dirty="0"/>
              <a:t>JOIN</a:t>
            </a:r>
            <a:r>
              <a:rPr lang="ru-RU" dirty="0"/>
              <a:t>)</a:t>
            </a:r>
          </a:p>
          <a:p>
            <a:pPr lvl="1"/>
            <a:r>
              <a:rPr lang="ru-RU" dirty="0"/>
              <a:t>Вложенных запросов в предложении </a:t>
            </a:r>
            <a:r>
              <a:rPr lang="en-US" dirty="0"/>
              <a:t>WHERE</a:t>
            </a:r>
            <a:endParaRPr lang="ru-RU" dirty="0"/>
          </a:p>
          <a:p>
            <a:pPr lvl="1"/>
            <a:r>
              <a:rPr lang="en-US" dirty="0"/>
              <a:t>GROUP BY</a:t>
            </a:r>
            <a:endParaRPr lang="ru-RU" dirty="0"/>
          </a:p>
          <a:p>
            <a:pPr lvl="1"/>
            <a:r>
              <a:rPr lang="en-US" dirty="0"/>
              <a:t>HAVING</a:t>
            </a:r>
            <a:endParaRPr lang="ru-RU" dirty="0"/>
          </a:p>
          <a:p>
            <a:r>
              <a:rPr lang="ru-RU" dirty="0"/>
              <a:t>Должен содержать:</a:t>
            </a:r>
          </a:p>
          <a:p>
            <a:pPr lvl="1"/>
            <a:r>
              <a:rPr lang="ru-RU" dirty="0"/>
              <a:t>Первичный ключ базового отношения</a:t>
            </a:r>
          </a:p>
          <a:p>
            <a:pPr lvl="1"/>
            <a:r>
              <a:rPr lang="ru-RU" dirty="0"/>
              <a:t>Все атрибуты базового отношения с параметром </a:t>
            </a:r>
            <a:r>
              <a:rPr lang="en-US" dirty="0"/>
              <a:t>NOT NULL</a:t>
            </a:r>
            <a:endParaRPr lang="ru-RU" dirty="0"/>
          </a:p>
          <a:p>
            <a:pPr lvl="1"/>
            <a:r>
              <a:rPr lang="ru-RU" dirty="0"/>
              <a:t>Только простые столбцы (не агрегаты, вычисляемые столбцы и т.д.)</a:t>
            </a:r>
          </a:p>
          <a:p>
            <a:pPr lvl="1"/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1ADE80-CFFC-08D0-A244-508DEE982EFE}"/>
              </a:ext>
            </a:extLst>
          </p:cNvPr>
          <p:cNvSpPr/>
          <p:nvPr/>
        </p:nvSpPr>
        <p:spPr>
          <a:xfrm>
            <a:off x="5299398" y="1354112"/>
            <a:ext cx="11628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INSERT, UPDATE</a:t>
            </a:r>
            <a:endParaRPr lang="ru-RU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F197AB0-2FD4-FF98-908E-9E74ADA07214}"/>
              </a:ext>
            </a:extLst>
          </p:cNvPr>
          <p:cNvSpPr/>
          <p:nvPr/>
        </p:nvSpPr>
        <p:spPr>
          <a:xfrm>
            <a:off x="7427120" y="1523514"/>
            <a:ext cx="105670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DELETE</a:t>
            </a:r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F3C742-0675-7F2F-33AF-233AD0ABA70A}"/>
              </a:ext>
            </a:extLst>
          </p:cNvPr>
          <p:cNvSpPr/>
          <p:nvPr/>
        </p:nvSpPr>
        <p:spPr>
          <a:xfrm>
            <a:off x="5218359" y="2597843"/>
            <a:ext cx="351657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значения, получаемые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из констант или выражений, </a:t>
            </a:r>
            <a:b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</a:br>
            <a:r>
              <a:rPr lang="ru-RU" dirty="0">
                <a:latin typeface="Times New Roman" panose="02020603050405020304" pitchFamily="18" charset="0"/>
                <a:ea typeface="Calibri" panose="020F0502020204030204" pitchFamily="34" charset="0"/>
              </a:rPr>
              <a:t>в столбце представления</a:t>
            </a:r>
            <a:endParaRPr lang="ru-RU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37E2E352-E8F3-B47B-AFB4-BBDB71A05407}"/>
              </a:ext>
            </a:extLst>
          </p:cNvPr>
          <p:cNvCxnSpPr/>
          <p:nvPr/>
        </p:nvCxnSpPr>
        <p:spPr>
          <a:xfrm>
            <a:off x="6236081" y="2067165"/>
            <a:ext cx="740565" cy="4230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DD86B0DA-DEFB-C20C-98C4-1C9009C7FC4B}"/>
              </a:ext>
            </a:extLst>
          </p:cNvPr>
          <p:cNvCxnSpPr/>
          <p:nvPr/>
        </p:nvCxnSpPr>
        <p:spPr>
          <a:xfrm flipH="1">
            <a:off x="7236631" y="2000443"/>
            <a:ext cx="718839" cy="4898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Крест 10">
            <a:extLst>
              <a:ext uri="{FF2B5EF4-FFF2-40B4-BE49-F238E27FC236}">
                <a16:creationId xmlns:a16="http://schemas.microsoft.com/office/drawing/2014/main" id="{A8576CCF-9B46-6543-C29A-D162CA7789C0}"/>
              </a:ext>
            </a:extLst>
          </p:cNvPr>
          <p:cNvSpPr/>
          <p:nvPr/>
        </p:nvSpPr>
        <p:spPr>
          <a:xfrm rot="18955844">
            <a:off x="6520233" y="2164872"/>
            <a:ext cx="270282" cy="275992"/>
          </a:xfrm>
          <a:prstGeom prst="plus">
            <a:avLst>
              <a:gd name="adj" fmla="val 41937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2" name="Крест 11">
            <a:extLst>
              <a:ext uri="{FF2B5EF4-FFF2-40B4-BE49-F238E27FC236}">
                <a16:creationId xmlns:a16="http://schemas.microsoft.com/office/drawing/2014/main" id="{FA8330E8-AB78-BEF2-F57E-498C7FC53C71}"/>
              </a:ext>
            </a:extLst>
          </p:cNvPr>
          <p:cNvSpPr/>
          <p:nvPr/>
        </p:nvSpPr>
        <p:spPr>
          <a:xfrm rot="16200000">
            <a:off x="7820329" y="2168832"/>
            <a:ext cx="270282" cy="275992"/>
          </a:xfrm>
          <a:prstGeom prst="plus">
            <a:avLst>
              <a:gd name="adj" fmla="val 4193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accent5"/>
              </a:solidFill>
            </a:endParaRPr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B6AACB3C-24E0-2794-0215-F2DBC0107251}"/>
              </a:ext>
            </a:extLst>
          </p:cNvPr>
          <p:cNvSpPr txBox="1">
            <a:spLocks/>
          </p:cNvSpPr>
          <p:nvPr/>
        </p:nvSpPr>
        <p:spPr>
          <a:xfrm>
            <a:off x="5411577" y="3601259"/>
            <a:ext cx="3563182" cy="243460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 lnSpcReduction="10000"/>
          </a:bodyPr>
          <a:lstStyle>
            <a:lvl1pPr indent="0">
              <a:spcBef>
                <a:spcPct val="20000"/>
              </a:spcBef>
              <a:buFont typeface="Arial" pitchFamily="34" charset="0"/>
              <a:buNone/>
              <a:defRPr sz="2000"/>
            </a:lvl1pPr>
            <a:lvl2pPr marL="742950" lvl="1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SQL</a:t>
            </a:r>
            <a:r>
              <a:rPr lang="ru-RU" dirty="0"/>
              <a:t> – 2</a:t>
            </a:r>
          </a:p>
          <a:p>
            <a:r>
              <a:rPr lang="ru-RU" b="1" i="1" dirty="0"/>
              <a:t>Принципиальная</a:t>
            </a:r>
            <a:r>
              <a:rPr lang="ru-RU" dirty="0"/>
              <a:t> и </a:t>
            </a:r>
            <a:r>
              <a:rPr lang="ru-RU" b="1" i="1" dirty="0"/>
              <a:t>простая</a:t>
            </a:r>
            <a:r>
              <a:rPr lang="ru-RU" dirty="0"/>
              <a:t> </a:t>
            </a:r>
            <a:r>
              <a:rPr lang="ru-RU" i="1" dirty="0"/>
              <a:t>применимость </a:t>
            </a:r>
            <a:r>
              <a:rPr lang="ru-RU" dirty="0">
                <a:solidFill>
                  <a:srgbClr val="C00000"/>
                </a:solidFill>
              </a:rPr>
              <a:t>обновления</a:t>
            </a:r>
          </a:p>
          <a:p>
            <a:r>
              <a:rPr lang="ru-RU" dirty="0"/>
              <a:t>Применимость </a:t>
            </a:r>
            <a:r>
              <a:rPr lang="ru-RU" dirty="0">
                <a:solidFill>
                  <a:srgbClr val="C00000"/>
                </a:solidFill>
              </a:rPr>
              <a:t>вставки</a:t>
            </a:r>
          </a:p>
          <a:p>
            <a:r>
              <a:rPr lang="ru-RU" dirty="0"/>
              <a:t>Дополнительные правила</a:t>
            </a:r>
          </a:p>
          <a:p>
            <a:r>
              <a:rPr lang="ru-RU" dirty="0"/>
              <a:t>* * * </a:t>
            </a:r>
          </a:p>
          <a:p>
            <a:pPr lvl="1"/>
            <a:endParaRPr lang="ru-RU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0B49981A-C530-5942-7D12-6A35A61C8A5B}"/>
              </a:ext>
            </a:extLst>
          </p:cNvPr>
          <p:cNvSpPr txBox="1">
            <a:spLocks/>
          </p:cNvSpPr>
          <p:nvPr/>
        </p:nvSpPr>
        <p:spPr>
          <a:xfrm>
            <a:off x="5718503" y="5646296"/>
            <a:ext cx="2765317" cy="373432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 3" charset="2"/>
              <a:buNone/>
            </a:pPr>
            <a:r>
              <a:rPr lang="ru-RU" dirty="0"/>
              <a:t>+ особенности СУБД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85221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A5D84-160B-A889-4F4E-618B7F61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представлений через триггер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191C7F-FDEA-4C5E-B3A7-10C1FF8A1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57</a:t>
            </a:fld>
            <a:endParaRPr lang="ru-RU"/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808F4908-6010-0D51-D7C4-9BE5D16C601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2795" y="1524746"/>
            <a:ext cx="6524941" cy="4683546"/>
          </a:xfrm>
        </p:spPr>
      </p:pic>
    </p:spTree>
    <p:extLst>
      <p:ext uri="{BB962C8B-B14F-4D97-AF65-F5344CB8AC3E}">
        <p14:creationId xmlns:p14="http://schemas.microsoft.com/office/powerpoint/2010/main" val="39949868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CDA5D84-160B-A889-4F4E-618B7F6109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Обновление представлений через триггер - пример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8191C7F-FDEA-4C5E-B3A7-10C1FF8A16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58</a:t>
            </a:fld>
            <a:endParaRPr lang="ru-RU"/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AC4B378-A953-E425-4FB8-90DFEDDF4C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340768"/>
            <a:ext cx="7848872" cy="3816424"/>
          </a:xfrm>
        </p:spPr>
        <p:txBody>
          <a:bodyPr>
            <a:noAutofit/>
          </a:bodyPr>
          <a:lstStyle/>
          <a:p>
            <a:pPr indent="0" algn="just">
              <a:spcBef>
                <a:spcPts val="0"/>
              </a:spcBef>
              <a:buNone/>
            </a:pPr>
            <a:r>
              <a:rPr lang="ru-RU" sz="1400" dirty="0">
                <a:solidFill>
                  <a:srgbClr val="C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-- Триггер на обновление представления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CREATE OR REPLACE FUNCTION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update_info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()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 RETURNS TRIGGER LANGUAGE PLPGSQL AS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$$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BEGIN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IF (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OLD.validity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NEW.validity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THEN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	UPDATE prescription SET validity 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NEW.validity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      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WHERE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id_prescription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OLD.id_prescription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ELSIF (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OLD.usage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NEW.usage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OR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OLD.pharmacy_number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!=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NEW.pharmacy_number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) </a:t>
            </a:r>
            <a:r>
              <a:rPr lang="ru-RU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</a:p>
          <a:p>
            <a:pPr indent="0" algn="just">
              <a:spcBef>
                <a:spcPts val="0"/>
              </a:spcBef>
              <a:buNone/>
            </a:pPr>
            <a:r>
              <a:rPr lang="ru-RU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THEN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	UPDATE prescription SET usage 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NEW.usage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, 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ru-RU" sz="1400" dirty="0">
                <a:latin typeface="Cambria Math" panose="02040503050406030204" pitchFamily="18" charset="0"/>
                <a:ea typeface="Cambria Math" panose="02040503050406030204" pitchFamily="18" charset="0"/>
              </a:rPr>
              <a:t>                                                      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pharmacy_number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NEW.pharmacy_number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	WHERE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id_prescription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 = </a:t>
            </a:r>
            <a:r>
              <a:rPr lang="en-US" sz="1400" dirty="0" err="1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OLD.id_prescription</a:t>
            </a: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END IF;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	RETURN NEW;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END;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indent="0" algn="just">
              <a:spcBef>
                <a:spcPts val="0"/>
              </a:spcBef>
              <a:buNone/>
            </a:pPr>
            <a:r>
              <a:rPr lang="en-US" sz="1400" dirty="0">
                <a:effectLst/>
                <a:latin typeface="Cambria Math" panose="02040503050406030204" pitchFamily="18" charset="0"/>
                <a:ea typeface="Cambria Math" panose="02040503050406030204" pitchFamily="18" charset="0"/>
              </a:rPr>
              <a:t>$$;</a:t>
            </a:r>
            <a:endParaRPr lang="ru-RU" sz="1400" dirty="0">
              <a:effectLst/>
              <a:latin typeface="Cambria Math" panose="02040503050406030204" pitchFamily="18" charset="0"/>
              <a:ea typeface="Cambria Math" panose="02040503050406030204" pitchFamily="18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ru-RU" sz="1400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7F60F8-5255-1078-62C5-A8AFE481B8D7}"/>
              </a:ext>
            </a:extLst>
          </p:cNvPr>
          <p:cNvSpPr txBox="1"/>
          <p:nvPr/>
        </p:nvSpPr>
        <p:spPr>
          <a:xfrm>
            <a:off x="395536" y="5126872"/>
            <a:ext cx="6912768" cy="954107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342900" indent="0" algn="just">
              <a:spcBef>
                <a:spcPts val="0"/>
              </a:spcBef>
              <a:buFont typeface="Arial" pitchFamily="34" charset="0"/>
              <a:buNone/>
              <a:defRPr sz="1400">
                <a:solidFill>
                  <a:srgbClr val="C00000"/>
                </a:solidFill>
                <a:effectLst/>
                <a:latin typeface="Cambria Math" panose="02040503050406030204" pitchFamily="18" charset="0"/>
                <a:ea typeface="Cambria Math" panose="02040503050406030204" pitchFamily="18" charset="0"/>
              </a:defRPr>
            </a:lvl1pPr>
            <a:lvl2pPr marL="742950" indent="-285750">
              <a:spcBef>
                <a:spcPct val="20000"/>
              </a:spcBef>
              <a:buFont typeface="Arial" pitchFamily="34" charset="0"/>
              <a:buChar char="–"/>
            </a:lvl2pPr>
            <a:lvl3pPr marL="1143000" indent="-228600">
              <a:spcBef>
                <a:spcPct val="20000"/>
              </a:spcBef>
              <a:buFont typeface="Arial" pitchFamily="34" charset="0"/>
              <a:buChar char="•"/>
              <a:defRPr sz="1600"/>
            </a:lvl3pPr>
            <a:lvl4pPr marL="1600200" indent="-228600">
              <a:spcBef>
                <a:spcPct val="20000"/>
              </a:spcBef>
              <a:buFont typeface="Arial" pitchFamily="34" charset="0"/>
              <a:buChar char="–"/>
              <a:defRPr sz="1400"/>
            </a:lvl4pPr>
            <a:lvl5pPr marL="2057400" indent="-228600">
              <a:spcBef>
                <a:spcPct val="20000"/>
              </a:spcBef>
              <a:buFont typeface="Arial" pitchFamily="34" charset="0"/>
              <a:buChar char="»"/>
              <a:defRPr sz="1400"/>
            </a:lvl5pPr>
            <a:lvl6pPr marL="2514600" indent="-2286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 dirty="0"/>
              <a:t>CREATE OR REPLACE TRIGGER </a:t>
            </a:r>
            <a:r>
              <a:rPr lang="en-US" dirty="0" err="1"/>
              <a:t>trigger_update_info</a:t>
            </a:r>
            <a:endParaRPr lang="ru-RU" dirty="0"/>
          </a:p>
          <a:p>
            <a:r>
              <a:rPr lang="en-US" dirty="0"/>
              <a:t>	INSTEAD OF UPDATE ON info</a:t>
            </a:r>
            <a:endParaRPr lang="ru-RU" dirty="0"/>
          </a:p>
          <a:p>
            <a:r>
              <a:rPr lang="en-US" dirty="0"/>
              <a:t>	FOR EACH ROW EXECUTE PROCEDURE </a:t>
            </a:r>
            <a:r>
              <a:rPr lang="en-US" dirty="0" err="1"/>
              <a:t>update_info</a:t>
            </a:r>
            <a:r>
              <a:rPr lang="en-US" dirty="0"/>
              <a:t>();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231095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AEA22-3C88-EE0E-4064-71171C34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обработки условий и вставка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9C3C02-C5C3-90B5-4CAF-CEA548686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59</a:t>
            </a:fld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8ED0281-3A68-5FE4-46E9-C8FB87949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628800"/>
            <a:ext cx="8009054" cy="36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51907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5AEA22-3C88-EE0E-4064-71171C34F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Особенности обработки условий и вставка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49C3C02-C5C3-90B5-4CAF-CEA548686F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60</a:t>
            </a:fld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2BAD9C7-E455-E050-733E-55C4235B9B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40" y="1453598"/>
            <a:ext cx="7452320" cy="3950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10103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AB396C-848A-0ABC-C96E-D76D6A43A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Материализация представлений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03B0A2A-E5B9-8ED1-1306-ADEA81DB8C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1152128"/>
          </a:xfrm>
        </p:spPr>
        <p:txBody>
          <a:bodyPr anchor="t">
            <a:normAutofit fontScale="92500"/>
          </a:bodyPr>
          <a:lstStyle/>
          <a:p>
            <a:r>
              <a:rPr lang="ru-RU" b="1" i="1" dirty="0"/>
              <a:t>Материализованные представления</a:t>
            </a:r>
            <a:r>
              <a:rPr lang="ru-RU" dirty="0"/>
              <a:t> – представления, результат запроса которых хранится физически в базе данных</a:t>
            </a:r>
          </a:p>
          <a:p>
            <a:pPr lvl="1"/>
            <a:r>
              <a:rPr lang="ru-RU" dirty="0"/>
              <a:t>Допускают индексацию (индексированные представления)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6D850C0-A80B-D8C5-3A0D-886ECBA3D3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61</a:t>
            </a:fld>
            <a:endParaRPr lang="ru-RU"/>
          </a:p>
        </p:txBody>
      </p:sp>
      <p:pic>
        <p:nvPicPr>
          <p:cNvPr id="5" name="Picture 2" descr="https://docs.microsoft.com/ru-ru/azure/architecture/patterns/_images/materialized-view-pattern-diagram.png">
            <a:extLst>
              <a:ext uri="{FF2B5EF4-FFF2-40B4-BE49-F238E27FC236}">
                <a16:creationId xmlns:a16="http://schemas.microsoft.com/office/drawing/2014/main" id="{07695085-E77C-32A5-DB20-4FDB115B05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0957" y="3018992"/>
            <a:ext cx="7362085" cy="31288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729572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A98C1-1A2D-F8C3-E804-EF9D25C9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материализованных представлений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E54D1B-8459-4C8E-E6CB-EFF3915B8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62</a:t>
            </a:fld>
            <a:endParaRPr lang="ru-RU"/>
          </a:p>
        </p:txBody>
      </p:sp>
      <p:graphicFrame>
        <p:nvGraphicFramePr>
          <p:cNvPr id="5" name="Объект 5">
            <a:extLst>
              <a:ext uri="{FF2B5EF4-FFF2-40B4-BE49-F238E27FC236}">
                <a16:creationId xmlns:a16="http://schemas.microsoft.com/office/drawing/2014/main" id="{44E44E07-F626-64B9-F1DF-BCF77313850D}"/>
              </a:ext>
            </a:extLst>
          </p:cNvPr>
          <p:cNvGraphicFramePr>
            <a:graphicFrameLocks noGrp="1"/>
          </p:cNvGraphicFramePr>
          <p:nvPr>
            <p:ph idx="1"/>
            <p:extLst/>
          </p:nvPr>
        </p:nvGraphicFramePr>
        <p:xfrm>
          <a:off x="395536" y="1484784"/>
          <a:ext cx="7920880" cy="5046845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960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60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3405"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ru-RU" dirty="0"/>
                        <a:t>Достоинства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1200"/>
                        </a:spcBef>
                      </a:pPr>
                      <a:r>
                        <a:rPr lang="ru-RU" dirty="0"/>
                        <a:t>Недостатки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9532">
                <a:tc>
                  <a:txBody>
                    <a:bodyPr/>
                    <a:lstStyle/>
                    <a:p>
                      <a:pPr marL="285750" lvl="0" indent="-285750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b="1" kern="1200" dirty="0">
                          <a:solidFill>
                            <a:srgbClr val="369461"/>
                          </a:solidFill>
                          <a:effectLst/>
                        </a:rPr>
                        <a:t>Производительность;</a:t>
                      </a:r>
                    </a:p>
                    <a:p>
                      <a:pPr marL="285750" lvl="0" indent="-285750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kern="1200" dirty="0">
                          <a:solidFill>
                            <a:srgbClr val="369461"/>
                          </a:solidFill>
                          <a:effectLst/>
                        </a:rPr>
                        <a:t>Индекс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 представления 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может быть использован даже в том случае, если в представлении явно не указана ссылка 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на предложение FROM 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некоторого запроса</a:t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ru-RU" sz="1800" i="1" kern="1200" dirty="0">
                          <a:solidFill>
                            <a:schemeClr val="dk1"/>
                          </a:solidFill>
                          <a:effectLst/>
                        </a:rPr>
                        <a:t>т.е. независимо от представления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);</a:t>
                      </a:r>
                    </a:p>
                    <a:p>
                      <a:pPr marL="285750" lvl="0" indent="-285750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Все </a:t>
                      </a:r>
                      <a:r>
                        <a:rPr lang="ru-RU" sz="1800" kern="1200" dirty="0">
                          <a:solidFill>
                            <a:srgbClr val="369461"/>
                          </a:solidFill>
                          <a:effectLst/>
                        </a:rPr>
                        <a:t>изменения данных отражаются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в соответствующих индексированных представлениях.</a:t>
                      </a:r>
                    </a:p>
                    <a:p>
                      <a:pPr>
                        <a:spcBef>
                          <a:spcPts val="1200"/>
                        </a:spcBef>
                      </a:pP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lvl="0" indent="-285750" algn="l" defTabSz="457200" rtl="0" eaLnBrk="1" latinLnBrk="0" hangingPunct="1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Индексы материализованных представлений более </a:t>
                      </a:r>
                      <a:r>
                        <a:rPr lang="ru-RU" sz="1800" kern="1200" dirty="0">
                          <a:solidFill>
                            <a:srgbClr val="C00000"/>
                          </a:solidFill>
                          <a:effectLst/>
                        </a:rPr>
                        <a:t>сложны в обслуживании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, чем индексы базовых таблиц.</a:t>
                      </a:r>
                    </a:p>
                    <a:p>
                      <a:pPr marL="285750" lvl="0" indent="-285750" algn="l" defTabSz="457200" rtl="0" eaLnBrk="1" latinLnBrk="0" hangingPunct="1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kern="1200" dirty="0">
                          <a:solidFill>
                            <a:srgbClr val="C00000"/>
                          </a:solidFill>
                          <a:effectLst/>
                        </a:rPr>
                        <a:t>Дополнительное время 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/>
                      </a:r>
                      <a:b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</a:b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тратится </a:t>
                      </a:r>
                      <a:r>
                        <a:rPr lang="ru-RU" sz="1800" kern="1200" dirty="0">
                          <a:solidFill>
                            <a:srgbClr val="C00000"/>
                          </a:solidFill>
                          <a:effectLst/>
                        </a:rPr>
                        <a:t>на обновление данных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, так как вместе с исходными таблицами и индексами модифицируются представления и индексы над ними.</a:t>
                      </a:r>
                    </a:p>
                    <a:p>
                      <a:pPr marL="285750" lvl="0" indent="-285750" algn="l" defTabSz="457200" rtl="0" eaLnBrk="1" latinLnBrk="0" hangingPunct="1">
                        <a:spcBef>
                          <a:spcPts val="12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Расходуется </a:t>
                      </a:r>
                      <a:r>
                        <a:rPr lang="ru-RU" sz="1800" b="1" kern="1200" dirty="0">
                          <a:solidFill>
                            <a:srgbClr val="C00000"/>
                          </a:solidFill>
                          <a:effectLst/>
                        </a:rPr>
                        <a:t>значительно больше дискового пространства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815501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12024</TotalTime>
  <Words>2553</Words>
  <Application>Microsoft Office PowerPoint</Application>
  <PresentationFormat>Экран (4:3)</PresentationFormat>
  <Paragraphs>581</Paragraphs>
  <Slides>62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62</vt:i4>
      </vt:variant>
    </vt:vector>
  </HeadingPairs>
  <TitlesOfParts>
    <vt:vector size="73" baseType="lpstr">
      <vt:lpstr>Arial</vt:lpstr>
      <vt:lpstr>Calibri</vt:lpstr>
      <vt:lpstr>Cambria Math</vt:lpstr>
      <vt:lpstr>Consolas</vt:lpstr>
      <vt:lpstr>Courier New</vt:lpstr>
      <vt:lpstr>PT Sans</vt:lpstr>
      <vt:lpstr>Symbol</vt:lpstr>
      <vt:lpstr>Times New Roman</vt:lpstr>
      <vt:lpstr>Wingdings</vt:lpstr>
      <vt:lpstr>Wingdings 3</vt:lpstr>
      <vt:lpstr>SCC</vt:lpstr>
      <vt:lpstr>СУБД для специалиста  по информационной безопасности</vt:lpstr>
      <vt:lpstr>Темы лекции</vt:lpstr>
      <vt:lpstr>Защита от SQLi и эскалация привилегий</vt:lpstr>
      <vt:lpstr>Защита от SQLi</vt:lpstr>
      <vt:lpstr>Общие рекомендации</vt:lpstr>
      <vt:lpstr>Уязвимости средств защиты</vt:lpstr>
      <vt:lpstr>Уязвимости средств защиты - продолжение</vt:lpstr>
      <vt:lpstr>Уязвимости средств защиты - продолжение</vt:lpstr>
      <vt:lpstr>Встроенные средства защиты</vt:lpstr>
      <vt:lpstr>NoSQL Инъекции: пример MongoDB</vt:lpstr>
      <vt:lpstr>Эскалация привилегий</vt:lpstr>
      <vt:lpstr>Использование доверенных процедур для эскалации привилегий</vt:lpstr>
      <vt:lpstr>Проактивная защита - анализ путей повышения привилегий</vt:lpstr>
      <vt:lpstr>Проактивная защита - анализ путей повышения привилегий</vt:lpstr>
      <vt:lpstr>TG – граф анализа привилегий</vt:lpstr>
      <vt:lpstr>Эскалация привилегий в NoSQL</vt:lpstr>
      <vt:lpstr>Транзакционная  обработка данных</vt:lpstr>
      <vt:lpstr>Понятие транзакции</vt:lpstr>
      <vt:lpstr>Пример транзакции</vt:lpstr>
      <vt:lpstr>Свойства транзакций</vt:lpstr>
      <vt:lpstr>Выполнение транзакций</vt:lpstr>
      <vt:lpstr>Требования к транзакционной системе</vt:lpstr>
      <vt:lpstr>Триггеры управление событиями и организация аудита</vt:lpstr>
      <vt:lpstr>Понятие триггера</vt:lpstr>
      <vt:lpstr>Классификация триггеров</vt:lpstr>
      <vt:lpstr>Триггеры в различных СУБД - по типу события</vt:lpstr>
      <vt:lpstr>Триггеры в различных СУБД - по типу триггера</vt:lpstr>
      <vt:lpstr>Работа с данными до и после события</vt:lpstr>
      <vt:lpstr>Пример работы с изменяемыми данными</vt:lpstr>
      <vt:lpstr>Порядок выполнения триггеров</vt:lpstr>
      <vt:lpstr>Триггеры в PostgreSQL</vt:lpstr>
      <vt:lpstr>Пример триггеров PostgreSQL</vt:lpstr>
      <vt:lpstr>Использование триггеров</vt:lpstr>
      <vt:lpstr>Реализация ограничений целостности - пример</vt:lpstr>
      <vt:lpstr>Поддержка ссылочной целостности - пример</vt:lpstr>
      <vt:lpstr>Контроль числа подключений - пример</vt:lpstr>
      <vt:lpstr>Контроль числа подключений - пример</vt:lpstr>
      <vt:lpstr>Контроль числа подключений - пример</vt:lpstr>
      <vt:lpstr>Контроль числа подключений - пример</vt:lpstr>
      <vt:lpstr>Триггеры – организация аудита</vt:lpstr>
      <vt:lpstr>Триггеры – организация аудита</vt:lpstr>
      <vt:lpstr>Реестр объектов – связь схемы с предметной областью</vt:lpstr>
      <vt:lpstr>Реестр объектов - журнализация и список прав</vt:lpstr>
      <vt:lpstr>Представления и расширенное управление доступом</vt:lpstr>
      <vt:lpstr>Понятие представления</vt:lpstr>
      <vt:lpstr>Виды представлений </vt:lpstr>
      <vt:lpstr>Примеры представлений</vt:lpstr>
      <vt:lpstr>Применение представлений</vt:lpstr>
      <vt:lpstr>Представления в защищенных БД</vt:lpstr>
      <vt:lpstr>Обновляемость представлений</vt:lpstr>
      <vt:lpstr>Обновляемость представлений</vt:lpstr>
      <vt:lpstr>Синтаксическая зависимость</vt:lpstr>
      <vt:lpstr>Синтаксическая зависимость</vt:lpstr>
      <vt:lpstr>Стандарты и поддержка</vt:lpstr>
      <vt:lpstr>Стандарты и поддержка</vt:lpstr>
      <vt:lpstr>Стандарты и поддержка</vt:lpstr>
      <vt:lpstr>Обновление представлений через триггер</vt:lpstr>
      <vt:lpstr>Обновление представлений через триггер - пример</vt:lpstr>
      <vt:lpstr>Особенности обработки условий и вставка данных</vt:lpstr>
      <vt:lpstr>Особенности обработки условий и вставка данных</vt:lpstr>
      <vt:lpstr>Материализация представлений</vt:lpstr>
      <vt:lpstr>Использование материализованных представлений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771</cp:revision>
  <dcterms:created xsi:type="dcterms:W3CDTF">2018-04-03T06:05:28Z</dcterms:created>
  <dcterms:modified xsi:type="dcterms:W3CDTF">2024-02-20T11:42:24Z</dcterms:modified>
</cp:coreProperties>
</file>