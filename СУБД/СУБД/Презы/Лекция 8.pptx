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8"/>
  </p:notesMasterIdLst>
  <p:sldIdLst>
    <p:sldId id="381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35" r:id="rId25"/>
    <p:sldId id="404" r:id="rId26"/>
    <p:sldId id="405" r:id="rId27"/>
    <p:sldId id="406" r:id="rId28"/>
    <p:sldId id="408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416" r:id="rId37"/>
    <p:sldId id="417" r:id="rId38"/>
    <p:sldId id="418" r:id="rId39"/>
    <p:sldId id="419" r:id="rId40"/>
    <p:sldId id="420" r:id="rId41"/>
    <p:sldId id="421" r:id="rId42"/>
    <p:sldId id="422" r:id="rId43"/>
    <p:sldId id="423" r:id="rId44"/>
    <p:sldId id="424" r:id="rId45"/>
    <p:sldId id="425" r:id="rId46"/>
    <p:sldId id="445" r:id="rId47"/>
    <p:sldId id="446" r:id="rId48"/>
    <p:sldId id="436" r:id="rId49"/>
    <p:sldId id="437" r:id="rId50"/>
    <p:sldId id="438" r:id="rId51"/>
    <p:sldId id="439" r:id="rId52"/>
    <p:sldId id="440" r:id="rId53"/>
    <p:sldId id="441" r:id="rId54"/>
    <p:sldId id="442" r:id="rId55"/>
    <p:sldId id="443" r:id="rId56"/>
    <p:sldId id="444" r:id="rId5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1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461"/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89692" autoAdjust="0"/>
  </p:normalViewPr>
  <p:slideViewPr>
    <p:cSldViewPr snapToObjects="1">
      <p:cViewPr varScale="1">
        <p:scale>
          <a:sx n="93" d="100"/>
          <a:sy n="93" d="100"/>
        </p:scale>
        <p:origin x="56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02.04.2024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903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636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517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705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37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12568"/>
          </a:xfrm>
        </p:spPr>
        <p:txBody>
          <a:bodyPr anchor="t">
            <a:normAutofit/>
          </a:bodyPr>
          <a:lstStyle/>
          <a:p>
            <a:r>
              <a:rPr lang="ru-RU" dirty="0"/>
              <a:t>Методы доступа к данным</a:t>
            </a:r>
          </a:p>
          <a:p>
            <a:r>
              <a:rPr lang="ru-RU" dirty="0"/>
              <a:t>Прямой доступ и физическая организация хранения данных</a:t>
            </a:r>
          </a:p>
          <a:p>
            <a:pPr lvl="1"/>
            <a:r>
              <a:rPr lang="ru-RU" dirty="0"/>
              <a:t>Хранение по строкам</a:t>
            </a:r>
          </a:p>
          <a:p>
            <a:pPr lvl="1"/>
            <a:r>
              <a:rPr lang="ru-RU" dirty="0"/>
              <a:t>Хранение по столбцам</a:t>
            </a:r>
          </a:p>
          <a:p>
            <a:pPr lvl="1"/>
            <a:r>
              <a:rPr lang="ru-RU" dirty="0"/>
              <a:t>Другие способы</a:t>
            </a:r>
          </a:p>
          <a:p>
            <a:r>
              <a:rPr lang="ru-RU" dirty="0"/>
              <a:t>Индексация данных – понятие, виды, свойства</a:t>
            </a:r>
          </a:p>
          <a:p>
            <a:r>
              <a:rPr lang="ru-RU" dirty="0"/>
              <a:t>Специфические виды индексов. Двоичный масочный индекс (</a:t>
            </a:r>
            <a:r>
              <a:rPr lang="ru-RU" dirty="0" err="1"/>
              <a:t>bitmap</a:t>
            </a:r>
            <a:r>
              <a:rPr lang="ru-RU" dirty="0"/>
              <a:t>)</a:t>
            </a:r>
          </a:p>
          <a:p>
            <a:r>
              <a:rPr lang="ru-RU" dirty="0"/>
              <a:t>Применение </a:t>
            </a:r>
            <a:r>
              <a:rPr lang="ru-RU" dirty="0" smtClean="0"/>
              <a:t>индексов</a:t>
            </a:r>
          </a:p>
          <a:p>
            <a:r>
              <a:rPr lang="ru-RU" smtClean="0"/>
              <a:t>Кластеризация данных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78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Физическая организация данных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общие подходы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6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CADC0-16F5-3DCE-3611-FDFAF393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организации физического хранения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CC9805-41D8-3355-D9C1-55124374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Наличие 2х уровней управления хранением (данных):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b="1" dirty="0"/>
              <a:t>уровень – RDS </a:t>
            </a:r>
            <a:r>
              <a:rPr lang="ru-RU" dirty="0"/>
              <a:t>– “</a:t>
            </a:r>
            <a:r>
              <a:rPr lang="ru-RU" dirty="0" err="1"/>
              <a:t>Relational</a:t>
            </a:r>
            <a:r>
              <a:rPr lang="ru-RU" dirty="0"/>
              <a:t> Data System” (языковой уровень управления данными, т.е. поддержка языков запросов(SQL));   //</a:t>
            </a:r>
            <a:r>
              <a:rPr lang="ru-RU" dirty="0">
                <a:solidFill>
                  <a:srgbClr val="369461"/>
                </a:solidFill>
              </a:rPr>
              <a:t>высокоуровневое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b="1" dirty="0"/>
              <a:t>уровень – RSS – </a:t>
            </a:r>
            <a:r>
              <a:rPr lang="ru-RU" dirty="0"/>
              <a:t>“</a:t>
            </a:r>
            <a:r>
              <a:rPr lang="ru-RU" dirty="0" err="1"/>
              <a:t>Relational</a:t>
            </a:r>
            <a:r>
              <a:rPr lang="ru-RU" dirty="0"/>
              <a:t> Storage System” (управление буфером и подкачка данных, уровень непосредственного управления данными во внешней памяти). //</a:t>
            </a:r>
            <a:r>
              <a:rPr lang="ru-RU" dirty="0">
                <a:solidFill>
                  <a:srgbClr val="369461"/>
                </a:solidFill>
              </a:rPr>
              <a:t>низкоуровневое</a:t>
            </a:r>
          </a:p>
          <a:p>
            <a:pPr lvl="0"/>
            <a:r>
              <a:rPr lang="ru-RU" b="1" dirty="0"/>
              <a:t>Поддержка страниц каталогов (таблиц) </a:t>
            </a:r>
            <a:r>
              <a:rPr lang="ru-RU" dirty="0"/>
              <a:t>- таблиц с перечнем объектов БД, прочая служебная информация.</a:t>
            </a:r>
          </a:p>
          <a:p>
            <a:pPr lvl="0"/>
            <a:r>
              <a:rPr lang="ru-RU" b="1" dirty="0"/>
              <a:t>Регулярность</a:t>
            </a:r>
            <a:r>
              <a:rPr lang="ru-RU" dirty="0"/>
              <a:t> структур данных.</a:t>
            </a:r>
          </a:p>
          <a:p>
            <a:pPr lvl="0"/>
            <a:r>
              <a:rPr lang="ru-RU" b="1" dirty="0"/>
              <a:t>Поддержка операторов </a:t>
            </a:r>
            <a:r>
              <a:rPr lang="ru-RU" dirty="0"/>
              <a:t>языкового уровня </a:t>
            </a:r>
            <a:br>
              <a:rPr lang="ru-RU" dirty="0"/>
            </a:br>
            <a:r>
              <a:rPr lang="ru-RU" dirty="0"/>
              <a:t>(соединения, </a:t>
            </a:r>
            <a:r>
              <a:rPr lang="en-US" dirty="0"/>
              <a:t>Map</a:t>
            </a:r>
            <a:r>
              <a:rPr lang="ru-RU" dirty="0"/>
              <a:t>-</a:t>
            </a:r>
            <a:r>
              <a:rPr lang="en-US" dirty="0"/>
              <a:t>reduce</a:t>
            </a:r>
            <a:r>
              <a:rPr lang="ru-RU" dirty="0"/>
              <a:t>).</a:t>
            </a:r>
          </a:p>
          <a:p>
            <a:pPr lvl="0"/>
            <a:r>
              <a:rPr lang="ru-RU" dirty="0"/>
              <a:t>Поддержка </a:t>
            </a:r>
            <a:r>
              <a:rPr lang="ru-RU" b="1" dirty="0"/>
              <a:t>избыточного хранения </a:t>
            </a:r>
            <a:r>
              <a:rPr lang="ru-RU" dirty="0"/>
              <a:t>служебных данных </a:t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/>
              <a:t>обычно реализуется в виде индексов, журналов и </a:t>
            </a:r>
            <a:r>
              <a:rPr lang="ru-RU" i="1" dirty="0" err="1"/>
              <a:t>др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EE52D1-F482-DB41-67BA-47EBD6135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8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1C5BD-C969-3846-C84E-07F2803D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Объекты во внешней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97C0BF-815F-E54B-DDAE-1A827C714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b="1" dirty="0"/>
              <a:t>строки таблиц</a:t>
            </a:r>
            <a:r>
              <a:rPr lang="ru-RU" dirty="0"/>
              <a:t> – основная часть базы данных, большей частью непосредственно видимая пользователям; </a:t>
            </a:r>
          </a:p>
          <a:p>
            <a:pPr lvl="0"/>
            <a:r>
              <a:rPr lang="ru-RU" b="1" dirty="0"/>
              <a:t>управляющие структуры</a:t>
            </a:r>
            <a:r>
              <a:rPr lang="ru-RU" dirty="0"/>
              <a:t> – индексы др., поддерживаемые нижним уровнем системы; </a:t>
            </a:r>
          </a:p>
          <a:p>
            <a:pPr lvl="0"/>
            <a:r>
              <a:rPr lang="ru-RU" b="1" dirty="0"/>
              <a:t>журнальная информация</a:t>
            </a:r>
            <a:r>
              <a:rPr lang="ru-RU" dirty="0"/>
              <a:t>, поддерживаемая для </a:t>
            </a:r>
            <a:r>
              <a:rPr lang="ru-RU" dirty="0" err="1"/>
              <a:t>отказаустойчивости</a:t>
            </a:r>
            <a:r>
              <a:rPr lang="ru-RU" dirty="0"/>
              <a:t>; </a:t>
            </a:r>
          </a:p>
          <a:p>
            <a:pPr lvl="0"/>
            <a:r>
              <a:rPr lang="ru-RU" b="1" dirty="0"/>
              <a:t>служебная информация</a:t>
            </a:r>
            <a:r>
              <a:rPr lang="ru-RU" dirty="0"/>
              <a:t>, поддерживаемая для потребностей нижнего уровня системы (</a:t>
            </a:r>
            <a:r>
              <a:rPr lang="ru-RU" b="1" dirty="0"/>
              <a:t>например, информация о свободной памяти</a:t>
            </a:r>
            <a:r>
              <a:rPr lang="ru-RU" dirty="0"/>
              <a:t>). </a:t>
            </a:r>
          </a:p>
          <a:p>
            <a:pPr lvl="0"/>
            <a:endParaRPr lang="ru-RU" dirty="0"/>
          </a:p>
          <a:p>
            <a:r>
              <a:rPr lang="ru-RU" dirty="0"/>
              <a:t>В сервере СУБД отношения могут храниться в одном или разных файлах данных. </a:t>
            </a:r>
            <a:br>
              <a:rPr lang="ru-RU" dirty="0"/>
            </a:br>
            <a:r>
              <a:rPr lang="ru-RU" b="1" i="1" dirty="0"/>
              <a:t>Файл данных</a:t>
            </a:r>
            <a:r>
              <a:rPr lang="ru-RU" b="1" dirty="0"/>
              <a:t> </a:t>
            </a:r>
            <a:r>
              <a:rPr lang="ru-RU" dirty="0"/>
              <a:t>включает:</a:t>
            </a:r>
          </a:p>
          <a:p>
            <a:pPr lvl="1"/>
            <a:r>
              <a:rPr lang="ru-RU" dirty="0"/>
              <a:t>Заголовок.</a:t>
            </a:r>
          </a:p>
          <a:p>
            <a:pPr lvl="1"/>
            <a:r>
              <a:rPr lang="ru-RU" dirty="0"/>
              <a:t>Блок описания полей.</a:t>
            </a:r>
          </a:p>
          <a:p>
            <a:pPr lvl="1"/>
            <a:r>
              <a:rPr lang="ru-RU" dirty="0"/>
              <a:t>Блок записей.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6DD47E-F292-7881-0682-AA7460589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4A6E889-2B04-1C6D-3BAF-68A7D77FDF57}"/>
              </a:ext>
            </a:extLst>
          </p:cNvPr>
          <p:cNvSpPr/>
          <p:nvPr/>
        </p:nvSpPr>
        <p:spPr>
          <a:xfrm>
            <a:off x="4211960" y="4653136"/>
            <a:ext cx="3960440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Конкретный способ размещения данных во внешней памяти называется </a:t>
            </a:r>
            <a:r>
              <a:rPr lang="ru-RU" b="1" i="1" dirty="0"/>
              <a:t>структурой хранения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506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AA3A8-8DE3-7613-2FB6-32AB705C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файла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2C5D77-F71F-C6C6-A07E-B051971E8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62781"/>
            <a:ext cx="8712968" cy="2686299"/>
          </a:xfrm>
        </p:spPr>
        <p:txBody>
          <a:bodyPr anchor="t"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ru-RU" sz="1800" b="1" dirty="0"/>
              <a:t>файл базы данных</a:t>
            </a:r>
            <a:r>
              <a:rPr lang="ru-RU" sz="1800" dirty="0"/>
              <a:t> состоит из записи заголовка и записей с данными;</a:t>
            </a:r>
          </a:p>
          <a:p>
            <a:pPr>
              <a:spcBef>
                <a:spcPts val="1200"/>
              </a:spcBef>
            </a:pPr>
            <a:r>
              <a:rPr lang="ru-RU" sz="1800" b="1" dirty="0"/>
              <a:t>запись заголовка </a:t>
            </a:r>
            <a:r>
              <a:rPr lang="ru-RU" sz="1800" dirty="0"/>
              <a:t>определяется структура базы данных и </a:t>
            </a:r>
            <a:r>
              <a:rPr lang="ru-RU" sz="1800" dirty="0" err="1"/>
              <a:t>др</a:t>
            </a:r>
            <a:r>
              <a:rPr lang="ru-RU" sz="1800" dirty="0"/>
              <a:t>;</a:t>
            </a:r>
          </a:p>
          <a:p>
            <a:pPr>
              <a:spcBef>
                <a:spcPts val="1200"/>
              </a:spcBef>
            </a:pPr>
            <a:r>
              <a:rPr lang="ru-RU" sz="1800" b="1" dirty="0"/>
              <a:t>непосредственно записи с данными</a:t>
            </a:r>
            <a:r>
              <a:rPr lang="ru-RU" sz="1800" dirty="0"/>
              <a:t> следуют за заголовком последовательно;</a:t>
            </a:r>
          </a:p>
          <a:p>
            <a:pPr>
              <a:spcBef>
                <a:spcPts val="1200"/>
              </a:spcBef>
            </a:pPr>
            <a:r>
              <a:rPr lang="ru-RU" sz="1800" b="1" dirty="0"/>
              <a:t>длина записи (в байтах)</a:t>
            </a:r>
            <a:r>
              <a:rPr lang="ru-RU" sz="1800" dirty="0"/>
              <a:t> определяется суммированием указанных длин всех полей;</a:t>
            </a:r>
          </a:p>
          <a:p>
            <a:pPr>
              <a:spcBef>
                <a:spcPts val="1200"/>
              </a:spcBef>
            </a:pPr>
            <a:r>
              <a:rPr lang="ru-RU" sz="1800" b="1" dirty="0"/>
              <a:t>запись </a:t>
            </a:r>
            <a:r>
              <a:rPr lang="ru-RU" sz="1800" dirty="0"/>
              <a:t>строка символов состоящая из частей (полей) строго определенного размера.  Эти размеры указаны в структуре описания.</a:t>
            </a:r>
          </a:p>
          <a:p>
            <a:pPr>
              <a:spcBef>
                <a:spcPts val="1200"/>
              </a:spcBef>
            </a:pP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91AA25-E095-C91A-B5BF-8DC038F58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E6A960-A75D-9451-D9D5-14010C6002B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040759"/>
            <a:ext cx="4608512" cy="270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650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342D0-5EC2-039D-3847-1F07042E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3C2C14-A46B-491A-BFA4-05B47E624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0768"/>
            <a:ext cx="5472608" cy="5256584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ru-RU" sz="1600" dirty="0"/>
              <a:t>Операции проводятся </a:t>
            </a:r>
            <a:r>
              <a:rPr lang="ru-RU" sz="1600" b="1" dirty="0"/>
              <a:t>над наборами </a:t>
            </a:r>
            <a:r>
              <a:rPr lang="ru-RU" sz="1600" dirty="0"/>
              <a:t>(непересекающимися подмножествами) </a:t>
            </a:r>
            <a:r>
              <a:rPr lang="ru-RU" sz="1600" b="1" dirty="0"/>
              <a:t>страниц</a:t>
            </a:r>
            <a:r>
              <a:rPr lang="ru-RU" sz="1600" dirty="0"/>
              <a:t> </a:t>
            </a:r>
            <a:r>
              <a:rPr lang="ru-RU" sz="1600" b="1" i="1" dirty="0"/>
              <a:t>диспетчером диска </a:t>
            </a:r>
            <a:r>
              <a:rPr lang="ru-RU" sz="1600" dirty="0"/>
              <a:t>и включают: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Выборку страниц (</a:t>
            </a:r>
            <a:r>
              <a:rPr lang="en-US" sz="1400" dirty="0"/>
              <a:t>p</a:t>
            </a:r>
            <a:r>
              <a:rPr lang="ru-RU" sz="1400" dirty="0"/>
              <a:t> из набора </a:t>
            </a:r>
            <a:r>
              <a:rPr lang="en-US" sz="1400" dirty="0"/>
              <a:t>s</a:t>
            </a:r>
            <a:r>
              <a:rPr lang="ru-RU" sz="1400" dirty="0"/>
              <a:t>).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Замену страниц (</a:t>
            </a:r>
            <a:r>
              <a:rPr lang="en-US" sz="1400" dirty="0"/>
              <a:t>p</a:t>
            </a:r>
            <a:r>
              <a:rPr lang="ru-RU" sz="1400" dirty="0"/>
              <a:t> в наборе </a:t>
            </a:r>
            <a:r>
              <a:rPr lang="en-US" sz="1400" dirty="0"/>
              <a:t>s</a:t>
            </a:r>
            <a:r>
              <a:rPr lang="ru-RU" sz="1400" dirty="0"/>
              <a:t>).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Добавление страниц (</a:t>
            </a:r>
            <a:r>
              <a:rPr lang="en-US" sz="1400" dirty="0"/>
              <a:t>p</a:t>
            </a:r>
            <a:r>
              <a:rPr lang="ru-RU" sz="1400" dirty="0"/>
              <a:t> в набор </a:t>
            </a:r>
            <a:r>
              <a:rPr lang="en-US" sz="1400" dirty="0"/>
              <a:t>s</a:t>
            </a:r>
            <a:r>
              <a:rPr lang="ru-RU" sz="1400" dirty="0"/>
              <a:t>), т.е. получение пустой страницы из набора свободных и определение ее номера в наборе.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Удаление страниц(</a:t>
            </a:r>
            <a:r>
              <a:rPr lang="en-US" sz="1400" dirty="0"/>
              <a:t>p</a:t>
            </a:r>
            <a:r>
              <a:rPr lang="ru-RU" sz="1400" dirty="0"/>
              <a:t> из набора </a:t>
            </a:r>
            <a:r>
              <a:rPr lang="en-US" sz="1400" dirty="0"/>
              <a:t>s</a:t>
            </a:r>
            <a:r>
              <a:rPr lang="ru-RU" sz="1400" dirty="0"/>
              <a:t>). Т.е. возвращение в набор свободных </a:t>
            </a:r>
          </a:p>
          <a:p>
            <a:pPr>
              <a:spcBef>
                <a:spcPts val="600"/>
              </a:spcBef>
            </a:pPr>
            <a:r>
              <a:rPr lang="ru-RU" sz="1600" dirty="0"/>
              <a:t>Операции </a:t>
            </a:r>
            <a:r>
              <a:rPr lang="ru-RU" sz="1600" b="1" dirty="0"/>
              <a:t>с файлами </a:t>
            </a:r>
            <a:r>
              <a:rPr lang="ru-RU" sz="1600" dirty="0"/>
              <a:t>могут быть </a:t>
            </a:r>
            <a:r>
              <a:rPr lang="ru-RU" sz="1600" b="1" dirty="0"/>
              <a:t>затребованы</a:t>
            </a:r>
            <a:r>
              <a:rPr lang="ru-RU" sz="1600" dirty="0"/>
              <a:t> </a:t>
            </a:r>
            <a:r>
              <a:rPr lang="ru-RU" sz="1600" b="1" dirty="0"/>
              <a:t>СУБД у ОС </a:t>
            </a:r>
            <a:r>
              <a:rPr lang="ru-RU" sz="1600" dirty="0"/>
              <a:t>и включают: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Выборку записи (r из файла f)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Замену записи (r в файле f)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Добавление записи (r в файл f) включая определение ее идентификатора в файле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Удаление записи (r из файла f)</a:t>
            </a:r>
          </a:p>
          <a:p>
            <a:pPr lvl="1">
              <a:spcBef>
                <a:spcPts val="600"/>
              </a:spcBef>
            </a:pPr>
            <a:r>
              <a:rPr lang="ru-RU" sz="1400" dirty="0"/>
              <a:t>Создание нового файла </a:t>
            </a:r>
            <a:r>
              <a:rPr lang="en-US" sz="1400" dirty="0"/>
              <a:t>f</a:t>
            </a:r>
            <a:endParaRPr lang="ru-RU" sz="1400" dirty="0"/>
          </a:p>
          <a:p>
            <a:pPr lvl="1">
              <a:spcBef>
                <a:spcPts val="600"/>
              </a:spcBef>
            </a:pPr>
            <a:r>
              <a:rPr lang="ru-RU" sz="1400" dirty="0"/>
              <a:t>Уничтожение файла</a:t>
            </a:r>
          </a:p>
          <a:p>
            <a:pPr>
              <a:spcBef>
                <a:spcPts val="600"/>
              </a:spcBef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AF10A9-762B-778F-088A-E142AAC47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37E54F-1353-3D23-606B-BB1D4478F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116" y="1556792"/>
            <a:ext cx="3192325" cy="418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4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0F060-6B83-43AF-753A-1BDC2B11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4A73DE-8A9E-171F-A548-B23B2C3EF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E58D5D-8515-824E-4191-712625C8F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37" y="1691857"/>
            <a:ext cx="6175783" cy="431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32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4A56E-1374-540C-4157-01DA6277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экстента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EB6D5-666C-C1C8-1CE0-DA17ABC6C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ru-RU" sz="1800" b="1" dirty="0"/>
              <a:t>Размер блока</a:t>
            </a:r>
            <a:r>
              <a:rPr lang="ru-RU" sz="1800" dirty="0"/>
              <a:t> внешней памяти зависит от типа приложения и может быть настраиваемым.  </a:t>
            </a:r>
            <a:r>
              <a:rPr lang="en-US" sz="1800" dirty="0"/>
              <a:t>OLTP</a:t>
            </a:r>
            <a:r>
              <a:rPr lang="ru-RU" sz="1800" dirty="0"/>
              <a:t> – меньший размер блока (менее 2Кб), </a:t>
            </a:r>
            <a:r>
              <a:rPr lang="en-US" sz="1800" dirty="0"/>
              <a:t>DSS</a:t>
            </a:r>
            <a:r>
              <a:rPr lang="ru-RU" sz="1800" dirty="0"/>
              <a:t> – </a:t>
            </a:r>
            <a:r>
              <a:rPr lang="ru-RU" sz="1800" dirty="0" err="1"/>
              <a:t>бОльший</a:t>
            </a:r>
            <a:r>
              <a:rPr lang="ru-RU" sz="1800" dirty="0"/>
              <a:t>, до блоков более 16Кб).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Пространство внешней памяти представляется набором экстентов – “</a:t>
            </a:r>
            <a:r>
              <a:rPr lang="ru-RU" sz="1800" b="1" dirty="0" err="1"/>
              <a:t>extent</a:t>
            </a:r>
            <a:r>
              <a:rPr lang="ru-RU" sz="1800" dirty="0"/>
              <a:t>” (непрерывных последовательных блоков). </a:t>
            </a:r>
          </a:p>
          <a:p>
            <a:pPr lvl="1"/>
            <a:r>
              <a:rPr lang="ru-RU" sz="1600" dirty="0"/>
              <a:t>Наличие и объем каждого экстента для конкретной схемы данных находится в управляющих структурах СУБД.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1B8B46-E48A-1B92-96E5-0F7C1AF37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Рисунок 4" descr="http://www.osp.ru/data/623/531/1234/064_1.gif">
            <a:extLst>
              <a:ext uri="{FF2B5EF4-FFF2-40B4-BE49-F238E27FC236}">
                <a16:creationId xmlns:a16="http://schemas.microsoft.com/office/drawing/2014/main" id="{7C5F8A40-BC4A-FB87-7207-ADC466392B3A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99054" y="2411074"/>
            <a:ext cx="5086650" cy="833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http://www.osp.ru/data/621/531/1234/064_2.gif">
            <a:extLst>
              <a:ext uri="{FF2B5EF4-FFF2-40B4-BE49-F238E27FC236}">
                <a16:creationId xmlns:a16="http://schemas.microsoft.com/office/drawing/2014/main" id="{0FA53B1A-CBCB-F2DA-8E79-D74601B3D7CB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4599192"/>
            <a:ext cx="4097007" cy="2104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045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76219-2E0D-906F-1653-F917FDEB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«Экстент» в различных СУБД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913BC0-E295-9550-089D-45B6BAF9D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3FF1A58-F433-6079-26F9-506FFA12A31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9117" y="1484313"/>
          <a:ext cx="8696768" cy="325114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56579">
                  <a:extLst>
                    <a:ext uri="{9D8B030D-6E8A-4147-A177-3AD203B41FA5}">
                      <a16:colId xmlns:a16="http://schemas.microsoft.com/office/drawing/2014/main" val="359223809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77375116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590397300"/>
                    </a:ext>
                  </a:extLst>
                </a:gridCol>
                <a:gridCol w="2819709">
                  <a:extLst>
                    <a:ext uri="{9D8B030D-6E8A-4147-A177-3AD203B41FA5}">
                      <a16:colId xmlns:a16="http://schemas.microsoft.com/office/drawing/2014/main" val="127735200"/>
                    </a:ext>
                  </a:extLst>
                </a:gridCol>
              </a:tblGrid>
              <a:tr h="446988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Критерий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Oracle DBMS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MS SQL Server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GB" sz="1400" dirty="0" err="1">
                          <a:effectLst/>
                        </a:rPr>
                        <a:t>PostgreSQL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60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Понятие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есть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есть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явно нет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797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Группировка данных на диске</a:t>
                      </a:r>
                      <a:endParaRPr lang="ru-RU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Экстенты + сегменты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Страницы + экстенты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</a:rPr>
                        <a:t>Страницы объединенные в массивы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834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Размер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переменный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постоянный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98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</a:rPr>
                        <a:t>Выделение места на диске</a:t>
                      </a:r>
                      <a:endParaRPr lang="ru-RU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Непрерывной последовательностью блоков - </a:t>
                      </a:r>
                      <a:r>
                        <a:rPr lang="ru-RU" sz="1400" i="1" kern="1200" dirty="0">
                          <a:solidFill>
                            <a:schemeClr val="dk1"/>
                          </a:solidFill>
                          <a:effectLst/>
                        </a:rPr>
                        <a:t>экстентом</a:t>
                      </a:r>
                      <a:endParaRPr lang="ru-RU" sz="1400" i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Непрерывной последовательностью блоков - </a:t>
                      </a:r>
                      <a:r>
                        <a:rPr lang="ru-RU" sz="1400" i="1" kern="1200" dirty="0">
                          <a:solidFill>
                            <a:schemeClr val="dk1"/>
                          </a:solidFill>
                          <a:effectLst/>
                        </a:rPr>
                        <a:t>экстентом</a:t>
                      </a:r>
                    </a:p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</a:rPr>
                        <a:t>Непрерывной последовательностью блоков - …</a:t>
                      </a:r>
                    </a:p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53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</a:rPr>
                        <a:t>Соотношение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</a:rPr>
                      </a:b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</a:rPr>
                        <a:t>со страницами памяти</a:t>
                      </a:r>
                      <a:endParaRPr lang="ru-RU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Вместо понятия страницы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Несколько страниц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405409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2A75AE9-8616-B926-E51B-E7854E4CFE7F}"/>
              </a:ext>
            </a:extLst>
          </p:cNvPr>
          <p:cNvSpPr/>
          <p:nvPr/>
        </p:nvSpPr>
        <p:spPr>
          <a:xfrm>
            <a:off x="1068770" y="5164198"/>
            <a:ext cx="288713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b="1" dirty="0" err="1"/>
              <a:t>extent</a:t>
            </a:r>
            <a:r>
              <a:rPr lang="ru-RU" dirty="0"/>
              <a:t> - непрерывная последовательность блоков внешней памяти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37B24C-FB53-3E03-51A5-A16B43647FA4}"/>
              </a:ext>
            </a:extLst>
          </p:cNvPr>
          <p:cNvSpPr/>
          <p:nvPr/>
        </p:nvSpPr>
        <p:spPr>
          <a:xfrm>
            <a:off x="4627501" y="5164198"/>
            <a:ext cx="288713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/>
              <a:t>Выделение новых фрагментов дискового пространства происходит </a:t>
            </a:r>
            <a:r>
              <a:rPr lang="ru-RU" i="1" dirty="0"/>
              <a:t>экстентами</a:t>
            </a:r>
          </a:p>
        </p:txBody>
      </p:sp>
      <p:sp>
        <p:nvSpPr>
          <p:cNvPr id="12" name="Стрелка вправо 2">
            <a:extLst>
              <a:ext uri="{FF2B5EF4-FFF2-40B4-BE49-F238E27FC236}">
                <a16:creationId xmlns:a16="http://schemas.microsoft.com/office/drawing/2014/main" id="{829D6405-1B7C-E0C6-3583-E6684B5885D0}"/>
              </a:ext>
            </a:extLst>
          </p:cNvPr>
          <p:cNvSpPr/>
          <p:nvPr/>
        </p:nvSpPr>
        <p:spPr>
          <a:xfrm>
            <a:off x="4074437" y="5378600"/>
            <a:ext cx="431800" cy="6274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97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034D7-16E5-1D20-C354-B9E6BD71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подходы к хранению таблиц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A20E42-7258-9AA2-015A-5A027A585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8" name="Рисунок 7" descr="image">
            <a:extLst>
              <a:ext uri="{FF2B5EF4-FFF2-40B4-BE49-F238E27FC236}">
                <a16:creationId xmlns:a16="http://schemas.microsoft.com/office/drawing/2014/main" id="{6ED3BB48-85EF-2553-9DE3-5EECFD57208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70" y="2132856"/>
            <a:ext cx="8064896" cy="3240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229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3F0B0-32DD-D9D7-E229-3A3753F5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таблиц по кортежам (строкам)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43CDC0-7C6D-62CA-16C7-E78AADD0E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5375482-5B1B-1066-9467-A1C9E41A4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89" y="4352708"/>
            <a:ext cx="4340291" cy="2067408"/>
          </a:xfrm>
        </p:spPr>
        <p:txBody>
          <a:bodyPr>
            <a:normAutofit fontScale="92500" lnSpcReduction="20000"/>
          </a:bodyPr>
          <a:lstStyle/>
          <a:p>
            <a:pPr lvl="0">
              <a:buFont typeface="+mj-lt"/>
              <a:buAutoNum type="arabicPeriod"/>
            </a:pPr>
            <a:r>
              <a:rPr lang="ru-RU" dirty="0"/>
              <a:t>Перейти на первую строку </a:t>
            </a:r>
          </a:p>
          <a:p>
            <a:pPr lvl="0">
              <a:buFont typeface="+mj-lt"/>
              <a:buAutoNum type="arabicPeriod"/>
            </a:pPr>
            <a:r>
              <a:rPr lang="ru-RU" dirty="0"/>
              <a:t>Найти колонку с именем </a:t>
            </a:r>
            <a:r>
              <a:rPr lang="ru-RU" dirty="0" err="1"/>
              <a:t>type</a:t>
            </a:r>
            <a:r>
              <a:rPr lang="ru-RU" dirty="0"/>
              <a:t> и ее значение </a:t>
            </a:r>
          </a:p>
          <a:p>
            <a:pPr lvl="0">
              <a:buFont typeface="+mj-lt"/>
              <a:buAutoNum type="arabicPeriod"/>
            </a:pPr>
            <a:r>
              <a:rPr lang="ru-RU" dirty="0"/>
              <a:t>Сравнить с требуемым и отобрать строку, если значение подходит </a:t>
            </a:r>
          </a:p>
          <a:p>
            <a:pPr lvl="0">
              <a:buFont typeface="+mj-lt"/>
              <a:buAutoNum type="arabicPeriod"/>
            </a:pPr>
            <a:r>
              <a:rPr lang="ru-RU" dirty="0"/>
              <a:t>Перейти к следующей строке </a:t>
            </a:r>
          </a:p>
          <a:p>
            <a:pPr>
              <a:buFont typeface="+mj-lt"/>
              <a:buAutoNum type="arabicPeriod"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D3E62D-298A-2B84-BC55-12D58C454563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39" y="1526216"/>
            <a:ext cx="4416592" cy="1647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37ACC4-9DF5-27A3-F6CE-C5D29C2A883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084" y="1399090"/>
            <a:ext cx="2626995" cy="16471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Стрелка вправо 6">
            <a:extLst>
              <a:ext uri="{FF2B5EF4-FFF2-40B4-BE49-F238E27FC236}">
                <a16:creationId xmlns:a16="http://schemas.microsoft.com/office/drawing/2014/main" id="{E4F2C9CC-7DC3-AFD6-D15B-8E51ECE748A4}"/>
              </a:ext>
            </a:extLst>
          </p:cNvPr>
          <p:cNvSpPr/>
          <p:nvPr/>
        </p:nvSpPr>
        <p:spPr>
          <a:xfrm>
            <a:off x="4535721" y="2034762"/>
            <a:ext cx="879894" cy="4485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0E554B-9468-B989-9027-66D4C5900617}"/>
              </a:ext>
            </a:extLst>
          </p:cNvPr>
          <p:cNvSpPr/>
          <p:nvPr/>
        </p:nvSpPr>
        <p:spPr>
          <a:xfrm>
            <a:off x="334281" y="3431031"/>
            <a:ext cx="4340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SELECT * FROM table WHERE color = 542</a:t>
            </a:r>
            <a:endParaRPr lang="ru-RU" b="1" dirty="0">
              <a:solidFill>
                <a:srgbClr val="C0000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80A77F4-3446-51D3-44A5-27D12FC2E6E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12" y="3691979"/>
            <a:ext cx="3938947" cy="224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Стрелка вправо 10">
            <a:extLst>
              <a:ext uri="{FF2B5EF4-FFF2-40B4-BE49-F238E27FC236}">
                <a16:creationId xmlns:a16="http://schemas.microsoft.com/office/drawing/2014/main" id="{0BBC96B9-4752-DC49-4E7D-CD249DC6FE47}"/>
              </a:ext>
            </a:extLst>
          </p:cNvPr>
          <p:cNvSpPr/>
          <p:nvPr/>
        </p:nvSpPr>
        <p:spPr>
          <a:xfrm>
            <a:off x="4179814" y="4315679"/>
            <a:ext cx="879894" cy="274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075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77E34-B870-F4E5-BC13-6EE08ECF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Организация и особенности хранения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F52AD8-EB3A-232C-D8FA-2625A8CA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dirty="0"/>
              <a:t>Каждый кортеж обладает </a:t>
            </a:r>
            <a:r>
              <a:rPr lang="ru-RU" b="1" dirty="0"/>
              <a:t>уникальным идентификатором (</a:t>
            </a:r>
            <a:r>
              <a:rPr lang="ru-RU" b="1" dirty="0" err="1"/>
              <a:t>tid</a:t>
            </a:r>
            <a:r>
              <a:rPr lang="ru-RU" b="1" dirty="0"/>
              <a:t>),</a:t>
            </a:r>
            <a:r>
              <a:rPr lang="ru-RU" dirty="0"/>
              <a:t> </a:t>
            </a:r>
          </a:p>
          <a:p>
            <a:pPr lvl="1"/>
            <a:r>
              <a:rPr lang="ru-RU" b="1" dirty="0">
                <a:solidFill>
                  <a:srgbClr val="C00000"/>
                </a:solidFill>
              </a:rPr>
              <a:t>не изменяемым </a:t>
            </a:r>
            <a:r>
              <a:rPr lang="ru-RU" dirty="0"/>
              <a:t>во все время существования кортежа и позволяющим выбрать кортеж в основную память не более чем за два обращения к внешней памяти. </a:t>
            </a:r>
          </a:p>
          <a:p>
            <a:r>
              <a:rPr lang="ru-RU" dirty="0">
                <a:solidFill>
                  <a:schemeClr val="accent2"/>
                </a:solidFill>
              </a:rPr>
              <a:t>Особенность: перемещение кортежей</a:t>
            </a:r>
          </a:p>
          <a:p>
            <a:r>
              <a:rPr lang="ru-RU" b="1" dirty="0"/>
              <a:t>Идентификатор кортежа (</a:t>
            </a:r>
            <a:r>
              <a:rPr lang="ru-RU" b="1" dirty="0" err="1"/>
              <a:t>tuple</a:t>
            </a:r>
            <a:r>
              <a:rPr lang="ru-RU" b="1" dirty="0"/>
              <a:t> </a:t>
            </a:r>
            <a:r>
              <a:rPr lang="ru-RU" b="1" dirty="0" err="1"/>
              <a:t>identifier</a:t>
            </a:r>
            <a:r>
              <a:rPr lang="ru-RU" b="1" dirty="0"/>
              <a:t> – </a:t>
            </a:r>
            <a:r>
              <a:rPr lang="ru-RU" b="1" dirty="0" err="1"/>
              <a:t>tid</a:t>
            </a:r>
            <a:r>
              <a:rPr lang="ru-RU" b="1" dirty="0"/>
              <a:t>).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tid</a:t>
            </a:r>
            <a:r>
              <a:rPr lang="ru-RU" dirty="0"/>
              <a:t> : &lt;</a:t>
            </a:r>
            <a:r>
              <a:rPr lang="ru-RU" b="1" i="1" dirty="0"/>
              <a:t>номер страницы, индекс описателя кортежа в странице</a:t>
            </a:r>
            <a:r>
              <a:rPr lang="ru-RU" dirty="0"/>
              <a:t>&gt;.</a:t>
            </a:r>
            <a:endParaRPr lang="ru-RU" u="sng" dirty="0"/>
          </a:p>
          <a:p>
            <a:pPr lvl="1"/>
            <a:r>
              <a:rPr lang="ru-RU" u="sng" dirty="0"/>
              <a:t>Гарантируется неизменяемость </a:t>
            </a:r>
            <a:r>
              <a:rPr lang="ru-RU" u="sng" dirty="0" err="1"/>
              <a:t>tid'а</a:t>
            </a:r>
            <a:r>
              <a:rPr lang="ru-RU" u="sng" dirty="0"/>
              <a:t> во все время существования кортежа </a:t>
            </a:r>
            <a:r>
              <a:rPr lang="ru-RU" dirty="0"/>
              <a:t>в базе данных независимо от перемещений кортежа внутри страницы и даже при перемещении кортежа в другую страницу</a:t>
            </a:r>
          </a:p>
          <a:p>
            <a:pPr lvl="0"/>
            <a:r>
              <a:rPr lang="ru-RU" dirty="0"/>
              <a:t>Обычно каждый кортеж хранится целиком в одной странице. </a:t>
            </a:r>
          </a:p>
          <a:p>
            <a:pPr lvl="1"/>
            <a:r>
              <a:rPr lang="ru-RU" i="1" dirty="0"/>
              <a:t>Из этого следует, что максимальная длина кортежа любой таблицы ограничена размерами страницы</a:t>
            </a:r>
            <a:r>
              <a:rPr lang="ru-RU" dirty="0"/>
              <a:t>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E30E28-7483-045B-2186-B5A268AA6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594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8C4D8-1D56-2CE7-A01A-FC10F84C9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кортежа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F607E5-6E87-6BCD-9C5E-4851B23C4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5" name="Picture 6" descr="https://topuch.ru/1-derekter-orin-basaru-jjesini-arhitekturasi-1-dris-kirispe-de/6923_html_58c039cc.png">
            <a:extLst>
              <a:ext uri="{FF2B5EF4-FFF2-40B4-BE49-F238E27FC236}">
                <a16:creationId xmlns:a16="http://schemas.microsoft.com/office/drawing/2014/main" id="{08426154-A46C-491F-7B80-F7C4CDA8C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88" y="1772816"/>
            <a:ext cx="8495607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443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14E07-0FBD-4D8B-5067-A027A357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«Длинные»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F51555-8F5E-FFC1-3340-65904CAC9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ru-RU" sz="1800" dirty="0"/>
              <a:t>Данные, которые в принципе не помещаются в одной странице </a:t>
            </a:r>
          </a:p>
          <a:p>
            <a:pPr lvl="1"/>
            <a:r>
              <a:rPr lang="ru-RU" sz="1600" dirty="0"/>
              <a:t>Хранение таких данных </a:t>
            </a:r>
            <a:r>
              <a:rPr lang="ru-RU" sz="1600" b="1" dirty="0"/>
              <a:t>в отдельных (вне базы данных) файлах</a:t>
            </a:r>
            <a:r>
              <a:rPr lang="ru-RU" sz="1600" dirty="0"/>
              <a:t> с заменой «длинного» данного в кортеже на имя соответствующего файла. </a:t>
            </a:r>
          </a:p>
          <a:p>
            <a:pPr lvl="1"/>
            <a:r>
              <a:rPr lang="ru-RU" sz="1600" dirty="0"/>
              <a:t>Хранение внутри базы данных </a:t>
            </a:r>
            <a:r>
              <a:rPr lang="ru-RU" sz="1600" b="1" dirty="0"/>
              <a:t>в отдельном наборе страниц внешней памяти</a:t>
            </a:r>
            <a:r>
              <a:rPr lang="ru-RU" sz="1600" dirty="0"/>
              <a:t>, связанном физическими ссылками. </a:t>
            </a:r>
          </a:p>
          <a:p>
            <a:pPr lvl="2"/>
            <a:r>
              <a:rPr lang="ru-RU" sz="1400" dirty="0"/>
              <a:t>Оба эти решения сильно ограничивают возможность работы с длинными данными (как, например, удалить несколько байт из середины 2-мегабайтной строки?). </a:t>
            </a:r>
          </a:p>
          <a:p>
            <a:pPr lvl="1"/>
            <a:r>
              <a:rPr lang="ru-RU" sz="1600" dirty="0"/>
              <a:t>В настоящее время все чаще используется метод, предложенный много лет тому назад в проекте </a:t>
            </a:r>
            <a:r>
              <a:rPr lang="ru-RU" sz="1600" dirty="0" err="1"/>
              <a:t>Exodus</a:t>
            </a:r>
            <a:r>
              <a:rPr lang="ru-RU" sz="1600" dirty="0"/>
              <a:t>, когда «</a:t>
            </a:r>
            <a:r>
              <a:rPr lang="ru-RU" sz="1600" b="1" dirty="0"/>
              <a:t>длинные» данные организуются в виде B-деревьев последовательностей байт.</a:t>
            </a:r>
            <a:r>
              <a:rPr lang="ru-RU" sz="1600" dirty="0"/>
              <a:t> 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DAA876-4B0D-8D37-0EA4-CF01366DE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910D7A-8015-F26B-2F36-6E8365251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258588"/>
            <a:ext cx="6982218" cy="26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4DB5C-294E-93D4-E71A-C31DE882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A31AF6-139E-334D-CC0A-9BA4D309D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Совместное хранение разных таблиц</a:t>
            </a:r>
          </a:p>
          <a:p>
            <a:r>
              <a:rPr lang="ru-RU" b="1" dirty="0">
                <a:solidFill>
                  <a:srgbClr val="C00000"/>
                </a:solidFill>
              </a:rPr>
              <a:t>вызывает дополнительные расходы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/>
              <a:t>для служебной информации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i="1" dirty="0"/>
              <a:t>при каждом кортеже нужно хранить информацию о соответствующей таблице </a:t>
            </a:r>
          </a:p>
          <a:p>
            <a:r>
              <a:rPr lang="ru-RU" b="1" dirty="0">
                <a:solidFill>
                  <a:schemeClr val="accent1"/>
                </a:solidFill>
              </a:rPr>
              <a:t>позволяет</a:t>
            </a:r>
            <a:r>
              <a:rPr lang="ru-RU" dirty="0">
                <a:solidFill>
                  <a:schemeClr val="accent1"/>
                </a:solidFill>
              </a:rPr>
              <a:t> резко сократить </a:t>
            </a:r>
            <a:r>
              <a:rPr lang="ru-RU" dirty="0"/>
              <a:t>число обменов с внешней памятью при выполнении </a:t>
            </a:r>
            <a:r>
              <a:rPr lang="ru-RU" b="1" i="1" dirty="0"/>
              <a:t>соединений. 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sz="2800" b="1" dirty="0">
                <a:solidFill>
                  <a:schemeClr val="accent1"/>
                </a:solidFill>
              </a:rPr>
              <a:t>Хранение </a:t>
            </a:r>
            <a:r>
              <a:rPr lang="en-US" sz="2800" b="1" dirty="0">
                <a:solidFill>
                  <a:schemeClr val="accent1"/>
                </a:solidFill>
              </a:rPr>
              <a:t>NULL</a:t>
            </a:r>
            <a:endParaRPr lang="ru-RU" sz="2800" b="1" dirty="0">
              <a:solidFill>
                <a:schemeClr val="accent1"/>
              </a:solidFill>
            </a:endParaRPr>
          </a:p>
          <a:p>
            <a:r>
              <a:rPr lang="ru-RU" dirty="0"/>
              <a:t>Поскольку таблицы могут содержать </a:t>
            </a:r>
            <a:r>
              <a:rPr lang="ru-RU" b="1" i="1" dirty="0"/>
              <a:t>неопределенные значения (</a:t>
            </a:r>
            <a:r>
              <a:rPr lang="en-US" b="1" i="1" dirty="0"/>
              <a:t>NULL)</a:t>
            </a:r>
            <a:r>
              <a:rPr lang="ru-RU" dirty="0"/>
              <a:t>, необходима соответствующая поддержка на уровне хранения</a:t>
            </a:r>
            <a:r>
              <a:rPr lang="ru-RU" u="sng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Хранение шкалы при каждом кортеже, который </a:t>
            </a:r>
            <a:r>
              <a:rPr lang="ru-RU" i="1" dirty="0"/>
              <a:t>в принципе </a:t>
            </a:r>
            <a:r>
              <a:rPr lang="ru-RU" dirty="0"/>
              <a:t>может содержать неопределенные значения.  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C9BE9A-E164-C1ED-C472-133FD02DC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029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5D0B2-37C6-0F51-6E1F-FDF6EEB3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таблиц по столбцам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7E6E5D-E0B7-648F-ACB6-D5C5D511F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4EB759-F8F3-6220-9076-4417C4817FED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96" y="3119038"/>
            <a:ext cx="3378200" cy="106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91CB5-DEBE-06B3-73BB-BA9993EB2B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993" y="1284096"/>
            <a:ext cx="3596356" cy="21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8BEA3A-27BA-651F-112C-F899E3DA13F5}"/>
              </a:ext>
            </a:extLst>
          </p:cNvPr>
          <p:cNvSpPr/>
          <p:nvPr/>
        </p:nvSpPr>
        <p:spPr>
          <a:xfrm>
            <a:off x="589152" y="5037900"/>
            <a:ext cx="3332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Колонка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color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:   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3421, 543, 5235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EECDF7-324F-B348-4323-564D66A465B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925144"/>
            <a:ext cx="3772940" cy="259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70F1AC-5798-F159-C4A7-077654536459}"/>
              </a:ext>
            </a:extLst>
          </p:cNvPr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75" y="1522861"/>
            <a:ext cx="3426460" cy="11760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Стрелка вправо 6">
            <a:extLst>
              <a:ext uri="{FF2B5EF4-FFF2-40B4-BE49-F238E27FC236}">
                <a16:creationId xmlns:a16="http://schemas.microsoft.com/office/drawing/2014/main" id="{B005534A-877C-9BCD-E9C1-F19E9A774439}"/>
              </a:ext>
            </a:extLst>
          </p:cNvPr>
          <p:cNvSpPr/>
          <p:nvPr/>
        </p:nvSpPr>
        <p:spPr>
          <a:xfrm>
            <a:off x="3347566" y="1984075"/>
            <a:ext cx="983411" cy="5693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222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879A1-827C-9422-5768-C2E76309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колонок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85B010-CDAE-2B10-4DF4-5398950D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886797"/>
          </a:xfrm>
        </p:spPr>
        <p:txBody>
          <a:bodyPr anchor="t"/>
          <a:lstStyle/>
          <a:p>
            <a:r>
              <a:rPr lang="ru-RU" dirty="0"/>
              <a:t>Все данные в колоночной базе данных обычно хранятся в отсортированном виде (каждая колонка отдельно)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Чтобы база сама знала, где какое значение, </a:t>
            </a:r>
            <a:r>
              <a:rPr lang="ru-RU" b="1" dirty="0"/>
              <a:t>каждая запись знает свой номер</a:t>
            </a:r>
            <a:r>
              <a:rPr lang="ru-RU" dirty="0"/>
              <a:t>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A1BD7C-2214-03B2-C529-60A0946D4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79C548-BF8D-1A05-190F-7F22EC2ED3DC}"/>
              </a:ext>
            </a:extLst>
          </p:cNvPr>
          <p:cNvSpPr/>
          <p:nvPr/>
        </p:nvSpPr>
        <p:spPr>
          <a:xfrm>
            <a:off x="2364432" y="2199949"/>
            <a:ext cx="422379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type:    1, 2, 5</a:t>
            </a:r>
          </a:p>
          <a:p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style:   4, 6, 10</a:t>
            </a:r>
          </a:p>
          <a:p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color:   543, 3421, 5235</a:t>
            </a:r>
          </a:p>
          <a:p>
            <a:r>
              <a:rPr lang="ru-RU" dirty="0"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method:  32, 43295, 82341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D1DD4A0-477D-6BAA-EDC6-F159A566D989}"/>
              </a:ext>
            </a:extLst>
          </p:cNvPr>
          <p:cNvSpPr/>
          <p:nvPr/>
        </p:nvSpPr>
        <p:spPr>
          <a:xfrm>
            <a:off x="3968804" y="4884302"/>
            <a:ext cx="4779659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type:    1(1), 2(2), 5(3)</a:t>
            </a:r>
          </a:p>
          <a:p>
            <a:r>
              <a:rPr lang="ru-RU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style:   4(2), 6(3), 10(1)</a:t>
            </a:r>
          </a:p>
          <a:p>
            <a:r>
              <a:rPr lang="ru-RU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color:   543(2), 3421(1), 5235(3)</a:t>
            </a:r>
          </a:p>
          <a:p>
            <a:r>
              <a:rPr lang="ru-RU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Колонка </a:t>
            </a:r>
            <a:r>
              <a:rPr lang="en-U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method:  32(1), 3295(2), 82341(3)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CF2041-A892-A52E-19AE-781DEF7A525D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371"/>
          <a:stretch/>
        </p:blipFill>
        <p:spPr bwMode="auto">
          <a:xfrm>
            <a:off x="251520" y="4731622"/>
            <a:ext cx="3096344" cy="15056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Стрелка вправо 10">
            <a:extLst>
              <a:ext uri="{FF2B5EF4-FFF2-40B4-BE49-F238E27FC236}">
                <a16:creationId xmlns:a16="http://schemas.microsoft.com/office/drawing/2014/main" id="{6DDC5A51-7270-EA23-01BF-2C43E2364003}"/>
              </a:ext>
            </a:extLst>
          </p:cNvPr>
          <p:cNvSpPr/>
          <p:nvPr/>
        </p:nvSpPr>
        <p:spPr>
          <a:xfrm>
            <a:off x="3404360" y="5191169"/>
            <a:ext cx="398338" cy="5865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132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3591A-94F8-E2A4-D4A6-C7FB96F3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запроса над колоночным хранилищем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CA8102-9028-14C9-CE61-F0479BB29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B1B08F-3A48-E44A-4422-0EF0DFE05A2D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8222"/>
            <a:ext cx="6620715" cy="43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98756E-F857-F09B-82A8-2C5E8039F656}"/>
              </a:ext>
            </a:extLst>
          </p:cNvPr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8722"/>
          <a:stretch/>
        </p:blipFill>
        <p:spPr bwMode="auto">
          <a:xfrm>
            <a:off x="539552" y="2355697"/>
            <a:ext cx="3888432" cy="2146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D34413-028B-54DC-3911-26E3B7F204E1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932" y="1977871"/>
            <a:ext cx="3573524" cy="232110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Стрелка вправо 7">
            <a:extLst>
              <a:ext uri="{FF2B5EF4-FFF2-40B4-BE49-F238E27FC236}">
                <a16:creationId xmlns:a16="http://schemas.microsoft.com/office/drawing/2014/main" id="{24660A29-FFF9-85C4-FEB7-105E70AFF7DA}"/>
              </a:ext>
            </a:extLst>
          </p:cNvPr>
          <p:cNvSpPr/>
          <p:nvPr/>
        </p:nvSpPr>
        <p:spPr>
          <a:xfrm>
            <a:off x="4533589" y="2899037"/>
            <a:ext cx="569343" cy="478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низ 8">
            <a:extLst>
              <a:ext uri="{FF2B5EF4-FFF2-40B4-BE49-F238E27FC236}">
                <a16:creationId xmlns:a16="http://schemas.microsoft.com/office/drawing/2014/main" id="{9204A39D-0917-502B-DD0B-B3483CB4E0DD}"/>
              </a:ext>
            </a:extLst>
          </p:cNvPr>
          <p:cNvSpPr/>
          <p:nvPr/>
        </p:nvSpPr>
        <p:spPr>
          <a:xfrm>
            <a:off x="5868144" y="1908030"/>
            <a:ext cx="545238" cy="4548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C9211-C4D3-5334-B30F-925324D2CA60}"/>
              </a:ext>
            </a:extLst>
          </p:cNvPr>
          <p:cNvSpPr txBox="1"/>
          <p:nvPr/>
        </p:nvSpPr>
        <p:spPr>
          <a:xfrm>
            <a:off x="611560" y="4867528"/>
            <a:ext cx="8208912" cy="15809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1200"/>
              </a:spcBef>
            </a:pPr>
            <a:r>
              <a:rPr lang="ru-RU" sz="1600" dirty="0"/>
              <a:t>СУБД узнает номера колонок, которые подходят для условий </a:t>
            </a:r>
            <a:br>
              <a:rPr lang="ru-RU" sz="1600" dirty="0"/>
            </a:br>
            <a:r>
              <a:rPr lang="ru-RU" sz="1600" dirty="0" err="1"/>
              <a:t>type</a:t>
            </a:r>
            <a:r>
              <a:rPr lang="ru-RU" sz="1600" dirty="0"/>
              <a:t> = 5, </a:t>
            </a:r>
            <a:r>
              <a:rPr lang="ru-RU" sz="1600" dirty="0" err="1"/>
              <a:t>style</a:t>
            </a:r>
            <a:r>
              <a:rPr lang="ru-RU" sz="1600" dirty="0"/>
              <a:t> = 10 и </a:t>
            </a:r>
            <a:r>
              <a:rPr lang="ru-RU" sz="1600" dirty="0" err="1"/>
              <a:t>color</a:t>
            </a:r>
            <a:r>
              <a:rPr lang="ru-RU" sz="1600" dirty="0"/>
              <a:t> = 543. </a:t>
            </a:r>
          </a:p>
          <a:p>
            <a:pPr>
              <a:spcBef>
                <a:spcPts val="1200"/>
              </a:spcBef>
            </a:pPr>
            <a:r>
              <a:rPr lang="ru-RU" sz="1600" dirty="0"/>
              <a:t>Выберет номера записей, которые были найдены в каждой колонке. </a:t>
            </a:r>
            <a:br>
              <a:rPr lang="ru-RU" sz="1600" dirty="0"/>
            </a:br>
            <a:r>
              <a:rPr lang="ru-RU" sz="1600" i="1" dirty="0"/>
              <a:t>Это особенно эффективно работает на колонках с </a:t>
            </a:r>
            <a:r>
              <a:rPr lang="ru-RU" sz="1600" i="1" dirty="0">
                <a:solidFill>
                  <a:srgbClr val="C00000"/>
                </a:solidFill>
              </a:rPr>
              <a:t>высокой селективностью</a:t>
            </a:r>
          </a:p>
        </p:txBody>
      </p:sp>
    </p:spTree>
    <p:extLst>
      <p:ext uri="{BB962C8B-B14F-4D97-AF65-F5344CB8AC3E}">
        <p14:creationId xmlns:p14="http://schemas.microsoft.com/office/powerpoint/2010/main" val="2097470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3CDD9-CCD0-05CF-6CA7-941A776B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Обновление и удаление в колоночном хранилище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8445A67-1E1C-25A0-8AA4-B9D35AC80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Операции с данными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203271-CD7E-0ACD-E898-75315FC2E5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 fontScale="92500" lnSpcReduction="20000"/>
          </a:bodyPr>
          <a:lstStyle/>
          <a:p>
            <a:r>
              <a:rPr lang="ru-RU" dirty="0"/>
              <a:t>обновление и удаление –</a:t>
            </a:r>
            <a:br>
              <a:rPr lang="ru-RU" dirty="0"/>
            </a:br>
            <a:r>
              <a:rPr lang="ru-RU" dirty="0"/>
              <a:t>дорогая операция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lvl="1"/>
            <a:r>
              <a:rPr lang="ru-RU" dirty="0"/>
              <a:t>Сначала выбрать номер записей из колонки </a:t>
            </a:r>
            <a:r>
              <a:rPr lang="ru-RU" dirty="0" err="1"/>
              <a:t>style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а затем найти их в колонке </a:t>
            </a:r>
            <a:r>
              <a:rPr lang="ru-RU" dirty="0" err="1"/>
              <a:t>type</a:t>
            </a:r>
            <a:r>
              <a:rPr lang="ru-RU" dirty="0"/>
              <a:t> и обновить. 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ru-RU" sz="1700" i="1" dirty="0"/>
              <a:t>Строчная база данных сделает обновление за одну операцию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3CA2662-32AC-8E76-3D81-666AC18B1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1" dirty="0"/>
              <a:t>Операции с колонками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16FCA84-066C-705F-A9C1-61B9D7FD0B1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anchor="t">
            <a:normAutofit fontScale="92500" lnSpcReduction="20000"/>
          </a:bodyPr>
          <a:lstStyle/>
          <a:p>
            <a:r>
              <a:rPr lang="ru-RU" dirty="0"/>
              <a:t>Поскольку колонки — это просто отдельные файлы, </a:t>
            </a:r>
            <a:r>
              <a:rPr lang="ru-RU" b="1" dirty="0"/>
              <a:t>добавление и удаление колонок ничего не стоит</a:t>
            </a:r>
            <a:r>
              <a:rPr lang="ru-RU" dirty="0"/>
              <a:t>. </a:t>
            </a:r>
          </a:p>
          <a:p>
            <a:pPr lvl="1"/>
            <a:r>
              <a:rPr lang="ru-RU" dirty="0"/>
              <a:t>Это просто создание и удаление файлов на диске.</a:t>
            </a:r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r>
              <a:rPr lang="ru-RU" sz="1700" i="1" dirty="0"/>
              <a:t>В случае же строчной базы данных, новая колонка приводит к обновлению данных в каждой строке таблицы.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32B229-A4E3-8EF0-0BB7-9B429FCD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7604D7-C718-AEA6-F1D2-AA2752344779}"/>
              </a:ext>
            </a:extLst>
          </p:cNvPr>
          <p:cNvSpPr/>
          <p:nvPr/>
        </p:nvSpPr>
        <p:spPr>
          <a:xfrm>
            <a:off x="432918" y="2996952"/>
            <a:ext cx="30336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UPDATE table SET type = 2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WHERE style = 10</a:t>
            </a:r>
            <a:endParaRPr lang="ru-RU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1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E9B3E-9503-0DAD-8563-1EA11108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Сжатие данных в колоночном хранилище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55ADC842-BBC1-96CF-CA9B-8E728D12D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10000"/>
          </a:bodyPr>
          <a:lstStyle/>
          <a:p>
            <a:r>
              <a:rPr lang="ru-RU" b="1" i="1" dirty="0"/>
              <a:t>Методы сжатия:</a:t>
            </a:r>
          </a:p>
          <a:p>
            <a:pPr lvl="1"/>
            <a:r>
              <a:rPr lang="ru-RU" b="1" i="1" dirty="0"/>
              <a:t>RLE (кодирование длин серий)</a:t>
            </a:r>
            <a:r>
              <a:rPr lang="ru-RU" dirty="0"/>
              <a:t> – последовательная серия одинаковых элементов данных заменяется на два символа: элемент и число его повторений. </a:t>
            </a:r>
          </a:p>
          <a:p>
            <a:pPr lvl="1"/>
            <a:r>
              <a:rPr lang="ru-RU" b="1" i="1" dirty="0"/>
              <a:t>Словарный метод</a:t>
            </a:r>
            <a:r>
              <a:rPr lang="ru-RU" dirty="0"/>
              <a:t> – используется словарь, состоящий из последовательностей данных или слов. При сжатии эти слова заменяются на их коды из словаря. В наиболее распространенном варианте реализации в качестве словаря выступает сам исходный блок данных. </a:t>
            </a:r>
          </a:p>
          <a:p>
            <a:pPr lvl="1"/>
            <a:r>
              <a:rPr lang="ru-RU" b="1" i="1" dirty="0"/>
              <a:t>Векторное кодирование</a:t>
            </a:r>
            <a:r>
              <a:rPr lang="ru-RU" dirty="0"/>
              <a:t> – с каждым значением сопоставляется битовая строка, где значение 1 обозначает позицию с данной величиной. </a:t>
            </a:r>
          </a:p>
          <a:p>
            <a:pPr lvl="1"/>
            <a:r>
              <a:rPr lang="ru-RU" b="1" i="1" dirty="0"/>
              <a:t>Алгоритм Лемпеля-Зива-</a:t>
            </a:r>
            <a:r>
              <a:rPr lang="ru-RU" b="1" i="1" dirty="0" err="1"/>
              <a:t>Велча</a:t>
            </a:r>
            <a:r>
              <a:rPr lang="ru-RU" dirty="0"/>
              <a:t> – при сжатии (кодировании) динамически создает таблицу преобразования строк: определенным последовательностям символов (словам) ставятся в соответствие группы бит фиксированной длины (обычно 12-битные)..</a:t>
            </a:r>
          </a:p>
          <a:p>
            <a:pPr marL="457200" lvl="1" indent="0">
              <a:buNone/>
            </a:pPr>
            <a:r>
              <a:rPr lang="ru-RU" dirty="0"/>
              <a:t>И другие.</a:t>
            </a:r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83B68B-B4F4-F662-F195-7B1D31362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789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D12BC-825C-62D4-D86A-6C5C247F6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подходов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2B61845A-5710-F8D9-4945-0B748341A55B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684213" y="1484313"/>
          <a:ext cx="7848600" cy="4754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383907653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1656466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400" dirty="0"/>
                        <a:t>По строкам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400" dirty="0"/>
                        <a:t>По столбцам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86764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Быстрое добавление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Медленное добавление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868495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Простое добавление строк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Сложное добавление строк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05447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Сложное добавление атрибутов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Простое добавление атрибутов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03964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Медленная выборка с фильтрами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/>
                        <a:t>Быстрая выборка с фильтрами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15730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/>
                        <a:t>Предсказуемая структура запросов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/>
                        <a:t>Сложная, не определенная заранее структура запросов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45133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/>
                        <a:t>Событийные таблицы, </a:t>
                      </a:r>
                      <a:r>
                        <a:rPr lang="en-US" dirty="0"/>
                        <a:t>OLTP</a:t>
                      </a:r>
                      <a:endParaRPr lang="ru-RU" dirty="0"/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/>
                        <a:t>Аналитические таблицы, </a:t>
                      </a:r>
                      <a:r>
                        <a:rPr lang="en-US" dirty="0"/>
                        <a:t>OLAP</a:t>
                      </a:r>
                      <a:endParaRPr lang="ru-RU" dirty="0"/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4156180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dirty="0"/>
                        <a:t>Простота реализации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Экономия памяти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74130996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798882-C2BE-C0A4-BBA4-786E99594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672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68E05-1E81-410C-5233-BC48C917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Фрагментация (</a:t>
            </a:r>
            <a:r>
              <a:rPr lang="ru-RU" dirty="0" err="1"/>
              <a:t>партиционирование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6A61AB-AB2A-026C-B7AE-A85E3CA63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8352928" cy="4752528"/>
          </a:xfrm>
        </p:spPr>
        <p:txBody>
          <a:bodyPr anchor="t">
            <a:normAutofit/>
          </a:bodyPr>
          <a:lstStyle/>
          <a:p>
            <a:r>
              <a:rPr lang="ru-RU" sz="1800" dirty="0"/>
              <a:t>Одна логическая единица данных (</a:t>
            </a:r>
            <a:r>
              <a:rPr lang="ru-RU" sz="1800" i="1" dirty="0"/>
              <a:t>таблица, индекс…</a:t>
            </a:r>
            <a:r>
              <a:rPr lang="ru-RU" sz="1800" dirty="0"/>
              <a:t>) размещается точно </a:t>
            </a:r>
            <a:r>
              <a:rPr lang="ru-RU" sz="1800" u="sng" dirty="0"/>
              <a:t>в одном простран</a:t>
            </a:r>
            <a:r>
              <a:rPr lang="ru-RU" sz="1800" dirty="0"/>
              <a:t>стве (экстенте), которое может быть отображено на несколько физических устройств или файлов. </a:t>
            </a:r>
          </a:p>
          <a:p>
            <a:pPr lvl="1"/>
            <a:r>
              <a:rPr lang="ru-RU" sz="1600" dirty="0"/>
              <a:t>При этом физически разнесены (располагаться на разных дисках) могут не только логические единицы данных (</a:t>
            </a:r>
            <a:r>
              <a:rPr lang="ru-RU" sz="1600" i="1" dirty="0"/>
              <a:t>таблицы отдельно от индексов</a:t>
            </a:r>
            <a:r>
              <a:rPr lang="ru-RU" sz="1600" dirty="0"/>
              <a:t>), </a:t>
            </a:r>
            <a:br>
              <a:rPr lang="ru-RU" sz="1600" dirty="0"/>
            </a:br>
            <a:r>
              <a:rPr lang="ru-RU" sz="1600" dirty="0"/>
              <a:t>но и данные одной логической структуры (</a:t>
            </a:r>
            <a:r>
              <a:rPr lang="ru-RU" sz="1600" i="1" dirty="0"/>
              <a:t>таблица на нескольких дисках</a:t>
            </a:r>
            <a:r>
              <a:rPr lang="ru-RU" sz="1600" dirty="0"/>
              <a:t>). </a:t>
            </a:r>
          </a:p>
          <a:p>
            <a:r>
              <a:rPr lang="ru-RU" sz="1800" dirty="0"/>
              <a:t>Такой способ хранения называется </a:t>
            </a:r>
            <a:r>
              <a:rPr lang="ru-RU" sz="1800" b="1" dirty="0"/>
              <a:t>горизонтальной фрагментацией</a:t>
            </a:r>
            <a:r>
              <a:rPr lang="ru-RU" sz="1800" dirty="0"/>
              <a:t> (секционирование» (</a:t>
            </a:r>
            <a:r>
              <a:rPr lang="ru-RU" sz="1800" dirty="0" err="1"/>
              <a:t>partitioning</a:t>
            </a:r>
            <a:r>
              <a:rPr lang="ru-RU" sz="1800" dirty="0"/>
              <a:t>)): таблица делится на фрагменты по строкам. </a:t>
            </a:r>
          </a:p>
          <a:p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1CE5B2-C5FE-679E-9380-015AD7BE7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23</a:t>
            </a:fld>
            <a:endParaRPr lang="ru-RU"/>
          </a:p>
        </p:txBody>
      </p:sp>
      <p:pic>
        <p:nvPicPr>
          <p:cNvPr id="5" name="Рисунок 4" descr="http://www.osp.ru/data/625/531/1234/064_4.gif">
            <a:extLst>
              <a:ext uri="{FF2B5EF4-FFF2-40B4-BE49-F238E27FC236}">
                <a16:creationId xmlns:a16="http://schemas.microsoft.com/office/drawing/2014/main" id="{DF05541F-8180-575D-42A1-214EC508192D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3944515"/>
            <a:ext cx="5184576" cy="2765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9814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Методы доступа к данным</a:t>
            </a:r>
            <a:endParaRPr lang="ru-RU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CB198-3B96-6A31-B057-8267E81F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доступа к данным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7FCA9C-2923-DFF6-E924-9CB1B36BF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0348D4E-8C61-F038-849B-72A6FB40E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8951" y="1719291"/>
            <a:ext cx="7206097" cy="42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96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518D9-7B0D-3F65-0496-80B4E585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Прямой доступ: понятия </a:t>
            </a:r>
            <a:r>
              <a:rPr lang="en-US" dirty="0" err="1"/>
              <a:t>RowID</a:t>
            </a:r>
            <a:r>
              <a:rPr lang="ru-RU" dirty="0"/>
              <a:t> и </a:t>
            </a:r>
            <a:r>
              <a:rPr lang="en-US" dirty="0" err="1"/>
              <a:t>tid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CF3677-C3AA-BF82-DBDC-F6061865E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656184"/>
          </a:xfrm>
        </p:spPr>
        <p:txBody>
          <a:bodyPr anchor="t"/>
          <a:lstStyle/>
          <a:p>
            <a:r>
              <a:rPr lang="ru-RU" dirty="0"/>
              <a:t>Прямой доступ устанавливает </a:t>
            </a:r>
            <a:r>
              <a:rPr lang="ru-RU" b="1" dirty="0"/>
              <a:t>однозначное соответстви</a:t>
            </a:r>
            <a:r>
              <a:rPr lang="ru-RU" dirty="0"/>
              <a:t>е между </a:t>
            </a:r>
            <a:r>
              <a:rPr lang="ru-RU" b="1" dirty="0"/>
              <a:t>адресом записи и её ключом</a:t>
            </a:r>
            <a:r>
              <a:rPr lang="ru-RU" dirty="0"/>
              <a:t>. </a:t>
            </a:r>
          </a:p>
          <a:p>
            <a:r>
              <a:rPr lang="ru-RU" dirty="0"/>
              <a:t>Не предполагает использования дополнительных структур (индексов)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E487A5-52E8-C23C-8706-B6F88558F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B09ED90-BBA0-430E-A7B8-9681EF107408}"/>
              </a:ext>
            </a:extLst>
          </p:cNvPr>
          <p:cNvSpPr/>
          <p:nvPr/>
        </p:nvSpPr>
        <p:spPr>
          <a:xfrm>
            <a:off x="708652" y="4346467"/>
            <a:ext cx="3292917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Последовательный поиск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87A9553-47EC-6CC4-8FFC-02CC989AF369}"/>
              </a:ext>
            </a:extLst>
          </p:cNvPr>
          <p:cNvSpPr/>
          <p:nvPr/>
        </p:nvSpPr>
        <p:spPr>
          <a:xfrm>
            <a:off x="708651" y="5019670"/>
            <a:ext cx="3292917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Блочный поиск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E525F71-1D06-13E7-8989-CE569559E948}"/>
              </a:ext>
            </a:extLst>
          </p:cNvPr>
          <p:cNvSpPr/>
          <p:nvPr/>
        </p:nvSpPr>
        <p:spPr>
          <a:xfrm>
            <a:off x="708651" y="5692873"/>
            <a:ext cx="3292918" cy="4685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Двоичный поиск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135C333-7C6B-683D-3947-0A3EAFB9FCF5}"/>
              </a:ext>
            </a:extLst>
          </p:cNvPr>
          <p:cNvSpPr/>
          <p:nvPr/>
        </p:nvSpPr>
        <p:spPr>
          <a:xfrm>
            <a:off x="467544" y="4022022"/>
            <a:ext cx="7848872" cy="241505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47660-174B-1148-1B4C-AEF662316465}"/>
              </a:ext>
            </a:extLst>
          </p:cNvPr>
          <p:cNvSpPr txBox="1"/>
          <p:nvPr/>
        </p:nvSpPr>
        <p:spPr>
          <a:xfrm>
            <a:off x="5004048" y="4413592"/>
            <a:ext cx="27363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ru-RU" sz="2000" dirty="0"/>
              <a:t>Поиск записи</a:t>
            </a:r>
          </a:p>
          <a:p>
            <a:pPr algn="ctr">
              <a:spcBef>
                <a:spcPts val="1200"/>
              </a:spcBef>
            </a:pPr>
            <a:r>
              <a:rPr lang="ru-RU" sz="2000" i="1" dirty="0"/>
              <a:t>по </a:t>
            </a:r>
            <a:r>
              <a:rPr lang="en-US" sz="2000" i="1" dirty="0" err="1"/>
              <a:t>RowID</a:t>
            </a:r>
            <a:r>
              <a:rPr lang="en-US" sz="2000" i="1" dirty="0"/>
              <a:t> (</a:t>
            </a:r>
            <a:r>
              <a:rPr lang="en-US" sz="2000" i="1" dirty="0" err="1"/>
              <a:t>tid</a:t>
            </a:r>
            <a:r>
              <a:rPr lang="en-US" sz="2000" i="1" dirty="0"/>
              <a:t>)</a:t>
            </a:r>
          </a:p>
          <a:p>
            <a:pPr algn="ctr">
              <a:spcBef>
                <a:spcPts val="1200"/>
              </a:spcBef>
            </a:pPr>
            <a:r>
              <a:rPr lang="ru-RU" sz="2000" dirty="0"/>
              <a:t>когда адрес записи неизвестен</a:t>
            </a:r>
          </a:p>
        </p:txBody>
      </p:sp>
      <p:sp>
        <p:nvSpPr>
          <p:cNvPr id="13" name="Правая фигурная скобка 12">
            <a:extLst>
              <a:ext uri="{FF2B5EF4-FFF2-40B4-BE49-F238E27FC236}">
                <a16:creationId xmlns:a16="http://schemas.microsoft.com/office/drawing/2014/main" id="{42C1AF3C-051E-800A-0196-871114526A20}"/>
              </a:ext>
            </a:extLst>
          </p:cNvPr>
          <p:cNvSpPr/>
          <p:nvPr/>
        </p:nvSpPr>
        <p:spPr>
          <a:xfrm>
            <a:off x="4139952" y="4221088"/>
            <a:ext cx="288032" cy="2016224"/>
          </a:xfrm>
          <a:prstGeom prst="rightBrace">
            <a:avLst>
              <a:gd name="adj1" fmla="val 92480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465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FA098-F7C7-7E03-C4BD-6155D7FB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Прямой доступ путем хэширования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41511-F76E-7C2C-B748-F3D772D09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41" y="1412776"/>
            <a:ext cx="8795247" cy="2016224"/>
          </a:xfrm>
        </p:spPr>
        <p:txBody>
          <a:bodyPr anchor="t">
            <a:normAutofit/>
          </a:bodyPr>
          <a:lstStyle/>
          <a:p>
            <a:r>
              <a:rPr lang="ru-RU" sz="1800" dirty="0"/>
              <a:t>Значения ключа поиска преобразуется в относительный или абсолютный </a:t>
            </a:r>
            <a:r>
              <a:rPr lang="ru-RU" sz="1800" b="1" dirty="0"/>
              <a:t>физический адрес путем хеширования </a:t>
            </a:r>
          </a:p>
          <a:p>
            <a:pPr lvl="1"/>
            <a:r>
              <a:rPr lang="ru-RU" sz="1600" dirty="0"/>
              <a:t>Адрес, полученный таким образом – </a:t>
            </a:r>
            <a:r>
              <a:rPr lang="ru-RU" sz="1600" b="1" i="1" dirty="0"/>
              <a:t>собственный</a:t>
            </a:r>
            <a:r>
              <a:rPr lang="ru-RU" sz="1600" dirty="0"/>
              <a:t>, </a:t>
            </a:r>
          </a:p>
          <a:p>
            <a:pPr lvl="1"/>
            <a:r>
              <a:rPr lang="ru-RU" sz="1600" dirty="0"/>
              <a:t>записи ключи которых отобразились в один физический адрес </a:t>
            </a:r>
            <a:r>
              <a:rPr lang="en-US" sz="1600" dirty="0"/>
              <a:t>- </a:t>
            </a:r>
            <a:r>
              <a:rPr lang="ru-RU" sz="1600" b="1" i="1" dirty="0"/>
              <a:t>синонимы</a:t>
            </a:r>
            <a:r>
              <a:rPr lang="ru-RU" sz="1600" dirty="0"/>
              <a:t>.</a:t>
            </a:r>
          </a:p>
          <a:p>
            <a:r>
              <a:rPr lang="ru-RU" sz="1800" dirty="0"/>
              <a:t>Первоначально происходит генерация Хэш-таблицы и затем размещение данных в соответствии с хэшами ключей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E75956-9851-456A-9390-DBFC46B15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E92CAC-820D-D267-A776-975698CC974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28" y="3573016"/>
            <a:ext cx="8507215" cy="25922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0370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C1A6C-7154-38E1-1EDC-E1F873BF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индекса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B68DE6-6831-543C-07B3-8B4BEE5CD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3"/>
            <a:ext cx="7848872" cy="2088231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Индекс </a:t>
            </a:r>
            <a:r>
              <a:rPr lang="ru-RU" dirty="0"/>
              <a:t>– отдельная физическая структура данных, предназначенная для ускорения доступа к информации.</a:t>
            </a:r>
          </a:p>
          <a:p>
            <a:r>
              <a:rPr lang="ru-RU" dirty="0"/>
              <a:t>Файл индекса состоит из записей с двумя значениями:</a:t>
            </a:r>
          </a:p>
          <a:p>
            <a:pPr lvl="1"/>
            <a:r>
              <a:rPr lang="ru-RU" dirty="0"/>
              <a:t>значения данных - значением данных является значение некоторого поля индексированного файла</a:t>
            </a:r>
          </a:p>
          <a:p>
            <a:pPr lvl="1"/>
            <a:r>
              <a:rPr lang="ru-RU" dirty="0"/>
              <a:t>указателя (идентификатора записи) - определяет запись в этом файле, имеющую такое же значение этого же поля.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554A14-EAAF-EAE0-D58F-5F56F0D94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24C2F196-5693-9063-0C14-5220F7E39883}"/>
              </a:ext>
            </a:extLst>
          </p:cNvPr>
          <p:cNvGrpSpPr/>
          <p:nvPr/>
        </p:nvGrpSpPr>
        <p:grpSpPr>
          <a:xfrm>
            <a:off x="2324586" y="3591283"/>
            <a:ext cx="4062780" cy="2828833"/>
            <a:chOff x="1013277" y="3768519"/>
            <a:chExt cx="4062780" cy="2828833"/>
          </a:xfrm>
        </p:grpSpPr>
        <p:pic>
          <p:nvPicPr>
            <p:cNvPr id="5" name="image2.png">
              <a:extLst>
                <a:ext uri="{FF2B5EF4-FFF2-40B4-BE49-F238E27FC236}">
                  <a16:creationId xmlns:a16="http://schemas.microsoft.com/office/drawing/2014/main" id="{34996C4B-D575-49FA-2250-25D58939ABDD}"/>
                </a:ext>
              </a:extLst>
            </p:cNvPr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013277" y="4509121"/>
              <a:ext cx="4062779" cy="2088231"/>
            </a:xfrm>
            <a:prstGeom prst="rect">
              <a:avLst/>
            </a:prstGeom>
            <a:ln/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18F85A-6A81-784B-465C-8AE7C9FF7E83}"/>
                </a:ext>
              </a:extLst>
            </p:cNvPr>
            <p:cNvSpPr txBox="1"/>
            <p:nvPr/>
          </p:nvSpPr>
          <p:spPr>
            <a:xfrm>
              <a:off x="1259633" y="3768519"/>
              <a:ext cx="3816424" cy="6463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ru-RU" b="1" dirty="0"/>
                <a:t>2 стратегии </a:t>
              </a:r>
              <a:br>
                <a:rPr lang="ru-RU" b="1" dirty="0"/>
              </a:br>
              <a:r>
                <a:rPr lang="ru-RU" b="1" dirty="0"/>
                <a:t>выполнения запроса</a:t>
              </a:r>
            </a:p>
          </p:txBody>
        </p:sp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35C02C77-C426-8826-D1D9-2702F3ED8F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5286" y="4063093"/>
              <a:ext cx="438442" cy="4673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8E5F6683-D41D-997F-7BD9-58083692EC71}"/>
                </a:ext>
              </a:extLst>
            </p:cNvPr>
            <p:cNvCxnSpPr>
              <a:cxnSpLocks/>
            </p:cNvCxnSpPr>
            <p:nvPr/>
          </p:nvCxnSpPr>
          <p:spPr>
            <a:xfrm>
              <a:off x="4355976" y="4063093"/>
              <a:ext cx="311020" cy="4448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6555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CD6E3-4821-537C-701D-EF6A6DFD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индексов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A330C6-D131-6932-EF93-0339446DF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864096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Полностью инвертированное отношение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отношения все поля которого индексированы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EFBF6A-28B7-83BE-E027-CAB9E3B30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D8F739-B6D8-E686-848C-59161B9B3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68" y="2659684"/>
            <a:ext cx="6048672" cy="37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0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DD52-CFD2-A5BD-3CE4-C5992DD3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индексов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16781B-8C59-1F69-C4EE-E6B8FE562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8136904" cy="1728192"/>
          </a:xfrm>
        </p:spPr>
        <p:txBody>
          <a:bodyPr anchor="t"/>
          <a:lstStyle/>
          <a:p>
            <a:r>
              <a:rPr lang="ru-RU" b="1" dirty="0"/>
              <a:t>Плотность</a:t>
            </a:r>
            <a:r>
              <a:rPr lang="ru-RU" b="1" i="1" dirty="0"/>
              <a:t> </a:t>
            </a:r>
            <a:r>
              <a:rPr lang="ru-RU" dirty="0"/>
              <a:t>— отношение количества уникальных значений в одной или нескольких колонках индекса к общему числу значений (</a:t>
            </a:r>
            <a:r>
              <a:rPr lang="ru-RU" i="1" dirty="0"/>
              <a:t>т. е. строк в реляционной таблице</a:t>
            </a:r>
            <a:r>
              <a:rPr lang="ru-RU" dirty="0"/>
              <a:t>).</a:t>
            </a:r>
          </a:p>
          <a:p>
            <a:r>
              <a:rPr lang="ru-RU" b="1" dirty="0"/>
              <a:t>Селективность индекса</a:t>
            </a:r>
            <a:r>
              <a:rPr lang="ru-RU" dirty="0"/>
              <a:t> — какое количество строк таблицы может быть выбрано в среднем по одному значению.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323197-B51D-989B-59E3-30B22ECA9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BEFF9E-0030-CC3D-C602-0864211A5FC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56991"/>
            <a:ext cx="6016091" cy="2976975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841238-00B8-B01F-D039-4F9AB284D6F2}"/>
              </a:ext>
            </a:extLst>
          </p:cNvPr>
          <p:cNvSpPr txBox="1"/>
          <p:nvPr/>
        </p:nvSpPr>
        <p:spPr>
          <a:xfrm>
            <a:off x="2194620" y="6355269"/>
            <a:ext cx="282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1" dirty="0">
                <a:solidFill>
                  <a:srgbClr val="369461"/>
                </a:solidFill>
              </a:rPr>
              <a:t>Пример плотного индекса</a:t>
            </a:r>
          </a:p>
        </p:txBody>
      </p:sp>
    </p:spTree>
    <p:extLst>
      <p:ext uri="{BB962C8B-B14F-4D97-AF65-F5344CB8AC3E}">
        <p14:creationId xmlns:p14="http://schemas.microsoft.com/office/powerpoint/2010/main" val="4041612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70BDD-3311-F885-5EA9-59DB73C8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 плотного  индекса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20C32-8491-A64E-F575-077F68D14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D2F21D-1357-C8D5-8BAE-08E10FD40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5" name="Объект 5">
            <a:extLst>
              <a:ext uri="{FF2B5EF4-FFF2-40B4-BE49-F238E27FC236}">
                <a16:creationId xmlns:a16="http://schemas.microsoft.com/office/drawing/2014/main" id="{E529192A-ABF4-2A8F-B15C-3F17E9FEB742}"/>
              </a:ext>
            </a:extLst>
          </p:cNvPr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1949" y="1484784"/>
            <a:ext cx="7714507" cy="481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E928E9-8571-47E7-53EA-0903DABFB722}"/>
              </a:ext>
            </a:extLst>
          </p:cNvPr>
          <p:cNvSpPr/>
          <p:nvPr/>
        </p:nvSpPr>
        <p:spPr>
          <a:xfrm>
            <a:off x="421458" y="4933689"/>
            <a:ext cx="33119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Может содержать не полное множество значений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5394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3BDC7-3649-F1F3-CEB6-7A51D34AC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индексов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1273E4BC-2D46-ED1B-E6A2-6BB418D0105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683568" y="1484313"/>
          <a:ext cx="8208912" cy="17177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104778">
                  <a:extLst>
                    <a:ext uri="{9D8B030D-6E8A-4147-A177-3AD203B41FA5}">
                      <a16:colId xmlns:a16="http://schemas.microsoft.com/office/drawing/2014/main" val="865442674"/>
                    </a:ext>
                  </a:extLst>
                </a:gridCol>
                <a:gridCol w="4104134">
                  <a:extLst>
                    <a:ext uri="{9D8B030D-6E8A-4147-A177-3AD203B41FA5}">
                      <a16:colId xmlns:a16="http://schemas.microsoft.com/office/drawing/2014/main" val="1823000035"/>
                    </a:ext>
                  </a:extLst>
                </a:gridCol>
              </a:tblGrid>
              <a:tr h="43251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Плотный индекс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Неплотный индекс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846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Занимают больше места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Занимают меньше места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1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Запрос может быть выполнен ТОЛЬКО с использованием индекса без обращения к данным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Не больше одного на отношение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24043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4FAA62-F333-5212-1653-3313DEAA2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995B571-5BB8-CA21-3758-9EB75F387DF1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59144" y="3794289"/>
          <a:ext cx="8208912" cy="18955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104778">
                  <a:extLst>
                    <a:ext uri="{9D8B030D-6E8A-4147-A177-3AD203B41FA5}">
                      <a16:colId xmlns:a16="http://schemas.microsoft.com/office/drawing/2014/main" val="865442674"/>
                    </a:ext>
                  </a:extLst>
                </a:gridCol>
                <a:gridCol w="4104134">
                  <a:extLst>
                    <a:ext uri="{9D8B030D-6E8A-4147-A177-3AD203B41FA5}">
                      <a16:colId xmlns:a16="http://schemas.microsoft.com/office/drawing/2014/main" val="1823000035"/>
                    </a:ext>
                  </a:extLst>
                </a:gridCol>
              </a:tblGrid>
              <a:tr h="43251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Достоинства индексов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Недостатки индексов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846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Быстрый поиск. 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Усложняют процедуры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Удаления;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Обновления;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Добавления данных.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1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Ускоряет проверку внешних ключей.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2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Позволяет не обращаться к данным. 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603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726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EF91B-09BF-910E-6367-FD8CC776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Индексно-последовательный доступ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4ED27-21F1-A79B-2F76-148AC0FD8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197" y="4509120"/>
            <a:ext cx="8208912" cy="2088232"/>
          </a:xfrm>
        </p:spPr>
        <p:txBody>
          <a:bodyPr anchor="b">
            <a:normAutofit fontScale="92500"/>
          </a:bodyPr>
          <a:lstStyle/>
          <a:p>
            <a:r>
              <a:rPr lang="ru-RU" dirty="0"/>
              <a:t>Индексный файл </a:t>
            </a:r>
            <a:r>
              <a:rPr lang="ru-RU" i="1" dirty="0"/>
              <a:t>упорядочивается по первичному ключу</a:t>
            </a:r>
            <a:r>
              <a:rPr lang="ru-RU" dirty="0"/>
              <a:t> данных</a:t>
            </a:r>
          </a:p>
          <a:p>
            <a:r>
              <a:rPr lang="ru-RU" dirty="0"/>
              <a:t>Каждый элемент индекса содержит </a:t>
            </a:r>
            <a:r>
              <a:rPr lang="ru-RU" i="1" dirty="0"/>
              <a:t>ссылку на группу записей</a:t>
            </a:r>
            <a:r>
              <a:rPr lang="ru-RU" dirty="0"/>
              <a:t>, хранящихся в физическом блоке, в той же логической последовательности что и индекс. </a:t>
            </a:r>
          </a:p>
          <a:p>
            <a:r>
              <a:rPr lang="ru-RU" b="1" dirty="0"/>
              <a:t>Структура блока имеет вид</a:t>
            </a:r>
            <a:r>
              <a:rPr lang="ru-RU" dirty="0"/>
              <a:t>: </a:t>
            </a:r>
            <a:r>
              <a:rPr lang="ru-RU" b="1" dirty="0"/>
              <a:t>(v, b) </a:t>
            </a:r>
            <a:r>
              <a:rPr lang="ru-RU" dirty="0"/>
              <a:t>– первая запись в блоке с индексом b имеет ключ v.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7F8139-4112-CAEA-7F2D-C464A5381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80E30A-2587-FBDB-0DA4-73D6A5C5F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4" y="1628800"/>
            <a:ext cx="4686137" cy="2771243"/>
          </a:xfrm>
          <a:prstGeom prst="rect">
            <a:avLst/>
          </a:prstGeom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96105961-7AF1-41A9-EA79-727F5BD378A2}"/>
              </a:ext>
            </a:extLst>
          </p:cNvPr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06365" y="1359169"/>
            <a:ext cx="4258123" cy="301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5005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F6C5C-A25A-B3D2-E6C7-F9EADED8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Инвертированное (вторичное) индексирование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B46B7D-42B1-A8E5-DFF5-560248A7A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5488662"/>
            <a:ext cx="8136904" cy="1369337"/>
          </a:xfrm>
        </p:spPr>
        <p:txBody>
          <a:bodyPr>
            <a:normAutofit lnSpcReduction="10000"/>
          </a:bodyPr>
          <a:lstStyle/>
          <a:p>
            <a:r>
              <a:rPr lang="ru-RU" sz="1800" dirty="0"/>
              <a:t>Инвертированный индекс содержит </a:t>
            </a:r>
            <a:r>
              <a:rPr lang="ru-RU" sz="1800" b="1" i="1" dirty="0"/>
              <a:t>отсортированный список элементов со ссылками на исходное местоположение или связанные с данные</a:t>
            </a:r>
            <a:r>
              <a:rPr lang="ru-RU" sz="1800" dirty="0"/>
              <a:t>. </a:t>
            </a:r>
          </a:p>
          <a:p>
            <a:pPr lvl="1"/>
            <a:r>
              <a:rPr lang="ru-RU" sz="1600" dirty="0"/>
              <a:t>Упорядочивание исходных данных не имеет значения. </a:t>
            </a:r>
          </a:p>
          <a:p>
            <a:pPr lvl="1"/>
            <a:r>
              <a:rPr lang="ru-RU" sz="1600" dirty="0"/>
              <a:t>Поля с одинаковым значением группируются в один элемент индекса.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FB5F14-7178-9673-4F40-BF1FD73F3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  <p:pic>
        <p:nvPicPr>
          <p:cNvPr id="7" name="Объект 5">
            <a:extLst>
              <a:ext uri="{FF2B5EF4-FFF2-40B4-BE49-F238E27FC236}">
                <a16:creationId xmlns:a16="http://schemas.microsoft.com/office/drawing/2014/main" id="{0CEA29B6-3F39-7D3D-91FC-BFCCD3D867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12198"/>
            <a:ext cx="5256584" cy="4176464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D140A-8491-B370-B5E9-E0FF1ECCA2A3}"/>
              </a:ext>
            </a:extLst>
          </p:cNvPr>
          <p:cNvSpPr txBox="1"/>
          <p:nvPr/>
        </p:nvSpPr>
        <p:spPr>
          <a:xfrm>
            <a:off x="6395591" y="1860106"/>
            <a:ext cx="2430016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600" b="1" dirty="0"/>
              <a:t>применяется</a:t>
            </a:r>
            <a:r>
              <a:rPr lang="ru-RU" sz="1600" dirty="0"/>
              <a:t>, </a:t>
            </a:r>
          </a:p>
          <a:p>
            <a:pPr algn="ctr"/>
            <a:r>
              <a:rPr lang="ru-RU" sz="1600" dirty="0"/>
              <a:t>когда </a:t>
            </a:r>
            <a:r>
              <a:rPr lang="ru-RU" sz="1600" dirty="0">
                <a:solidFill>
                  <a:srgbClr val="369461"/>
                </a:solidFill>
              </a:rPr>
              <a:t>значения ключей физических записей </a:t>
            </a:r>
            <a:r>
              <a:rPr lang="ru-RU" sz="1600" dirty="0">
                <a:solidFill>
                  <a:srgbClr val="C00000"/>
                </a:solidFill>
              </a:rPr>
              <a:t>не</a:t>
            </a:r>
            <a:r>
              <a:rPr lang="ru-RU" sz="1600" dirty="0"/>
              <a:t>обязательно находятся в логической последовательности </a:t>
            </a:r>
            <a:r>
              <a:rPr lang="ru-RU" sz="1600" dirty="0">
                <a:solidFill>
                  <a:srgbClr val="369461"/>
                </a:solidFill>
              </a:rPr>
              <a:t>совпадающей, с последовательностью индекса</a:t>
            </a:r>
          </a:p>
        </p:txBody>
      </p:sp>
    </p:spTree>
    <p:extLst>
      <p:ext uri="{BB962C8B-B14F-4D97-AF65-F5344CB8AC3E}">
        <p14:creationId xmlns:p14="http://schemas.microsoft.com/office/powerpoint/2010/main" val="1292332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2E9AD-5A48-EEE0-611C-10CF2E65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Индексация при помощи </a:t>
            </a:r>
            <a:r>
              <a:rPr lang="en-GB" dirty="0"/>
              <a:t>B</a:t>
            </a:r>
            <a:r>
              <a:rPr lang="en-US" dirty="0"/>
              <a:t> – </a:t>
            </a:r>
            <a:r>
              <a:rPr lang="ru-RU" dirty="0"/>
              <a:t>деревьев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8A311-909B-41FE-7F3E-298F9A0D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B-дерево</a:t>
            </a:r>
            <a:r>
              <a:rPr lang="ru-RU" dirty="0"/>
              <a:t> – это сбалансированное дерево поиска, в котором каждый узел содержит множество ключей и имеет более двух потомков.</a:t>
            </a:r>
          </a:p>
          <a:p>
            <a:pPr lvl="1">
              <a:buFont typeface="PT Sans" panose="020B0503020203020204" pitchFamily="34" charset="-52"/>
              <a:buChar char="–"/>
            </a:pPr>
            <a:r>
              <a:rPr lang="ru-RU" i="1" u="sng" dirty="0"/>
              <a:t>Свойство 1:</a:t>
            </a:r>
            <a:r>
              <a:rPr lang="ru-RU" dirty="0"/>
              <a:t> Глубина всех листьев одинакова.</a:t>
            </a:r>
          </a:p>
          <a:p>
            <a:pPr lvl="1">
              <a:buFont typeface="PT Sans" panose="020B0503020203020204" pitchFamily="34" charset="-52"/>
              <a:buChar char="–"/>
            </a:pPr>
            <a:r>
              <a:rPr lang="ru-RU" i="1" u="sng" dirty="0"/>
              <a:t>Свойство 2:</a:t>
            </a:r>
            <a:r>
              <a:rPr lang="ru-RU" dirty="0"/>
              <a:t> Если корень – это узел не содержащий листьев, он должен иметь минимум 2 потомка. </a:t>
            </a:r>
          </a:p>
          <a:p>
            <a:pPr lvl="1">
              <a:buFont typeface="PT Sans" panose="020B0503020203020204" pitchFamily="34" charset="-52"/>
              <a:buChar char="–"/>
            </a:pPr>
            <a:r>
              <a:rPr lang="ru-RU" i="1" u="sng" dirty="0"/>
              <a:t>Свойство 3: </a:t>
            </a:r>
            <a:r>
              <a:rPr lang="ru-RU" dirty="0"/>
              <a:t>Узел без листьев с n-1 ключами должен иметь n потомков.</a:t>
            </a:r>
          </a:p>
          <a:p>
            <a:pPr lvl="1">
              <a:buFont typeface="PT Sans" panose="020B0503020203020204" pitchFamily="34" charset="-52"/>
              <a:buChar char="–"/>
            </a:pPr>
            <a:r>
              <a:rPr lang="ru-RU" i="1" u="sng" dirty="0"/>
              <a:t>Свойство 4:</a:t>
            </a:r>
            <a:r>
              <a:rPr lang="ru-RU" dirty="0"/>
              <a:t> Все ключи в узле должны располагаться в порядке возрастания их значений.</a:t>
            </a:r>
          </a:p>
          <a:p>
            <a:r>
              <a:rPr lang="ru-RU" dirty="0"/>
              <a:t>Количество ключей в узле и количество его потомков зависит от </a:t>
            </a:r>
            <a:r>
              <a:rPr lang="ru-RU" b="1" i="1" dirty="0"/>
              <a:t>порядка B-дерева</a:t>
            </a:r>
            <a:r>
              <a:rPr lang="ru-RU" dirty="0"/>
              <a:t>. B-дерево порядка m обладает следующими свойствами:</a:t>
            </a:r>
          </a:p>
          <a:p>
            <a:pPr lvl="1">
              <a:buFont typeface="PT Sans" panose="020B0503020203020204" pitchFamily="34" charset="-52"/>
              <a:buChar char="–"/>
            </a:pPr>
            <a:r>
              <a:rPr lang="ru-RU" i="1" u="sng" dirty="0"/>
              <a:t>Свойство 5:</a:t>
            </a:r>
            <a:r>
              <a:rPr lang="ru-RU" dirty="0"/>
              <a:t> Все узлы, кроме корня должны иметь как минимум (m/2) – 1 ключей и максимум m-1 ключей. </a:t>
            </a:r>
          </a:p>
          <a:p>
            <a:pPr lvl="1">
              <a:buFont typeface="PT Sans" panose="020B0503020203020204" pitchFamily="34" charset="-52"/>
              <a:buChar char="–"/>
            </a:pPr>
            <a:r>
              <a:rPr lang="ru-RU" i="1" u="sng" dirty="0"/>
              <a:t>Свойство 6:</a:t>
            </a:r>
            <a:r>
              <a:rPr lang="ru-RU" dirty="0"/>
              <a:t> Все узлы без листьев, кроме корня (т.е. все внутренние узлы), должны иметь минимум m/2 потомков.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FCBFA2-E8B5-DB12-9F58-22BD287AC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487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B70E38-365F-2961-BE49-8F4121F98AF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0" y="3933057"/>
            <a:ext cx="8424936" cy="24870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C46D3-8786-0DB7-CA0A-A8D5C0E1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ru-RU" dirty="0"/>
              <a:t>+ дерево Кнута (</a:t>
            </a:r>
            <a:r>
              <a:rPr lang="en-US" dirty="0"/>
              <a:t>B* - </a:t>
            </a:r>
            <a:r>
              <a:rPr lang="ru-RU" dirty="0"/>
              <a:t>дерево)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B03870-8518-6238-34E5-7B9D75BFA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556791"/>
            <a:ext cx="8560188" cy="2558523"/>
          </a:xfrm>
        </p:spPr>
        <p:txBody>
          <a:bodyPr anchor="t">
            <a:normAutofit/>
          </a:bodyPr>
          <a:lstStyle/>
          <a:p>
            <a:r>
              <a:rPr lang="ru-RU" dirty="0"/>
              <a:t>B+ Дерево по Кнуту состоит из двух частей или наборов:</a:t>
            </a:r>
          </a:p>
          <a:p>
            <a:pPr lvl="1"/>
            <a:r>
              <a:rPr lang="ru-RU" b="1" i="1" dirty="0" err="1"/>
              <a:t>Sequence</a:t>
            </a:r>
            <a:r>
              <a:rPr lang="ru-RU" b="1" i="1" dirty="0"/>
              <a:t> </a:t>
            </a:r>
            <a:r>
              <a:rPr lang="en-US" b="1" i="1" dirty="0"/>
              <a:t>set</a:t>
            </a:r>
            <a:r>
              <a:rPr lang="ru-RU" b="1" dirty="0"/>
              <a:t> </a:t>
            </a:r>
            <a:r>
              <a:rPr lang="ru-RU" dirty="0"/>
              <a:t>– последовательный набор. Это одноуровневый индекс к фактическим данным. </a:t>
            </a:r>
            <a:endParaRPr lang="en-GB" dirty="0"/>
          </a:p>
          <a:p>
            <a:pPr lvl="2"/>
            <a:r>
              <a:rPr lang="ru-RU" dirty="0"/>
              <a:t>Этот индекс может быть как плотным, так и не плотным</a:t>
            </a:r>
          </a:p>
          <a:p>
            <a:pPr lvl="2"/>
            <a:r>
              <a:rPr lang="ru-RU" dirty="0"/>
              <a:t>Элементы индекса сгруппированы в страницы, а страницы соединены цепочками указателей в соответствии с логическим упорядочиванием данных.</a:t>
            </a:r>
          </a:p>
          <a:p>
            <a:pPr lvl="1"/>
            <a:r>
              <a:rPr lang="ru-RU" b="1" i="1" dirty="0" err="1"/>
              <a:t>Index_set</a:t>
            </a:r>
            <a:r>
              <a:rPr lang="ru-RU" dirty="0"/>
              <a:t> – индексный набор. Это древовидный индекс над </a:t>
            </a:r>
            <a:r>
              <a:rPr lang="en-US" dirty="0"/>
              <a:t>sequence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968F9A-BE72-014B-AD18-9DE975823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01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B68F9-79EC-0012-6A69-FCF7EE735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Страницы </a:t>
            </a:r>
            <a:r>
              <a:rPr lang="en-US" dirty="0"/>
              <a:t>B+</a:t>
            </a:r>
            <a:r>
              <a:rPr lang="ru-RU" dirty="0"/>
              <a:t> дерева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D16A09-766E-84DC-07D2-0970B8553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38033A5-91A2-C01A-C37E-71BE0A76E0D8}"/>
              </a:ext>
            </a:extLst>
          </p:cNvPr>
          <p:cNvSpPr txBox="1">
            <a:spLocks/>
          </p:cNvSpPr>
          <p:nvPr/>
        </p:nvSpPr>
        <p:spPr>
          <a:xfrm>
            <a:off x="677334" y="1307674"/>
            <a:ext cx="8287154" cy="3889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Внутренние страницы </a:t>
            </a:r>
            <a:r>
              <a:rPr lang="ru-RU" sz="1800" dirty="0"/>
              <a:t>дерева имеют структуру: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8B4CAD09-2F7C-BD53-02FD-8EB25F07ADAD}"/>
              </a:ext>
            </a:extLst>
          </p:cNvPr>
          <p:cNvSpPr txBox="1">
            <a:spLocks/>
          </p:cNvSpPr>
          <p:nvPr/>
        </p:nvSpPr>
        <p:spPr>
          <a:xfrm>
            <a:off x="677334" y="2419975"/>
            <a:ext cx="8287154" cy="208495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Свойства: </a:t>
            </a:r>
          </a:p>
          <a:p>
            <a:pPr lvl="1"/>
            <a:r>
              <a:rPr lang="ru-RU" dirty="0">
                <a:solidFill>
                  <a:srgbClr val="369461"/>
                </a:solidFill>
              </a:rPr>
              <a:t>ключ</a:t>
            </a:r>
            <a:r>
              <a:rPr lang="ru-RU" baseline="-25000" dirty="0">
                <a:solidFill>
                  <a:srgbClr val="369461"/>
                </a:solidFill>
              </a:rPr>
              <a:t>1</a:t>
            </a:r>
            <a:r>
              <a:rPr lang="ru-RU" dirty="0">
                <a:solidFill>
                  <a:srgbClr val="369461"/>
                </a:solidFill>
              </a:rPr>
              <a:t> ≤ ключ</a:t>
            </a:r>
            <a:r>
              <a:rPr lang="ru-RU" baseline="-25000" dirty="0">
                <a:solidFill>
                  <a:srgbClr val="369461"/>
                </a:solidFill>
              </a:rPr>
              <a:t>2</a:t>
            </a:r>
            <a:r>
              <a:rPr lang="ru-RU" dirty="0">
                <a:solidFill>
                  <a:srgbClr val="369461"/>
                </a:solidFill>
              </a:rPr>
              <a:t> ≤... ≤</a:t>
            </a:r>
            <a:r>
              <a:rPr lang="ru-RU" dirty="0" err="1">
                <a:solidFill>
                  <a:srgbClr val="369461"/>
                </a:solidFill>
              </a:rPr>
              <a:t>ключ</a:t>
            </a:r>
            <a:r>
              <a:rPr lang="ru-RU" baseline="-25000" dirty="0" err="1">
                <a:solidFill>
                  <a:srgbClr val="369461"/>
                </a:solidFill>
              </a:rPr>
              <a:t>m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в странице дерева </a:t>
            </a:r>
            <a:r>
              <a:rPr lang="ru-RU" dirty="0" err="1"/>
              <a:t>N</a:t>
            </a:r>
            <a:r>
              <a:rPr lang="ru-RU" baseline="-25000" dirty="0" err="1"/>
              <a:t>m</a:t>
            </a:r>
            <a:r>
              <a:rPr lang="ru-RU" dirty="0"/>
              <a:t> находятся ключи k </a:t>
            </a:r>
            <a:br>
              <a:rPr lang="ru-RU" dirty="0"/>
            </a:br>
            <a:r>
              <a:rPr lang="ru-RU" dirty="0"/>
              <a:t>со значениями </a:t>
            </a:r>
            <a:r>
              <a:rPr lang="ru-RU" dirty="0" err="1">
                <a:solidFill>
                  <a:srgbClr val="369461"/>
                </a:solidFill>
              </a:rPr>
              <a:t>ключ</a:t>
            </a:r>
            <a:r>
              <a:rPr lang="ru-RU" baseline="-25000" dirty="0" err="1">
                <a:solidFill>
                  <a:srgbClr val="369461"/>
                </a:solidFill>
              </a:rPr>
              <a:t>m</a:t>
            </a:r>
            <a:r>
              <a:rPr lang="ru-RU" baseline="-25000" dirty="0">
                <a:solidFill>
                  <a:srgbClr val="369461"/>
                </a:solidFill>
              </a:rPr>
              <a:t> </a:t>
            </a:r>
            <a:r>
              <a:rPr lang="ru-RU" dirty="0">
                <a:solidFill>
                  <a:srgbClr val="369461"/>
                </a:solidFill>
              </a:rPr>
              <a:t>&lt;= k &lt;= ключ</a:t>
            </a:r>
            <a:r>
              <a:rPr lang="ru-RU" baseline="-25000" dirty="0">
                <a:solidFill>
                  <a:srgbClr val="369461"/>
                </a:solidFill>
              </a:rPr>
              <a:t>m+1</a:t>
            </a:r>
            <a:r>
              <a:rPr lang="ru-RU" dirty="0"/>
              <a:t>.</a:t>
            </a:r>
          </a:p>
          <a:p>
            <a:pPr marL="457200" lvl="1" indent="0">
              <a:buNone/>
            </a:pPr>
            <a:endParaRPr lang="ru-RU" dirty="0"/>
          </a:p>
          <a:p>
            <a:r>
              <a:rPr lang="ru-RU" b="1" dirty="0"/>
              <a:t>Листовые страницы</a:t>
            </a:r>
            <a:r>
              <a:rPr lang="ru-RU" dirty="0"/>
              <a:t> </a:t>
            </a:r>
            <a:r>
              <a:rPr lang="en-US" dirty="0"/>
              <a:t>B</a:t>
            </a:r>
            <a:r>
              <a:rPr lang="ru-RU" dirty="0"/>
              <a:t> дерева также связываются списком: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FCD1EE-D0F1-68F9-3D42-F1F2F4597AE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763" y="1823006"/>
            <a:ext cx="5083810" cy="460375"/>
          </a:xfrm>
          <a:prstGeom prst="rect">
            <a:avLst/>
          </a:prstGeom>
          <a:noFill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C64ED9-4778-FDBC-40B4-BADE7E53AE4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763" y="4559100"/>
            <a:ext cx="5892800" cy="465455"/>
          </a:xfrm>
          <a:prstGeom prst="rect">
            <a:avLst/>
          </a:prstGeom>
          <a:noFill/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00B35740-134D-93D8-A0F7-D5EB26575416}"/>
              </a:ext>
            </a:extLst>
          </p:cNvPr>
          <p:cNvSpPr txBox="1">
            <a:spLocks/>
          </p:cNvSpPr>
          <p:nvPr/>
        </p:nvSpPr>
        <p:spPr>
          <a:xfrm>
            <a:off x="653707" y="5098876"/>
            <a:ext cx="7999122" cy="16288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Свойства: </a:t>
            </a:r>
          </a:p>
          <a:p>
            <a:pPr lvl="1"/>
            <a:r>
              <a:rPr lang="ru-RU" dirty="0"/>
              <a:t>ключ</a:t>
            </a:r>
            <a:r>
              <a:rPr lang="ru-RU" baseline="-25000" dirty="0"/>
              <a:t>1</a:t>
            </a:r>
            <a:r>
              <a:rPr lang="ru-RU" dirty="0"/>
              <a:t> &lt; ключ</a:t>
            </a:r>
            <a:r>
              <a:rPr lang="ru-RU" baseline="-25000" dirty="0"/>
              <a:t>2 </a:t>
            </a:r>
            <a:r>
              <a:rPr lang="ru-RU" dirty="0"/>
              <a:t>&lt; ... &lt; </a:t>
            </a:r>
            <a:r>
              <a:rPr lang="ru-RU" dirty="0" err="1"/>
              <a:t>ключ</a:t>
            </a:r>
            <a:r>
              <a:rPr lang="ru-RU" baseline="-25000" dirty="0" err="1"/>
              <a:t>k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список r – упорядоченный список идентификаторов кортежей (</a:t>
            </a:r>
            <a:r>
              <a:rPr lang="ru-RU" dirty="0" err="1"/>
              <a:t>tid</a:t>
            </a:r>
            <a:r>
              <a:rPr lang="ru-RU" dirty="0"/>
              <a:t>), </a:t>
            </a:r>
            <a:r>
              <a:rPr lang="ru-RU" i="1" dirty="0"/>
              <a:t>включающих значение ключ r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листовые страницы связаны одно- или двунаправленным списком.</a:t>
            </a:r>
          </a:p>
        </p:txBody>
      </p:sp>
    </p:spTree>
    <p:extLst>
      <p:ext uri="{BB962C8B-B14F-4D97-AF65-F5344CB8AC3E}">
        <p14:creationId xmlns:p14="http://schemas.microsoft.com/office/powerpoint/2010/main" val="471217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42693C-471D-26AC-E4A3-029B953F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страниц </a:t>
            </a:r>
            <a:r>
              <a:rPr lang="en-GB" dirty="0"/>
              <a:t>B+</a:t>
            </a:r>
            <a:r>
              <a:rPr lang="en-US" dirty="0"/>
              <a:t> </a:t>
            </a:r>
            <a:r>
              <a:rPr lang="ru-RU" dirty="0"/>
              <a:t>дерева для </a:t>
            </a:r>
            <a:r>
              <a:rPr lang="en-GB" dirty="0" err="1"/>
              <a:t>InnoDB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C47E11-9A18-F336-3A8A-8BC645B70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4C6FDF-9084-6169-2BAE-DEFD0C6CB80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892" y="1407886"/>
            <a:ext cx="6660965" cy="52541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6339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E6BE7-DD31-82A7-99A1-51026E16B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Структура </a:t>
            </a:r>
            <a:r>
              <a:rPr lang="en-GB" dirty="0"/>
              <a:t>B</a:t>
            </a:r>
            <a:r>
              <a:rPr lang="ru-RU" dirty="0"/>
              <a:t>+ дерева </a:t>
            </a:r>
            <a:r>
              <a:rPr lang="ru-RU" dirty="0" err="1"/>
              <a:t>InnoDB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B0D58E-7159-38D3-E464-1EBF40003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B14BA2-B8DB-4632-6607-B328748C6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79" y="1384384"/>
            <a:ext cx="7724175" cy="535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1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EE38C-37CB-8DFD-5997-5E2C885E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Порядок обработки записей при модификации B+ дерева </a:t>
            </a:r>
            <a:r>
              <a:rPr lang="ru-RU" dirty="0" err="1"/>
              <a:t>InnoDB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31B100-C3FB-79D2-9D74-DB957C8A2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  <p:pic>
        <p:nvPicPr>
          <p:cNvPr id="6" name="Объект 6" descr="http://www.rema44.ru/resurs/study/dblectio/IMAGE34.GIF">
            <a:extLst>
              <a:ext uri="{FF2B5EF4-FFF2-40B4-BE49-F238E27FC236}">
                <a16:creationId xmlns:a16="http://schemas.microsoft.com/office/drawing/2014/main" id="{F43C3CA2-CF63-9AC0-CF74-36F2B7A203B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660" y="1340768"/>
            <a:ext cx="6120680" cy="54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154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8D38F-A8FF-6B43-3336-E1EA533D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Индексация с использованием хэширования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B25D8-1AA0-E3F4-CD89-1AC648E45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40769"/>
            <a:ext cx="7848872" cy="3228240"/>
          </a:xfrm>
        </p:spPr>
        <p:txBody>
          <a:bodyPr anchor="t">
            <a:normAutofit/>
          </a:bodyPr>
          <a:lstStyle/>
          <a:p>
            <a:r>
              <a:rPr lang="ru-RU" sz="1600" b="1" dirty="0" err="1"/>
              <a:t>Бакеты</a:t>
            </a:r>
            <a:r>
              <a:rPr lang="ru-RU" sz="1600" b="1" dirty="0"/>
              <a:t> </a:t>
            </a:r>
            <a:r>
              <a:rPr lang="ru-RU" sz="1600" dirty="0"/>
              <a:t>- области адресного пространства фиксированного размера  </a:t>
            </a:r>
            <a:br>
              <a:rPr lang="ru-RU" sz="1600" dirty="0"/>
            </a:br>
            <a:r>
              <a:rPr lang="ru-RU" sz="1600" dirty="0"/>
              <a:t>(обычно страница, сектор, дорожка на HD). </a:t>
            </a:r>
          </a:p>
          <a:p>
            <a:pPr lvl="1"/>
            <a:r>
              <a:rPr lang="ru-RU" sz="1400" dirty="0"/>
              <a:t>Наименьшая составная единица </a:t>
            </a:r>
            <a:r>
              <a:rPr lang="ru-RU" sz="1400" dirty="0" err="1"/>
              <a:t>бакета</a:t>
            </a:r>
            <a:r>
              <a:rPr lang="ru-RU" sz="1400" dirty="0"/>
              <a:t> называется </a:t>
            </a:r>
            <a:r>
              <a:rPr lang="ru-RU" sz="1400" b="1" i="1" dirty="0"/>
              <a:t>фрагментом записи </a:t>
            </a:r>
            <a:r>
              <a:rPr lang="ru-RU" sz="1400" dirty="0"/>
              <a:t>или </a:t>
            </a:r>
            <a:r>
              <a:rPr lang="ru-RU" sz="1400" b="1" i="1" dirty="0"/>
              <a:t>секцией.</a:t>
            </a:r>
          </a:p>
          <a:p>
            <a:r>
              <a:rPr lang="ru-RU" sz="1600" b="1" i="1" dirty="0" err="1"/>
              <a:t>Метастраница</a:t>
            </a:r>
            <a:r>
              <a:rPr lang="ru-RU" sz="1600" b="1" i="1" dirty="0"/>
              <a:t> (</a:t>
            </a:r>
            <a:r>
              <a:rPr lang="ru-RU" sz="1600" b="1" i="1" dirty="0" err="1"/>
              <a:t>meta</a:t>
            </a:r>
            <a:r>
              <a:rPr lang="ru-RU" sz="1600" b="1" i="1" dirty="0"/>
              <a:t> </a:t>
            </a:r>
            <a:r>
              <a:rPr lang="ru-RU" sz="1600" b="1" i="1" dirty="0" err="1"/>
              <a:t>page</a:t>
            </a:r>
            <a:r>
              <a:rPr lang="ru-RU" sz="1600" dirty="0"/>
              <a:t>) — нулевая страница, содержит информацию о том, что находится внутри индекса;</a:t>
            </a:r>
          </a:p>
          <a:p>
            <a:r>
              <a:rPr lang="ru-RU" sz="1600" b="1" i="1" dirty="0"/>
              <a:t>Страницы корзин (</a:t>
            </a:r>
            <a:r>
              <a:rPr lang="ru-RU" sz="1600" b="1" i="1" dirty="0" err="1"/>
              <a:t>bucket</a:t>
            </a:r>
            <a:r>
              <a:rPr lang="ru-RU" sz="1600" b="1" i="1" dirty="0"/>
              <a:t> </a:t>
            </a:r>
            <a:r>
              <a:rPr lang="ru-RU" sz="1600" b="1" i="1" dirty="0" err="1"/>
              <a:t>page</a:t>
            </a:r>
            <a:r>
              <a:rPr lang="ru-RU" sz="1600" b="1" i="1" dirty="0"/>
              <a:t>) </a:t>
            </a:r>
            <a:r>
              <a:rPr lang="ru-RU" sz="1600" dirty="0"/>
              <a:t>— основные страницы индекса, хранят данные в виде пар «</a:t>
            </a:r>
            <a:r>
              <a:rPr lang="ru-RU" sz="1600" i="1" dirty="0"/>
              <a:t>хеш-код — TID</a:t>
            </a:r>
            <a:r>
              <a:rPr lang="ru-RU" sz="1600" dirty="0"/>
              <a:t>»;</a:t>
            </a:r>
          </a:p>
          <a:p>
            <a:r>
              <a:rPr lang="ru-RU" sz="1600" b="1" i="1" dirty="0"/>
              <a:t>Страницы переполнения (</a:t>
            </a:r>
            <a:r>
              <a:rPr lang="ru-RU" sz="1600" b="1" i="1" dirty="0" err="1"/>
              <a:t>overflow</a:t>
            </a:r>
            <a:r>
              <a:rPr lang="ru-RU" sz="1600" b="1" i="1" dirty="0"/>
              <a:t> </a:t>
            </a:r>
            <a:r>
              <a:rPr lang="ru-RU" sz="1600" b="1" i="1" dirty="0" err="1"/>
              <a:t>page</a:t>
            </a:r>
            <a:r>
              <a:rPr lang="ru-RU" sz="1600" b="1" i="1" dirty="0"/>
              <a:t>) </a:t>
            </a:r>
            <a:r>
              <a:rPr lang="ru-RU" sz="1600" dirty="0"/>
              <a:t>— устроены так же, как страницы корзин, и используются в случае, когда одной страницы для корзины не хватает;</a:t>
            </a:r>
          </a:p>
          <a:p>
            <a:r>
              <a:rPr lang="ru-RU" sz="1600" b="1" i="1" dirty="0"/>
              <a:t>Страницы битовой карты (</a:t>
            </a:r>
            <a:r>
              <a:rPr lang="ru-RU" sz="1600" b="1" i="1" dirty="0" err="1"/>
              <a:t>bitmap</a:t>
            </a:r>
            <a:r>
              <a:rPr lang="ru-RU" sz="1600" b="1" i="1" dirty="0"/>
              <a:t> </a:t>
            </a:r>
            <a:r>
              <a:rPr lang="ru-RU" sz="1600" b="1" i="1" dirty="0" err="1"/>
              <a:t>page</a:t>
            </a:r>
            <a:r>
              <a:rPr lang="ru-RU" sz="1600" dirty="0"/>
              <a:t>) — в них отмечаются освободившиеся страницы переполнения, которые можно использовать для других корзин.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B3B2F5-DB93-348E-05AE-9ED8EEC6D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DD78A0-0BCD-E234-7DA4-397D779BD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4" y="4569009"/>
            <a:ext cx="7848872" cy="186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080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7A6E6-C648-44FE-D496-1F0AB6AF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ХЭШ-индекса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3E126F-2022-D207-4E2A-609E1B25F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7A240C9-AD8A-D49F-1EAA-0E5C9CE722E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03288" y="1548944"/>
          <a:ext cx="8208912" cy="37243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960600">
                  <a:extLst>
                    <a:ext uri="{9D8B030D-6E8A-4147-A177-3AD203B41FA5}">
                      <a16:colId xmlns:a16="http://schemas.microsoft.com/office/drawing/2014/main" val="865442674"/>
                    </a:ext>
                  </a:extLst>
                </a:gridCol>
                <a:gridCol w="5248312">
                  <a:extLst>
                    <a:ext uri="{9D8B030D-6E8A-4147-A177-3AD203B41FA5}">
                      <a16:colId xmlns:a16="http://schemas.microsoft.com/office/drawing/2014/main" val="1823000035"/>
                    </a:ext>
                  </a:extLst>
                </a:gridCol>
              </a:tblGrid>
              <a:tr h="43251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Достоинства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84695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rgbClr val="369461"/>
                          </a:solidFill>
                        </a:rPr>
                        <a:t>сложность поиска в хешированных данных составляет порядка O(1)</a:t>
                      </a:r>
                      <a:endParaRPr lang="ru-RU" dirty="0">
                        <a:solidFill>
                          <a:srgbClr val="36946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это значение зависит от: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T Sans" panose="020B0503020203020204" pitchFamily="34" charset="-52"/>
                        <a:buChar char="–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структуры данных,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T Sans" panose="020B0503020203020204" pitchFamily="34" charset="-52"/>
                        <a:buChar char="–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размера таблицы,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T Sans" panose="020B0503020203020204" pitchFamily="34" charset="-52"/>
                        <a:buChar char="–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качества хэш функции.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182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36946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Не умеет уменьшаться в размере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240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rgbClr val="36946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Зависимость эффективности хэширования от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T Sans" panose="020B0503020203020204" pitchFamily="34" charset="-52"/>
                        <a:buChar char="–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фиксированного размера таблицы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T Sans" panose="020B0503020203020204" pitchFamily="34" charset="-52"/>
                        <a:buChar char="–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хэш-функции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PT Sans" panose="020B0503020203020204" pitchFamily="34" charset="-52"/>
                        <a:buChar char="–"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603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824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638D7-512F-1355-F95A-181FE6FB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Расширенное хэширование (</a:t>
            </a:r>
            <a:r>
              <a:rPr lang="ru-RU" i="1" dirty="0" err="1"/>
              <a:t>Extendible</a:t>
            </a:r>
            <a:r>
              <a:rPr lang="ru-RU" i="1" dirty="0"/>
              <a:t> </a:t>
            </a:r>
            <a:r>
              <a:rPr lang="ru-RU" i="1" dirty="0" err="1"/>
              <a:t>Hashing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74A749-15A3-0887-D293-26D955FBE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pic>
        <p:nvPicPr>
          <p:cNvPr id="7" name="Объект 4">
            <a:extLst>
              <a:ext uri="{FF2B5EF4-FFF2-40B4-BE49-F238E27FC236}">
                <a16:creationId xmlns:a16="http://schemas.microsoft.com/office/drawing/2014/main" id="{618B5BEF-7C7F-7424-4177-C5AA5B75906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30024"/>
            <a:ext cx="5832648" cy="541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10488C-7444-27DF-6EBF-6F4CB4CEED89}"/>
              </a:ext>
            </a:extLst>
          </p:cNvPr>
          <p:cNvSpPr txBox="1"/>
          <p:nvPr/>
        </p:nvSpPr>
        <p:spPr>
          <a:xfrm>
            <a:off x="518507" y="4826675"/>
            <a:ext cx="22677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ru-RU" sz="1400" dirty="0"/>
              <a:t>Каталог – бинарное дерево:</a:t>
            </a:r>
          </a:p>
          <a:p>
            <a:pPr marL="265113" lvl="2" indent="-171450">
              <a:buFont typeface="Arial" panose="020B0604020202020204" pitchFamily="34" charset="0"/>
              <a:buChar char="•"/>
            </a:pPr>
            <a:r>
              <a:rPr lang="ru-RU" sz="1400" dirty="0"/>
              <a:t>ключ - значение хэш функции;</a:t>
            </a:r>
          </a:p>
          <a:p>
            <a:pPr marL="265113" lvl="2" indent="-171450">
              <a:buFont typeface="Arial" panose="020B0604020202020204" pitchFamily="34" charset="0"/>
              <a:buChar char="•"/>
            </a:pPr>
            <a:r>
              <a:rPr lang="ru-RU" sz="1400" dirty="0"/>
              <a:t>в листовых вершинах - номера блоков записей внешней памяти.</a:t>
            </a:r>
          </a:p>
          <a:p>
            <a:endParaRPr lang="ru-R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CA808-95A6-948F-C57F-338689D1E197}"/>
              </a:ext>
            </a:extLst>
          </p:cNvPr>
          <p:cNvSpPr txBox="1"/>
          <p:nvPr/>
        </p:nvSpPr>
        <p:spPr>
          <a:xfrm>
            <a:off x="6639943" y="1903798"/>
            <a:ext cx="21419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1400"/>
            </a:lvl1pPr>
            <a:lvl2pPr marL="0" lvl="1">
              <a:defRPr sz="1400"/>
            </a:lvl2pPr>
            <a:lvl3pPr marL="265113" lvl="2" indent="-171450">
              <a:buFont typeface="Arial" panose="020B0604020202020204" pitchFamily="34" charset="0"/>
              <a:buChar char="•"/>
              <a:defRPr sz="1400"/>
            </a:lvl3pPr>
          </a:lstStyle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369461"/>
                </a:solidFill>
              </a:rPr>
              <a:t>Более гибкий, чем исходный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369461"/>
                </a:solidFill>
              </a:rPr>
              <a:t>Хорошо работает на изменяющихся данных.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312B8F-09B5-CA4C-5C91-402FA6F25033}"/>
              </a:ext>
            </a:extLst>
          </p:cNvPr>
          <p:cNvSpPr txBox="1"/>
          <p:nvPr/>
        </p:nvSpPr>
        <p:spPr>
          <a:xfrm>
            <a:off x="6718049" y="4028331"/>
            <a:ext cx="195840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285750" indent="-285750">
              <a:spcBef>
                <a:spcPts val="1200"/>
              </a:spcBef>
              <a:buFont typeface="Arial" panose="020B0604020202020204" pitchFamily="34" charset="0"/>
              <a:buChar char="•"/>
              <a:defRPr sz="1400" b="1">
                <a:solidFill>
                  <a:srgbClr val="369461"/>
                </a:solidFill>
              </a:defRPr>
            </a:lvl1pPr>
            <a:lvl2pPr marL="0" lvl="1">
              <a:defRPr sz="1400"/>
            </a:lvl2pPr>
            <a:lvl3pPr marL="265113" lvl="2" indent="-171450">
              <a:buFont typeface="Arial" panose="020B0604020202020204" pitchFamily="34" charset="0"/>
              <a:buChar char="•"/>
              <a:defRPr sz="1400"/>
            </a:lvl3pPr>
          </a:lstStyle>
          <a:p>
            <a:r>
              <a:rPr lang="ru-RU" dirty="0">
                <a:solidFill>
                  <a:srgbClr val="C00000"/>
                </a:solidFill>
              </a:rPr>
              <a:t>Нужна дополнительная память </a:t>
            </a:r>
          </a:p>
          <a:p>
            <a:r>
              <a:rPr lang="ru-RU" dirty="0">
                <a:solidFill>
                  <a:srgbClr val="C00000"/>
                </a:solidFill>
              </a:rPr>
              <a:t>Дополнительные операции </a:t>
            </a:r>
            <a:br>
              <a:rPr lang="ru-RU" dirty="0">
                <a:solidFill>
                  <a:srgbClr val="C00000"/>
                </a:solidFill>
              </a:rPr>
            </a:br>
            <a:r>
              <a:rPr lang="ru-RU" dirty="0">
                <a:solidFill>
                  <a:srgbClr val="C00000"/>
                </a:solidFill>
              </a:rPr>
              <a:t>с деревом поиска.</a:t>
            </a:r>
          </a:p>
        </p:txBody>
      </p:sp>
    </p:spTree>
    <p:extLst>
      <p:ext uri="{BB962C8B-B14F-4D97-AF65-F5344CB8AC3E}">
        <p14:creationId xmlns:p14="http://schemas.microsoft.com/office/powerpoint/2010/main" val="933930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03D0F-F6F8-FF93-2DE0-C0B89813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Масочный индекс (</a:t>
            </a:r>
            <a:r>
              <a:rPr lang="en-GB" dirty="0"/>
              <a:t>Bitmap)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FAD39A-B1D4-3F41-F266-5615A8149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44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E5FE119-5F9E-59FA-2E47-76FAA414F52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52809"/>
            <a:ext cx="7704856" cy="4640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014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4A90E-57AB-C15E-29A8-3CA245AE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индексов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9775EA-436F-0E79-3016-6F883EB57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340768"/>
            <a:ext cx="7848872" cy="54006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ru-RU" dirty="0">
                <a:solidFill>
                  <a:srgbClr val="C00000"/>
                </a:solidFill>
              </a:rPr>
              <a:t>Для эффективного применения индексов необходимо понимать, какие предполагается выполнять запросы над данными.</a:t>
            </a:r>
          </a:p>
          <a:p>
            <a:pPr>
              <a:spcBef>
                <a:spcPts val="1200"/>
              </a:spcBef>
            </a:pPr>
            <a:r>
              <a:rPr lang="ru-RU" dirty="0"/>
              <a:t>Построение и вид индекса зависит от </a:t>
            </a:r>
          </a:p>
          <a:p>
            <a:pPr lvl="1">
              <a:spcBef>
                <a:spcPts val="1200"/>
              </a:spcBef>
            </a:pPr>
            <a:r>
              <a:rPr lang="ru-RU" u="sng" dirty="0"/>
              <a:t>условия поиска</a:t>
            </a:r>
            <a:endParaRPr lang="ru-RU" dirty="0"/>
          </a:p>
          <a:p>
            <a:pPr lvl="2">
              <a:spcBef>
                <a:spcPts val="1200"/>
              </a:spcBef>
            </a:pPr>
            <a:r>
              <a:rPr lang="ru-RU" dirty="0"/>
              <a:t>Поиск по двум колонкам вместе</a:t>
            </a:r>
          </a:p>
          <a:p>
            <a:pPr lvl="2">
              <a:spcBef>
                <a:spcPts val="1200"/>
              </a:spcBef>
            </a:pPr>
            <a:r>
              <a:rPr lang="ru-RU" dirty="0"/>
              <a:t>Поиск по отдельности – два индекса</a:t>
            </a:r>
          </a:p>
          <a:p>
            <a:pPr lvl="1">
              <a:spcBef>
                <a:spcPts val="1200"/>
              </a:spcBef>
            </a:pPr>
            <a:r>
              <a:rPr lang="ru-RU" u="sng" dirty="0"/>
              <a:t>оценки селективности</a:t>
            </a:r>
          </a:p>
          <a:p>
            <a:pPr lvl="1">
              <a:spcBef>
                <a:spcPts val="1200"/>
              </a:spcBef>
            </a:pPr>
            <a:r>
              <a:rPr lang="ru-RU" u="sng" dirty="0"/>
              <a:t>порядка атрибутов</a:t>
            </a:r>
          </a:p>
          <a:p>
            <a:pPr>
              <a:spcBef>
                <a:spcPts val="1200"/>
              </a:spcBef>
            </a:pPr>
            <a:r>
              <a:rPr lang="ru-RU" dirty="0">
                <a:solidFill>
                  <a:srgbClr val="C00000"/>
                </a:solidFill>
              </a:rPr>
              <a:t>Каждый индекс несет накладные расходы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Индексирование должно быть основано на расчётах и проверках, что ускорение выполнения запросов одних приложений не вызовет деградацию производительности у других. </a:t>
            </a:r>
          </a:p>
          <a:p>
            <a:pPr marL="457200" lvl="1" indent="0">
              <a:spcBef>
                <a:spcPts val="1200"/>
              </a:spcBef>
              <a:buNone/>
            </a:pPr>
            <a:endParaRPr lang="ru-RU" u="sng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4ABD3D-CED3-7CC2-18FD-93F5F55FB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832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Какие индексы будут эффективны для ускорения этого запроса?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DD6C30C-AC97-149A-E064-8C7E8CB5AB4D}"/>
              </a:ext>
            </a:extLst>
          </p:cNvPr>
          <p:cNvSpPr txBox="1">
            <a:spLocks/>
          </p:cNvSpPr>
          <p:nvPr/>
        </p:nvSpPr>
        <p:spPr>
          <a:xfrm>
            <a:off x="579314" y="1388668"/>
            <a:ext cx="7233045" cy="29044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prescription t1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name_doctor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'doctor_4' AND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(SELECT COUNT(*)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FROM prescription t2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t1.name_patient = t2.name_patient) &gt; 3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GROUP BY </a:t>
            </a:r>
            <a:r>
              <a:rPr lang="ru-RU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;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>
              <a:spcBef>
                <a:spcPts val="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63302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Какие индексы будут эффективны для ускорения этого запроса?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DD6C30C-AC97-149A-E064-8C7E8CB5AB4D}"/>
              </a:ext>
            </a:extLst>
          </p:cNvPr>
          <p:cNvSpPr txBox="1">
            <a:spLocks/>
          </p:cNvSpPr>
          <p:nvPr/>
        </p:nvSpPr>
        <p:spPr>
          <a:xfrm>
            <a:off x="579314" y="1388668"/>
            <a:ext cx="7233045" cy="29044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FROM prescription t1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 err="1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name_doctor</a:t>
            </a:r>
            <a:r>
              <a:rPr lang="en-US" b="1" dirty="0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'doctor_4'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(SELECT COUNT(*)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FROM prescription t2 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t1.name_patient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smtClean="0">
                <a:solidFill>
                  <a:schemeClr val="accent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t2.name_patient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&gt; 3</a:t>
            </a:r>
            <a:endParaRPr lang="ru-RU" dirty="0" smtClean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Font typeface="Arial" pitchFamily="34" charset="0"/>
              <a:buNone/>
            </a:pP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GROUP BY </a:t>
            </a:r>
            <a:r>
              <a:rPr lang="ru-RU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name_patient</a:t>
            </a:r>
            <a:r>
              <a:rPr lang="ru-RU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;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>
              <a:spcBef>
                <a:spcPts val="0"/>
              </a:spcBef>
            </a:pP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180073"/>
              </p:ext>
            </p:extLst>
          </p:nvPr>
        </p:nvGraphicFramePr>
        <p:xfrm>
          <a:off x="2555393" y="5169055"/>
          <a:ext cx="4224012" cy="585026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227477">
                  <a:extLst>
                    <a:ext uri="{9D8B030D-6E8A-4147-A177-3AD203B41FA5}">
                      <a16:colId xmlns:a16="http://schemas.microsoft.com/office/drawing/2014/main" val="3800080364"/>
                    </a:ext>
                  </a:extLst>
                </a:gridCol>
                <a:gridCol w="1996535">
                  <a:extLst>
                    <a:ext uri="{9D8B030D-6E8A-4147-A177-3AD203B41FA5}">
                      <a16:colId xmlns:a16="http://schemas.microsoft.com/office/drawing/2014/main" val="132661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Без индексов, мс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 индексами, мс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53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0,086522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0,004919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7007971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509191" y="3954542"/>
            <a:ext cx="8316416" cy="6771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49580">
              <a:spcBef>
                <a:spcPts val="1200"/>
              </a:spcBef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CREATE INDEX </a:t>
            </a:r>
            <a:r>
              <a:rPr lang="en-US" sz="1400" dirty="0" err="1">
                <a:latin typeface="Courier New" panose="02070309020205020404" pitchFamily="49" charset="0"/>
                <a:ea typeface="Calibri" panose="020F0502020204030204" pitchFamily="34" charset="0"/>
              </a:rPr>
              <a:t>prescription_name_doctor_i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 ON prescription(</a:t>
            </a:r>
            <a:r>
              <a:rPr lang="en-US" sz="1400" dirty="0" err="1">
                <a:latin typeface="Courier New" panose="02070309020205020404" pitchFamily="49" charset="0"/>
                <a:ea typeface="Calibri" panose="020F0502020204030204" pitchFamily="34" charset="0"/>
              </a:rPr>
              <a:t>name_doctor</a:t>
            </a:r>
            <a:r>
              <a:rPr lang="en-US" sz="1400" dirty="0" smtClean="0">
                <a:latin typeface="Courier New" panose="02070309020205020404" pitchFamily="49" charset="0"/>
                <a:ea typeface="Calibri" panose="020F0502020204030204" pitchFamily="34" charset="0"/>
              </a:rPr>
              <a:t>);</a:t>
            </a:r>
            <a:endParaRPr lang="ru-RU" sz="24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>
              <a:spcBef>
                <a:spcPts val="1200"/>
              </a:spcBef>
            </a:pPr>
            <a:r>
              <a:rPr lang="en-US" sz="1400" dirty="0" smtClean="0">
                <a:latin typeface="Courier New" panose="02070309020205020404" pitchFamily="49" charset="0"/>
                <a:ea typeface="Calibri" panose="020F0502020204030204" pitchFamily="34" charset="0"/>
              </a:rPr>
              <a:t>CREATE 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INDEX </a:t>
            </a:r>
            <a:r>
              <a:rPr lang="en-US" sz="1400" dirty="0" err="1">
                <a:latin typeface="Courier New" panose="02070309020205020404" pitchFamily="49" charset="0"/>
                <a:ea typeface="Calibri" panose="020F0502020204030204" pitchFamily="34" charset="0"/>
              </a:rPr>
              <a:t>prescription_name_patient_i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 ON prescription(</a:t>
            </a:r>
            <a:r>
              <a:rPr lang="en-US" sz="1400" dirty="0" err="1">
                <a:latin typeface="Courier New" panose="02070309020205020404" pitchFamily="49" charset="0"/>
                <a:ea typeface="Calibri" panose="020F0502020204030204" pitchFamily="34" charset="0"/>
              </a:rPr>
              <a:t>name_patient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866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Кластеризация данных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4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270B6-E362-1C95-8C0F-ED83217D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кластеризации в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F3A43-340C-0B1F-BE2B-6F23ED4BF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944216"/>
          </a:xfrm>
        </p:spPr>
        <p:txBody>
          <a:bodyPr anchor="t">
            <a:normAutofit fontScale="92500" lnSpcReduction="10000"/>
          </a:bodyPr>
          <a:lstStyle/>
          <a:p>
            <a:r>
              <a:rPr lang="ru-RU" b="1" dirty="0"/>
              <a:t>Кластер внутри таблицы -  </a:t>
            </a:r>
            <a:r>
              <a:rPr lang="ru-RU" dirty="0"/>
              <a:t>физическое упорядочивание записей в таблице (обычно с созданием по ним индекса).</a:t>
            </a:r>
          </a:p>
          <a:p>
            <a:r>
              <a:rPr lang="ru-RU" b="1" dirty="0" err="1"/>
              <a:t>Кластеризованная</a:t>
            </a:r>
            <a:r>
              <a:rPr lang="ru-RU" b="1" dirty="0"/>
              <a:t> таблица –</a:t>
            </a:r>
            <a:r>
              <a:rPr lang="ru-RU" dirty="0"/>
              <a:t> это таблица базы данных физически упорядоченная по некоторому признаку. </a:t>
            </a:r>
          </a:p>
          <a:p>
            <a:r>
              <a:rPr lang="ru-RU" b="1" dirty="0"/>
              <a:t>Кластерный ключ</a:t>
            </a:r>
            <a:r>
              <a:rPr lang="ru-RU" dirty="0"/>
              <a:t> – это столбец (атрибут) или набор столбцов (полей записи), по которым происходит упорядочивание. </a:t>
            </a:r>
          </a:p>
          <a:p>
            <a:endParaRPr lang="ru-RU" dirty="0"/>
          </a:p>
          <a:p>
            <a:pPr lvl="1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23892E-2A66-41A7-A5BB-30DBFA96A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49</a:t>
            </a:fld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5CB3952-70F9-F619-2DCA-5EB023C1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539192"/>
            <a:ext cx="6267231" cy="31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64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99E8E-7453-2E0E-AD71-3002C256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</a:t>
            </a:r>
            <a:r>
              <a:rPr lang="ru-RU" dirty="0" err="1"/>
              <a:t>кластеризованное</a:t>
            </a:r>
            <a:r>
              <a:rPr lang="ru-RU" dirty="0"/>
              <a:t> хранение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18B665-8CDB-6BF9-7CDD-2E784630B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152128"/>
          </a:xfrm>
        </p:spPr>
        <p:txBody>
          <a:bodyPr anchor="t">
            <a:normAutofit/>
          </a:bodyPr>
          <a:lstStyle/>
          <a:p>
            <a:r>
              <a:rPr lang="ru-RU" dirty="0"/>
              <a:t>В отсутствие кластерного ключа страницы и записи располагаются в </a:t>
            </a:r>
            <a:r>
              <a:rPr lang="ru-RU" b="1" dirty="0"/>
              <a:t>произвольном порядке, </a:t>
            </a:r>
            <a:r>
              <a:rPr lang="ru-RU" dirty="0"/>
              <a:t>такая таблица называется </a:t>
            </a:r>
            <a:r>
              <a:rPr lang="ru-RU" i="1" dirty="0"/>
              <a:t>«куча» (</a:t>
            </a:r>
            <a:r>
              <a:rPr lang="ru-RU" i="1" dirty="0" err="1"/>
              <a:t>heap</a:t>
            </a:r>
            <a:r>
              <a:rPr lang="ru-RU" i="1" dirty="0"/>
              <a:t>)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A7579F-757A-4300-D540-E92E0D7F1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50</a:t>
            </a:fld>
            <a:endParaRPr lang="ru-RU"/>
          </a:p>
        </p:txBody>
      </p:sp>
      <p:graphicFrame>
        <p:nvGraphicFramePr>
          <p:cNvPr id="5" name="Таблица 6">
            <a:extLst>
              <a:ext uri="{FF2B5EF4-FFF2-40B4-BE49-F238E27FC236}">
                <a16:creationId xmlns:a16="http://schemas.microsoft.com/office/drawing/2014/main" id="{F5714DBE-FB50-4D6F-9B44-2BD10706E9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39552" y="2780928"/>
          <a:ext cx="8064896" cy="3205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520240">
                  <a:extLst>
                    <a:ext uri="{9D8B030D-6E8A-4147-A177-3AD203B41FA5}">
                      <a16:colId xmlns:a16="http://schemas.microsoft.com/office/drawing/2014/main" val="210069190"/>
                    </a:ext>
                  </a:extLst>
                </a:gridCol>
                <a:gridCol w="3544656">
                  <a:extLst>
                    <a:ext uri="{9D8B030D-6E8A-4147-A177-3AD203B41FA5}">
                      <a16:colId xmlns:a16="http://schemas.microsoft.com/office/drawing/2014/main" val="2313444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Кластеризованные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 </a:t>
                      </a:r>
                      <a:r>
                        <a:rPr lang="ru-RU" dirty="0" err="1"/>
                        <a:t>кластеризованные</a:t>
                      </a:r>
                      <a:r>
                        <a:rPr lang="ru-RU" dirty="0"/>
                        <a:t> таблицы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225642"/>
                  </a:ext>
                </a:extLst>
              </a:tr>
              <a:tr h="49121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Меньше время доступа к таблицам </a:t>
                      </a:r>
                      <a:br>
                        <a:rPr lang="ru-RU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по кластерному ключу</a:t>
                      </a:r>
                      <a:endParaRPr lang="ru-RU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Меньше время добавления записи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50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Применение: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Применение: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63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транзакционные приложения, ориентированные на CRUD-логику (кластеризация по первичному ключу)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БД ориентированные </a:t>
                      </a:r>
                      <a:br>
                        <a:rPr lang="ru-RU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на быструю вставку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09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 аналитических БД кластер по неключевой колонке, являющейся наиболее часто используемой в запросах,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827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3590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270B6-E362-1C95-8C0F-ED83217D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совместной кластеризации в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F3A43-340C-0B1F-BE2B-6F23ED4BF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8280920" cy="5112568"/>
          </a:xfrm>
        </p:spPr>
        <p:txBody>
          <a:bodyPr anchor="t"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ru-RU" b="1" dirty="0"/>
              <a:t>Кластер при совместной кластеризации –</a:t>
            </a:r>
            <a:r>
              <a:rPr lang="ru-RU" dirty="0"/>
              <a:t> это </a:t>
            </a:r>
            <a:r>
              <a:rPr lang="ru-RU" b="1" i="1" dirty="0"/>
              <a:t>структура памяти</a:t>
            </a:r>
            <a:r>
              <a:rPr lang="ru-RU" dirty="0"/>
              <a:t>, в которой хранится набор таблиц (</a:t>
            </a:r>
            <a:r>
              <a:rPr lang="ru-RU" i="1" dirty="0"/>
              <a:t>в одних и тех же блоках данных</a:t>
            </a:r>
            <a:r>
              <a:rPr lang="ru-RU" dirty="0"/>
              <a:t>).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Эти таблицы, как правило, должны иметь общие столбцы, используемые для соединения </a:t>
            </a:r>
          </a:p>
          <a:p>
            <a:pPr>
              <a:spcBef>
                <a:spcPts val="1200"/>
              </a:spcBef>
            </a:pPr>
            <a:r>
              <a:rPr lang="ru-RU" b="1" dirty="0"/>
              <a:t>Кластерный ключ при совместной кластеризации </a:t>
            </a:r>
            <a:r>
              <a:rPr lang="ru-RU" dirty="0"/>
              <a:t>– это столбец или набор столбцов (полей записи), </a:t>
            </a:r>
            <a:r>
              <a:rPr lang="ru-RU" i="1" dirty="0"/>
              <a:t>общих</a:t>
            </a:r>
            <a:r>
              <a:rPr lang="ru-RU" dirty="0"/>
              <a:t> для </a:t>
            </a:r>
            <a:r>
              <a:rPr lang="ru-RU" dirty="0" err="1"/>
              <a:t>кластеризуемых</a:t>
            </a:r>
            <a:r>
              <a:rPr lang="ru-RU" dirty="0"/>
              <a:t> таблиц.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Каждая таблица, созданная в кластере, должна иметь столбцы, соответствующие типам и размерам столбцов кластерного ключа.</a:t>
            </a:r>
          </a:p>
          <a:p>
            <a:pPr>
              <a:spcBef>
                <a:spcPts val="1200"/>
              </a:spcBef>
            </a:pPr>
            <a:r>
              <a:rPr lang="ru-RU" b="1" dirty="0">
                <a:solidFill>
                  <a:srgbClr val="369461"/>
                </a:solidFill>
              </a:rPr>
              <a:t>Физически</a:t>
            </a:r>
            <a:r>
              <a:rPr lang="ru-RU" dirty="0">
                <a:solidFill>
                  <a:srgbClr val="369461"/>
                </a:solidFill>
              </a:rPr>
              <a:t> это обычно реализуется так: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в начале страницы (блока) хранится запись из таблицы, для которой кластерный ключ </a:t>
            </a:r>
            <a:r>
              <a:rPr lang="ru-RU" b="1" dirty="0"/>
              <a:t>является первичным (или уникальным), 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вслед за ней располагаются записи из другой таблицы (таблиц), имеющие </a:t>
            </a:r>
            <a:r>
              <a:rPr lang="ru-RU" b="1" dirty="0"/>
              <a:t>те же значения кластерного ключа</a:t>
            </a:r>
            <a:r>
              <a:rPr lang="ru-RU" dirty="0"/>
              <a:t>. </a:t>
            </a:r>
          </a:p>
          <a:p>
            <a:pPr lvl="1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23892E-2A66-41A7-A5BB-30DBFA96A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502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270B6-E362-1C95-8C0F-ED83217D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совместной кластеризации в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F3A43-340C-0B1F-BE2B-6F23ED4BF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8280920" cy="5112568"/>
          </a:xfrm>
        </p:spPr>
        <p:txBody>
          <a:bodyPr>
            <a:normAutofit/>
          </a:bodyPr>
          <a:lstStyle/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-457200">
              <a:buNone/>
            </a:pPr>
            <a:r>
              <a:rPr lang="ru-RU" dirty="0"/>
              <a:t>Без совместной кластеризации (а) и </a:t>
            </a:r>
            <a:r>
              <a:rPr lang="ru-RU" dirty="0" err="1"/>
              <a:t>кластеризованные</a:t>
            </a:r>
            <a:r>
              <a:rPr lang="ru-RU" dirty="0"/>
              <a:t> совместно (б) данные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23892E-2A66-41A7-A5BB-30DBFA96A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52</a:t>
            </a:fld>
            <a:endParaRPr lang="ru-RU"/>
          </a:p>
        </p:txBody>
      </p:sp>
      <p:pic>
        <p:nvPicPr>
          <p:cNvPr id="5" name="Рисунок 4" descr="http://www.rema44.ru/resurs/study/dblectio/IMAGE39.GIF">
            <a:extLst>
              <a:ext uri="{FF2B5EF4-FFF2-40B4-BE49-F238E27FC236}">
                <a16:creationId xmlns:a16="http://schemas.microsoft.com/office/drawing/2014/main" id="{8E92B3C7-245D-D0E5-52C1-77D1808BACD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51901"/>
            <a:ext cx="7540729" cy="32306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67166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270B6-E362-1C95-8C0F-ED83217D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совместной кластеризации в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F3A43-340C-0B1F-BE2B-6F23ED4BF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84784"/>
            <a:ext cx="8496944" cy="2664296"/>
          </a:xfrm>
        </p:spPr>
        <p:txBody>
          <a:bodyPr anchor="t">
            <a:normAutofit/>
          </a:bodyPr>
          <a:lstStyle/>
          <a:p>
            <a:r>
              <a:rPr lang="ru-RU" sz="1800" dirty="0"/>
              <a:t>Если все данные, относящиеся к одному значению кластерного ключа, не помещаются в одном блоке, то выделяется новый блок памяти и предыдущий блок хранит ссылку на него. </a:t>
            </a:r>
          </a:p>
          <a:p>
            <a:pPr lvl="1"/>
            <a:r>
              <a:rPr lang="ru-RU" sz="1600" b="1" dirty="0">
                <a:solidFill>
                  <a:srgbClr val="369461"/>
                </a:solidFill>
              </a:rPr>
              <a:t>Рекомендуется</a:t>
            </a:r>
            <a:r>
              <a:rPr lang="ru-RU" sz="1600" dirty="0">
                <a:solidFill>
                  <a:srgbClr val="369461"/>
                </a:solidFill>
              </a:rPr>
              <a:t> установить размер блока, исходя из оценки </a:t>
            </a:r>
            <a:r>
              <a:rPr lang="ru-RU" sz="1600" b="1" i="1" dirty="0">
                <a:solidFill>
                  <a:srgbClr val="369461"/>
                </a:solidFill>
              </a:rPr>
              <a:t>среднего количества записей с одинаковыми значения кластерного ключа</a:t>
            </a:r>
            <a:r>
              <a:rPr lang="ru-RU" sz="1600" dirty="0">
                <a:solidFill>
                  <a:srgbClr val="369461"/>
                </a:solidFill>
              </a:rPr>
              <a:t>.</a:t>
            </a:r>
          </a:p>
          <a:p>
            <a:r>
              <a:rPr lang="ru-RU" sz="1800" dirty="0">
                <a:solidFill>
                  <a:srgbClr val="C00000"/>
                </a:solidFill>
              </a:rPr>
              <a:t>Обновление значения кластерного ключа таблицы</a:t>
            </a:r>
          </a:p>
          <a:p>
            <a:pPr lvl="1"/>
            <a:r>
              <a:rPr lang="ru-RU" sz="1600" dirty="0"/>
              <a:t>Может вызвать </a:t>
            </a:r>
            <a:r>
              <a:rPr lang="ru-RU" sz="1600" i="1" dirty="0">
                <a:solidFill>
                  <a:srgbClr val="C00000"/>
                </a:solidFill>
              </a:rPr>
              <a:t>физическое перемещение записи</a:t>
            </a:r>
            <a:r>
              <a:rPr lang="ru-RU" sz="1600" dirty="0"/>
              <a:t>. </a:t>
            </a:r>
          </a:p>
          <a:p>
            <a:pPr lvl="1"/>
            <a:r>
              <a:rPr lang="ru-RU" sz="1600" b="1" dirty="0">
                <a:solidFill>
                  <a:srgbClr val="369461"/>
                </a:solidFill>
              </a:rPr>
              <a:t>Рекомендуется </a:t>
            </a:r>
            <a:r>
              <a:rPr lang="ru-RU" sz="1600" dirty="0">
                <a:solidFill>
                  <a:srgbClr val="369461"/>
                </a:solidFill>
              </a:rPr>
              <a:t>не использовать как кластерные ключи </a:t>
            </a:r>
            <a:r>
              <a:rPr lang="ru-RU" sz="1600" i="1" dirty="0">
                <a:solidFill>
                  <a:srgbClr val="369461"/>
                </a:solidFill>
              </a:rPr>
              <a:t>атрибуты с частыми обновлениями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23892E-2A66-41A7-A5BB-30DBFA96A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53</a:t>
            </a:fld>
            <a:endParaRPr lang="ru-RU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E9F0A4B-C403-16CF-C356-083FB11B26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7544" y="4286113"/>
          <a:ext cx="8064896" cy="1920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21006919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31344494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Достоинства </a:t>
                      </a: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совм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кластеризации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Недостатки </a:t>
                      </a:r>
                      <a:r>
                        <a:rPr lang="ru-RU" dirty="0" err="1"/>
                        <a:t>совм</a:t>
                      </a:r>
                      <a:r>
                        <a:rPr lang="ru-RU" dirty="0"/>
                        <a:t> кластеризации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22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Меньше время доступа к кластеризованным таблицам </a:t>
                      </a:r>
                      <a:br>
                        <a:rPr lang="ru-RU" dirty="0">
                          <a:solidFill>
                            <a:srgbClr val="369461"/>
                          </a:solidFill>
                        </a:rPr>
                      </a:br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и их соединение </a:t>
                      </a:r>
                      <a:r>
                        <a:rPr lang="ru-RU" i="1" dirty="0">
                          <a:solidFill>
                            <a:schemeClr val="tx1"/>
                          </a:solidFill>
                        </a:rPr>
                        <a:t>(3-6 раз)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Увеличивается время выполнения операции добавления записи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50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369461"/>
                          </a:solidFill>
                        </a:rPr>
                        <a:t>Значение кластерного ключа хранится только один раз для кластера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Требует квалифицированной настройки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631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405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AE753-DF4F-208C-87AC-7CE6F200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Кластеризованные</a:t>
            </a:r>
            <a:r>
              <a:rPr lang="ru-RU" dirty="0"/>
              <a:t> индексы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AC6B04-071D-D10F-E366-E194636C9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520280"/>
          </a:xfrm>
        </p:spPr>
        <p:txBody>
          <a:bodyPr anchor="t">
            <a:normAutofit/>
          </a:bodyPr>
          <a:lstStyle/>
          <a:p>
            <a:r>
              <a:rPr lang="ru-RU" sz="1600" b="1" dirty="0"/>
              <a:t>Кластеризованным индексом </a:t>
            </a:r>
            <a:r>
              <a:rPr lang="ru-RU" sz="1600" dirty="0"/>
              <a:t>называется индекс, соответствующий физическому упорядочиванию данных.</a:t>
            </a:r>
          </a:p>
          <a:p>
            <a:pPr lvl="1"/>
            <a:r>
              <a:rPr lang="ru-RU" sz="1400" dirty="0"/>
              <a:t>Узлы </a:t>
            </a:r>
            <a:r>
              <a:rPr lang="ru-RU" sz="1400" dirty="0" err="1"/>
              <a:t>кластеризованого</a:t>
            </a:r>
            <a:r>
              <a:rPr lang="ru-RU" sz="1400" dirty="0"/>
              <a:t> индекса содержат страницы с данными </a:t>
            </a:r>
            <a:br>
              <a:rPr lang="ru-RU" sz="1400" dirty="0"/>
            </a:br>
            <a:r>
              <a:rPr lang="ru-RU" sz="1400" dirty="0"/>
              <a:t>(</a:t>
            </a:r>
            <a:r>
              <a:rPr lang="ru-RU" sz="1400" i="1" dirty="0"/>
              <a:t>то есть, в B+ дереве нет уровня </a:t>
            </a:r>
            <a:r>
              <a:rPr lang="ru-RU" sz="1400" i="1" dirty="0" err="1"/>
              <a:t>sequence</a:t>
            </a:r>
            <a:r>
              <a:rPr lang="ru-RU" sz="1400" i="1" dirty="0"/>
              <a:t>, сразу страницы с данными</a:t>
            </a:r>
            <a:r>
              <a:rPr lang="ru-RU" sz="1400" dirty="0"/>
              <a:t>).</a:t>
            </a:r>
          </a:p>
          <a:p>
            <a:pPr lvl="1"/>
            <a:r>
              <a:rPr lang="ru-RU" sz="1400" b="1" dirty="0"/>
              <a:t>По умолчанию </a:t>
            </a:r>
            <a:r>
              <a:rPr lang="ru-RU" sz="1400" dirty="0"/>
              <a:t>задается </a:t>
            </a:r>
            <a:r>
              <a:rPr lang="ru-RU" sz="1400" i="1" dirty="0"/>
              <a:t>при создании главного ключа</a:t>
            </a:r>
            <a:r>
              <a:rPr lang="ru-RU" sz="1400" dirty="0"/>
              <a:t>.</a:t>
            </a:r>
          </a:p>
          <a:p>
            <a:pPr lvl="1"/>
            <a:r>
              <a:rPr lang="ru-RU" sz="1400" dirty="0"/>
              <a:t>Если </a:t>
            </a:r>
            <a:r>
              <a:rPr lang="ru-RU" sz="1400" dirty="0" err="1"/>
              <a:t>кластеризованный</a:t>
            </a:r>
            <a:r>
              <a:rPr lang="ru-RU" sz="1400" dirty="0"/>
              <a:t> индекс создан для атрибута с неуникальными значениями, СУБД </a:t>
            </a:r>
            <a:r>
              <a:rPr lang="ru-RU" sz="1400" b="1" dirty="0"/>
              <a:t>принудительно обеспечивает его однозначность </a:t>
            </a:r>
            <a:r>
              <a:rPr lang="ru-RU" sz="1400" dirty="0"/>
              <a:t>добавляя (</a:t>
            </a:r>
            <a:r>
              <a:rPr lang="ru-RU" sz="1400" i="1" dirty="0"/>
              <a:t>как правило 4-ех байтовый</a:t>
            </a:r>
            <a:r>
              <a:rPr lang="ru-RU" sz="1400" dirty="0"/>
              <a:t>) идентификатор к строкам дубликатам. 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FDCE32-4981-BD2A-29D7-B86F130F0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54</a:t>
            </a:fld>
            <a:endParaRPr lang="ru-RU"/>
          </a:p>
        </p:txBody>
      </p:sp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5216DA64-DB3F-BB89-31D8-8F23E2A1C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633896"/>
            <a:ext cx="4869171" cy="293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068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995FE-7F34-A02A-1B5B-2E6378AE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</a:t>
            </a:r>
            <a:r>
              <a:rPr lang="ru-RU" dirty="0" err="1"/>
              <a:t>кластеризованные</a:t>
            </a:r>
            <a:r>
              <a:rPr lang="ru-RU" dirty="0"/>
              <a:t> индексы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2F2040-6542-D7B4-BB3F-F834D5DE49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40768"/>
                <a:ext cx="7848872" cy="4752528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Некластеризованный индекс</a:t>
                </a:r>
                <a:r>
                  <a:rPr lang="ru-RU" dirty="0"/>
                  <a:t> не связан с физическим порядком страниц и его узлы содержат ссылки (</a:t>
                </a:r>
                <a:r>
                  <a:rPr lang="ru-RU" i="1" dirty="0"/>
                  <a:t>Б дерево с </a:t>
                </a:r>
                <a:r>
                  <a:rPr lang="ru-RU" i="1" dirty="0" err="1"/>
                  <a:t>sequence</a:t>
                </a:r>
                <a:r>
                  <a:rPr lang="ru-RU" dirty="0"/>
                  <a:t>). </a:t>
                </a:r>
              </a:p>
              <a:p>
                <a:pPr lvl="1"/>
                <a:r>
                  <a:rPr lang="ru-RU" i="1" dirty="0"/>
                  <a:t>+1 обращение к данным на переход по ссылке.</a:t>
                </a:r>
              </a:p>
              <a:p>
                <a:r>
                  <a:rPr lang="ru-RU" dirty="0"/>
                  <a:t>В зависимости от того </a:t>
                </a:r>
                <a:r>
                  <a:rPr lang="ru-RU" dirty="0" err="1"/>
                  <a:t>кластеризована</a:t>
                </a:r>
                <a:r>
                  <a:rPr lang="ru-RU" dirty="0"/>
                  <a:t> таблица или является </a:t>
                </a:r>
                <a:r>
                  <a:rPr lang="ru-RU" i="1" dirty="0"/>
                  <a:t>кучей (</a:t>
                </a:r>
                <a:r>
                  <a:rPr lang="ru-RU" i="1" dirty="0" err="1"/>
                  <a:t>heap</a:t>
                </a:r>
                <a:r>
                  <a:rPr lang="ru-RU" i="1" dirty="0"/>
                  <a:t>) </a:t>
                </a:r>
                <a:r>
                  <a:rPr lang="ru-RU" dirty="0"/>
                  <a:t>ссылка может быть:</a:t>
                </a:r>
              </a:p>
              <a:p>
                <a:pPr lvl="1"/>
                <a:r>
                  <a:rPr lang="ru-RU" dirty="0" err="1"/>
                  <a:t>сылкой</a:t>
                </a:r>
                <a:r>
                  <a:rPr lang="ru-RU" dirty="0"/>
                  <a:t> на соответствующий узел </a:t>
                </a:r>
                <a:r>
                  <a:rPr lang="ru-RU" dirty="0" err="1"/>
                  <a:t>кластеризованного</a:t>
                </a:r>
                <a:r>
                  <a:rPr lang="ru-RU" dirty="0"/>
                  <a:t> индекса (</a:t>
                </a:r>
                <a:r>
                  <a:rPr lang="ru-RU" dirty="0">
                    <a:solidFill>
                      <a:srgbClr val="C00000"/>
                    </a:solidFill>
                  </a:rPr>
                  <a:t>индекс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dirty="0">
                    <a:solidFill>
                      <a:srgbClr val="C00000"/>
                    </a:solidFill>
                  </a:rPr>
                  <a:t> индекс</a:t>
                </a:r>
                <a:r>
                  <a:rPr lang="ru-RU" dirty="0"/>
                  <a:t>);</a:t>
                </a:r>
              </a:p>
              <a:p>
                <a:pPr lvl="1"/>
                <a:r>
                  <a:rPr lang="ru-RU" dirty="0"/>
                  <a:t>ссылка является идентификатором строки (</a:t>
                </a:r>
                <a:r>
                  <a:rPr lang="ru-RU" dirty="0">
                    <a:solidFill>
                      <a:srgbClr val="C00000"/>
                    </a:solidFill>
                  </a:rPr>
                  <a:t>RID </a:t>
                </a:r>
                <a:r>
                  <a:rPr lang="ru-RU" dirty="0" err="1">
                    <a:solidFill>
                      <a:srgbClr val="C00000"/>
                    </a:solidFill>
                  </a:rPr>
                  <a:t>Row</a:t>
                </a:r>
                <a:r>
                  <a:rPr lang="ru-RU" dirty="0">
                    <a:solidFill>
                      <a:srgbClr val="C00000"/>
                    </a:solidFill>
                  </a:rPr>
                  <a:t> ID</a:t>
                </a:r>
                <a:r>
                  <a:rPr lang="ru-RU" dirty="0"/>
                  <a:t>) из трёх частей:</a:t>
                </a:r>
              </a:p>
              <a:p>
                <a:pPr lvl="2"/>
                <a:r>
                  <a:rPr lang="ru-RU" dirty="0"/>
                  <a:t>адрес файла;</a:t>
                </a:r>
              </a:p>
              <a:p>
                <a:pPr lvl="2"/>
                <a:r>
                  <a:rPr lang="ru-RU" dirty="0"/>
                  <a:t>адрес физического </a:t>
                </a:r>
                <a:br>
                  <a:rPr lang="ru-RU" dirty="0"/>
                </a:br>
                <a:r>
                  <a:rPr lang="ru-RU" dirty="0"/>
                  <a:t>блока (страницы);</a:t>
                </a:r>
              </a:p>
              <a:p>
                <a:pPr lvl="2"/>
                <a:r>
                  <a:rPr lang="ru-RU" dirty="0"/>
                  <a:t> смещение </a:t>
                </a:r>
                <a:br>
                  <a:rPr lang="ru-RU" dirty="0"/>
                </a:br>
                <a:r>
                  <a:rPr lang="ru-RU" dirty="0"/>
                  <a:t>на странице.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2F2040-6542-D7B4-BB3F-F834D5DE49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40768"/>
                <a:ext cx="7848872" cy="4752528"/>
              </a:xfrm>
              <a:blipFill>
                <a:blip r:embed="rId2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2ED1C7-2BB5-2D68-D2D2-B4A282C0E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2549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995FE-7F34-A02A-1B5B-2E6378AE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 </a:t>
            </a:r>
            <a:r>
              <a:rPr lang="ru-RU" dirty="0" err="1"/>
              <a:t>кластеризованного</a:t>
            </a:r>
            <a:r>
              <a:rPr lang="ru-RU" dirty="0"/>
              <a:t> индекса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2ED1C7-2BB5-2D68-D2D2-B4A282C0E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56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EE1910-7786-33AD-B226-BB4C0C0D4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527598"/>
            <a:ext cx="7668344" cy="474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79464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12207</TotalTime>
  <Words>3163</Words>
  <Application>Microsoft Office PowerPoint</Application>
  <PresentationFormat>Экран (4:3)</PresentationFormat>
  <Paragraphs>450</Paragraphs>
  <Slides>56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3" baseType="lpstr">
      <vt:lpstr>Arial</vt:lpstr>
      <vt:lpstr>Calibri</vt:lpstr>
      <vt:lpstr>Cambria Math</vt:lpstr>
      <vt:lpstr>Courier New</vt:lpstr>
      <vt:lpstr>PT Sans</vt:lpstr>
      <vt:lpstr>Times New Roman</vt:lpstr>
      <vt:lpstr>SCC</vt:lpstr>
      <vt:lpstr>СУБД для специалиста  по информационной безопасности</vt:lpstr>
      <vt:lpstr>Темы лекции</vt:lpstr>
      <vt:lpstr>Физическая организация данных общие подходы</vt:lpstr>
      <vt:lpstr>Особенности организации физического хранения</vt:lpstr>
      <vt:lpstr>Объекты во внешней памяти</vt:lpstr>
      <vt:lpstr>Структура файла базы данных</vt:lpstr>
      <vt:lpstr>Презентация PowerPoint</vt:lpstr>
      <vt:lpstr>Удаление данных</vt:lpstr>
      <vt:lpstr>Понятие экстента</vt:lpstr>
      <vt:lpstr>«Экстент» в различных СУБД</vt:lpstr>
      <vt:lpstr>Базовые подходы к хранению таблиц</vt:lpstr>
      <vt:lpstr>Хранение таблиц по кортежам (строкам)</vt:lpstr>
      <vt:lpstr>Организация и особенности хранения</vt:lpstr>
      <vt:lpstr>Перемещение кортежа</vt:lpstr>
      <vt:lpstr>«Длинные» данные</vt:lpstr>
      <vt:lpstr>Особенности</vt:lpstr>
      <vt:lpstr>Хранение таблиц по столбцам</vt:lpstr>
      <vt:lpstr>Организация колонок</vt:lpstr>
      <vt:lpstr>Выполнение запроса над колоночным хранилищем</vt:lpstr>
      <vt:lpstr>Обновление и удаление в колоночном хранилище</vt:lpstr>
      <vt:lpstr>Сжатие данных в колоночном хранилище</vt:lpstr>
      <vt:lpstr>Сравнение подходов</vt:lpstr>
      <vt:lpstr>Фрагментация (партиционирование)</vt:lpstr>
      <vt:lpstr>Методы доступа к данным</vt:lpstr>
      <vt:lpstr>Методы доступа к данным</vt:lpstr>
      <vt:lpstr>Прямой доступ: понятия RowID и tid</vt:lpstr>
      <vt:lpstr>Прямой доступ путем хэширования</vt:lpstr>
      <vt:lpstr>Понятие индекса</vt:lpstr>
      <vt:lpstr>Виды индексов</vt:lpstr>
      <vt:lpstr>Характеристики индексов</vt:lpstr>
      <vt:lpstr>Пример не плотного  индекса</vt:lpstr>
      <vt:lpstr>Анализ индексов</vt:lpstr>
      <vt:lpstr>Индексно-последовательный доступ</vt:lpstr>
      <vt:lpstr>Инвертированное (вторичное) индексирование</vt:lpstr>
      <vt:lpstr>Индексация при помощи B – деревьев</vt:lpstr>
      <vt:lpstr>B+ дерево Кнута (B* - дерево)</vt:lpstr>
      <vt:lpstr>Страницы B+ дерева</vt:lpstr>
      <vt:lpstr>Пример страниц B+ дерева для InnoDB</vt:lpstr>
      <vt:lpstr>Пример: Структура B+ дерева InnoDB</vt:lpstr>
      <vt:lpstr>Порядок обработки записей при модификации B+ дерева InnoDB</vt:lpstr>
      <vt:lpstr>Индексация с использованием хэширования</vt:lpstr>
      <vt:lpstr>Особенности ХЭШ-индекса</vt:lpstr>
      <vt:lpstr>Расширенное хэширование (Extendible Hashing)</vt:lpstr>
      <vt:lpstr>Масочный индекс (Bitmap)</vt:lpstr>
      <vt:lpstr>Применение индексов</vt:lpstr>
      <vt:lpstr>Какие индексы будут эффективны для ускорения этого запроса?</vt:lpstr>
      <vt:lpstr>Какие индексы будут эффективны для ускорения этого запроса?</vt:lpstr>
      <vt:lpstr>Кластеризация данных</vt:lpstr>
      <vt:lpstr>Понятие кластеризации в СУБД</vt:lpstr>
      <vt:lpstr>Не кластеризованное хранение</vt:lpstr>
      <vt:lpstr>Понятие совместной кластеризации в СУБД</vt:lpstr>
      <vt:lpstr>Пример совместной кластеризации в СУБД</vt:lpstr>
      <vt:lpstr>Особенности совместной кластеризации в СУБД</vt:lpstr>
      <vt:lpstr>Кластеризованные индексы</vt:lpstr>
      <vt:lpstr>Не кластеризованные индексы</vt:lpstr>
      <vt:lpstr>Пример не кластеризованного индекса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783</cp:revision>
  <dcterms:created xsi:type="dcterms:W3CDTF">2018-04-03T06:05:28Z</dcterms:created>
  <dcterms:modified xsi:type="dcterms:W3CDTF">2024-04-02T09:57:32Z</dcterms:modified>
</cp:coreProperties>
</file>