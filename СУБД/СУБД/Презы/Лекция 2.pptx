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1"/>
  </p:notesMasterIdLst>
  <p:sldIdLst>
    <p:sldId id="381" r:id="rId2"/>
    <p:sldId id="387" r:id="rId3"/>
    <p:sldId id="393" r:id="rId4"/>
    <p:sldId id="395" r:id="rId5"/>
    <p:sldId id="394" r:id="rId6"/>
    <p:sldId id="396" r:id="rId7"/>
    <p:sldId id="397" r:id="rId8"/>
    <p:sldId id="398" r:id="rId9"/>
    <p:sldId id="399" r:id="rId10"/>
    <p:sldId id="400" r:id="rId11"/>
    <p:sldId id="405" r:id="rId12"/>
    <p:sldId id="404" r:id="rId13"/>
    <p:sldId id="401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4" r:id="rId22"/>
    <p:sldId id="415" r:id="rId23"/>
    <p:sldId id="416" r:id="rId24"/>
    <p:sldId id="417" r:id="rId25"/>
    <p:sldId id="418" r:id="rId26"/>
    <p:sldId id="455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13" r:id="rId38"/>
    <p:sldId id="429" r:id="rId39"/>
    <p:sldId id="430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74971" autoAdjust="0"/>
  </p:normalViewPr>
  <p:slideViewPr>
    <p:cSldViewPr snapToObjects="1">
      <p:cViewPr varScale="1">
        <p:scale>
          <a:sx n="83" d="100"/>
          <a:sy n="83" d="100"/>
        </p:scale>
        <p:origin x="25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07.02.2024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54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1077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92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43851971-5CD2-40E2-BF08-78F8FBC372A6}" type="slidenum">
              <a:rPr lang="ru-RU" altLang="ru-RU">
                <a:latin typeface="Calibri" panose="020F0502020204030204" pitchFamily="34" charset="0"/>
              </a:rPr>
              <a:pPr/>
              <a:t>14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15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Эволюция </a:t>
            </a:r>
            <a:r>
              <a:rPr lang="ru-RU" dirty="0"/>
              <a:t>методов атаки и защиты в СУБД с развитием технологий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Уязвимости и модель угроз для СУБД и БД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Направления современных </a:t>
            </a:r>
            <a:r>
              <a:rPr lang="ru-RU" dirty="0" smtClean="0"/>
              <a:t>исследований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Моделирование </a:t>
            </a:r>
            <a:r>
              <a:rPr lang="ru-RU" dirty="0" smtClean="0"/>
              <a:t>данных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ru-RU" dirty="0" smtClean="0"/>
              <a:t>Математическая формализация модели данных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ru-RU" dirty="0" smtClean="0"/>
              <a:t>Исторические модели данных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ru-RU" dirty="0" smtClean="0"/>
              <a:t>Проблема соответствия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ru-RU" dirty="0" smtClean="0"/>
              <a:t>Современные модели данных</a:t>
            </a:r>
            <a:endParaRPr lang="ru-RU" dirty="0" smtClean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Эволюция атак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технологий защиты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8A51C-8CC1-8D0D-EC85-FBE432D3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доверенной среды - 1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EEA8CB-2DDD-D701-766E-680D940526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4043565" cy="189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BF9192-BE18-48A6-B968-9423F6EAD48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010" y="2476865"/>
            <a:ext cx="3988918" cy="412048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Стрелка вправо 7">
            <a:extLst>
              <a:ext uri="{FF2B5EF4-FFF2-40B4-BE49-F238E27FC236}">
                <a16:creationId xmlns:a16="http://schemas.microsoft.com/office/drawing/2014/main" id="{7FDB7F3E-C5B0-024D-A3D8-264EA74C125F}"/>
              </a:ext>
            </a:extLst>
          </p:cNvPr>
          <p:cNvSpPr/>
          <p:nvPr/>
        </p:nvSpPr>
        <p:spPr>
          <a:xfrm>
            <a:off x="3467383" y="4163384"/>
            <a:ext cx="839929" cy="1089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B13BE3D-2F2A-CD92-9CDF-A4049628E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65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8A51C-8CC1-8D0D-EC85-FBE432D3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060" y="437884"/>
            <a:ext cx="7920880" cy="664820"/>
          </a:xfrm>
        </p:spPr>
        <p:txBody>
          <a:bodyPr/>
          <a:lstStyle/>
          <a:p>
            <a:r>
              <a:rPr lang="ru-RU" dirty="0"/>
              <a:t>Эволюция доверенной среды - 2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207D70-B853-1214-160C-22C6A3B1B01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88" y="1518466"/>
            <a:ext cx="8568952" cy="4104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E1DB4D2A-4CB7-87E7-F219-10DB408D1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90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8A51C-8CC1-8D0D-EC85-FBE432D3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060" y="437884"/>
            <a:ext cx="7920880" cy="664820"/>
          </a:xfrm>
        </p:spPr>
        <p:txBody>
          <a:bodyPr/>
          <a:lstStyle/>
          <a:p>
            <a:r>
              <a:rPr lang="ru-RU" dirty="0"/>
              <a:t>Эволюция доверенной среды - 3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3F5A95-5331-E08A-AA29-748F27A7579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21620"/>
            <a:ext cx="8424936" cy="38147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DFAE05-9D29-EF9C-7A8D-04B22B61E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7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C5B9D-1792-7C46-1777-30424B89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атак и защиты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B04A193-E536-13DA-5810-E0750518C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9722"/>
              </p:ext>
            </p:extLst>
          </p:nvPr>
        </p:nvGraphicFramePr>
        <p:xfrm>
          <a:off x="251520" y="1374557"/>
          <a:ext cx="8712968" cy="52519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405317550"/>
                    </a:ext>
                  </a:extLst>
                </a:gridCol>
                <a:gridCol w="3728604">
                  <a:extLst>
                    <a:ext uri="{9D8B030D-6E8A-4147-A177-3AD203B41FA5}">
                      <a16:colId xmlns:a16="http://schemas.microsoft.com/office/drawing/2014/main" val="1799629288"/>
                    </a:ext>
                  </a:extLst>
                </a:gridCol>
                <a:gridCol w="4696332">
                  <a:extLst>
                    <a:ext uri="{9D8B030D-6E8A-4147-A177-3AD203B41FA5}">
                      <a16:colId xmlns:a16="http://schemas.microsoft.com/office/drawing/2014/main" val="419529533"/>
                    </a:ext>
                  </a:extLst>
                </a:gridCol>
              </a:tblGrid>
              <a:tr h="351426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№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</a:pPr>
                      <a:r>
                        <a:rPr lang="ru-RU" sz="1400" kern="1200" dirty="0">
                          <a:effectLst/>
                        </a:rPr>
                        <a:t>Новые источники угроз безопасности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</a:pPr>
                      <a:r>
                        <a:rPr lang="ru-RU" sz="1400" kern="1200" dirty="0">
                          <a:effectLst/>
                        </a:rPr>
                        <a:t>Новые технологии защиты данных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3627403696"/>
                  </a:ext>
                </a:extLst>
              </a:tr>
              <a:tr h="351426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Физический доступ.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Организационная и физическая защита, шифрование.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4284282531"/>
                  </a:ext>
                </a:extLst>
              </a:tr>
              <a:tr h="640837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Статистический вывод над данными; физическое воздействие на сервер данных.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Технологии физической защиты.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Шифрование данных (при хранении на диске).  Мандатное разграничение доступа (MAC).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3883824077"/>
                  </a:ext>
                </a:extLst>
              </a:tr>
              <a:tr h="496132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Подмена пользователя и пользовательского запроса.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Фильтры запросов.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Дискреционное разграничение доступа (DAC).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2326742503"/>
                  </a:ext>
                </a:extLst>
              </a:tr>
              <a:tr h="733190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Перехват сообщений.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Удаленный доступ к серверу СУБД.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Логический и статистический вывод над данными.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Ролевое разграничение доступа (RBAC).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Шифрование данных (при передаче). 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Защита и фильтрация входных данных.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1057145019"/>
                  </a:ext>
                </a:extLst>
              </a:tr>
              <a:tr h="519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НСД путем повышения привилегий, эксплуатация привилегий DBA.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Инсайдеры.</a:t>
                      </a: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Сквозное шифрование данных.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Защищенный аудит и логгирование.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Онтологический доступ (OBAC).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3139418193"/>
                  </a:ext>
                </a:extLst>
              </a:tr>
              <a:tr h="957851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Не доверенные узлы – обработчики данных и не доверенная внутренняя среда передачи данных.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Изоляция внутренней среды обработки данных.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Унификация разграничения доступа к гетерогенным структурам данных (атрибутивный доступ ABAC). Распределенная авторизация, аутентификация и аудит. 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1391898256"/>
                  </a:ext>
                </a:extLst>
              </a:tr>
              <a:tr h="930247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Проблема атак логического вывода (связывания).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Атаки идентификации и их использование в мошенничестве. OSINT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Анализ пользовательского поведения и запросов.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Анонимизация (обфускация) данных.</a:t>
                      </a:r>
                    </a:p>
                    <a:p>
                      <a:pPr indent="0">
                        <a:lnSpc>
                          <a:spcPct val="120000"/>
                        </a:lnSpc>
                      </a:pPr>
                      <a:r>
                        <a:rPr lang="ru-RU" sz="1200" dirty="0">
                          <a:effectLst/>
                        </a:rPr>
                        <a:t>Технологии анализа данных с сохранением конфиденциальности.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6" marR="55776" marT="27888" marB="27888"/>
                </a:tc>
                <a:extLst>
                  <a:ext uri="{0D108BD9-81ED-4DB2-BD59-A6C34878D82A}">
                    <a16:rowId xmlns:a16="http://schemas.microsoft.com/office/drawing/2014/main" val="2150806268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711621-575B-7D02-3CA3-7D9EA905E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179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19BC1-5C21-FF9D-F610-483DF996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систем управления данными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AF4C1CB-D287-FA0C-E8EA-3823CFA87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40768"/>
            <a:ext cx="8811492" cy="439248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B4FF9-F605-1115-A919-809504A56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356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3B93F-834D-A8B9-1996-65CC51B9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Модель угроз. Объекты воздействия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3E36F7-2C25-7976-7F73-0A4F7A42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/>
              <a:t>Уровень сети</a:t>
            </a:r>
          </a:p>
          <a:p>
            <a:pPr marL="342900" lvl="1" indent="0">
              <a:buNone/>
            </a:pPr>
            <a:r>
              <a:rPr lang="ru-RU" dirty="0"/>
              <a:t>Протоколы и сетевые интерфейсы СУБД</a:t>
            </a:r>
            <a:endParaRPr lang="ru-RU" sz="1350" dirty="0"/>
          </a:p>
          <a:p>
            <a:pPr lvl="0"/>
            <a:r>
              <a:rPr lang="ru-RU" b="1" dirty="0"/>
              <a:t>Уровень операционной системы</a:t>
            </a:r>
          </a:p>
          <a:p>
            <a:pPr marL="342900" lvl="1" indent="0">
              <a:buNone/>
            </a:pPr>
            <a:r>
              <a:rPr lang="ru-RU" dirty="0"/>
              <a:t>Аппаратное обеспечение, программное обеспечение СУБД: </a:t>
            </a:r>
            <a:br>
              <a:rPr lang="ru-RU" dirty="0"/>
            </a:br>
            <a:r>
              <a:rPr lang="ru-RU" i="1" dirty="0"/>
              <a:t>службы, оперативную память, а также хранимые на внешних носителях данных объекты: базы данных, журналы (лог-файлы), резервные копии.</a:t>
            </a:r>
            <a:endParaRPr lang="ru-RU" sz="1350" i="1" dirty="0"/>
          </a:p>
          <a:p>
            <a:pPr lvl="0"/>
            <a:r>
              <a:rPr lang="ru-RU" b="1" dirty="0"/>
              <a:t>Уровень сервера СУБД</a:t>
            </a:r>
            <a:endParaRPr lang="ru-RU" dirty="0"/>
          </a:p>
          <a:p>
            <a:pPr marL="342900" lvl="1" indent="0">
              <a:buNone/>
            </a:pPr>
            <a:r>
              <a:rPr lang="ru-RU" dirty="0"/>
              <a:t>Пользователи СУБД, роли (включая служебные роли, рои приложений и т.д.), схема данных (отношения, связи, ключи, ограничения и т.д.), объекты сервера.</a:t>
            </a:r>
            <a:endParaRPr lang="ru-RU" sz="1350" dirty="0"/>
          </a:p>
          <a:p>
            <a:pPr lvl="1"/>
            <a:r>
              <a:rPr lang="ru-RU" dirty="0"/>
              <a:t>Компоненты сервера: роли, процедуры и функции и т.д.</a:t>
            </a:r>
            <a:endParaRPr lang="ru-RU" sz="1350" dirty="0"/>
          </a:p>
          <a:p>
            <a:pPr lvl="1"/>
            <a:r>
              <a:rPr lang="ru-RU" dirty="0"/>
              <a:t>Компоненты данных: отношения, схема данных, метаданные и т.д.</a:t>
            </a:r>
            <a:endParaRPr lang="ru-RU" sz="1350" dirty="0"/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D2BC9-E176-E3FB-38F0-90757BD9D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984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80560-0767-301D-320C-FB47C7CD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Модель угроз. Последствия реализации угрозы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52096-B0BA-CC06-2D1B-FA144C95F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37321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b="1" dirty="0"/>
              <a:t>Нарушение доступности:</a:t>
            </a:r>
            <a:endParaRPr lang="ru-RU" sz="1500" b="1" dirty="0"/>
          </a:p>
          <a:p>
            <a:pPr lvl="1"/>
            <a:r>
              <a:rPr lang="ru-RU" dirty="0"/>
              <a:t>Нарушение доступности сервера СУБД:</a:t>
            </a:r>
            <a:endParaRPr lang="ru-RU" sz="1350" dirty="0"/>
          </a:p>
          <a:p>
            <a:pPr lvl="2"/>
            <a:r>
              <a:rPr lang="ru-RU" dirty="0"/>
              <a:t>Выполнение произвольного кода в операционной системе (среде);</a:t>
            </a:r>
            <a:endParaRPr lang="ru-RU" sz="1125" dirty="0"/>
          </a:p>
          <a:p>
            <a:pPr lvl="2"/>
            <a:r>
              <a:rPr lang="ru-RU" dirty="0"/>
              <a:t>Нарушение работоспособности операционной системы (среды).</a:t>
            </a:r>
            <a:endParaRPr lang="ru-RU" sz="1125" dirty="0"/>
          </a:p>
          <a:p>
            <a:pPr lvl="1"/>
            <a:r>
              <a:rPr lang="ru-RU" dirty="0"/>
              <a:t>Нарушение доступности данных:</a:t>
            </a:r>
            <a:endParaRPr lang="ru-RU" sz="1350" dirty="0"/>
          </a:p>
          <a:p>
            <a:pPr lvl="2"/>
            <a:r>
              <a:rPr lang="ru-RU" dirty="0"/>
              <a:t>Нарушение доступности базы данных в целом;</a:t>
            </a:r>
            <a:endParaRPr lang="ru-RU" sz="1125" dirty="0"/>
          </a:p>
          <a:p>
            <a:pPr lvl="2"/>
            <a:r>
              <a:rPr lang="ru-RU" dirty="0"/>
              <a:t>Нарушение доступности результата запроса;</a:t>
            </a:r>
            <a:endParaRPr lang="ru-RU" sz="1125" dirty="0"/>
          </a:p>
          <a:p>
            <a:pPr lvl="2"/>
            <a:r>
              <a:rPr lang="ru-RU" dirty="0"/>
              <a:t>Нарушение доступности фрагмента данных.</a:t>
            </a:r>
            <a:endParaRPr lang="ru-RU" sz="1125" dirty="0"/>
          </a:p>
          <a:p>
            <a:pPr lvl="0"/>
            <a:r>
              <a:rPr lang="ru-RU" b="1" dirty="0"/>
              <a:t>Нарушение целостности:</a:t>
            </a:r>
            <a:endParaRPr lang="ru-RU" sz="1500" b="1" dirty="0"/>
          </a:p>
          <a:p>
            <a:pPr lvl="1"/>
            <a:r>
              <a:rPr lang="ru-RU" dirty="0"/>
              <a:t>Нарушение целостности программного обеспечения (ПО):</a:t>
            </a:r>
            <a:endParaRPr lang="ru-RU" sz="1350" dirty="0"/>
          </a:p>
          <a:p>
            <a:pPr lvl="2"/>
            <a:r>
              <a:rPr lang="ru-RU" dirty="0"/>
              <a:t>Нарушение целостности данных и ПО операционной системы;</a:t>
            </a:r>
            <a:endParaRPr lang="ru-RU" sz="1125" dirty="0"/>
          </a:p>
          <a:p>
            <a:pPr lvl="2"/>
            <a:r>
              <a:rPr lang="ru-RU" dirty="0"/>
              <a:t>Нарушение целостности ПО сервера СУБД.</a:t>
            </a:r>
            <a:endParaRPr lang="ru-RU" sz="1125" dirty="0"/>
          </a:p>
          <a:p>
            <a:pPr lvl="1"/>
            <a:r>
              <a:rPr lang="ru-RU" dirty="0"/>
              <a:t>Нарушение целостности данных:</a:t>
            </a:r>
            <a:endParaRPr lang="ru-RU" sz="1350" dirty="0"/>
          </a:p>
          <a:p>
            <a:pPr lvl="2"/>
            <a:r>
              <a:rPr lang="ru-RU" dirty="0"/>
              <a:t>Нарушение целостности схемы данных;</a:t>
            </a:r>
            <a:endParaRPr lang="ru-RU" sz="1125" dirty="0"/>
          </a:p>
          <a:p>
            <a:pPr lvl="2"/>
            <a:r>
              <a:rPr lang="ru-RU" dirty="0"/>
              <a:t>Нарушение целостности данных.</a:t>
            </a:r>
            <a:endParaRPr lang="ru-RU" sz="1125" dirty="0"/>
          </a:p>
          <a:p>
            <a:pPr lvl="0"/>
            <a:r>
              <a:rPr lang="ru-RU" b="1" dirty="0"/>
              <a:t>Нарушение конфиденциальности данных:</a:t>
            </a:r>
            <a:endParaRPr lang="ru-RU" sz="1500" b="1" dirty="0"/>
          </a:p>
          <a:p>
            <a:pPr lvl="1"/>
            <a:r>
              <a:rPr lang="ru-RU" dirty="0"/>
              <a:t>Повышение привилегий и несанкционированный доступ к данным;</a:t>
            </a:r>
            <a:endParaRPr lang="ru-RU" sz="1350" dirty="0"/>
          </a:p>
          <a:p>
            <a:pPr lvl="1"/>
            <a:r>
              <a:rPr lang="ru-RU" dirty="0"/>
              <a:t>Нарушение политики безопасности.</a:t>
            </a:r>
            <a:endParaRPr lang="ru-RU" sz="1350" dirty="0"/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4FF70F-38DA-226C-753B-637DC9B8D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17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02CEE-2103-5D4E-4C7A-925E57C4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Современное состояние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58B2F-7393-CD53-2DCF-F38731AC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10000"/>
          </a:bodyPr>
          <a:lstStyle/>
          <a:p>
            <a:r>
              <a:rPr lang="ru-RU" b="1" dirty="0"/>
              <a:t>Современные промышленные / корпоративные СУБД</a:t>
            </a:r>
          </a:p>
          <a:p>
            <a:pPr lvl="1"/>
            <a:r>
              <a:rPr lang="en-US" dirty="0"/>
              <a:t>SQLi – </a:t>
            </a:r>
            <a:r>
              <a:rPr lang="ru-RU" dirty="0"/>
              <a:t>одна из самых популярных техник;</a:t>
            </a:r>
          </a:p>
          <a:p>
            <a:pPr lvl="1"/>
            <a:r>
              <a:rPr lang="ru-RU" dirty="0"/>
              <a:t>Полные права для </a:t>
            </a:r>
            <a:r>
              <a:rPr lang="en-US" dirty="0"/>
              <a:t>DBA </a:t>
            </a:r>
            <a:r>
              <a:rPr lang="ru-RU" dirty="0"/>
              <a:t>и разные способы повышения привилегий;</a:t>
            </a:r>
          </a:p>
          <a:p>
            <a:pPr lvl="1"/>
            <a:r>
              <a:rPr lang="ru-RU" dirty="0"/>
              <a:t>Криптографические ключи в открытой памяти промышленных/ корпоративных СУБД;</a:t>
            </a:r>
          </a:p>
          <a:p>
            <a:pPr lvl="1"/>
            <a:r>
              <a:rPr lang="ru-RU" dirty="0"/>
              <a:t>Технология маскирования (если реализована), динамическая – «</a:t>
            </a:r>
            <a:r>
              <a:rPr lang="en-US" dirty="0"/>
              <a:t>as is</a:t>
            </a:r>
            <a:r>
              <a:rPr lang="ru-RU" dirty="0"/>
              <a:t>» уязвимая для простейших атак;</a:t>
            </a:r>
          </a:p>
          <a:p>
            <a:pPr lvl="1"/>
            <a:r>
              <a:rPr lang="ru-RU" dirty="0"/>
              <a:t>Проблемы «тонкого» разграничения доступа...</a:t>
            </a:r>
          </a:p>
          <a:p>
            <a:r>
              <a:rPr lang="ru-RU" dirty="0"/>
              <a:t>… </a:t>
            </a:r>
            <a:r>
              <a:rPr lang="ru-RU" b="1" dirty="0"/>
              <a:t>а что специализированные</a:t>
            </a:r>
            <a:r>
              <a:rPr lang="ru-RU" dirty="0"/>
              <a:t>?</a:t>
            </a:r>
          </a:p>
          <a:p>
            <a:pPr lvl="1"/>
            <a:r>
              <a:rPr lang="ru-RU" dirty="0"/>
              <a:t>Проблемы стабильности и функциональности «защищенных» СУБД;</a:t>
            </a:r>
          </a:p>
          <a:p>
            <a:pPr lvl="1"/>
            <a:r>
              <a:rPr lang="ru-RU" dirty="0"/>
              <a:t>Падение скорости для криптографических СУБД «всего» порядка 25-30%...</a:t>
            </a:r>
          </a:p>
          <a:p>
            <a:pPr lvl="1"/>
            <a:endParaRPr lang="ru-RU" dirty="0"/>
          </a:p>
          <a:p>
            <a:r>
              <a:rPr lang="ru-RU" dirty="0"/>
              <a:t>….</a:t>
            </a:r>
            <a:r>
              <a:rPr lang="ru-RU" b="1" dirty="0"/>
              <a:t>а еще:</a:t>
            </a:r>
          </a:p>
          <a:p>
            <a:pPr lvl="1"/>
            <a:r>
              <a:rPr lang="ru-RU" dirty="0"/>
              <a:t>В сервере СУБД десятки предустановленных привилегированных пользователей с паролями;</a:t>
            </a:r>
          </a:p>
          <a:p>
            <a:pPr lvl="1"/>
            <a:r>
              <a:rPr lang="ru-RU" dirty="0"/>
              <a:t>В сервере СУБД более 10000 предустановленных процедур, в том числе (в основном) привилегированных;</a:t>
            </a:r>
          </a:p>
          <a:p>
            <a:pPr lvl="1"/>
            <a:r>
              <a:rPr lang="ru-RU" dirty="0"/>
              <a:t>Открытые источники и возможности логического вывода;</a:t>
            </a:r>
          </a:p>
          <a:p>
            <a:pPr lvl="1"/>
            <a:r>
              <a:rPr lang="ru-RU" dirty="0"/>
              <a:t>* * *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38CAFD-FA39-43A6-5983-C0D7DAA9F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436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дальше?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0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7C651-5627-3AB4-D76A-79A86213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Направления исследований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F0B43-E26F-D1F0-2307-CFE42BD1A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25658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Классические и новые СУБД </a:t>
            </a:r>
          </a:p>
          <a:p>
            <a:pPr lvl="1"/>
            <a:r>
              <a:rPr lang="ru-RU" b="1" dirty="0" smtClean="0"/>
              <a:t>Сокращение поверхности атаки:</a:t>
            </a:r>
            <a:br>
              <a:rPr lang="ru-RU" b="1" dirty="0" smtClean="0"/>
            </a:br>
            <a:r>
              <a:rPr lang="ru-RU" b="1" dirty="0" err="1" smtClean="0"/>
              <a:t>Обфускация</a:t>
            </a:r>
            <a:r>
              <a:rPr lang="ru-RU" b="1" dirty="0" smtClean="0"/>
              <a:t> </a:t>
            </a:r>
            <a:r>
              <a:rPr lang="ru-RU" b="1" dirty="0"/>
              <a:t>и анонимизация данных</a:t>
            </a:r>
          </a:p>
          <a:p>
            <a:pPr lvl="2"/>
            <a:r>
              <a:rPr lang="ru-RU" dirty="0"/>
              <a:t>Новые методы и технологии маскирования</a:t>
            </a:r>
          </a:p>
          <a:p>
            <a:pPr lvl="2"/>
            <a:r>
              <a:rPr lang="ru-RU" dirty="0"/>
              <a:t>K-анонимизация (L-расстояние, T-близость)</a:t>
            </a:r>
          </a:p>
          <a:p>
            <a:pPr lvl="2"/>
            <a:r>
              <a:rPr lang="ru-RU" dirty="0"/>
              <a:t>Дифференциальная приватность</a:t>
            </a:r>
          </a:p>
          <a:p>
            <a:pPr lvl="1"/>
            <a:r>
              <a:rPr lang="ru-RU" b="1" dirty="0"/>
              <a:t>Шифрование во всех режимах хранения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(в т.ч. для новых типов СУБД)</a:t>
            </a:r>
          </a:p>
          <a:p>
            <a:pPr lvl="1"/>
            <a:r>
              <a:rPr lang="ru-RU" b="1" dirty="0"/>
              <a:t>Интеллектуальные методы контроля и управления доступом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(в т.ч. для новых типов СУБД)</a:t>
            </a:r>
          </a:p>
          <a:p>
            <a:pPr lvl="1"/>
            <a:r>
              <a:rPr lang="ru-RU" b="1" dirty="0"/>
              <a:t>Защита от различных типов атак логического вывода</a:t>
            </a:r>
          </a:p>
          <a:p>
            <a:pPr lvl="2"/>
            <a:r>
              <a:rPr lang="ru-RU" dirty="0"/>
              <a:t>Новые методы (в том числе, на основе интеллектуализации)</a:t>
            </a:r>
          </a:p>
          <a:p>
            <a:pPr lvl="2"/>
            <a:r>
              <a:rPr lang="ru-RU" dirty="0"/>
              <a:t>Совершенствование методов (фильтрации, контроля вывода и других)</a:t>
            </a:r>
          </a:p>
          <a:p>
            <a:pPr lvl="1"/>
            <a:r>
              <a:rPr lang="ru-RU" b="1" dirty="0" err="1"/>
              <a:t>Форензика</a:t>
            </a:r>
            <a:r>
              <a:rPr lang="ru-RU" dirty="0"/>
              <a:t> (порядок, методология)</a:t>
            </a:r>
          </a:p>
          <a:p>
            <a:r>
              <a:rPr lang="ru-RU" b="1" dirty="0"/>
              <a:t>Новые поколение (гетерогенные системы Больших данных) </a:t>
            </a:r>
          </a:p>
          <a:p>
            <a:pPr lvl="1"/>
            <a:r>
              <a:rPr lang="ru-RU" dirty="0"/>
              <a:t>Согласование и контроль доступа при разных моделях данных</a:t>
            </a:r>
          </a:p>
          <a:p>
            <a:pPr lvl="1"/>
            <a:r>
              <a:rPr lang="ru-RU" dirty="0"/>
              <a:t>Аудит и журнализация</a:t>
            </a:r>
          </a:p>
          <a:p>
            <a:pPr lvl="1"/>
            <a:r>
              <a:rPr lang="ru-RU" dirty="0"/>
              <a:t>***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1543EF-5099-13DC-859E-8FFFB2B8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76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750" y="2384425"/>
            <a:ext cx="7772400" cy="1900238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Моделирование данных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5" name="Рисунок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412750"/>
            <a:ext cx="244792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370510"/>
      </p:ext>
    </p:extLst>
  </p:cSld>
  <p:clrMapOvr>
    <a:masterClrMapping/>
  </p:clrMapOvr>
  <p:transition spd="slow" advTm="1215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Модель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475297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Инструмент</a:t>
            </a:r>
            <a:r>
              <a:rPr lang="ru-RU" dirty="0"/>
              <a:t> моделирования - "</a:t>
            </a:r>
            <a:r>
              <a:rPr lang="ru-RU" b="1" dirty="0"/>
              <a:t>модель данных</a:t>
            </a:r>
            <a:r>
              <a:rPr lang="ru-RU" dirty="0"/>
              <a:t>"</a:t>
            </a:r>
          </a:p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Результат </a:t>
            </a:r>
            <a:r>
              <a:rPr lang="ru-RU" dirty="0"/>
              <a:t>моделирования – </a:t>
            </a:r>
          </a:p>
          <a:p>
            <a:pPr lvl="1">
              <a:defRPr/>
            </a:pPr>
            <a:r>
              <a:rPr lang="ru-RU" dirty="0"/>
              <a:t>«</a:t>
            </a:r>
            <a:r>
              <a:rPr lang="ru-RU" b="1" i="1" dirty="0"/>
              <a:t>модель базы данных</a:t>
            </a:r>
            <a:r>
              <a:rPr lang="ru-RU" dirty="0"/>
              <a:t>» (представляющая собой схему базы данных) </a:t>
            </a:r>
          </a:p>
          <a:p>
            <a:pPr lvl="1">
              <a:defRPr/>
            </a:pPr>
            <a:r>
              <a:rPr lang="ru-RU" dirty="0"/>
              <a:t>«</a:t>
            </a:r>
            <a:r>
              <a:rPr lang="ru-RU" b="1" i="1" dirty="0"/>
              <a:t>модель предметной области</a:t>
            </a:r>
            <a:r>
              <a:rPr lang="ru-RU" dirty="0"/>
              <a:t>» (спецификации модели предметной области) </a:t>
            </a:r>
          </a:p>
          <a:p>
            <a:pPr lvl="1">
              <a:defRPr/>
            </a:pPr>
            <a:endParaRPr lang="ru-RU" dirty="0"/>
          </a:p>
          <a:p>
            <a:pPr>
              <a:defRPr/>
            </a:pPr>
            <a:r>
              <a:rPr lang="ru-RU" dirty="0"/>
              <a:t>Модель данных определена как комбинация трех компонентов: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b="1" i="1" dirty="0"/>
              <a:t>Коллекции типов объектов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b="1" i="1" dirty="0"/>
              <a:t>Коллекции общих правил целостности </a:t>
            </a:r>
            <a:r>
              <a:rPr lang="ru-RU" dirty="0"/>
              <a:t>(</a:t>
            </a:r>
            <a:r>
              <a:rPr lang="ru-RU" b="1" i="1" dirty="0"/>
              <a:t>отношения</a:t>
            </a:r>
            <a:r>
              <a:rPr lang="ru-RU" dirty="0"/>
              <a:t>)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b="1" i="1" dirty="0"/>
              <a:t>Коллекции общих правил целостности (ограничения)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ru-RU" b="1" i="1" dirty="0"/>
              <a:t>Коллекции операций</a:t>
            </a:r>
            <a:endParaRPr lang="ru-RU" dirty="0"/>
          </a:p>
          <a:p>
            <a:pPr>
              <a:defRPr/>
            </a:pPr>
            <a:endParaRPr lang="ru-RU" dirty="0"/>
          </a:p>
        </p:txBody>
      </p:sp>
      <p:sp>
        <p:nvSpPr>
          <p:cNvPr id="1024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1F994-5EC9-4F0E-AE37-7B6B9ACFB841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570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Модель </a:t>
            </a:r>
            <a:r>
              <a:rPr lang="ru-RU" dirty="0" smtClean="0"/>
              <a:t>данных</a:t>
            </a:r>
            <a:br>
              <a:rPr lang="ru-RU" dirty="0" smtClean="0"/>
            </a:br>
            <a:r>
              <a:rPr lang="ru-RU" sz="1350" i="1" dirty="0"/>
              <a:t>инструмент моделирования </a:t>
            </a:r>
            <a:r>
              <a:rPr lang="en-GB" sz="1350" i="1" dirty="0"/>
              <a:t>VS </a:t>
            </a:r>
            <a:r>
              <a:rPr lang="ru-RU" sz="1350" i="1" dirty="0"/>
              <a:t>результат моделирования </a:t>
            </a:r>
          </a:p>
        </p:txBody>
      </p:sp>
      <p:sp>
        <p:nvSpPr>
          <p:cNvPr id="11267" name="Текст 4"/>
          <p:cNvSpPr>
            <a:spLocks noGrp="1"/>
          </p:cNvSpPr>
          <p:nvPr>
            <p:ph type="body" idx="1"/>
          </p:nvPr>
        </p:nvSpPr>
        <p:spPr>
          <a:xfrm>
            <a:off x="515938" y="1700213"/>
            <a:ext cx="3138487" cy="604837"/>
          </a:xfrm>
        </p:spPr>
        <p:txBody>
          <a:bodyPr>
            <a:normAutofit fontScale="85000" lnSpcReduction="20000"/>
          </a:bodyPr>
          <a:lstStyle/>
          <a:p>
            <a:r>
              <a:rPr lang="ru-RU" altLang="ru-RU" smtClean="0"/>
              <a:t>Требования к модели данных</a:t>
            </a:r>
          </a:p>
        </p:txBody>
      </p:sp>
      <p:sp>
        <p:nvSpPr>
          <p:cNvPr id="11268" name="Объект 5"/>
          <p:cNvSpPr>
            <a:spLocks noGrp="1"/>
          </p:cNvSpPr>
          <p:nvPr>
            <p:ph sz="half" idx="2"/>
          </p:nvPr>
        </p:nvSpPr>
        <p:spPr>
          <a:xfrm>
            <a:off x="323850" y="2474913"/>
            <a:ext cx="3138488" cy="2808287"/>
          </a:xfrm>
        </p:spPr>
        <p:txBody>
          <a:bodyPr anchor="t"/>
          <a:lstStyle/>
          <a:p>
            <a:r>
              <a:rPr lang="ru-RU" altLang="ru-RU" sz="2000" smtClean="0"/>
              <a:t>Универсальность</a:t>
            </a:r>
          </a:p>
          <a:p>
            <a:r>
              <a:rPr lang="ru-RU" altLang="ru-RU" sz="2000" smtClean="0"/>
              <a:t>Возможность автоматизированной обработки</a:t>
            </a:r>
          </a:p>
          <a:p>
            <a:r>
              <a:rPr lang="ru-RU" altLang="ru-RU" sz="2000" smtClean="0"/>
              <a:t>Наглядность</a:t>
            </a:r>
          </a:p>
        </p:txBody>
      </p:sp>
      <p:sp>
        <p:nvSpPr>
          <p:cNvPr id="11269" name="Текст 6"/>
          <p:cNvSpPr>
            <a:spLocks noGrp="1"/>
          </p:cNvSpPr>
          <p:nvPr>
            <p:ph type="body" sz="quarter" idx="3"/>
          </p:nvPr>
        </p:nvSpPr>
        <p:spPr>
          <a:xfrm>
            <a:off x="4606925" y="1685925"/>
            <a:ext cx="3140075" cy="604838"/>
          </a:xfrm>
        </p:spPr>
        <p:txBody>
          <a:bodyPr>
            <a:normAutofit fontScale="85000" lnSpcReduction="20000"/>
          </a:bodyPr>
          <a:lstStyle/>
          <a:p>
            <a:r>
              <a:rPr lang="ru-RU" altLang="ru-RU" smtClean="0"/>
              <a:t>Содержимое </a:t>
            </a:r>
            <a:br>
              <a:rPr lang="ru-RU" altLang="ru-RU" smtClean="0"/>
            </a:br>
            <a:r>
              <a:rPr lang="ru-RU" altLang="ru-RU" smtClean="0"/>
              <a:t>(по Дэйту)</a:t>
            </a:r>
          </a:p>
        </p:txBody>
      </p:sp>
      <p:sp>
        <p:nvSpPr>
          <p:cNvPr id="11270" name="Объект 7"/>
          <p:cNvSpPr>
            <a:spLocks noGrp="1"/>
          </p:cNvSpPr>
          <p:nvPr>
            <p:ph sz="quarter" idx="4"/>
          </p:nvPr>
        </p:nvSpPr>
        <p:spPr>
          <a:xfrm>
            <a:off x="4029075" y="2486025"/>
            <a:ext cx="4646613" cy="2611438"/>
          </a:xfrm>
        </p:spPr>
        <p:txBody>
          <a:bodyPr anchor="t"/>
          <a:lstStyle/>
          <a:p>
            <a:r>
              <a:rPr lang="ru-RU" altLang="ru-RU" sz="2000" smtClean="0"/>
              <a:t>структуры данных (таблицы, и др)</a:t>
            </a:r>
          </a:p>
          <a:p>
            <a:r>
              <a:rPr lang="ru-RU" altLang="ru-RU" sz="2000" smtClean="0"/>
              <a:t>отношения между данными </a:t>
            </a:r>
            <a:br>
              <a:rPr lang="ru-RU" altLang="ru-RU" sz="2000" smtClean="0"/>
            </a:br>
            <a:r>
              <a:rPr lang="ru-RU" altLang="ru-RU" sz="2000" smtClean="0"/>
              <a:t>(связь структур)</a:t>
            </a:r>
          </a:p>
          <a:p>
            <a:r>
              <a:rPr lang="ru-RU" altLang="ru-RU" sz="2000" smtClean="0"/>
              <a:t>набор ограничений на данные</a:t>
            </a:r>
          </a:p>
          <a:p>
            <a:r>
              <a:rPr lang="ru-RU" altLang="ru-RU" sz="2000" smtClean="0"/>
              <a:t>допустимые операции</a:t>
            </a:r>
          </a:p>
          <a:p>
            <a:endParaRPr lang="ru-RU" altLang="ru-RU" sz="2000" smtClean="0"/>
          </a:p>
        </p:txBody>
      </p:sp>
      <p:sp>
        <p:nvSpPr>
          <p:cNvPr id="11271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FEE0FD66-BFF2-4623-9743-4422288E8EBE}" type="slidenum">
              <a:rPr lang="ru-RU" altLang="ru-RU">
                <a:solidFill>
                  <a:schemeClr val="bg1"/>
                </a:solidFill>
              </a:rPr>
              <a:pPr/>
              <a:t>16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1272" name="Текст 4"/>
          <p:cNvSpPr txBox="1">
            <a:spLocks/>
          </p:cNvSpPr>
          <p:nvPr/>
        </p:nvSpPr>
        <p:spPr bwMode="auto">
          <a:xfrm>
            <a:off x="514350" y="5283200"/>
            <a:ext cx="45815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ru-RU" altLang="ru-RU" sz="1800">
                <a:solidFill>
                  <a:srgbClr val="818180"/>
                </a:solidFill>
              </a:rPr>
              <a:t>Аналогия с типом данных</a:t>
            </a:r>
          </a:p>
        </p:txBody>
      </p:sp>
      <p:sp>
        <p:nvSpPr>
          <p:cNvPr id="10" name="Объект 5"/>
          <p:cNvSpPr txBox="1">
            <a:spLocks/>
          </p:cNvSpPr>
          <p:nvPr/>
        </p:nvSpPr>
        <p:spPr>
          <a:xfrm>
            <a:off x="514350" y="6010275"/>
            <a:ext cx="5364163" cy="630238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350" dirty="0"/>
              <a:t>Схема БД – совокупность типов данных</a:t>
            </a:r>
          </a:p>
          <a:p>
            <a:pPr>
              <a:defRPr/>
            </a:pPr>
            <a:r>
              <a:rPr lang="ru-RU" sz="1350" dirty="0"/>
              <a:t>БД – совокупность значений данных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616450" y="5778500"/>
            <a:ext cx="3051175" cy="8620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/>
              <a:t>Модель данных –</a:t>
            </a:r>
            <a:br>
              <a:rPr lang="ru-RU" dirty="0"/>
            </a:br>
            <a:r>
              <a:rPr lang="ru-RU" dirty="0"/>
              <a:t>совокупность категорий типов данных</a:t>
            </a:r>
          </a:p>
        </p:txBody>
      </p:sp>
      <p:sp>
        <p:nvSpPr>
          <p:cNvPr id="13" name="Стрелка вправо 12"/>
          <p:cNvSpPr/>
          <p:nvPr/>
        </p:nvSpPr>
        <p:spPr>
          <a:xfrm>
            <a:off x="4308475" y="5664200"/>
            <a:ext cx="298450" cy="447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78762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Математическое определение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76225" y="1462088"/>
            <a:ext cx="3359150" cy="2111375"/>
          </a:xfrm>
        </p:spPr>
        <p:txBody>
          <a:bodyPr>
            <a:normAutofit fontScale="77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dirty="0" smtClean="0"/>
              <a:t>Модель </a:t>
            </a:r>
            <a:r>
              <a:rPr lang="ru-RU" dirty="0"/>
              <a:t>данных </a:t>
            </a:r>
            <a:r>
              <a:rPr lang="ru-RU" dirty="0" smtClean="0"/>
              <a:t>- </a:t>
            </a:r>
            <a:r>
              <a:rPr lang="ru-RU" b="1" i="1" dirty="0" smtClean="0">
                <a:solidFill>
                  <a:schemeClr val="accent1"/>
                </a:solidFill>
              </a:rPr>
              <a:t>алгебраическая </a:t>
            </a:r>
            <a:r>
              <a:rPr lang="ru-RU" b="1" i="1" dirty="0">
                <a:solidFill>
                  <a:schemeClr val="accent1"/>
                </a:solidFill>
              </a:rPr>
              <a:t>система</a:t>
            </a:r>
            <a:r>
              <a:rPr lang="ru-RU" dirty="0">
                <a:solidFill>
                  <a:schemeClr val="accent1"/>
                </a:solidFill>
              </a:rPr>
              <a:t> </a:t>
            </a:r>
            <a:endParaRPr lang="ru-RU" dirty="0" smtClean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ru-RU" dirty="0" smtClean="0"/>
              <a:t>множество допустимых </a:t>
            </a:r>
            <a:r>
              <a:rPr lang="ru-RU" dirty="0"/>
              <a:t>типов </a:t>
            </a:r>
            <a:r>
              <a:rPr lang="ru-RU" dirty="0" smtClean="0"/>
              <a:t>данных</a:t>
            </a:r>
          </a:p>
          <a:p>
            <a:pPr>
              <a:defRPr/>
            </a:pPr>
            <a:r>
              <a:rPr lang="ru-RU" dirty="0" smtClean="0"/>
              <a:t>определенных </a:t>
            </a:r>
            <a:r>
              <a:rPr lang="ru-RU" dirty="0"/>
              <a:t>на них отношений </a:t>
            </a:r>
            <a:endParaRPr lang="ru-RU" dirty="0" smtClean="0"/>
          </a:p>
          <a:p>
            <a:pPr>
              <a:defRPr/>
            </a:pPr>
            <a:r>
              <a:rPr lang="ru-RU" dirty="0" smtClean="0"/>
              <a:t>и </a:t>
            </a:r>
            <a:r>
              <a:rPr lang="ru-RU" dirty="0"/>
              <a:t>операций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3921125" y="1412875"/>
            <a:ext cx="4683125" cy="2160588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b="1" dirty="0"/>
              <a:t>А</a:t>
            </a:r>
            <a:r>
              <a:rPr lang="ru-RU" sz="1800" b="1" dirty="0" smtClean="0"/>
              <a:t>лгебра</a:t>
            </a:r>
            <a:r>
              <a:rPr lang="ru-RU" sz="1800" dirty="0" smtClean="0"/>
              <a:t> - пара  </a:t>
            </a:r>
            <a:r>
              <a:rPr lang="ru-RU" sz="1800" dirty="0"/>
              <a:t>множеств </a:t>
            </a:r>
            <a:r>
              <a:rPr lang="ru-RU" sz="1800" b="1" dirty="0"/>
              <a:t>&lt;</a:t>
            </a:r>
            <a:r>
              <a:rPr lang="en-US" sz="1800" b="1" dirty="0"/>
              <a:t>M</a:t>
            </a:r>
            <a:r>
              <a:rPr lang="ru-RU" sz="1800" b="1" dirty="0"/>
              <a:t>; </a:t>
            </a:r>
            <a:r>
              <a:rPr lang="ru-RU" sz="1800" b="1" dirty="0">
                <a:sym typeface="Symbol" panose="05050102010706020507" pitchFamily="18" charset="2"/>
              </a:rPr>
              <a:t></a:t>
            </a:r>
            <a:r>
              <a:rPr lang="ru-RU" sz="1800" b="1" dirty="0" smtClean="0"/>
              <a:t>&gt;</a:t>
            </a:r>
            <a:endParaRPr lang="ru-RU" sz="1800" dirty="0" smtClean="0"/>
          </a:p>
          <a:p>
            <a:pPr>
              <a:defRPr/>
            </a:pPr>
            <a:r>
              <a:rPr lang="en-US" sz="1800" dirty="0" smtClean="0"/>
              <a:t>M</a:t>
            </a:r>
            <a:r>
              <a:rPr lang="ru-RU" sz="1800" dirty="0" smtClean="0"/>
              <a:t> – непустое множество элементов (носитель, основное множество алгебры);</a:t>
            </a:r>
          </a:p>
          <a:p>
            <a:pPr>
              <a:defRPr/>
            </a:pPr>
            <a:r>
              <a:rPr lang="ru-RU" sz="1800" dirty="0" smtClean="0">
                <a:sym typeface="Symbol" panose="05050102010706020507" pitchFamily="18" charset="2"/>
              </a:rPr>
              <a:t></a:t>
            </a:r>
            <a:r>
              <a:rPr lang="ru-RU" sz="1800" dirty="0" smtClean="0"/>
              <a:t> - </a:t>
            </a:r>
            <a:r>
              <a:rPr lang="ru-RU" sz="1800" dirty="0"/>
              <a:t>непустое множество операций, определенных на множестве </a:t>
            </a:r>
            <a:r>
              <a:rPr lang="en-US" sz="1800" dirty="0"/>
              <a:t>M</a:t>
            </a:r>
            <a:endParaRPr lang="ru-RU" sz="1800" dirty="0"/>
          </a:p>
        </p:txBody>
      </p:sp>
      <p:sp>
        <p:nvSpPr>
          <p:cNvPr id="12293" name="Номер слайда 6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0D40BB1A-BF54-4584-ABA0-D261A8D5F20B}" type="slidenum">
              <a:rPr lang="ru-RU" altLang="ru-RU">
                <a:solidFill>
                  <a:schemeClr val="bg1"/>
                </a:solidFill>
              </a:rPr>
              <a:pPr/>
              <a:t>17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8" name="Объект 5"/>
          <p:cNvSpPr txBox="1">
            <a:spLocks/>
          </p:cNvSpPr>
          <p:nvPr/>
        </p:nvSpPr>
        <p:spPr>
          <a:xfrm>
            <a:off x="395288" y="3932238"/>
            <a:ext cx="3000375" cy="234315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/>
            </a:pPr>
            <a:r>
              <a:rPr lang="ru-RU" sz="1350" b="1" dirty="0"/>
              <a:t>Алгебраическая система </a:t>
            </a:r>
            <a:r>
              <a:rPr lang="ru-RU" sz="1350" dirty="0"/>
              <a:t>&lt;</a:t>
            </a:r>
            <a:r>
              <a:rPr lang="en-US" sz="1350" b="1" dirty="0"/>
              <a:t>M</a:t>
            </a:r>
            <a:r>
              <a:rPr lang="ru-RU" sz="1350" dirty="0"/>
              <a:t>;</a:t>
            </a:r>
            <a:r>
              <a:rPr lang="ru-RU" sz="1350" b="1" dirty="0">
                <a:sym typeface="Symbol" panose="05050102010706020507" pitchFamily="18" charset="2"/>
              </a:rPr>
              <a:t></a:t>
            </a:r>
            <a:r>
              <a:rPr lang="ru-RU" sz="1350" dirty="0"/>
              <a:t>;</a:t>
            </a:r>
            <a:r>
              <a:rPr lang="ru-RU" sz="1350" b="1" dirty="0"/>
              <a:t>R</a:t>
            </a:r>
            <a:r>
              <a:rPr lang="ru-RU" sz="1350" dirty="0"/>
              <a:t>&gt;</a:t>
            </a:r>
          </a:p>
          <a:p>
            <a:pPr>
              <a:defRPr/>
            </a:pPr>
            <a:r>
              <a:rPr lang="en-US" sz="1350" dirty="0"/>
              <a:t>M</a:t>
            </a:r>
            <a:r>
              <a:rPr lang="ru-RU" sz="1350" dirty="0"/>
              <a:t> – непустое множество элементов (носитель, основное множество алгебры);</a:t>
            </a:r>
          </a:p>
          <a:p>
            <a:pPr>
              <a:defRPr/>
            </a:pPr>
            <a:r>
              <a:rPr lang="ru-RU" sz="1350" dirty="0">
                <a:sym typeface="Symbol" panose="05050102010706020507" pitchFamily="18" charset="2"/>
              </a:rPr>
              <a:t></a:t>
            </a:r>
            <a:r>
              <a:rPr lang="ru-RU" sz="1350" dirty="0"/>
              <a:t> - непустое множество операций, определенных на множестве </a:t>
            </a:r>
            <a:r>
              <a:rPr lang="en-US" sz="1350" dirty="0"/>
              <a:t>M</a:t>
            </a:r>
            <a:endParaRPr lang="ru-RU" sz="1350" dirty="0"/>
          </a:p>
          <a:p>
            <a:pPr>
              <a:defRPr/>
            </a:pPr>
            <a:r>
              <a:rPr lang="ru-RU" sz="1350" b="1" dirty="0"/>
              <a:t>R </a:t>
            </a:r>
            <a:r>
              <a:rPr lang="ru-RU" sz="1350" dirty="0"/>
              <a:t>- множеств отношений, определенных на </a:t>
            </a:r>
            <a:r>
              <a:rPr lang="en-US" sz="1350" b="1" dirty="0"/>
              <a:t>M</a:t>
            </a:r>
            <a:endParaRPr lang="ru-RU" sz="1350" dirty="0"/>
          </a:p>
        </p:txBody>
      </p:sp>
      <p:sp>
        <p:nvSpPr>
          <p:cNvPr id="9" name="Объект 3"/>
          <p:cNvSpPr txBox="1">
            <a:spLocks/>
          </p:cNvSpPr>
          <p:nvPr/>
        </p:nvSpPr>
        <p:spPr>
          <a:xfrm>
            <a:off x="3921125" y="3770313"/>
            <a:ext cx="4395788" cy="2871787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/>
            </a:pPr>
            <a:r>
              <a:rPr lang="ru-RU" sz="1600" b="1" dirty="0"/>
              <a:t>Модель данных </a:t>
            </a:r>
            <a:r>
              <a:rPr lang="en-US" sz="1600" b="1" dirty="0"/>
              <a:t>M</a:t>
            </a:r>
            <a:r>
              <a:rPr lang="ru-RU" sz="1600" b="1" dirty="0"/>
              <a:t> </a:t>
            </a:r>
            <a:r>
              <a:rPr lang="ru-RU" sz="1600" dirty="0"/>
              <a:t>это двойка </a:t>
            </a:r>
            <a:r>
              <a:rPr lang="ru-RU" sz="1600" b="1" dirty="0"/>
              <a:t>M = &lt;G,O&gt;</a:t>
            </a:r>
          </a:p>
          <a:p>
            <a:pPr marL="0" indent="0">
              <a:buFont typeface="Wingdings 3" charset="2"/>
              <a:buNone/>
              <a:defRPr/>
            </a:pPr>
            <a:r>
              <a:rPr lang="en-US" sz="1600" b="1" dirty="0"/>
              <a:t>G</a:t>
            </a:r>
            <a:r>
              <a:rPr lang="ru-RU" sz="1600" dirty="0"/>
              <a:t> – множество правил порождения структур данных G = &lt;</a:t>
            </a:r>
            <a:r>
              <a:rPr lang="ru-RU" sz="1600" dirty="0" err="1"/>
              <a:t>Gs,Gc</a:t>
            </a:r>
            <a:r>
              <a:rPr lang="ru-RU" sz="1600" dirty="0"/>
              <a:t>&gt;</a:t>
            </a:r>
          </a:p>
          <a:p>
            <a:pPr>
              <a:defRPr/>
            </a:pPr>
            <a:r>
              <a:rPr lang="ru-RU" sz="1600" dirty="0"/>
              <a:t>правила порождения структур </a:t>
            </a:r>
            <a:r>
              <a:rPr lang="en-US" sz="1600" dirty="0" err="1"/>
              <a:t>G</a:t>
            </a:r>
            <a:r>
              <a:rPr lang="en-US" sz="1600" baseline="-25000" dirty="0" err="1"/>
              <a:t>s</a:t>
            </a:r>
            <a:r>
              <a:rPr lang="en-US" sz="1600" dirty="0"/>
              <a:t> </a:t>
            </a:r>
            <a:endParaRPr lang="ru-RU" sz="1600" dirty="0"/>
          </a:p>
          <a:p>
            <a:pPr>
              <a:defRPr/>
            </a:pPr>
            <a:r>
              <a:rPr lang="ru-RU" sz="1600" dirty="0"/>
              <a:t>правила порождения (явных) ограничений </a:t>
            </a:r>
            <a:r>
              <a:rPr lang="en-US" sz="1600" dirty="0"/>
              <a:t>G</a:t>
            </a:r>
            <a:r>
              <a:rPr lang="ru-RU" sz="1600" baseline="-25000" dirty="0"/>
              <a:t>с</a:t>
            </a:r>
            <a:r>
              <a:rPr lang="ru-RU" sz="1600" dirty="0"/>
              <a:t>.</a:t>
            </a:r>
            <a:endParaRPr lang="ru-RU" sz="1600" b="1" dirty="0"/>
          </a:p>
          <a:p>
            <a:pPr marL="0" indent="0">
              <a:buFont typeface="Wingdings 3" charset="2"/>
              <a:buNone/>
              <a:defRPr/>
            </a:pPr>
            <a:r>
              <a:rPr lang="en-US" sz="1600" b="1" dirty="0"/>
              <a:t>O </a:t>
            </a:r>
            <a:r>
              <a:rPr lang="ru-RU" sz="1600" dirty="0"/>
              <a:t>– множество операций над структурами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344570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Особенности моделей данных</a:t>
            </a:r>
          </a:p>
        </p:txBody>
      </p:sp>
      <p:sp>
        <p:nvSpPr>
          <p:cNvPr id="13315" name="Текст 4"/>
          <p:cNvSpPr>
            <a:spLocks noGrp="1" noChangeArrowheads="1"/>
          </p:cNvSpPr>
          <p:nvPr>
            <p:ph type="body" idx="1"/>
          </p:nvPr>
        </p:nvSpPr>
        <p:spPr>
          <a:xfrm>
            <a:off x="328282" y="4869472"/>
            <a:ext cx="2089150" cy="639762"/>
          </a:xfrm>
        </p:spPr>
        <p:txBody>
          <a:bodyPr anchor="ctr"/>
          <a:lstStyle/>
          <a:p>
            <a:r>
              <a:rPr lang="ru-RU" altLang="ru-RU" smtClean="0"/>
              <a:t>Требования </a:t>
            </a:r>
          </a:p>
        </p:txBody>
      </p:sp>
      <p:sp>
        <p:nvSpPr>
          <p:cNvPr id="13316" name="Объект 5"/>
          <p:cNvSpPr>
            <a:spLocks noGrp="1" noChangeArrowheads="1"/>
          </p:cNvSpPr>
          <p:nvPr>
            <p:ph sz="half" idx="2"/>
          </p:nvPr>
        </p:nvSpPr>
        <p:spPr>
          <a:xfrm>
            <a:off x="1500029" y="5438844"/>
            <a:ext cx="5580112" cy="1225550"/>
          </a:xfrm>
        </p:spPr>
        <p:txBody>
          <a:bodyPr anchor="t"/>
          <a:lstStyle/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1600" dirty="0" smtClean="0"/>
              <a:t>Универсальность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1600" dirty="0" smtClean="0"/>
              <a:t>Автоматизация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ru-RU" altLang="ru-RU" sz="1600" dirty="0" smtClean="0"/>
              <a:t>Прозрачность</a:t>
            </a:r>
          </a:p>
          <a:p>
            <a:endParaRPr lang="ru-RU" altLang="ru-RU" sz="1600" dirty="0" smtClean="0"/>
          </a:p>
        </p:txBody>
      </p:sp>
      <p:sp>
        <p:nvSpPr>
          <p:cNvPr id="13317" name="Текст 6"/>
          <p:cNvSpPr>
            <a:spLocks noGrp="1" noChangeArrowheads="1"/>
          </p:cNvSpPr>
          <p:nvPr>
            <p:ph type="body" sz="quarter" idx="3"/>
          </p:nvPr>
        </p:nvSpPr>
        <p:spPr>
          <a:xfrm>
            <a:off x="250825" y="1247775"/>
            <a:ext cx="8435975" cy="639763"/>
          </a:xfrm>
        </p:spPr>
        <p:txBody>
          <a:bodyPr anchor="ctr"/>
          <a:lstStyle/>
          <a:p>
            <a:r>
              <a:rPr lang="ru-RU" altLang="ru-RU" smtClean="0"/>
              <a:t>Назначение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1475655" y="1887538"/>
            <a:ext cx="7488957" cy="2766472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Инструмент для определения видов данных и их организации. 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Основа разработки методологии проектирования и управления данными; 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Основа для создания семейства языков высокого уровня манипулирования данными ;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Фокус разработки архитектуры СУБД; 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Обеспечение эволюции данных.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sz="1600" dirty="0"/>
              <a:t>Отправная точка для исследований по манипуляционным свойствами или альтернативным организациям данных. 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/>
            </a:pPr>
            <a:endParaRPr lang="ru-RU" sz="1600" dirty="0"/>
          </a:p>
        </p:txBody>
      </p:sp>
      <p:sp>
        <p:nvSpPr>
          <p:cNvPr id="1331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AF6E82-3AF1-4D31-A9C3-F4ED42B9DC36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358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Основные понятия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1412875"/>
            <a:ext cx="8240713" cy="51117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defRPr/>
            </a:pPr>
            <a:r>
              <a:rPr lang="ru-RU" b="1" i="1" dirty="0"/>
              <a:t>Сущность</a:t>
            </a:r>
            <a:r>
              <a:rPr lang="ru-RU" dirty="0"/>
              <a:t> – это (в терминах концептуальной модели) формализованное описание некоторого концептуального объекта.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Каждая сущность состоит из атрибутов</a:t>
            </a:r>
            <a:r>
              <a:rPr lang="ru-RU" b="1" dirty="0"/>
              <a:t>. </a:t>
            </a:r>
            <a:endParaRPr lang="ru-RU" dirty="0"/>
          </a:p>
          <a:p>
            <a:pPr lvl="1">
              <a:spcBef>
                <a:spcPts val="1200"/>
              </a:spcBef>
              <a:defRPr/>
            </a:pPr>
            <a:r>
              <a:rPr lang="ru-RU" i="1" u="sng" dirty="0"/>
              <a:t>Фактически атрибут</a:t>
            </a:r>
            <a:r>
              <a:rPr lang="ru-RU" dirty="0"/>
              <a:t> – это описатель ячейки данных; </a:t>
            </a:r>
            <a:br>
              <a:rPr lang="ru-RU" dirty="0"/>
            </a:br>
            <a:r>
              <a:rPr lang="ru-RU" dirty="0"/>
              <a:t>для СУБД он представляет собой пару (имя: домен). </a:t>
            </a:r>
          </a:p>
          <a:p>
            <a:pPr lvl="1">
              <a:spcBef>
                <a:spcPts val="1200"/>
              </a:spcBef>
              <a:defRPr/>
            </a:pPr>
            <a:r>
              <a:rPr lang="ru-RU" b="1" i="1" dirty="0"/>
              <a:t>Экземпляр сущности</a:t>
            </a:r>
            <a:r>
              <a:rPr lang="ru-RU" dirty="0"/>
              <a:t> соответствует объекту реальной действительности.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Экземпляр сущности может быть идентифицирован уникальным образом (понятие </a:t>
            </a:r>
            <a:r>
              <a:rPr lang="ru-RU" b="1" i="1" dirty="0"/>
              <a:t>ключа</a:t>
            </a:r>
            <a:r>
              <a:rPr lang="ru-RU" dirty="0"/>
              <a:t>).</a:t>
            </a:r>
          </a:p>
          <a:p>
            <a:pPr lvl="1">
              <a:spcBef>
                <a:spcPts val="1200"/>
              </a:spcBef>
              <a:defRPr/>
            </a:pPr>
            <a:r>
              <a:rPr lang="ru-RU" b="1" i="1" dirty="0"/>
              <a:t>Мощность сущности</a:t>
            </a:r>
            <a:r>
              <a:rPr lang="ru-RU" dirty="0"/>
              <a:t> – число ее экземпляров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Атрибуты могут быть </a:t>
            </a:r>
            <a:r>
              <a:rPr lang="ru-RU" b="1" dirty="0"/>
              <a:t>обязательными</a:t>
            </a:r>
            <a:r>
              <a:rPr lang="ru-RU" dirty="0"/>
              <a:t> или </a:t>
            </a:r>
            <a:r>
              <a:rPr lang="ru-RU" b="1" dirty="0"/>
              <a:t>опциональным</a:t>
            </a:r>
            <a:r>
              <a:rPr lang="ru-RU" dirty="0"/>
              <a:t>и. </a:t>
            </a:r>
          </a:p>
          <a:p>
            <a:pPr>
              <a:spcBef>
                <a:spcPts val="1200"/>
              </a:spcBef>
              <a:defRPr/>
            </a:pPr>
            <a:r>
              <a:rPr lang="ru-RU" dirty="0"/>
              <a:t>Сущность может быть изображена на схеме с разной степенью детализации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/>
              <a:t>Нижний уровень детализации – </a:t>
            </a:r>
            <a:br>
              <a:rPr lang="ru-RU" dirty="0"/>
            </a:br>
            <a:r>
              <a:rPr lang="ru-RU" dirty="0"/>
              <a:t>достаточен для прямого перевода в логическую модель</a:t>
            </a:r>
          </a:p>
        </p:txBody>
      </p:sp>
      <p:sp>
        <p:nvSpPr>
          <p:cNvPr id="14340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4D6997-C735-4BD1-9F87-6419F0F7771E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2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Ключи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1654175"/>
            <a:ext cx="8196263" cy="2944813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 b="1" dirty="0"/>
              <a:t>Ключ</a:t>
            </a:r>
            <a:r>
              <a:rPr lang="ru-RU" dirty="0"/>
              <a:t> – это группа атрибутов из набора атрибутов сущности, уникально идентифицирующий экземпляр сущности. </a:t>
            </a:r>
          </a:p>
          <a:p>
            <a:pPr lvl="1">
              <a:defRPr/>
            </a:pPr>
            <a:r>
              <a:rPr lang="ru-RU" dirty="0"/>
              <a:t>Поиск</a:t>
            </a:r>
          </a:p>
          <a:p>
            <a:pPr lvl="1">
              <a:defRPr/>
            </a:pPr>
            <a:r>
              <a:rPr lang="ru-RU" dirty="0"/>
              <a:t>Гарантия уникальности</a:t>
            </a:r>
          </a:p>
          <a:p>
            <a:pPr>
              <a:defRPr/>
            </a:pPr>
            <a:r>
              <a:rPr lang="ru-RU" b="1" dirty="0"/>
              <a:t>Потенциальный ключ </a:t>
            </a:r>
            <a:r>
              <a:rPr lang="ru-RU" dirty="0"/>
              <a:t>непременно должен удовлетворять </a:t>
            </a:r>
            <a:r>
              <a:rPr lang="ru-RU" dirty="0" err="1"/>
              <a:t>трѐм</a:t>
            </a:r>
            <a:r>
              <a:rPr lang="ru-RU" dirty="0"/>
              <a:t> следующим требованиям:</a:t>
            </a:r>
          </a:p>
          <a:p>
            <a:pPr lvl="1">
              <a:defRPr/>
            </a:pPr>
            <a:r>
              <a:rPr lang="ru-RU" dirty="0" err="1"/>
              <a:t>определѐнность</a:t>
            </a:r>
            <a:r>
              <a:rPr lang="ru-RU" dirty="0"/>
              <a:t>  </a:t>
            </a:r>
          </a:p>
          <a:p>
            <a:pPr lvl="1">
              <a:defRPr/>
            </a:pPr>
            <a:r>
              <a:rPr lang="ru-RU" dirty="0"/>
              <a:t>уникальность</a:t>
            </a:r>
          </a:p>
          <a:p>
            <a:pPr lvl="1">
              <a:defRPr/>
            </a:pPr>
            <a:r>
              <a:rPr lang="ru-RU" dirty="0" err="1"/>
              <a:t>неизбыточность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Один – </a:t>
            </a:r>
            <a:r>
              <a:rPr lang="ru-RU" u="sng" dirty="0"/>
              <a:t>первичный ключ</a:t>
            </a:r>
            <a:r>
              <a:rPr lang="ru-RU" dirty="0"/>
              <a:t>. Остальные - </a:t>
            </a:r>
            <a:r>
              <a:rPr lang="ru-RU" u="sng" dirty="0"/>
              <a:t>альтернативные</a:t>
            </a:r>
            <a:r>
              <a:rPr lang="ru-RU" dirty="0"/>
              <a:t>. </a:t>
            </a:r>
          </a:p>
          <a:p>
            <a:pPr>
              <a:defRPr/>
            </a:pPr>
            <a:r>
              <a:rPr lang="ru-RU" dirty="0"/>
              <a:t>Абстрактный </a:t>
            </a:r>
            <a:r>
              <a:rPr lang="ru-RU" u="sng" dirty="0"/>
              <a:t>(суррогатный) ключ</a:t>
            </a:r>
            <a:endParaRPr lang="ru-RU" dirty="0"/>
          </a:p>
          <a:p>
            <a:pPr>
              <a:defRPr/>
            </a:pPr>
            <a:endParaRPr lang="ru-RU" dirty="0"/>
          </a:p>
        </p:txBody>
      </p:sp>
      <p:sp>
        <p:nvSpPr>
          <p:cNvPr id="15364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589963" y="6042025"/>
            <a:ext cx="6842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8895B6-2B97-4C7C-B0C0-1B1866032480}" type="slidenum">
              <a:rPr lang="ru-RU" altLang="ru-RU" sz="900" b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900" b="0">
              <a:solidFill>
                <a:schemeClr val="accent1"/>
              </a:solidFill>
            </a:endParaRPr>
          </a:p>
        </p:txBody>
      </p:sp>
      <p:sp>
        <p:nvSpPr>
          <p:cNvPr id="6" name="Левая фигурная скобка 5"/>
          <p:cNvSpPr/>
          <p:nvPr/>
        </p:nvSpPr>
        <p:spPr>
          <a:xfrm rot="16200000">
            <a:off x="3763169" y="1447007"/>
            <a:ext cx="371475" cy="6675437"/>
          </a:xfrm>
          <a:prstGeom prst="leftBrace">
            <a:avLst>
              <a:gd name="adj1" fmla="val 6730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508000" y="5422900"/>
            <a:ext cx="6446838" cy="1236663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350" b="1" dirty="0">
                <a:solidFill>
                  <a:srgbClr val="C00000"/>
                </a:solidFill>
              </a:rPr>
              <a:t>Ключ</a:t>
            </a:r>
            <a:r>
              <a:rPr lang="ru-RU" sz="1350" dirty="0">
                <a:solidFill>
                  <a:srgbClr val="C00000"/>
                </a:solidFill>
              </a:rPr>
              <a:t> </a:t>
            </a:r>
            <a:r>
              <a:rPr lang="ru-RU" sz="1350" dirty="0"/>
              <a:t>– базовое понятие всех </a:t>
            </a:r>
            <a:r>
              <a:rPr lang="ru-RU" sz="1350" i="1" u="sng" dirty="0"/>
              <a:t>систем управления данными</a:t>
            </a:r>
          </a:p>
          <a:p>
            <a:pPr>
              <a:defRPr/>
            </a:pPr>
            <a:r>
              <a:rPr lang="ru-RU" sz="1350" dirty="0"/>
              <a:t>Ключи </a:t>
            </a:r>
            <a:r>
              <a:rPr lang="ru-RU" sz="1350" dirty="0">
                <a:solidFill>
                  <a:srgbClr val="C00000"/>
                </a:solidFill>
              </a:rPr>
              <a:t>необходимы</a:t>
            </a:r>
            <a:r>
              <a:rPr lang="ru-RU" sz="1350" dirty="0"/>
              <a:t> для эффективной автоматизации обработки данных</a:t>
            </a:r>
          </a:p>
          <a:p>
            <a:pPr>
              <a:defRPr/>
            </a:pPr>
            <a:r>
              <a:rPr lang="ru-RU" sz="1350" dirty="0"/>
              <a:t>Ключи </a:t>
            </a:r>
            <a:r>
              <a:rPr lang="ru-RU" sz="1350" dirty="0">
                <a:solidFill>
                  <a:srgbClr val="C00000"/>
                </a:solidFill>
              </a:rPr>
              <a:t>являются «точкой входа» </a:t>
            </a:r>
            <a:r>
              <a:rPr lang="ru-RU" sz="1350" dirty="0"/>
              <a:t>целого ряда атак </a:t>
            </a:r>
            <a:r>
              <a:rPr lang="ru-RU" sz="1350" dirty="0">
                <a:solidFill>
                  <a:srgbClr val="C00000"/>
                </a:solidFill>
              </a:rPr>
              <a:t>в любых </a:t>
            </a:r>
            <a:r>
              <a:rPr lang="ru-RU" sz="1350" i="1" u="sng" dirty="0"/>
              <a:t>системах управления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413723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Классификация моделей данных</a:t>
            </a:r>
          </a:p>
        </p:txBody>
      </p:sp>
      <p:pic>
        <p:nvPicPr>
          <p:cNvPr id="17411" name="Объект 6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576388"/>
            <a:ext cx="7848600" cy="4568825"/>
          </a:xfrm>
        </p:spPr>
      </p:pic>
      <p:sp>
        <p:nvSpPr>
          <p:cNvPr id="17412" name="Номер слайда 6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79ECFE-95B6-4090-A36A-7297448306F4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548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Теоретико-графовые </a:t>
            </a:r>
            <a:r>
              <a:rPr lang="ru-RU" dirty="0" smtClean="0"/>
              <a:t>модели</a:t>
            </a:r>
            <a:br>
              <a:rPr lang="ru-RU" dirty="0" smtClean="0"/>
            </a:br>
            <a:r>
              <a:rPr lang="ru-RU" dirty="0"/>
              <a:t>Иерархическая модель</a:t>
            </a:r>
          </a:p>
        </p:txBody>
      </p:sp>
      <p:sp>
        <p:nvSpPr>
          <p:cNvPr id="18435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CD8028B6-0774-430A-95F5-6FAFD7E561D4}" type="slidenum">
              <a:rPr lang="ru-RU" altLang="ru-RU">
                <a:solidFill>
                  <a:schemeClr val="bg1"/>
                </a:solidFill>
              </a:rPr>
              <a:pPr/>
              <a:t>22</a:t>
            </a:fld>
            <a:endParaRPr lang="ru-RU" altLang="ru-RU">
              <a:solidFill>
                <a:schemeClr val="bg1"/>
              </a:solidFill>
            </a:endParaRPr>
          </a:p>
        </p:txBody>
      </p:sp>
      <p:pic>
        <p:nvPicPr>
          <p:cNvPr id="18436" name="Рисунок 5" descr="http://citforum.ru/database/advanced_intro/2_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395538"/>
            <a:ext cx="38639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Рисунок 6" descr="http://citforum.ru/database/advanced_intro/2_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941888"/>
            <a:ext cx="4827587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214313" y="1541463"/>
            <a:ext cx="2243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данных -</a:t>
            </a:r>
          </a:p>
        </p:txBody>
      </p:sp>
      <p:sp>
        <p:nvSpPr>
          <p:cNvPr id="18439" name="TextBox 8"/>
          <p:cNvSpPr txBox="1">
            <a:spLocks noChangeArrowheads="1"/>
          </p:cNvSpPr>
          <p:nvPr/>
        </p:nvSpPr>
        <p:spPr bwMode="auto">
          <a:xfrm>
            <a:off x="214313" y="4352925"/>
            <a:ext cx="3001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Экземпляр данных</a:t>
            </a:r>
          </a:p>
        </p:txBody>
      </p:sp>
      <p:pic>
        <p:nvPicPr>
          <p:cNvPr id="18440" name="Picture 2" descr="https://commons.bmstu.wiki/images/4/45/Img-DYrj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49400"/>
            <a:ext cx="4560888" cy="38290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626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Теоретико-графовые модели</a:t>
            </a:r>
            <a:br>
              <a:rPr lang="ru-RU" dirty="0"/>
            </a:br>
            <a:r>
              <a:rPr lang="ru-RU" dirty="0" smtClean="0"/>
              <a:t>Сетевая </a:t>
            </a:r>
            <a:r>
              <a:rPr lang="ru-RU" dirty="0"/>
              <a:t>модель</a:t>
            </a:r>
          </a:p>
        </p:txBody>
      </p:sp>
      <p:sp>
        <p:nvSpPr>
          <p:cNvPr id="19459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06A5F708-4B09-477F-8E1D-46B00EAFC21E}" type="slidenum">
              <a:rPr lang="ru-RU" altLang="ru-RU">
                <a:solidFill>
                  <a:schemeClr val="bg1"/>
                </a:solidFill>
              </a:rPr>
              <a:pPr/>
              <a:t>23</a:t>
            </a:fld>
            <a:endParaRPr lang="ru-RU" altLang="ru-RU">
              <a:solidFill>
                <a:schemeClr val="bg1"/>
              </a:solidFill>
            </a:endParaRPr>
          </a:p>
        </p:txBody>
      </p:sp>
      <p:pic>
        <p:nvPicPr>
          <p:cNvPr id="19460" name="Рисунок 4" descr="http://citforum.ru/database/advanced_intro/2_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50" y="1422400"/>
            <a:ext cx="378142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2" descr="https://commons.bmstu.wiki/images/3/3f/Img-4vSZ_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3068638"/>
            <a:ext cx="5224463" cy="36687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2" name="TextBox 6"/>
          <p:cNvSpPr txBox="1">
            <a:spLocks noChangeArrowheads="1"/>
          </p:cNvSpPr>
          <p:nvPr/>
        </p:nvSpPr>
        <p:spPr bwMode="auto">
          <a:xfrm>
            <a:off x="404813" y="1557338"/>
            <a:ext cx="2243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данных -</a:t>
            </a:r>
          </a:p>
        </p:txBody>
      </p:sp>
    </p:spTree>
    <p:extLst>
      <p:ext uri="{BB962C8B-B14F-4D97-AF65-F5344CB8AC3E}">
        <p14:creationId xmlns:p14="http://schemas.microsoft.com/office/powerpoint/2010/main" val="2247251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Теоретико-графовые модели</a:t>
            </a:r>
            <a:br>
              <a:rPr lang="ru-RU" dirty="0"/>
            </a:br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4752975"/>
          </a:xfrm>
        </p:spPr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ru-RU" sz="1800" b="1" dirty="0" smtClean="0"/>
              <a:t>Достоинства</a:t>
            </a:r>
            <a:endParaRPr lang="ru-RU" sz="1800" dirty="0" smtClean="0"/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развитые средства управления данными во внешней памяти на низком уровне;</a:t>
            </a:r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возможность построения вручную эффективных прикладных систем;</a:t>
            </a:r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возможность экономии памяти за счет разделения подобъектов (сети).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ru-RU" sz="1800" b="1" dirty="0" smtClean="0"/>
              <a:t>Недостатки </a:t>
            </a:r>
            <a:endParaRPr lang="ru-RU" sz="1800" dirty="0" smtClean="0"/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сложность использования;</a:t>
            </a:r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высокий уровень требований к знаниям о физической организации БД;</a:t>
            </a:r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зависимость прикладных систем от физической организации БД;</a:t>
            </a:r>
          </a:p>
          <a:p>
            <a:pPr>
              <a:spcBef>
                <a:spcPts val="600"/>
              </a:spcBef>
              <a:defRPr/>
            </a:pPr>
            <a:r>
              <a:rPr lang="ru-RU" sz="1800" dirty="0" smtClean="0"/>
              <a:t>перегруженность логики прикладных систем</a:t>
            </a:r>
            <a:br>
              <a:rPr lang="ru-RU" sz="1800" dirty="0" smtClean="0"/>
            </a:br>
            <a:r>
              <a:rPr lang="ru-RU" sz="1800" dirty="0" smtClean="0"/>
              <a:t> деталями организации доступа к БД.</a:t>
            </a:r>
          </a:p>
          <a:p>
            <a:pPr>
              <a:defRPr/>
            </a:pPr>
            <a:endParaRPr lang="ru-RU" sz="1800" dirty="0"/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11BEC566-D705-4918-9BF3-57F16A77E3CF}" type="slidenum">
              <a:rPr lang="ru-RU" altLang="ru-RU">
                <a:solidFill>
                  <a:schemeClr val="bg1"/>
                </a:solidFill>
              </a:rPr>
              <a:pPr/>
              <a:t>24</a:t>
            </a:fld>
            <a:endParaRPr lang="ru-RU" alt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921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Теоретико-множественные модели</a:t>
            </a:r>
          </a:p>
        </p:txBody>
      </p:sp>
      <p:sp>
        <p:nvSpPr>
          <p:cNvPr id="21507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F214BEBF-BB41-438B-8282-D3559B3AC3E2}" type="slidenum">
              <a:rPr lang="ru-RU" altLang="ru-RU">
                <a:solidFill>
                  <a:schemeClr val="bg1"/>
                </a:solidFill>
              </a:rPr>
              <a:pPr/>
              <a:t>25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21508" name="Текст 10"/>
          <p:cNvSpPr txBox="1">
            <a:spLocks/>
          </p:cNvSpPr>
          <p:nvPr/>
        </p:nvSpPr>
        <p:spPr bwMode="auto">
          <a:xfrm>
            <a:off x="250825" y="1414463"/>
            <a:ext cx="418623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ru-RU" altLang="ru-RU" b="1"/>
              <a:t>Особенности</a:t>
            </a:r>
          </a:p>
        </p:txBody>
      </p:sp>
      <p:sp>
        <p:nvSpPr>
          <p:cNvPr id="7" name="Объект 11"/>
          <p:cNvSpPr>
            <a:spLocks noGrp="1"/>
          </p:cNvSpPr>
          <p:nvPr>
            <p:ph sz="half" idx="4294967295"/>
          </p:nvPr>
        </p:nvSpPr>
        <p:spPr>
          <a:xfrm>
            <a:off x="342900" y="2005013"/>
            <a:ext cx="4186238" cy="369887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dirty="0" smtClean="0"/>
              <a:t>Персистентные* </a:t>
            </a:r>
            <a:r>
              <a:rPr lang="ru-RU" dirty="0"/>
              <a:t>структуры данных </a:t>
            </a:r>
            <a:endParaRPr lang="ru-RU" dirty="0" smtClean="0"/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dirty="0" smtClean="0"/>
              <a:t>Универсальность для разных приложений</a:t>
            </a:r>
          </a:p>
          <a:p>
            <a:pPr>
              <a:defRPr/>
            </a:pPr>
            <a:r>
              <a:rPr lang="ru-RU" dirty="0" smtClean="0"/>
              <a:t>Высокая автоматизация</a:t>
            </a:r>
          </a:p>
          <a:p>
            <a:pPr>
              <a:defRPr/>
            </a:pPr>
            <a:r>
              <a:rPr lang="ru-RU" dirty="0" smtClean="0"/>
              <a:t>Высокая (сравнительно) стандартизация</a:t>
            </a:r>
          </a:p>
          <a:p>
            <a:pPr>
              <a:defRPr/>
            </a:pPr>
            <a:endParaRPr lang="ru-RU" dirty="0" smtClean="0"/>
          </a:p>
          <a:p>
            <a:pPr>
              <a:defRPr/>
            </a:pPr>
            <a:r>
              <a:rPr lang="ru-RU" i="1" dirty="0" smtClean="0"/>
              <a:t>Потеря соответствия с отображением данных в программных средствах (ООП)</a:t>
            </a:r>
            <a:endParaRPr lang="ru-RU" i="1" dirty="0"/>
          </a:p>
        </p:txBody>
      </p:sp>
      <p:sp>
        <p:nvSpPr>
          <p:cNvPr id="21510" name="Текст 12"/>
          <p:cNvSpPr txBox="1">
            <a:spLocks/>
          </p:cNvSpPr>
          <p:nvPr/>
        </p:nvSpPr>
        <p:spPr bwMode="auto">
          <a:xfrm>
            <a:off x="4976813" y="1673225"/>
            <a:ext cx="4186237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/>
              <a:t>Решение проблемы соответствия</a:t>
            </a:r>
          </a:p>
        </p:txBody>
      </p:sp>
      <p:sp>
        <p:nvSpPr>
          <p:cNvPr id="21511" name="Объект 13"/>
          <p:cNvSpPr>
            <a:spLocks noGrp="1"/>
          </p:cNvSpPr>
          <p:nvPr>
            <p:ph sz="quarter" idx="4294967295"/>
          </p:nvPr>
        </p:nvSpPr>
        <p:spPr>
          <a:xfrm>
            <a:off x="4976813" y="2838450"/>
            <a:ext cx="3328987" cy="2455863"/>
          </a:xfrm>
        </p:spPr>
        <p:txBody>
          <a:bodyPr/>
          <a:lstStyle/>
          <a:p>
            <a:r>
              <a:rPr lang="ru-RU" altLang="ru-RU" sz="1800" smtClean="0"/>
              <a:t>Методы отображения сложных структур в РСУБД </a:t>
            </a:r>
            <a:br>
              <a:rPr lang="ru-RU" altLang="ru-RU" sz="1800" smtClean="0"/>
            </a:br>
            <a:r>
              <a:rPr lang="ru-RU" altLang="ru-RU" sz="1800" smtClean="0"/>
              <a:t>(</a:t>
            </a:r>
            <a:r>
              <a:rPr lang="ru-RU" altLang="ru-RU" sz="1800" i="1" smtClean="0"/>
              <a:t>в т.ч. поддержка сложных типов – </a:t>
            </a:r>
            <a:r>
              <a:rPr lang="en-GB" altLang="ru-RU" sz="1800" i="1" smtClean="0"/>
              <a:t>XML, JSON </a:t>
            </a:r>
            <a:r>
              <a:rPr lang="ru-RU" altLang="ru-RU" sz="1800" i="1" smtClean="0"/>
              <a:t>в РСУБД</a:t>
            </a:r>
            <a:r>
              <a:rPr lang="ru-RU" altLang="ru-RU" sz="1800" smtClean="0"/>
              <a:t>)</a:t>
            </a:r>
          </a:p>
          <a:p>
            <a:r>
              <a:rPr lang="ru-RU" altLang="ru-RU" sz="1800" smtClean="0"/>
              <a:t>Новые СУБД с новыми моделями данных</a:t>
            </a:r>
          </a:p>
        </p:txBody>
      </p:sp>
      <p:sp>
        <p:nvSpPr>
          <p:cNvPr id="21512" name="TextBox 9"/>
          <p:cNvSpPr txBox="1">
            <a:spLocks noChangeArrowheads="1"/>
          </p:cNvSpPr>
          <p:nvPr/>
        </p:nvSpPr>
        <p:spPr bwMode="auto">
          <a:xfrm>
            <a:off x="330200" y="6183313"/>
            <a:ext cx="7975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 sz="1400" i="1"/>
              <a:t>* Персистентными структурами данных называются такие структуры, что при всяком их изменении остается доступ ко всем предыдущим версиям этой структуры.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86325" y="1679575"/>
            <a:ext cx="3573463" cy="39100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058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11A52D-4CFC-F17D-7080-51FDA6E7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44" y="2533391"/>
            <a:ext cx="5805444" cy="3068001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3F4DA9E3-ECA3-B79C-9AB7-DF381B5A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модель данных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75F02E5-CAB1-C4AB-85AC-4CAA71DEF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266328"/>
          </a:xfrm>
        </p:spPr>
        <p:txBody>
          <a:bodyPr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1600" dirty="0"/>
              <a:t>Отношение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Ссылка по внешнему ключу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Ограничения целостности</a:t>
            </a:r>
          </a:p>
          <a:p>
            <a:pPr>
              <a:buFont typeface="+mj-lt"/>
              <a:buAutoNum type="arabicPeriod"/>
            </a:pPr>
            <a:r>
              <a:rPr lang="ru-RU" sz="1600" dirty="0"/>
              <a:t>Реляционная алгебра</a:t>
            </a:r>
          </a:p>
          <a:p>
            <a:endParaRPr lang="ru-RU" sz="16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9A36AF-B4F0-585D-FAB1-A8961B622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DAAE0A1F-36D4-36D3-6634-A46503B60396}"/>
              </a:ext>
            </a:extLst>
          </p:cNvPr>
          <p:cNvSpPr txBox="1">
            <a:spLocks/>
          </p:cNvSpPr>
          <p:nvPr/>
        </p:nvSpPr>
        <p:spPr>
          <a:xfrm>
            <a:off x="683568" y="5589240"/>
            <a:ext cx="7848872" cy="10115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Codd E.F. The Relation Model for Large</a:t>
            </a:r>
            <a:r>
              <a:rPr lang="ru-RU" sz="1400" dirty="0"/>
              <a:t> </a:t>
            </a:r>
            <a:r>
              <a:rPr lang="en-US" sz="1400" dirty="0"/>
              <a:t>Shared Data Banks // Communications of</a:t>
            </a:r>
            <a:r>
              <a:rPr lang="ru-RU" sz="1400" dirty="0"/>
              <a:t> </a:t>
            </a:r>
            <a:r>
              <a:rPr lang="en-US" sz="1400" dirty="0"/>
              <a:t>the ACM. 1970. Vol. 13, No. 6. P. 377-387.</a:t>
            </a:r>
          </a:p>
          <a:p>
            <a:r>
              <a:rPr lang="ru-RU" sz="1400" dirty="0"/>
              <a:t>Звание "</a:t>
            </a:r>
            <a:r>
              <a:rPr lang="en-US" sz="1400" dirty="0"/>
              <a:t>IBM</a:t>
            </a:r>
            <a:r>
              <a:rPr lang="ru-RU" sz="1400" dirty="0"/>
              <a:t> </a:t>
            </a:r>
            <a:r>
              <a:rPr lang="en-US" sz="1400" dirty="0"/>
              <a:t>Fellow" (1976) </a:t>
            </a:r>
            <a:r>
              <a:rPr lang="ru-RU" sz="1400" dirty="0"/>
              <a:t>и премия Тьюринга (1981).</a:t>
            </a:r>
          </a:p>
        </p:txBody>
      </p:sp>
    </p:spTree>
    <p:extLst>
      <p:ext uri="{BB962C8B-B14F-4D97-AF65-F5344CB8AC3E}">
        <p14:creationId xmlns:p14="http://schemas.microsoft.com/office/powerpoint/2010/main" val="3026271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Решение проблемы соответствия</a:t>
            </a:r>
            <a:endParaRPr lang="ru-RU" dirty="0"/>
          </a:p>
        </p:txBody>
      </p:sp>
      <p:sp>
        <p:nvSpPr>
          <p:cNvPr id="22531" name="Текст 4"/>
          <p:cNvSpPr>
            <a:spLocks noGrp="1"/>
          </p:cNvSpPr>
          <p:nvPr>
            <p:ph type="body" idx="1"/>
          </p:nvPr>
        </p:nvSpPr>
        <p:spPr>
          <a:xfrm>
            <a:off x="323850" y="1990725"/>
            <a:ext cx="3875088" cy="574675"/>
          </a:xfrm>
        </p:spPr>
        <p:txBody>
          <a:bodyPr>
            <a:normAutofit fontScale="77500" lnSpcReduction="20000"/>
          </a:bodyPr>
          <a:lstStyle/>
          <a:p>
            <a:r>
              <a:rPr lang="ru-RU" altLang="ru-RU" smtClean="0"/>
              <a:t>Объектно-ориентированная МД</a:t>
            </a:r>
          </a:p>
        </p:txBody>
      </p:sp>
      <p:sp>
        <p:nvSpPr>
          <p:cNvPr id="22532" name="Объект 5"/>
          <p:cNvSpPr>
            <a:spLocks noGrp="1"/>
          </p:cNvSpPr>
          <p:nvPr>
            <p:ph sz="half" idx="2"/>
          </p:nvPr>
        </p:nvSpPr>
        <p:spPr>
          <a:xfrm>
            <a:off x="187325" y="2924175"/>
            <a:ext cx="4148138" cy="3673475"/>
          </a:xfrm>
        </p:spPr>
        <p:txBody>
          <a:bodyPr anchor="t"/>
          <a:lstStyle/>
          <a:p>
            <a:r>
              <a:rPr lang="ru-RU" altLang="ru-RU" sz="2000" smtClean="0"/>
              <a:t>Решение проблемы соответствия напрямую</a:t>
            </a:r>
          </a:p>
          <a:p>
            <a:endParaRPr lang="ru-RU" altLang="ru-RU" sz="2000" smtClean="0"/>
          </a:p>
          <a:p>
            <a:r>
              <a:rPr lang="ru-RU" altLang="ru-RU" sz="2000" i="1" smtClean="0"/>
              <a:t>Нет эффективных механизмов управления данными </a:t>
            </a:r>
            <a:br>
              <a:rPr lang="ru-RU" altLang="ru-RU" sz="2000" i="1" smtClean="0"/>
            </a:br>
            <a:r>
              <a:rPr lang="ru-RU" altLang="ru-RU" sz="2000" i="1" smtClean="0"/>
              <a:t>(в т.ч. в памяти)</a:t>
            </a:r>
          </a:p>
          <a:p>
            <a:r>
              <a:rPr lang="ru-RU" altLang="ru-RU" sz="2000" i="1" smtClean="0"/>
              <a:t>Нет оптимизации запросов</a:t>
            </a:r>
          </a:p>
          <a:p>
            <a:endParaRPr lang="ru-RU" altLang="ru-RU" sz="2000" smtClean="0"/>
          </a:p>
        </p:txBody>
      </p:sp>
      <p:sp>
        <p:nvSpPr>
          <p:cNvPr id="22533" name="Текст 6"/>
          <p:cNvSpPr>
            <a:spLocks noGrp="1"/>
          </p:cNvSpPr>
          <p:nvPr>
            <p:ph type="body" sz="quarter" idx="3"/>
          </p:nvPr>
        </p:nvSpPr>
        <p:spPr>
          <a:xfrm>
            <a:off x="5734050" y="1701800"/>
            <a:ext cx="3138488" cy="369888"/>
          </a:xfrm>
        </p:spPr>
        <p:txBody>
          <a:bodyPr>
            <a:normAutofit fontScale="92500" lnSpcReduction="20000"/>
          </a:bodyPr>
          <a:lstStyle/>
          <a:p>
            <a:r>
              <a:rPr lang="en-US" altLang="ru-RU" smtClean="0"/>
              <a:t>NoSQL – </a:t>
            </a:r>
            <a:r>
              <a:rPr lang="ru-RU" altLang="ru-RU" smtClean="0"/>
              <a:t>СУБД 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5254625" y="2249488"/>
            <a:ext cx="3617913" cy="4419600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dirty="0" err="1" smtClean="0"/>
              <a:t>NoSQL</a:t>
            </a:r>
            <a:r>
              <a:rPr lang="en-US" dirty="0" smtClean="0"/>
              <a:t> – </a:t>
            </a:r>
            <a:r>
              <a:rPr lang="ru-RU" dirty="0" smtClean="0"/>
              <a:t>маркетинговый неологизм</a:t>
            </a:r>
          </a:p>
          <a:p>
            <a:pPr>
              <a:defRPr/>
            </a:pPr>
            <a:r>
              <a:rPr lang="ru-RU" dirty="0" smtClean="0"/>
              <a:t>Не используется </a:t>
            </a:r>
            <a:r>
              <a:rPr lang="en-GB" dirty="0" smtClean="0"/>
              <a:t>SQL (</a:t>
            </a:r>
            <a:r>
              <a:rPr lang="ru-RU" dirty="0" smtClean="0"/>
              <a:t>возможно использование его модификаций)</a:t>
            </a:r>
          </a:p>
          <a:p>
            <a:pPr>
              <a:defRPr/>
            </a:pPr>
            <a:r>
              <a:rPr lang="ru-RU" dirty="0" smtClean="0"/>
              <a:t>Открытый код (не всегда)</a:t>
            </a:r>
            <a:endParaRPr lang="en-GB" dirty="0" smtClean="0"/>
          </a:p>
          <a:p>
            <a:pPr>
              <a:defRPr/>
            </a:pPr>
            <a:r>
              <a:rPr lang="ru-RU" dirty="0" smtClean="0"/>
              <a:t>Рассчитаны на кластеры и высокую нагрузку (но не все)</a:t>
            </a:r>
          </a:p>
          <a:p>
            <a:pPr>
              <a:defRPr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b="1" dirty="0"/>
              <a:t>СУБД с </a:t>
            </a:r>
            <a:r>
              <a:rPr lang="ru-RU" b="1" i="1" dirty="0"/>
              <a:t>неявной</a:t>
            </a:r>
            <a:r>
              <a:rPr lang="ru-RU" b="1" dirty="0"/>
              <a:t> схемой</a:t>
            </a:r>
            <a:endParaRPr lang="en-GB" b="1" dirty="0"/>
          </a:p>
          <a:p>
            <a:pPr>
              <a:defRPr/>
            </a:pPr>
            <a:r>
              <a:rPr lang="ru-RU" dirty="0" smtClean="0"/>
              <a:t>Для понимания данных - обращение к коду приложения, не БД/СУБД</a:t>
            </a:r>
          </a:p>
          <a:p>
            <a:pPr>
              <a:defRPr/>
            </a:pPr>
            <a:r>
              <a:rPr lang="ru-RU" dirty="0" smtClean="0"/>
              <a:t>Несогласованное манипулирование данными из разных приложений</a:t>
            </a:r>
          </a:p>
          <a:p>
            <a:pPr>
              <a:defRPr/>
            </a:pPr>
            <a:r>
              <a:rPr lang="ru-RU" dirty="0" smtClean="0"/>
              <a:t>Гибкость на уровне агрегата</a:t>
            </a:r>
            <a:endParaRPr lang="ru-RU" dirty="0"/>
          </a:p>
        </p:txBody>
      </p:sp>
      <p:sp>
        <p:nvSpPr>
          <p:cNvPr id="22535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978033D8-A631-4116-A22F-9E39AE168208}" type="slidenum">
              <a:rPr lang="ru-RU" altLang="ru-RU">
                <a:solidFill>
                  <a:schemeClr val="bg1"/>
                </a:solidFill>
              </a:rPr>
              <a:pPr/>
              <a:t>27</a:t>
            </a:fld>
            <a:endParaRPr lang="ru-RU" altLang="ru-RU">
              <a:solidFill>
                <a:schemeClr val="bg1"/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051050" y="1350963"/>
            <a:ext cx="1320800" cy="35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4702175" y="1355725"/>
            <a:ext cx="1104900" cy="168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авая фигурная скобка 13"/>
          <p:cNvSpPr/>
          <p:nvPr/>
        </p:nvSpPr>
        <p:spPr>
          <a:xfrm rot="5400000">
            <a:off x="6921501" y="2557462"/>
            <a:ext cx="177800" cy="3724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1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Модель ключ - значение</a:t>
            </a:r>
          </a:p>
        </p:txBody>
      </p:sp>
      <p:sp>
        <p:nvSpPr>
          <p:cNvPr id="2355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6F514E-CF03-4657-8D1A-38B10B6E472C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3556" name="Объект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3357563"/>
            <a:ext cx="7313613" cy="3024187"/>
          </a:xfrm>
        </p:spPr>
      </p:pic>
      <p:pic>
        <p:nvPicPr>
          <p:cNvPr id="23557" name="Рисунок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304925"/>
            <a:ext cx="5713412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Прямоугольник 5"/>
          <p:cNvSpPr>
            <a:spLocks noChangeArrowheads="1"/>
          </p:cNvSpPr>
          <p:nvPr/>
        </p:nvSpPr>
        <p:spPr bwMode="auto">
          <a:xfrm>
            <a:off x="7380288" y="1703388"/>
            <a:ext cx="12096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en-US" altLang="ru-RU">
                <a:cs typeface="Times New Roman" panose="02020603050405020304" pitchFamily="18" charset="0"/>
              </a:rPr>
              <a:t>Riak</a:t>
            </a:r>
            <a:r>
              <a:rPr lang="ru-RU" altLang="ru-RU">
                <a:cs typeface="Times New Roman" panose="02020603050405020304" pitchFamily="18" charset="0"/>
              </a:rPr>
              <a:t>, </a:t>
            </a:r>
            <a:r>
              <a:rPr lang="en-US" altLang="ru-RU">
                <a:cs typeface="Times New Roman" panose="02020603050405020304" pitchFamily="18" charset="0"/>
              </a:rPr>
              <a:t>Redis</a:t>
            </a:r>
            <a:r>
              <a:rPr lang="ru-RU" altLang="ru-RU">
                <a:cs typeface="Times New Roman" panose="02020603050405020304" pitchFamily="18" charset="0"/>
              </a:rPr>
              <a:t>, </a:t>
            </a:r>
            <a:r>
              <a:rPr lang="en-US" altLang="ru-RU">
                <a:cs typeface="Times New Roman" panose="02020603050405020304" pitchFamily="18" charset="0"/>
              </a:rPr>
              <a:t>Hbase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06852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Модель </a:t>
            </a:r>
            <a:r>
              <a:rPr lang="ru-RU" dirty="0" err="1"/>
              <a:t>документоориентированная</a:t>
            </a:r>
            <a:endParaRPr lang="ru-RU" dirty="0"/>
          </a:p>
        </p:txBody>
      </p:sp>
      <p:sp>
        <p:nvSpPr>
          <p:cNvPr id="2457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24003D-F1F5-488E-AD9C-E34F2D09AF67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4580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557338"/>
            <a:ext cx="7840662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91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Модель </a:t>
            </a:r>
            <a:r>
              <a:rPr lang="ru-RU" dirty="0" err="1" smtClean="0"/>
              <a:t>документоориентированная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25603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1D9310-2AD8-4C82-A8F3-673D9F152529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5604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41438"/>
            <a:ext cx="72009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Прямоугольник 5"/>
          <p:cNvSpPr>
            <a:spLocks noChangeArrowheads="1"/>
          </p:cNvSpPr>
          <p:nvPr/>
        </p:nvSpPr>
        <p:spPr bwMode="auto">
          <a:xfrm>
            <a:off x="7734300" y="1476375"/>
            <a:ext cx="1230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GB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ru-RU">
                <a:latin typeface="Times New Roman" panose="02020603050405020304" pitchFamily="18" charset="0"/>
              </a:rPr>
              <a:t>CouchDB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8421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Сравнение реляционной и </a:t>
            </a:r>
            <a:r>
              <a:rPr lang="ru-RU" dirty="0" err="1"/>
              <a:t>документоориентированной</a:t>
            </a:r>
            <a:r>
              <a:rPr lang="ru-RU" dirty="0"/>
              <a:t> моделей</a:t>
            </a:r>
          </a:p>
        </p:txBody>
      </p:sp>
      <p:sp>
        <p:nvSpPr>
          <p:cNvPr id="2662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284135-D9C6-4F5E-84B5-68BE447939A1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6628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84313"/>
            <a:ext cx="7920037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523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Сравнение запросов</a:t>
            </a:r>
          </a:p>
        </p:txBody>
      </p:sp>
      <p:sp>
        <p:nvSpPr>
          <p:cNvPr id="27651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F65AE4-6B2D-4224-8857-DB15D6B4FFA1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7652" name="Рисунок 4" descr="Сравнение текстов запросов MySQL и MongoD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404938"/>
            <a:ext cx="7777163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Прямоугольник 5"/>
          <p:cNvSpPr>
            <a:spLocks noChangeArrowheads="1"/>
          </p:cNvSpPr>
          <p:nvPr/>
        </p:nvSpPr>
        <p:spPr bwMode="auto">
          <a:xfrm>
            <a:off x="352425" y="4408488"/>
            <a:ext cx="27527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Агрегация (вручную).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Реализация агрегации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Конвейер обработки данных (вручную)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Условия.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Обычные фильтры.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Фильтры уровня агрегации.</a:t>
            </a:r>
          </a:p>
          <a:p>
            <a:pPr algn="just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Сортировка</a:t>
            </a:r>
          </a:p>
        </p:txBody>
      </p:sp>
    </p:spTree>
    <p:extLst>
      <p:ext uri="{BB962C8B-B14F-4D97-AF65-F5344CB8AC3E}">
        <p14:creationId xmlns:p14="http://schemas.microsoft.com/office/powerpoint/2010/main" val="1884017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Модель семейство столбцов</a:t>
            </a:r>
          </a:p>
        </p:txBody>
      </p:sp>
      <p:sp>
        <p:nvSpPr>
          <p:cNvPr id="28675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A82FAE-9A96-4374-B0BA-99ABE01E6308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8676" name="Объект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1513" y="5281613"/>
            <a:ext cx="2555875" cy="1057275"/>
          </a:xfrm>
        </p:spPr>
      </p:pic>
      <p:pic>
        <p:nvPicPr>
          <p:cNvPr id="28677" name="Объект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513" y="1320800"/>
            <a:ext cx="25558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2395538"/>
            <a:ext cx="661035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44463" y="6338888"/>
            <a:ext cx="1906587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pc="-2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HBase</a:t>
            </a:r>
            <a:r>
              <a:rPr lang="ru-RU" spc="-20" dirty="0"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Cassandra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7564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Хранилища столбцов</a:t>
            </a:r>
          </a:p>
        </p:txBody>
      </p:sp>
      <p:sp>
        <p:nvSpPr>
          <p:cNvPr id="29699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4B803E-752D-4507-B769-D147A6A96D1A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29700" name="Рисунок 4" descr="https://i.onthe.io/smngoz343ijpll0er.83f26ff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" y="1566576"/>
            <a:ext cx="8071020" cy="529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Прямоугольник 4"/>
          <p:cNvSpPr>
            <a:spLocks noChangeArrowheads="1"/>
          </p:cNvSpPr>
          <p:nvPr/>
        </p:nvSpPr>
        <p:spPr bwMode="auto">
          <a:xfrm>
            <a:off x="7451725" y="1373188"/>
            <a:ext cx="1066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en-GB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Vertica</a:t>
            </a:r>
            <a:endParaRPr lang="en-US" alt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latin typeface="Times New Roman" panose="02020603050405020304" pitchFamily="18" charset="0"/>
              </a:rPr>
              <a:t>Tarantool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80582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 smtClean="0"/>
              <a:t>Снова – теоретико-графовые модели 		</a:t>
            </a:r>
            <a:br>
              <a:rPr lang="ru-RU" dirty="0" smtClean="0"/>
            </a:br>
            <a:r>
              <a:rPr lang="ru-RU" sz="1800" dirty="0" smtClean="0"/>
              <a:t>Графовые </a:t>
            </a:r>
            <a:r>
              <a:rPr lang="ru-RU" sz="1800" dirty="0"/>
              <a:t>СУБД</a:t>
            </a:r>
          </a:p>
        </p:txBody>
      </p:sp>
      <p:sp>
        <p:nvSpPr>
          <p:cNvPr id="30723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AA9CC50A-BAE0-4A00-BEFF-36D094571B0B}" type="slidenum">
              <a:rPr lang="ru-RU" altLang="ru-RU">
                <a:solidFill>
                  <a:schemeClr val="bg1"/>
                </a:solidFill>
              </a:rPr>
              <a:pPr/>
              <a:t>35</a:t>
            </a:fld>
            <a:endParaRPr lang="ru-RU" altLang="ru-RU">
              <a:solidFill>
                <a:schemeClr val="bg1"/>
              </a:solidFill>
            </a:endParaRPr>
          </a:p>
        </p:txBody>
      </p:sp>
      <p:pic>
        <p:nvPicPr>
          <p:cNvPr id="30724" name="Рисунок 4" descr="Узе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1631950"/>
            <a:ext cx="1651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Рисунок 5" descr="отношен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3" y="1844675"/>
            <a:ext cx="45180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Рисунок 6" descr="свойств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4576763"/>
            <a:ext cx="4716462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трелка вправо 7"/>
          <p:cNvSpPr/>
          <p:nvPr/>
        </p:nvSpPr>
        <p:spPr>
          <a:xfrm>
            <a:off x="2806700" y="2316163"/>
            <a:ext cx="427038" cy="301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 rot="5400000">
            <a:off x="5733257" y="3790156"/>
            <a:ext cx="427038" cy="301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729" name="Прямоугольник 11"/>
          <p:cNvSpPr>
            <a:spLocks noChangeArrowheads="1"/>
          </p:cNvSpPr>
          <p:nvPr/>
        </p:nvSpPr>
        <p:spPr bwMode="auto">
          <a:xfrm>
            <a:off x="649288" y="4941888"/>
            <a:ext cx="173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FlockDB, Neo4J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00877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err="1"/>
              <a:t>Графовые</a:t>
            </a:r>
            <a:r>
              <a:rPr lang="ru-RU" dirty="0"/>
              <a:t> модели данных</a:t>
            </a:r>
          </a:p>
        </p:txBody>
      </p:sp>
      <p:sp>
        <p:nvSpPr>
          <p:cNvPr id="3174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B77D46-E8A2-4CE4-B936-446865AD6BEC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31748" name="Рисунок 4" descr="Neo4j query resu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343025"/>
            <a:ext cx="5253037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Объект 5"/>
          <p:cNvSpPr txBox="1">
            <a:spLocks/>
          </p:cNvSpPr>
          <p:nvPr/>
        </p:nvSpPr>
        <p:spPr>
          <a:xfrm>
            <a:off x="385763" y="4000500"/>
            <a:ext cx="4186237" cy="17208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  <a:defRPr/>
            </a:pPr>
            <a:r>
              <a:rPr lang="ru-RU"/>
              <a:t>Типы:</a:t>
            </a:r>
          </a:p>
          <a:p>
            <a:pPr>
              <a:defRPr/>
            </a:pPr>
            <a:r>
              <a:rPr lang="ru-RU"/>
              <a:t>Поддерживающие поиск пути</a:t>
            </a:r>
          </a:p>
          <a:p>
            <a:pPr>
              <a:defRPr/>
            </a:pPr>
            <a:r>
              <a:rPr lang="ru-RU"/>
              <a:t>Поддерживающие только поиск ближайшего соседа </a:t>
            </a:r>
            <a:endParaRPr lang="ru-RU" dirty="0"/>
          </a:p>
        </p:txBody>
      </p:sp>
      <p:sp>
        <p:nvSpPr>
          <p:cNvPr id="7" name="Объект 5"/>
          <p:cNvSpPr txBox="1">
            <a:spLocks/>
          </p:cNvSpPr>
          <p:nvPr/>
        </p:nvSpPr>
        <p:spPr>
          <a:xfrm>
            <a:off x="385763" y="1628775"/>
            <a:ext cx="4186237" cy="23288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  <a:defRPr/>
            </a:pPr>
            <a:r>
              <a:rPr lang="ru-RU" dirty="0"/>
              <a:t>Особенности:</a:t>
            </a:r>
          </a:p>
          <a:p>
            <a:pPr>
              <a:defRPr/>
            </a:pPr>
            <a:r>
              <a:rPr lang="ru-RU" dirty="0"/>
              <a:t>Акцент на связях</a:t>
            </a:r>
          </a:p>
          <a:p>
            <a:pPr>
              <a:defRPr/>
            </a:pPr>
            <a:r>
              <a:rPr lang="ru-RU" dirty="0"/>
              <a:t>Различные подходы к физическому хранению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/>
              <a:t>в том числе через промежуточные модели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390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Степень «жесткости» моделей данных</a:t>
            </a:r>
          </a:p>
        </p:txBody>
      </p:sp>
      <p:sp>
        <p:nvSpPr>
          <p:cNvPr id="16387" name="Номер слайда 3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D8983-A51C-46EE-A386-F02C18505683}" type="slidenum">
              <a:rPr lang="ru-RU" altLang="ru-RU" sz="7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ru-RU" altLang="ru-RU" sz="700">
              <a:solidFill>
                <a:schemeClr val="bg1"/>
              </a:solidFill>
            </a:endParaRPr>
          </a:p>
        </p:txBody>
      </p:sp>
      <p:pic>
        <p:nvPicPr>
          <p:cNvPr id="16388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301477" cy="3571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767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Сравнение моделей данных </a:t>
            </a:r>
          </a:p>
        </p:txBody>
      </p:sp>
      <p:sp>
        <p:nvSpPr>
          <p:cNvPr id="32771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AC8CB515-ED65-49E7-BBCA-042446807396}" type="slidenum">
              <a:rPr lang="ru-RU" altLang="ru-RU">
                <a:solidFill>
                  <a:schemeClr val="bg1"/>
                </a:solidFill>
              </a:rPr>
              <a:pPr/>
              <a:t>38</a:t>
            </a:fld>
            <a:endParaRPr lang="ru-RU" altLang="ru-RU">
              <a:solidFill>
                <a:schemeClr val="bg1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97978" y="1301212"/>
          <a:ext cx="8866635" cy="5475292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30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9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2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1068">
                <a:tc gridSpan="2">
                  <a:txBody>
                    <a:bodyPr/>
                    <a:lstStyle/>
                    <a:p>
                      <a:pPr algn="ctr"/>
                      <a:r>
                        <a:rPr lang="ru-RU" sz="1000" dirty="0" smtClean="0"/>
                        <a:t>Типы СУБД</a:t>
                      </a:r>
                    </a:p>
                    <a:p>
                      <a:pPr algn="ctr"/>
                      <a:r>
                        <a:rPr lang="ru-RU" sz="1000" dirty="0" smtClean="0"/>
                        <a:t>Критерии сопоставления</a:t>
                      </a:r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Ключ – значение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err="1" smtClean="0"/>
                        <a:t>Документо-ориенти-рованная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/>
                        <a:t>Семейство столбцов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/>
                        <a:t>Коло-ночная </a:t>
                      </a:r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err="1" smtClean="0"/>
                        <a:t>Реляци-онная</a:t>
                      </a:r>
                      <a:endParaRPr lang="ru-RU" sz="1100" dirty="0" smtClean="0"/>
                    </a:p>
                    <a:p>
                      <a:pPr algn="ctr"/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err="1" smtClean="0"/>
                        <a:t>Графовая</a:t>
                      </a:r>
                      <a:endParaRPr lang="ru-RU" sz="11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007">
                <a:tc grid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smtClean="0"/>
                        <a:t>Степень структуризации</a:t>
                      </a:r>
                      <a:endParaRPr lang="ru-RU" sz="10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Слабая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Средне-слабая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Средняя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Универсальность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Средне-высокая</a:t>
                      </a:r>
                      <a:endParaRPr lang="ru-RU" sz="1100" dirty="0">
                        <a:solidFill>
                          <a:srgbClr val="CA7B2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/>
                        <a:t>Средне-высокая</a:t>
                      </a:r>
                      <a:endParaRPr lang="ru-RU" sz="1100" kern="1200" dirty="0" smtClean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Средняя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Средняя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Низкая</a:t>
                      </a:r>
                      <a:endParaRPr lang="ru-RU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15">
                <a:tc rowSpan="3">
                  <a:txBody>
                    <a:bodyPr/>
                    <a:lstStyle/>
                    <a:p>
                      <a:r>
                        <a:rPr lang="ru-RU" sz="1100" dirty="0" smtClean="0"/>
                        <a:t>Производительность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solidFill>
                            <a:schemeClr val="bg1"/>
                          </a:solidFill>
                        </a:rPr>
                        <a:t>Поиск по ключу / кластеру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590">
                <a:tc v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solidFill>
                            <a:schemeClr val="bg1"/>
                          </a:solidFill>
                        </a:rPr>
                        <a:t>Поиск по произвольным данным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-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Средняя (вторичные индексы)</a:t>
                      </a:r>
                      <a:endParaRPr lang="ru-RU" sz="1100" kern="1200" dirty="0" smtClean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Средняя (вторичные индексы, столбцы)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Низкая</a:t>
                      </a:r>
                      <a:endParaRPr lang="ru-RU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315">
                <a:tc v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solidFill>
                            <a:schemeClr val="bg1"/>
                          </a:solidFill>
                        </a:rPr>
                        <a:t>Вставка / Обновление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Высокая/ средняя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 (в столбец)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Низкая</a:t>
                      </a:r>
                      <a:endParaRPr lang="ru-RU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Средне-низкая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315">
                <a:tc gridSpan="2">
                  <a:txBody>
                    <a:bodyPr/>
                    <a:lstStyle/>
                    <a:p>
                      <a:r>
                        <a:rPr lang="ru-RU" sz="1100" dirty="0" smtClean="0"/>
                        <a:t>Допустимый объем хранения </a:t>
                      </a:r>
                      <a:r>
                        <a:rPr lang="ru-RU" sz="1000" dirty="0" smtClean="0"/>
                        <a:t>(</a:t>
                      </a:r>
                      <a:r>
                        <a:rPr lang="ru-RU" sz="900" dirty="0" smtClean="0"/>
                        <a:t>с учетом репликации и фрагментации</a:t>
                      </a:r>
                      <a:r>
                        <a:rPr lang="ru-RU" sz="1100" dirty="0" smtClean="0"/>
                        <a:t>)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Высокий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Высокий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Высокий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Высокий - средний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Средний</a:t>
                      </a:r>
                      <a:endParaRPr lang="ru-RU" sz="1100" kern="1200" dirty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Низкий</a:t>
                      </a:r>
                      <a:endParaRPr lang="ru-RU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962">
                <a:tc gridSpan="2">
                  <a:txBody>
                    <a:bodyPr/>
                    <a:lstStyle/>
                    <a:p>
                      <a:r>
                        <a:rPr lang="ru-RU" sz="1100" dirty="0" smtClean="0"/>
                        <a:t>Согласованность (</a:t>
                      </a:r>
                      <a:r>
                        <a:rPr lang="ru-RU" sz="1050" dirty="0" smtClean="0"/>
                        <a:t>контроль целостности</a:t>
                      </a:r>
                      <a:r>
                        <a:rPr lang="ru-RU" sz="1100" dirty="0" smtClean="0"/>
                        <a:t>)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- (уникальность  ключа)</a:t>
                      </a:r>
                      <a:endParaRPr lang="ru-RU" sz="11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-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(уникальность  ключа)</a:t>
                      </a:r>
                      <a:endParaRPr lang="ru-RU" sz="11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100" kern="1200" dirty="0" smtClean="0"/>
                        <a:t>На уровне столбцов/семейств</a:t>
                      </a:r>
                      <a:endParaRPr lang="ru-RU" sz="1100" kern="1200" dirty="0" smtClean="0">
                        <a:solidFill>
                          <a:srgbClr val="CA7B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/>
                        <a:t>Высокая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-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(уникальность  ключа)</a:t>
                      </a:r>
                      <a:endParaRPr lang="ru-RU" sz="11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103">
                <a:tc gridSpan="2">
                  <a:txBody>
                    <a:bodyPr/>
                    <a:lstStyle/>
                    <a:p>
                      <a:r>
                        <a:rPr lang="ru-RU" sz="1100" dirty="0" smtClean="0"/>
                        <a:t>Назначение</a:t>
                      </a:r>
                      <a:endParaRPr lang="ru-RU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50" dirty="0" smtClean="0"/>
                        <a:t>Большие не структурированные данные, </a:t>
                      </a:r>
                      <a:r>
                        <a:rPr lang="ru-RU" sz="1050" dirty="0" err="1" smtClean="0"/>
                        <a:t>проме-жуточное</a:t>
                      </a:r>
                      <a:r>
                        <a:rPr lang="ru-RU" sz="1050" dirty="0" smtClean="0"/>
                        <a:t> хранение</a:t>
                      </a:r>
                      <a:endParaRPr lang="ru-R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 smtClean="0"/>
                        <a:t>Большие объемы</a:t>
                      </a:r>
                      <a:r>
                        <a:rPr lang="ru-RU" sz="1050" baseline="0" dirty="0" smtClean="0"/>
                        <a:t> документов, лог-файлы</a:t>
                      </a:r>
                      <a:endParaRPr lang="ru-R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 smtClean="0"/>
                        <a:t>Слабо </a:t>
                      </a:r>
                      <a:r>
                        <a:rPr lang="ru-RU" sz="1050" dirty="0" err="1" smtClean="0"/>
                        <a:t>структуриро</a:t>
                      </a:r>
                      <a:r>
                        <a:rPr lang="ru-RU" sz="1050" dirty="0" smtClean="0"/>
                        <a:t>-ванные группы объединенных данных (</a:t>
                      </a:r>
                      <a:r>
                        <a:rPr lang="ru-RU" sz="800" dirty="0" smtClean="0"/>
                        <a:t>продажи,</a:t>
                      </a:r>
                      <a:r>
                        <a:rPr lang="ru-RU" sz="800" baseline="0" dirty="0" smtClean="0"/>
                        <a:t> товары)</a:t>
                      </a:r>
                      <a:endParaRPr lang="ru-R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 err="1" smtClean="0"/>
                        <a:t>Структуриро</a:t>
                      </a:r>
                      <a:r>
                        <a:rPr lang="ru-RU" sz="1050" dirty="0" smtClean="0"/>
                        <a:t>-ванные данные для аналитики</a:t>
                      </a:r>
                      <a:endParaRPr lang="ru-R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 smtClean="0"/>
                        <a:t>Структурированные данные </a:t>
                      </a:r>
                      <a:r>
                        <a:rPr lang="ru-RU" sz="900" dirty="0" smtClean="0"/>
                        <a:t>в обработке транзакций</a:t>
                      </a:r>
                      <a:endParaRPr lang="ru-RU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 smtClean="0"/>
                        <a:t>Небольшие графы в </a:t>
                      </a:r>
                      <a:r>
                        <a:rPr lang="ru-RU" sz="1050" dirty="0" err="1" smtClean="0"/>
                        <a:t>специ-ализированных</a:t>
                      </a:r>
                      <a:r>
                        <a:rPr lang="ru-RU" sz="1050" dirty="0" smtClean="0"/>
                        <a:t> задачах</a:t>
                      </a:r>
                      <a:endParaRPr lang="ru-RU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4376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Резюме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0" y="1341438"/>
            <a:ext cx="8351838" cy="5111750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  <a:defRPr/>
            </a:pPr>
            <a:r>
              <a:rPr lang="ru-RU" dirty="0" smtClean="0"/>
              <a:t>Модели данных определяют операции с данными, а, следовательно: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Особенности и выразительность языка запросов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Количество «ручной» работы при построении/выполнении запроса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Возможности оптимизации</a:t>
            </a:r>
          </a:p>
          <a:p>
            <a:pPr>
              <a:spcBef>
                <a:spcPts val="1200"/>
              </a:spcBef>
              <a:defRPr/>
            </a:pPr>
            <a:r>
              <a:rPr lang="ru-RU" dirty="0" smtClean="0"/>
              <a:t>СУБД на базе разных моделей данных хороши в своем круге задач (</a:t>
            </a:r>
            <a:r>
              <a:rPr lang="ru-RU" b="1" i="1" dirty="0" err="1" smtClean="0"/>
              <a:t>предметоориентированы</a:t>
            </a:r>
            <a:r>
              <a:rPr lang="ru-RU" dirty="0" smtClean="0"/>
              <a:t>)</a:t>
            </a:r>
          </a:p>
          <a:p>
            <a:pPr>
              <a:spcBef>
                <a:spcPts val="1200"/>
              </a:spcBef>
              <a:defRPr/>
            </a:pPr>
            <a:r>
              <a:rPr lang="ru-RU" dirty="0" smtClean="0"/>
              <a:t>Модели данных и методы выполнения операций </a:t>
            </a:r>
            <a:br>
              <a:rPr lang="ru-RU" dirty="0" smtClean="0"/>
            </a:br>
            <a:r>
              <a:rPr lang="ru-RU" i="1" dirty="0" smtClean="0"/>
              <a:t>не такие разные как кажется </a:t>
            </a:r>
          </a:p>
          <a:p>
            <a:pPr lvl="1">
              <a:spcBef>
                <a:spcPts val="1200"/>
              </a:spcBef>
              <a:defRPr/>
            </a:pPr>
            <a:r>
              <a:rPr lang="en-US" dirty="0" smtClean="0"/>
              <a:t>SQL</a:t>
            </a:r>
            <a:r>
              <a:rPr lang="ru-RU" dirty="0" smtClean="0"/>
              <a:t> соединения </a:t>
            </a:r>
            <a:r>
              <a:rPr lang="en-US" dirty="0" smtClean="0"/>
              <a:t>vs</a:t>
            </a:r>
            <a:r>
              <a:rPr lang="ru-RU" dirty="0" smtClean="0"/>
              <a:t> </a:t>
            </a:r>
            <a:r>
              <a:rPr lang="en-US" dirty="0" smtClean="0"/>
              <a:t>Map-Reduce </a:t>
            </a:r>
            <a:r>
              <a:rPr lang="ru-RU" dirty="0" smtClean="0"/>
              <a:t>конвейер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Кластеризация и хранение данных</a:t>
            </a:r>
          </a:p>
          <a:p>
            <a:pPr lvl="1">
              <a:spcBef>
                <a:spcPts val="1200"/>
              </a:spcBef>
              <a:defRPr/>
            </a:pPr>
            <a:r>
              <a:rPr lang="ru-RU" dirty="0" smtClean="0"/>
              <a:t>Вторичная индексация…</a:t>
            </a:r>
          </a:p>
          <a:p>
            <a:pPr>
              <a:spcBef>
                <a:spcPts val="1200"/>
              </a:spcBef>
              <a:defRPr/>
            </a:pPr>
            <a:r>
              <a:rPr lang="ru-RU" dirty="0" smtClean="0"/>
              <a:t>… и СУБД на основе разных моделей используют </a:t>
            </a:r>
            <a:r>
              <a:rPr lang="ru-RU" b="1" dirty="0" smtClean="0"/>
              <a:t>общие принципы организации и управления данными</a:t>
            </a:r>
            <a:r>
              <a:rPr lang="ru-RU" dirty="0" smtClean="0"/>
              <a:t> – в адаптации к модели</a:t>
            </a:r>
            <a:endParaRPr lang="ru-RU" dirty="0"/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PT Sans" pitchFamily="34" charset="-52"/>
              </a:defRPr>
            </a:lvl1pPr>
            <a:lvl2pPr marL="742950" indent="-285750">
              <a:defRPr>
                <a:solidFill>
                  <a:schemeClr val="tx1"/>
                </a:solidFill>
                <a:latin typeface="PT Sans" pitchFamily="34" charset="-52"/>
              </a:defRPr>
            </a:lvl2pPr>
            <a:lvl3pPr marL="1143000" indent="-228600">
              <a:defRPr>
                <a:solidFill>
                  <a:schemeClr val="tx1"/>
                </a:solidFill>
                <a:latin typeface="PT Sans" pitchFamily="34" charset="-52"/>
              </a:defRPr>
            </a:lvl3pPr>
            <a:lvl4pPr marL="1600200" indent="-228600">
              <a:defRPr>
                <a:solidFill>
                  <a:schemeClr val="tx1"/>
                </a:solidFill>
                <a:latin typeface="PT Sans" pitchFamily="34" charset="-52"/>
              </a:defRPr>
            </a:lvl4pPr>
            <a:lvl5pPr marL="2057400" indent="-228600">
              <a:defRPr>
                <a:solidFill>
                  <a:schemeClr val="tx1"/>
                </a:solidFill>
                <a:latin typeface="PT Sans" pitchFamily="34" charset="-5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T Sans" pitchFamily="34" charset="-52"/>
              </a:defRPr>
            </a:lvl9pPr>
          </a:lstStyle>
          <a:p>
            <a:fld id="{9D8FEDC2-4D36-4CF8-8745-A33C44B5F679}" type="slidenum">
              <a:rPr lang="ru-RU" altLang="ru-RU">
                <a:solidFill>
                  <a:schemeClr val="bg1"/>
                </a:solidFill>
              </a:rPr>
              <a:pPr/>
              <a:t>39</a:t>
            </a:fld>
            <a:endParaRPr lang="ru-RU" alt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54733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11840</TotalTime>
  <Words>1915</Words>
  <Application>Microsoft Office PowerPoint</Application>
  <PresentationFormat>Экран (4:3)</PresentationFormat>
  <Paragraphs>393</Paragraphs>
  <Slides>39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Calibri</vt:lpstr>
      <vt:lpstr>PT Sans</vt:lpstr>
      <vt:lpstr>Symbol</vt:lpstr>
      <vt:lpstr>Times New Roman</vt:lpstr>
      <vt:lpstr>Wingdings 3</vt:lpstr>
      <vt:lpstr>SCC</vt:lpstr>
      <vt:lpstr>СУБД для специалиста  по информационной безопасности</vt:lpstr>
      <vt:lpstr>Темы лекции</vt:lpstr>
      <vt:lpstr>Эволюция атак  и технологий защиты</vt:lpstr>
      <vt:lpstr>Эволюция доверенной среды - 1</vt:lpstr>
      <vt:lpstr>Эволюция доверенной среды - 2</vt:lpstr>
      <vt:lpstr>Эволюция доверенной среды - 3</vt:lpstr>
      <vt:lpstr>Эволюция атак и защиты</vt:lpstr>
      <vt:lpstr>Уязвимости систем управления данными</vt:lpstr>
      <vt:lpstr>Модель угроз. Объекты воздействия</vt:lpstr>
      <vt:lpstr>Модель угроз. Последствия реализации угрозы</vt:lpstr>
      <vt:lpstr>Современное состояние</vt:lpstr>
      <vt:lpstr>Что дальше?</vt:lpstr>
      <vt:lpstr>Направления исследований</vt:lpstr>
      <vt:lpstr>Моделирование данных</vt:lpstr>
      <vt:lpstr>Модель данных</vt:lpstr>
      <vt:lpstr>Модель данных инструмент моделирования VS результат моделирования </vt:lpstr>
      <vt:lpstr>Математическое определение</vt:lpstr>
      <vt:lpstr>Особенности моделей данных</vt:lpstr>
      <vt:lpstr>Основные понятия</vt:lpstr>
      <vt:lpstr>Ключи</vt:lpstr>
      <vt:lpstr>Классификация моделей данных</vt:lpstr>
      <vt:lpstr>Теоретико-графовые модели Иерархическая модель</vt:lpstr>
      <vt:lpstr>Теоретико-графовые модели Сетевая модель</vt:lpstr>
      <vt:lpstr>Теоретико-графовые модели особенности</vt:lpstr>
      <vt:lpstr>Теоретико-множественные модели</vt:lpstr>
      <vt:lpstr>Реляционная модель данных</vt:lpstr>
      <vt:lpstr>Решение проблемы соответствия</vt:lpstr>
      <vt:lpstr>Модель ключ - значение</vt:lpstr>
      <vt:lpstr>Модель документоориентированная</vt:lpstr>
      <vt:lpstr>Модель документоориентированная пример</vt:lpstr>
      <vt:lpstr>Сравнение реляционной и документоориентированной моделей</vt:lpstr>
      <vt:lpstr>Сравнение запросов</vt:lpstr>
      <vt:lpstr>Модель семейство столбцов</vt:lpstr>
      <vt:lpstr>Хранилища столбцов</vt:lpstr>
      <vt:lpstr>Снова – теоретико-графовые модели    Графовые СУБД</vt:lpstr>
      <vt:lpstr>Графовые модели данных</vt:lpstr>
      <vt:lpstr>Степень «жесткости» моделей данных</vt:lpstr>
      <vt:lpstr>Сравнение моделей данных </vt:lpstr>
      <vt:lpstr>Резюме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577</cp:revision>
  <dcterms:created xsi:type="dcterms:W3CDTF">2018-04-03T06:05:28Z</dcterms:created>
  <dcterms:modified xsi:type="dcterms:W3CDTF">2024-02-07T14:51:18Z</dcterms:modified>
</cp:coreProperties>
</file>