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4"/>
  </p:notesMasterIdLst>
  <p:sldIdLst>
    <p:sldId id="381" r:id="rId2"/>
    <p:sldId id="387" r:id="rId3"/>
    <p:sldId id="455" r:id="rId4"/>
    <p:sldId id="456" r:id="rId5"/>
    <p:sldId id="457" r:id="rId6"/>
    <p:sldId id="458" r:id="rId7"/>
    <p:sldId id="459" r:id="rId8"/>
    <p:sldId id="460" r:id="rId9"/>
    <p:sldId id="461" r:id="rId10"/>
    <p:sldId id="462" r:id="rId11"/>
    <p:sldId id="463" r:id="rId12"/>
    <p:sldId id="464" r:id="rId13"/>
    <p:sldId id="465" r:id="rId14"/>
    <p:sldId id="466" r:id="rId15"/>
    <p:sldId id="467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489" r:id="rId24"/>
    <p:sldId id="490" r:id="rId25"/>
    <p:sldId id="491" r:id="rId26"/>
    <p:sldId id="492" r:id="rId27"/>
    <p:sldId id="493" r:id="rId28"/>
    <p:sldId id="494" r:id="rId29"/>
    <p:sldId id="496" r:id="rId30"/>
    <p:sldId id="497" r:id="rId31"/>
    <p:sldId id="498" r:id="rId32"/>
    <p:sldId id="499" r:id="rId33"/>
    <p:sldId id="500" r:id="rId34"/>
    <p:sldId id="501" r:id="rId35"/>
    <p:sldId id="502" r:id="rId36"/>
    <p:sldId id="503" r:id="rId37"/>
    <p:sldId id="431" r:id="rId38"/>
    <p:sldId id="432" r:id="rId39"/>
    <p:sldId id="433" r:id="rId40"/>
    <p:sldId id="434" r:id="rId41"/>
    <p:sldId id="435" r:id="rId42"/>
    <p:sldId id="436" r:id="rId43"/>
    <p:sldId id="437" r:id="rId44"/>
    <p:sldId id="438" r:id="rId45"/>
    <p:sldId id="439" r:id="rId46"/>
    <p:sldId id="440" r:id="rId47"/>
    <p:sldId id="441" r:id="rId48"/>
    <p:sldId id="442" r:id="rId49"/>
    <p:sldId id="443" r:id="rId50"/>
    <p:sldId id="444" r:id="rId51"/>
    <p:sldId id="445" r:id="rId52"/>
    <p:sldId id="446" r:id="rId53"/>
    <p:sldId id="447" r:id="rId54"/>
    <p:sldId id="448" r:id="rId55"/>
    <p:sldId id="449" r:id="rId56"/>
    <p:sldId id="450" r:id="rId57"/>
    <p:sldId id="451" r:id="rId58"/>
    <p:sldId id="452" r:id="rId59"/>
    <p:sldId id="453" r:id="rId60"/>
    <p:sldId id="454" r:id="rId61"/>
    <p:sldId id="475" r:id="rId62"/>
    <p:sldId id="476" r:id="rId63"/>
    <p:sldId id="478" r:id="rId64"/>
    <p:sldId id="479" r:id="rId65"/>
    <p:sldId id="480" r:id="rId66"/>
    <p:sldId id="481" r:id="rId67"/>
    <p:sldId id="482" r:id="rId68"/>
    <p:sldId id="483" r:id="rId69"/>
    <p:sldId id="484" r:id="rId70"/>
    <p:sldId id="485" r:id="rId71"/>
    <p:sldId id="486" r:id="rId72"/>
    <p:sldId id="487" r:id="rId7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3519"/>
    <a:srgbClr val="7030A0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74971" autoAdjust="0"/>
  </p:normalViewPr>
  <p:slideViewPr>
    <p:cSldViewPr snapToObjects="1">
      <p:cViewPr varScale="1">
        <p:scale>
          <a:sx n="77" d="100"/>
          <a:sy n="77" d="100"/>
        </p:scale>
        <p:origin x="104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231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3584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5957B87B-7344-4E9F-BF2A-78F7F3A19834}" type="slidenum">
              <a:rPr lang="ru-RU" altLang="ru-RU">
                <a:latin typeface="Calibri" panose="020F0502020204030204" pitchFamily="34" charset="0"/>
              </a:rPr>
              <a:pPr/>
              <a:t>16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763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908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3584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5957B87B-7344-4E9F-BF2A-78F7F3A19834}" type="slidenum">
              <a:rPr lang="ru-RU" altLang="ru-RU">
                <a:latin typeface="Calibri" panose="020F0502020204030204" pitchFamily="34" charset="0"/>
              </a:rPr>
              <a:pPr/>
              <a:t>37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509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393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Образ слайда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Заметки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0964" name="Номер слайда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811E1898-BA9B-4BF6-8A84-92F2B99CB111}" type="slidenum">
              <a:rPr lang="ru-RU" altLang="ru-RU">
                <a:latin typeface="Calibri" panose="020F0502020204030204" pitchFamily="34" charset="0"/>
              </a:rPr>
              <a:pPr/>
              <a:t>41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281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Образ слайда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Заметки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7108" name="Номер слайда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0A55AB64-B16B-4E9C-B34D-852F925F8E52}" type="slidenum">
              <a:rPr lang="ru-RU" altLang="ru-RU">
                <a:latin typeface="Calibri" panose="020F0502020204030204" pitchFamily="34" charset="0"/>
              </a:rPr>
              <a:pPr/>
              <a:t>46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112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087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04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gi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emf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Реляционная модель данных</a:t>
            </a:r>
          </a:p>
          <a:p>
            <a:pPr marL="857250" lvl="1" indent="-457200">
              <a:buFont typeface="+mj-lt"/>
              <a:buAutoNum type="arabicPeriod"/>
            </a:pPr>
            <a:r>
              <a:rPr lang="ru-RU" dirty="0" smtClean="0"/>
              <a:t>Структуры </a:t>
            </a:r>
          </a:p>
          <a:p>
            <a:pPr marL="857250" lvl="1" indent="-457200">
              <a:buFont typeface="+mj-lt"/>
              <a:buAutoNum type="arabicPeriod"/>
            </a:pPr>
            <a:r>
              <a:rPr lang="ru-RU" dirty="0" smtClean="0"/>
              <a:t>Отношения</a:t>
            </a:r>
          </a:p>
          <a:p>
            <a:pPr marL="857250" lvl="1" indent="-457200">
              <a:buFont typeface="+mj-lt"/>
              <a:buAutoNum type="arabicPeriod"/>
            </a:pPr>
            <a:r>
              <a:rPr lang="ru-RU" dirty="0" smtClean="0"/>
              <a:t>Ограничения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Основы задания схемы данных на </a:t>
            </a:r>
            <a:r>
              <a:rPr lang="en-US" dirty="0" smtClean="0"/>
              <a:t>SQL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Ограничения целостности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Организация доступа к данным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Инфологическое проектирование схемы данных. </a:t>
            </a:r>
          </a:p>
          <a:p>
            <a:pPr marL="857250" lvl="1" indent="-457200">
              <a:buFont typeface="+mj-lt"/>
              <a:buAutoNum type="arabicPeriod"/>
            </a:pPr>
            <a:r>
              <a:rPr lang="ru-RU" dirty="0" smtClean="0"/>
              <a:t>Порядок проектирования</a:t>
            </a:r>
          </a:p>
          <a:p>
            <a:pPr marL="857250" lvl="1" indent="-457200">
              <a:buFont typeface="+mj-lt"/>
              <a:buAutoNum type="arabicPeriod"/>
            </a:pPr>
            <a:r>
              <a:rPr lang="ru-RU" dirty="0" smtClean="0"/>
              <a:t>Концептуальная модель данных </a:t>
            </a:r>
            <a:br>
              <a:rPr lang="ru-RU" dirty="0" smtClean="0"/>
            </a:br>
            <a:r>
              <a:rPr lang="en-US" dirty="0" smtClean="0"/>
              <a:t>ER </a:t>
            </a:r>
            <a:r>
              <a:rPr lang="ru-RU" dirty="0" smtClean="0"/>
              <a:t>(</a:t>
            </a:r>
            <a:r>
              <a:rPr lang="en-US" dirty="0" smtClean="0"/>
              <a:t>Entity - relation</a:t>
            </a:r>
            <a:r>
              <a:rPr lang="ru-RU" dirty="0" smtClean="0"/>
              <a:t>) </a:t>
            </a:r>
            <a:r>
              <a:rPr lang="en-US" dirty="0" smtClean="0"/>
              <a:t>– </a:t>
            </a:r>
            <a:r>
              <a:rPr lang="ru-RU" dirty="0" smtClean="0"/>
              <a:t>Сущность – связь</a:t>
            </a:r>
          </a:p>
          <a:p>
            <a:pPr marL="857250" lvl="1" indent="-457200">
              <a:buFont typeface="+mj-lt"/>
              <a:buAutoNum type="arabicPeriod"/>
            </a:pPr>
            <a:r>
              <a:rPr lang="ru-RU" dirty="0" smtClean="0"/>
              <a:t>Перевод концептуальной </a:t>
            </a:r>
            <a:r>
              <a:rPr lang="ru-RU" dirty="0" err="1" smtClean="0"/>
              <a:t>модел</a:t>
            </a:r>
            <a:r>
              <a:rPr lang="ru-RU" dirty="0" smtClean="0"/>
              <a:t> в логическую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«Диалекты» </a:t>
            </a:r>
            <a:r>
              <a:rPr lang="ru-RU" smtClean="0"/>
              <a:t>(пост) реляционных </a:t>
            </a:r>
            <a:r>
              <a:rPr lang="ru-RU" dirty="0" smtClean="0"/>
              <a:t>СУБД</a:t>
            </a:r>
            <a:endParaRPr lang="ru-RU" dirty="0" smtClean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Реляционная 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 данных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0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911A52D-4CFC-F17D-7080-51FDA6E7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44" y="2533391"/>
            <a:ext cx="5805444" cy="3068001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3F4DA9E3-ECA3-B79C-9AB7-DF381B5A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модель данных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A75F02E5-CAB1-C4AB-85AC-4CAA71DEF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266328"/>
          </a:xfrm>
        </p:spPr>
        <p:txBody>
          <a:bodyPr anchor="t">
            <a:normAutofit/>
          </a:bodyPr>
          <a:lstStyle/>
          <a:p>
            <a:pPr>
              <a:buFont typeface="+mj-lt"/>
              <a:buAutoNum type="arabicPeriod"/>
            </a:pPr>
            <a:r>
              <a:rPr lang="ru-RU" sz="1600" dirty="0"/>
              <a:t>Отношение</a:t>
            </a:r>
          </a:p>
          <a:p>
            <a:pPr>
              <a:buFont typeface="+mj-lt"/>
              <a:buAutoNum type="arabicPeriod"/>
            </a:pPr>
            <a:r>
              <a:rPr lang="ru-RU" sz="1600" dirty="0"/>
              <a:t>Ссылка по внешнему ключу</a:t>
            </a:r>
          </a:p>
          <a:p>
            <a:pPr>
              <a:buFont typeface="+mj-lt"/>
              <a:buAutoNum type="arabicPeriod"/>
            </a:pPr>
            <a:r>
              <a:rPr lang="ru-RU" sz="1600" dirty="0"/>
              <a:t>Ограничения целостности</a:t>
            </a:r>
          </a:p>
          <a:p>
            <a:pPr>
              <a:buFont typeface="+mj-lt"/>
              <a:buAutoNum type="arabicPeriod"/>
            </a:pPr>
            <a:r>
              <a:rPr lang="ru-RU" sz="1600" dirty="0"/>
              <a:t>Реляционная алгебра</a:t>
            </a:r>
          </a:p>
          <a:p>
            <a:endParaRPr lang="ru-RU" sz="16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9A36AF-B4F0-585D-FAB1-A8961B622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0" name="Объект 8">
            <a:extLst>
              <a:ext uri="{FF2B5EF4-FFF2-40B4-BE49-F238E27FC236}">
                <a16:creationId xmlns:a16="http://schemas.microsoft.com/office/drawing/2014/main" id="{DAAE0A1F-36D4-36D3-6634-A46503B60396}"/>
              </a:ext>
            </a:extLst>
          </p:cNvPr>
          <p:cNvSpPr txBox="1">
            <a:spLocks/>
          </p:cNvSpPr>
          <p:nvPr/>
        </p:nvSpPr>
        <p:spPr>
          <a:xfrm>
            <a:off x="683568" y="5589240"/>
            <a:ext cx="7848872" cy="10115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Codd E.F. The Relation Model for Large</a:t>
            </a:r>
            <a:r>
              <a:rPr lang="ru-RU" sz="1400" dirty="0"/>
              <a:t> </a:t>
            </a:r>
            <a:r>
              <a:rPr lang="en-US" sz="1400" dirty="0"/>
              <a:t>Shared Data Banks // Communications of</a:t>
            </a:r>
            <a:r>
              <a:rPr lang="ru-RU" sz="1400" dirty="0"/>
              <a:t> </a:t>
            </a:r>
            <a:r>
              <a:rPr lang="en-US" sz="1400" dirty="0"/>
              <a:t>the ACM. 1970. Vol. 13, No. 6. P. 377-387.</a:t>
            </a:r>
          </a:p>
          <a:p>
            <a:r>
              <a:rPr lang="ru-RU" sz="1400" dirty="0"/>
              <a:t>Звание "</a:t>
            </a:r>
            <a:r>
              <a:rPr lang="en-US" sz="1400" dirty="0"/>
              <a:t>IBM</a:t>
            </a:r>
            <a:r>
              <a:rPr lang="ru-RU" sz="1400" dirty="0"/>
              <a:t> </a:t>
            </a:r>
            <a:r>
              <a:rPr lang="en-US" sz="1400" dirty="0"/>
              <a:t>Fellow" (1976) </a:t>
            </a:r>
            <a:r>
              <a:rPr lang="ru-RU" sz="1400" dirty="0"/>
              <a:t>и премия Тьюринга (1981).</a:t>
            </a:r>
          </a:p>
        </p:txBody>
      </p:sp>
    </p:spTree>
    <p:extLst>
      <p:ext uri="{BB962C8B-B14F-4D97-AF65-F5344CB8AC3E}">
        <p14:creationId xmlns:p14="http://schemas.microsoft.com/office/powerpoint/2010/main" val="302048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3FF7C-2672-4A83-74A3-A71BA0FD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РМД – структуры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B3BD51-B66B-C009-FA00-C9B4002E9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2796C8A-B76B-F67F-2F32-DF6D71F96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4941168"/>
            <a:ext cx="7848872" cy="12961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</a:t>
            </a:r>
            <a:r>
              <a:rPr lang="ru-RU" dirty="0"/>
              <a:t>-</a:t>
            </a:r>
            <a:r>
              <a:rPr lang="ru-RU" dirty="0" err="1"/>
              <a:t>арное</a:t>
            </a:r>
            <a:r>
              <a:rPr lang="ru-RU" dirty="0"/>
              <a:t> отношение </a:t>
            </a:r>
          </a:p>
          <a:p>
            <a:r>
              <a:rPr lang="ru-RU" dirty="0"/>
              <a:t>Домен = базовый тип + ограничения</a:t>
            </a:r>
          </a:p>
          <a:p>
            <a:pPr lvl="1"/>
            <a:r>
              <a:rPr lang="ru-RU" dirty="0"/>
              <a:t>Данные считаются </a:t>
            </a:r>
            <a:r>
              <a:rPr lang="ru-RU" i="1" dirty="0"/>
              <a:t>сравнимыми</a:t>
            </a:r>
            <a:r>
              <a:rPr lang="ru-RU" dirty="0"/>
              <a:t> только в том случае, когда они относятся к одному домену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A997ECE-01D8-3368-DC21-5DB292F70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65" y="1424485"/>
            <a:ext cx="8072696" cy="330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3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3FF7C-2672-4A83-74A3-A71BA0FD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РМД – реляционное отношение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B3BD51-B66B-C009-FA00-C9B4002E9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2796C8A-B76B-F67F-2F32-DF6D71F96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4869160"/>
            <a:ext cx="7848872" cy="1728192"/>
          </a:xfrm>
        </p:spPr>
        <p:txBody>
          <a:bodyPr>
            <a:normAutofit/>
          </a:bodyPr>
          <a:lstStyle/>
          <a:p>
            <a:r>
              <a:rPr lang="ru-RU" sz="1600" b="1" i="1" dirty="0"/>
              <a:t>Заголовок (схема)</a:t>
            </a:r>
            <a:r>
              <a:rPr lang="ru-RU" sz="1600" dirty="0"/>
              <a:t> отношения r (</a:t>
            </a:r>
            <a:r>
              <a:rPr lang="ru-RU" sz="1600" dirty="0" err="1"/>
              <a:t>Hr</a:t>
            </a:r>
            <a:r>
              <a:rPr lang="ru-RU" sz="1600" dirty="0"/>
              <a:t>) - </a:t>
            </a:r>
            <a:r>
              <a:rPr lang="ru-RU" sz="1600" b="1" dirty="0"/>
              <a:t>конечное множество </a:t>
            </a:r>
            <a:r>
              <a:rPr lang="ru-RU" sz="1600" dirty="0"/>
              <a:t>упорядоченных пар  </a:t>
            </a:r>
            <a:br>
              <a:rPr lang="ru-RU" sz="1600" dirty="0"/>
            </a:br>
            <a:r>
              <a:rPr lang="ru-RU" sz="1600" dirty="0"/>
              <a:t>&lt;A, T&gt;, где A – имя атрибута, а T – имя типа или домена. </a:t>
            </a:r>
          </a:p>
          <a:p>
            <a:r>
              <a:rPr lang="ru-RU" sz="1600" b="1" i="1" dirty="0"/>
              <a:t>Кортеж </a:t>
            </a:r>
            <a:r>
              <a:rPr lang="ru-RU" sz="1600" dirty="0" err="1"/>
              <a:t>tr</a:t>
            </a:r>
            <a:r>
              <a:rPr lang="ru-RU" sz="1600" dirty="0"/>
              <a:t> - &lt;A, T</a:t>
            </a:r>
            <a:r>
              <a:rPr lang="en-US" sz="1600" dirty="0"/>
              <a:t>,</a:t>
            </a:r>
            <a:r>
              <a:rPr lang="en-US" sz="1600" b="1" dirty="0"/>
              <a:t>v</a:t>
            </a:r>
            <a:r>
              <a:rPr lang="ru-RU" sz="1600" dirty="0"/>
              <a:t>&gt;,– v – допустимое значение типа данных или домена T. </a:t>
            </a:r>
          </a:p>
          <a:p>
            <a:r>
              <a:rPr lang="ru-RU" sz="1600" b="1" i="1" dirty="0"/>
              <a:t>Тело </a:t>
            </a:r>
            <a:r>
              <a:rPr lang="ru-RU" sz="1600" dirty="0" err="1"/>
              <a:t>Br</a:t>
            </a:r>
            <a:r>
              <a:rPr lang="ru-RU" sz="1600" dirty="0"/>
              <a:t> отношения r - произвольное множество кортежей </a:t>
            </a:r>
            <a:r>
              <a:rPr lang="ru-RU" sz="1600" dirty="0" err="1"/>
              <a:t>tr</a:t>
            </a:r>
            <a:r>
              <a:rPr lang="ru-RU" sz="1600" dirty="0"/>
              <a:t>. </a:t>
            </a:r>
          </a:p>
          <a:p>
            <a:endParaRPr lang="ru-RU" sz="1600" dirty="0"/>
          </a:p>
          <a:p>
            <a:endParaRPr lang="ru-RU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A997ECE-01D8-3368-DC21-5DB292F70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65" y="1424485"/>
            <a:ext cx="8072696" cy="330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3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CFF0C-0D6A-0A69-304F-593A9724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РМД – характеристики реляционного отношения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8E0F3-7A34-4CC8-A4DE-FB66FB24E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556792"/>
            <a:ext cx="8136904" cy="4863324"/>
          </a:xfrm>
        </p:spPr>
        <p:txBody>
          <a:bodyPr anchor="t">
            <a:noAutofit/>
          </a:bodyPr>
          <a:lstStyle/>
          <a:p>
            <a:r>
              <a:rPr lang="ru-RU" sz="1600" b="1" dirty="0"/>
              <a:t>Степень</a:t>
            </a:r>
            <a:r>
              <a:rPr lang="ru-RU" sz="1600" dirty="0"/>
              <a:t> заголовка отношения (</a:t>
            </a:r>
            <a:r>
              <a:rPr lang="ru-RU" sz="1600" i="1" dirty="0"/>
              <a:t>кортежа, соответствующего этому заголовку,  тела отношения, значения отношения, переменной отношения</a:t>
            </a:r>
            <a:r>
              <a:rPr lang="ru-RU" sz="1600" dirty="0"/>
              <a:t>) - мощность заголовка отношения</a:t>
            </a:r>
          </a:p>
          <a:p>
            <a:r>
              <a:rPr lang="ru-RU" sz="1600" b="1" dirty="0"/>
              <a:t>Схема </a:t>
            </a:r>
            <a:r>
              <a:rPr lang="ru-RU" sz="1600" dirty="0"/>
              <a:t>реляционной базы данных -  набор пар &lt;</a:t>
            </a:r>
            <a:r>
              <a:rPr lang="ru-RU" sz="1600" dirty="0" err="1"/>
              <a:t>имя_VARr</a:t>
            </a:r>
            <a:r>
              <a:rPr lang="ru-RU" sz="1600" dirty="0"/>
              <a:t>, </a:t>
            </a:r>
            <a:r>
              <a:rPr lang="ru-RU" sz="1600" dirty="0" err="1"/>
              <a:t>Hr</a:t>
            </a:r>
            <a:r>
              <a:rPr lang="ru-RU" sz="1600" dirty="0"/>
              <a:t>&gt;, </a:t>
            </a:r>
            <a:br>
              <a:rPr lang="ru-RU" sz="1600" dirty="0"/>
            </a:br>
            <a:r>
              <a:rPr lang="ru-RU" sz="1600" dirty="0"/>
              <a:t>включающий </a:t>
            </a:r>
            <a:r>
              <a:rPr lang="ru-RU" sz="1600" i="1" dirty="0"/>
              <a:t>имена и заголовки всех переменных отношения</a:t>
            </a:r>
            <a:r>
              <a:rPr lang="ru-RU" sz="1600" dirty="0"/>
              <a:t>, которые определены в базе данных. </a:t>
            </a:r>
          </a:p>
          <a:p>
            <a:r>
              <a:rPr lang="ru-RU" sz="1600" b="1" dirty="0"/>
              <a:t>Значением</a:t>
            </a:r>
            <a:r>
              <a:rPr lang="ru-RU" sz="1600" dirty="0"/>
              <a:t> </a:t>
            </a:r>
            <a:r>
              <a:rPr lang="ru-RU" sz="1600" dirty="0" err="1"/>
              <a:t>Vr</a:t>
            </a:r>
            <a:r>
              <a:rPr lang="ru-RU" sz="1600" dirty="0"/>
              <a:t> отношения r называется пара множеств </a:t>
            </a:r>
            <a:r>
              <a:rPr lang="ru-RU" sz="1600" dirty="0" err="1"/>
              <a:t>Hr</a:t>
            </a:r>
            <a:r>
              <a:rPr lang="ru-RU" sz="1600" dirty="0"/>
              <a:t> и </a:t>
            </a:r>
            <a:r>
              <a:rPr lang="ru-RU" sz="1600" dirty="0" err="1"/>
              <a:t>Br</a:t>
            </a:r>
            <a:r>
              <a:rPr lang="ru-RU" sz="1600" dirty="0"/>
              <a:t>..</a:t>
            </a:r>
          </a:p>
          <a:p>
            <a:r>
              <a:rPr lang="ru-RU" sz="1600" b="1" dirty="0"/>
              <a:t>Переменной отношения </a:t>
            </a:r>
            <a:r>
              <a:rPr lang="ru-RU" sz="1600" dirty="0" err="1"/>
              <a:t>VARr</a:t>
            </a:r>
            <a:r>
              <a:rPr lang="ru-RU" sz="1600" dirty="0"/>
              <a:t> называется именованный контейнер, который может содержать любое допустимое значение </a:t>
            </a:r>
            <a:r>
              <a:rPr lang="ru-RU" sz="1600" dirty="0" err="1"/>
              <a:t>Vr</a:t>
            </a:r>
            <a:r>
              <a:rPr lang="ru-RU" sz="1600" dirty="0"/>
              <a:t>. </a:t>
            </a:r>
          </a:p>
          <a:p>
            <a:r>
              <a:rPr lang="ru-RU" sz="1600" b="1" dirty="0"/>
              <a:t>Реляционная база данных</a:t>
            </a:r>
            <a:r>
              <a:rPr lang="ru-RU" sz="1600" dirty="0"/>
              <a:t> – это набор пар &lt;</a:t>
            </a:r>
            <a:r>
              <a:rPr lang="ru-RU" sz="1600" dirty="0" err="1"/>
              <a:t>VARr</a:t>
            </a:r>
            <a:r>
              <a:rPr lang="ru-RU" sz="1600" dirty="0"/>
              <a:t>, </a:t>
            </a:r>
            <a:r>
              <a:rPr lang="ru-RU" sz="1600" dirty="0" err="1"/>
              <a:t>Hr</a:t>
            </a:r>
            <a:r>
              <a:rPr lang="ru-RU" sz="1600" dirty="0"/>
              <a:t>&gt; </a:t>
            </a:r>
            <a:br>
              <a:rPr lang="ru-RU" sz="1600" dirty="0"/>
            </a:br>
            <a:r>
              <a:rPr lang="ru-RU" sz="1600" dirty="0"/>
              <a:t>где каждая переменная отношения в любой момент времени содержит некоторое значение-отношение (в т.ч. пустое).</a:t>
            </a: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B638F0-E091-A468-BB94-634E633A1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7028CE-775C-9D74-4146-75B60A29A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527" y="4875986"/>
            <a:ext cx="4320480" cy="176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2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6C76C-3793-66C5-25A9-08061290DC9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sz="2400" dirty="0"/>
              <a:t>РМД – свойства отношений и кортежей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ADA3C46-DC5C-891B-BBA9-87B470190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Свойства отношений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A3C64E-7C09-05F7-2D9D-756CF0176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894085"/>
          </a:xfrm>
        </p:spPr>
        <p:txBody>
          <a:bodyPr anchor="t">
            <a:noAutofit/>
          </a:bodyPr>
          <a:lstStyle/>
          <a:p>
            <a:pPr lvl="0"/>
            <a:r>
              <a:rPr lang="ru-RU" sz="1600" i="0" dirty="0"/>
              <a:t>Отсутствие кортежей-дубликатов. </a:t>
            </a:r>
          </a:p>
          <a:p>
            <a:pPr lvl="0"/>
            <a:r>
              <a:rPr lang="ru-RU" sz="1600" i="0" dirty="0"/>
              <a:t>Отсутствие упорядоченности кортежей*</a:t>
            </a:r>
            <a:endParaRPr lang="ru-RU" sz="16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2B87384-07A1-C447-58C0-D71763F98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Свойства кортежей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F4378AEC-24A6-9DA4-2D8D-388702BDE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67945" y="2174875"/>
            <a:ext cx="4618858" cy="2262237"/>
          </a:xfrm>
        </p:spPr>
        <p:txBody>
          <a:bodyPr anchor="t">
            <a:normAutofit lnSpcReduction="10000"/>
          </a:bodyPr>
          <a:lstStyle/>
          <a:p>
            <a:r>
              <a:rPr lang="ru-RU" sz="1600" dirty="0"/>
              <a:t>Каждый кортеж содержит </a:t>
            </a:r>
            <a:r>
              <a:rPr lang="ru-RU" sz="1600" b="1" dirty="0"/>
              <a:t>точно одно значение </a:t>
            </a:r>
            <a:r>
              <a:rPr lang="ru-RU" sz="1600" dirty="0"/>
              <a:t>(соответствующего типа) для каждого из своих атрибутов.</a:t>
            </a:r>
          </a:p>
          <a:p>
            <a:r>
              <a:rPr lang="ru-RU" sz="1600" dirty="0"/>
              <a:t>Для компонентов кортежа не предусмотрено упорядочение. </a:t>
            </a:r>
          </a:p>
          <a:p>
            <a:r>
              <a:rPr lang="ru-RU" sz="1600" dirty="0"/>
              <a:t>Каждое подмножество кортежа представляет собой кортеж (</a:t>
            </a:r>
            <a:r>
              <a:rPr lang="ru-RU" sz="1600" i="1" dirty="0"/>
              <a:t>а каждое подмножество заголовка является заголовком</a:t>
            </a:r>
            <a:r>
              <a:rPr lang="ru-RU" sz="1600" dirty="0"/>
              <a:t>).</a:t>
            </a: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24A214-51AA-52E6-CC28-60C0F16C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42E840-96EB-415F-8341-F279D15B6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527" y="4875986"/>
            <a:ext cx="4320480" cy="176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61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81AFE9E7-CC96-8748-6085-8A829104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РМД - Ключи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61A9AB1-98B5-9FB3-3762-9C3DCE109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4824536" cy="1944216"/>
          </a:xfrm>
        </p:spPr>
        <p:txBody>
          <a:bodyPr anchor="t">
            <a:normAutofit lnSpcReduction="10000"/>
          </a:bodyPr>
          <a:lstStyle/>
          <a:p>
            <a:r>
              <a:rPr lang="ru-RU" dirty="0"/>
              <a:t>Потенциальный ключ </a:t>
            </a:r>
            <a:r>
              <a:rPr lang="en-US" dirty="0"/>
              <a:t>– </a:t>
            </a:r>
            <a:r>
              <a:rPr lang="en-US" b="1" dirty="0"/>
              <a:t>Primary key </a:t>
            </a:r>
            <a:r>
              <a:rPr lang="ru-RU" dirty="0"/>
              <a:t>(</a:t>
            </a:r>
            <a:r>
              <a:rPr lang="ru-RU" i="1" dirty="0"/>
              <a:t>Простой/составной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Первичный ключ (</a:t>
            </a:r>
            <a:r>
              <a:rPr lang="ru-RU" i="1" dirty="0"/>
              <a:t>Естественный / Суррогатный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Альтернативный ключ</a:t>
            </a:r>
          </a:p>
          <a:p>
            <a:r>
              <a:rPr lang="ru-RU" dirty="0" err="1"/>
              <a:t>Суперключ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17493F-9C3B-1BF8-AF24-2E44D7CF3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0" name="Объект 8">
            <a:extLst>
              <a:ext uri="{FF2B5EF4-FFF2-40B4-BE49-F238E27FC236}">
                <a16:creationId xmlns:a16="http://schemas.microsoft.com/office/drawing/2014/main" id="{DBD65A3B-742A-B8CC-0C51-B4D5201267AE}"/>
              </a:ext>
            </a:extLst>
          </p:cNvPr>
          <p:cNvSpPr txBox="1">
            <a:spLocks/>
          </p:cNvSpPr>
          <p:nvPr/>
        </p:nvSpPr>
        <p:spPr>
          <a:xfrm>
            <a:off x="5652120" y="1484784"/>
            <a:ext cx="3312368" cy="15121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 anchorCtr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Свойства потенциального (первичного) ключа:</a:t>
            </a:r>
          </a:p>
          <a:p>
            <a:pPr lvl="1"/>
            <a:r>
              <a:rPr lang="ru-RU" dirty="0"/>
              <a:t>Обязательность</a:t>
            </a:r>
          </a:p>
          <a:p>
            <a:pPr lvl="1"/>
            <a:r>
              <a:rPr lang="ru-RU" dirty="0"/>
              <a:t>Уникальность</a:t>
            </a:r>
          </a:p>
          <a:p>
            <a:pPr lvl="1"/>
            <a:r>
              <a:rPr lang="ru-RU" dirty="0"/>
              <a:t>Минимальность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9B9E621-4706-BFB9-57AD-04ECF459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4" y="3377607"/>
            <a:ext cx="5614681" cy="346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60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424835-19B9-6A7A-F78E-C9D6E6E1A88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84784"/>
            <a:ext cx="5206071" cy="46185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2BCAE-6227-7D42-5916-A428B713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РМД – Связи между отношениями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80B534-C2AC-AD4C-B38B-18D60D916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9" name="Объект 8">
            <a:extLst>
              <a:ext uri="{FF2B5EF4-FFF2-40B4-BE49-F238E27FC236}">
                <a16:creationId xmlns:a16="http://schemas.microsoft.com/office/drawing/2014/main" id="{7C77CA75-D53D-FE04-72F4-DE8E85F11FC2}"/>
              </a:ext>
            </a:extLst>
          </p:cNvPr>
          <p:cNvSpPr txBox="1">
            <a:spLocks/>
          </p:cNvSpPr>
          <p:nvPr/>
        </p:nvSpPr>
        <p:spPr>
          <a:xfrm>
            <a:off x="2149850" y="1268762"/>
            <a:ext cx="4392488" cy="50405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Внешний ключ</a:t>
            </a:r>
            <a:r>
              <a:rPr lang="en-US" dirty="0"/>
              <a:t> – </a:t>
            </a:r>
            <a:r>
              <a:rPr lang="en-US" b="1" dirty="0"/>
              <a:t>Foreign key</a:t>
            </a:r>
            <a:endParaRPr lang="ru-RU" b="1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CF65788-1F3F-0499-6741-397E6406F79D}"/>
              </a:ext>
            </a:extLst>
          </p:cNvPr>
          <p:cNvSpPr/>
          <p:nvPr/>
        </p:nvSpPr>
        <p:spPr>
          <a:xfrm>
            <a:off x="3707904" y="3068960"/>
            <a:ext cx="1296144" cy="288032"/>
          </a:xfrm>
          <a:prstGeom prst="rect">
            <a:avLst/>
          </a:prstGeom>
          <a:solidFill>
            <a:srgbClr val="36946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89F15F-06C5-5C62-6C42-BCB1A22B5963}"/>
              </a:ext>
            </a:extLst>
          </p:cNvPr>
          <p:cNvSpPr/>
          <p:nvPr/>
        </p:nvSpPr>
        <p:spPr>
          <a:xfrm>
            <a:off x="539552" y="4221088"/>
            <a:ext cx="1800200" cy="216024"/>
          </a:xfrm>
          <a:prstGeom prst="rect">
            <a:avLst/>
          </a:prstGeom>
          <a:solidFill>
            <a:srgbClr val="369461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E4DBEEC-AF1B-DE0B-7F40-BEC99C5D78A8}"/>
              </a:ext>
            </a:extLst>
          </p:cNvPr>
          <p:cNvSpPr/>
          <p:nvPr/>
        </p:nvSpPr>
        <p:spPr>
          <a:xfrm>
            <a:off x="499839" y="4420178"/>
            <a:ext cx="1800200" cy="216024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5F969E5-BDCD-6203-25DB-5D9BC4444DD4}"/>
              </a:ext>
            </a:extLst>
          </p:cNvPr>
          <p:cNvSpPr/>
          <p:nvPr/>
        </p:nvSpPr>
        <p:spPr>
          <a:xfrm>
            <a:off x="683568" y="1719811"/>
            <a:ext cx="1296144" cy="216024"/>
          </a:xfrm>
          <a:prstGeom prst="rect">
            <a:avLst/>
          </a:prstGeom>
          <a:solidFill>
            <a:srgbClr val="0070C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016AF8-2165-26A3-8D15-AD0047BA952F}"/>
              </a:ext>
            </a:extLst>
          </p:cNvPr>
          <p:cNvSpPr/>
          <p:nvPr/>
        </p:nvSpPr>
        <p:spPr>
          <a:xfrm>
            <a:off x="571765" y="3634004"/>
            <a:ext cx="1296144" cy="216024"/>
          </a:xfrm>
          <a:prstGeom prst="rect">
            <a:avLst/>
          </a:prstGeom>
          <a:solidFill>
            <a:srgbClr val="0070C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16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424835-19B9-6A7A-F78E-C9D6E6E1A88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84784"/>
            <a:ext cx="5206071" cy="46185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2BCAE-6227-7D42-5916-A428B713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Схемы данных в реляционной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79FE65-5BF6-FC84-3481-FC2A496F6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056" y="1484784"/>
            <a:ext cx="3456384" cy="475252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Идентифицирующая связь </a:t>
            </a:r>
            <a:r>
              <a:rPr lang="ru-RU" dirty="0"/>
              <a:t>- сплошная линия атрибуты мигрируют в первичный ключ таблицы; </a:t>
            </a:r>
          </a:p>
          <a:p>
            <a:r>
              <a:rPr lang="ru-RU" b="1" dirty="0" err="1">
                <a:solidFill>
                  <a:srgbClr val="7030A0"/>
                </a:solidFill>
              </a:rPr>
              <a:t>Неидентифицирующая</a:t>
            </a:r>
            <a:r>
              <a:rPr lang="ru-RU" b="1" dirty="0">
                <a:solidFill>
                  <a:srgbClr val="7030A0"/>
                </a:solidFill>
              </a:rPr>
              <a:t> связь </a:t>
            </a:r>
            <a:r>
              <a:rPr lang="ru-RU" dirty="0"/>
              <a:t>– пунктирная линия атрибуты мигрируют в тело таблицы. </a:t>
            </a:r>
          </a:p>
          <a:p>
            <a:pPr lvl="1"/>
            <a:r>
              <a:rPr lang="ru-RU" i="1" dirty="0"/>
              <a:t>Черная точка  </a:t>
            </a:r>
            <a:r>
              <a:rPr lang="ru-RU" dirty="0"/>
              <a:t>указывает таблицу, </a:t>
            </a:r>
            <a:r>
              <a:rPr lang="ru-RU" b="1" dirty="0"/>
              <a:t>в</a:t>
            </a:r>
            <a:r>
              <a:rPr lang="ru-RU" dirty="0"/>
              <a:t> которую мигрируют атрибуты; </a:t>
            </a:r>
          </a:p>
          <a:p>
            <a:r>
              <a:rPr lang="ru-RU" dirty="0"/>
              <a:t>Прозрачный ромбик (</a:t>
            </a:r>
            <a:r>
              <a:rPr lang="ru-RU" b="1" dirty="0"/>
              <a:t>только для </a:t>
            </a:r>
            <a:r>
              <a:rPr lang="ru-RU" b="1" dirty="0" err="1"/>
              <a:t>неидентифицирующих</a:t>
            </a:r>
            <a:r>
              <a:rPr lang="ru-RU" b="1" dirty="0"/>
              <a:t> </a:t>
            </a:r>
            <a:r>
              <a:rPr lang="ru-RU" dirty="0"/>
              <a:t>связей)  означает, что ссылка – опциональная.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80B534-C2AC-AD4C-B38B-18D60D916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1" name="Стрелка: изогнутая вверх 10">
            <a:extLst>
              <a:ext uri="{FF2B5EF4-FFF2-40B4-BE49-F238E27FC236}">
                <a16:creationId xmlns:a16="http://schemas.microsoft.com/office/drawing/2014/main" id="{C44B72E0-4924-7752-3D81-43D688F7A59F}"/>
              </a:ext>
            </a:extLst>
          </p:cNvPr>
          <p:cNvSpPr/>
          <p:nvPr/>
        </p:nvSpPr>
        <p:spPr>
          <a:xfrm rot="5400000">
            <a:off x="-660011" y="2612341"/>
            <a:ext cx="2088231" cy="409185"/>
          </a:xfrm>
          <a:prstGeom prst="curvedUpArrow">
            <a:avLst>
              <a:gd name="adj1" fmla="val 23607"/>
              <a:gd name="adj2" fmla="val 6482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Стрелка: изогнутая вверх 11">
            <a:extLst>
              <a:ext uri="{FF2B5EF4-FFF2-40B4-BE49-F238E27FC236}">
                <a16:creationId xmlns:a16="http://schemas.microsoft.com/office/drawing/2014/main" id="{43DD14C0-1CAC-AE1F-67B1-1A1F9F3022F9}"/>
              </a:ext>
            </a:extLst>
          </p:cNvPr>
          <p:cNvSpPr/>
          <p:nvPr/>
        </p:nvSpPr>
        <p:spPr>
          <a:xfrm rot="5662761" flipV="1">
            <a:off x="3641402" y="4010871"/>
            <a:ext cx="2567326" cy="944897"/>
          </a:xfrm>
          <a:prstGeom prst="curvedUpArrow">
            <a:avLst>
              <a:gd name="adj1" fmla="val 9662"/>
              <a:gd name="adj2" fmla="val 30905"/>
              <a:gd name="adj3" fmla="val 23295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C7ED9C7B-BB99-B334-F421-A5D5DC0C3279}"/>
              </a:ext>
            </a:extLst>
          </p:cNvPr>
          <p:cNvCxnSpPr/>
          <p:nvPr/>
        </p:nvCxnSpPr>
        <p:spPr>
          <a:xfrm rot="10800000" flipV="1">
            <a:off x="2339752" y="3167328"/>
            <a:ext cx="1296144" cy="1197776"/>
          </a:xfrm>
          <a:prstGeom prst="curvedConnector3">
            <a:avLst>
              <a:gd name="adj1" fmla="val 33016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уступ 14">
            <a:extLst>
              <a:ext uri="{FF2B5EF4-FFF2-40B4-BE49-F238E27FC236}">
                <a16:creationId xmlns:a16="http://schemas.microsoft.com/office/drawing/2014/main" id="{0FDAB558-B0AC-EBD0-D752-937BA7887648}"/>
              </a:ext>
            </a:extLst>
          </p:cNvPr>
          <p:cNvCxnSpPr>
            <a:cxnSpLocks/>
          </p:cNvCxnSpPr>
          <p:nvPr/>
        </p:nvCxnSpPr>
        <p:spPr>
          <a:xfrm rot="10800000">
            <a:off x="2087725" y="4483319"/>
            <a:ext cx="1392725" cy="906830"/>
          </a:xfrm>
          <a:prstGeom prst="curvedConnector3">
            <a:avLst>
              <a:gd name="adj1" fmla="val 50000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бъект 8">
            <a:extLst>
              <a:ext uri="{FF2B5EF4-FFF2-40B4-BE49-F238E27FC236}">
                <a16:creationId xmlns:a16="http://schemas.microsoft.com/office/drawing/2014/main" id="{7C77CA75-D53D-FE04-72F4-DE8E85F11FC2}"/>
              </a:ext>
            </a:extLst>
          </p:cNvPr>
          <p:cNvSpPr txBox="1">
            <a:spLocks/>
          </p:cNvSpPr>
          <p:nvPr/>
        </p:nvSpPr>
        <p:spPr>
          <a:xfrm>
            <a:off x="2149850" y="1268762"/>
            <a:ext cx="4392488" cy="50405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Внешний ключ</a:t>
            </a:r>
            <a:r>
              <a:rPr lang="en-US" dirty="0"/>
              <a:t> – </a:t>
            </a:r>
            <a:r>
              <a:rPr lang="en-US" b="1" dirty="0"/>
              <a:t>Foreign key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20503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C0A10-F886-7257-0D43-E4C77A8C1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Связь - Ссылка по внешнему ключу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BB6027-86FC-C9BB-9DA7-D0FF043A1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21491B6-0C73-383E-FF0F-CD5F72B8A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27060"/>
            <a:ext cx="6104542" cy="5195919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71A8FCE-62E3-EA35-A736-E649D43F7CC4}"/>
              </a:ext>
            </a:extLst>
          </p:cNvPr>
          <p:cNvSpPr/>
          <p:nvPr/>
        </p:nvSpPr>
        <p:spPr>
          <a:xfrm>
            <a:off x="6804248" y="1404076"/>
            <a:ext cx="1872208" cy="216894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Порядок следования полей в составных ключах имеет значение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3A6B2-97B1-B086-47B4-14AB394C49A3}"/>
              </a:ext>
            </a:extLst>
          </p:cNvPr>
          <p:cNvSpPr txBox="1"/>
          <p:nvPr/>
        </p:nvSpPr>
        <p:spPr>
          <a:xfrm>
            <a:off x="6762388" y="4352316"/>
            <a:ext cx="23580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данном примере (нотации) обязательные для заполнения поля обозначены жирным</a:t>
            </a:r>
          </a:p>
        </p:txBody>
      </p:sp>
    </p:spTree>
    <p:extLst>
      <p:ext uri="{BB962C8B-B14F-4D97-AF65-F5344CB8AC3E}">
        <p14:creationId xmlns:p14="http://schemas.microsoft.com/office/powerpoint/2010/main" val="4260100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54466-197F-39A9-E8EC-951FBCB4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данных – Пример </a:t>
            </a:r>
            <a:r>
              <a:rPr lang="ru-RU" dirty="0" smtClean="0"/>
              <a:t> </a:t>
            </a:r>
            <a:r>
              <a:rPr lang="en-US" dirty="0"/>
              <a:t>Postgre SQL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254518-E937-869D-803D-DF0FCED10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814D6B4-74A3-B649-C00A-B7921F3F9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04" y="1484785"/>
            <a:ext cx="8568984" cy="443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89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54466-197F-39A9-E8EC-951FBCB4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данных – Пример </a:t>
            </a:r>
            <a:r>
              <a:rPr lang="en-US" dirty="0" smtClean="0"/>
              <a:t>MS </a:t>
            </a:r>
            <a:r>
              <a:rPr lang="en-US" dirty="0"/>
              <a:t>SQL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254518-E937-869D-803D-DF0FCED10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1AB3151-649F-351D-AE2C-0942D551C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5912" y="1484313"/>
            <a:ext cx="4485201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6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54466-197F-39A9-E8EC-951FBCB4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данных – Пример </a:t>
            </a:r>
            <a:r>
              <a:rPr lang="en-US" dirty="0" smtClean="0"/>
              <a:t>Oracle </a:t>
            </a:r>
            <a:r>
              <a:rPr lang="en-US" dirty="0"/>
              <a:t>DBMS Server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254518-E937-869D-803D-DF0FCED10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15DA225-C84A-5B74-1EF2-5CAD6A64D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84" y="1484784"/>
            <a:ext cx="6912768" cy="52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18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750" y="2384425"/>
            <a:ext cx="7772400" cy="1900238"/>
          </a:xfrm>
        </p:spPr>
        <p:txBody>
          <a:bodyPr/>
          <a:lstStyle/>
          <a:p>
            <a:pPr algn="ctr">
              <a:lnSpc>
                <a:spcPct val="150000"/>
              </a:lnSpc>
              <a:defRPr/>
            </a:pPr>
            <a:r>
              <a:rPr lang="ru-RU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Реализация схемы 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819" name="Рисунок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412750"/>
            <a:ext cx="244792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333515"/>
      </p:ext>
    </p:extLst>
  </p:cSld>
  <p:clrMapOvr>
    <a:masterClrMapping/>
  </p:clrMapOvr>
  <p:transition spd="slow" advTm="1215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F65AD-3ED1-1F33-1BE8-6A8C4B9C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схемы данных на </a:t>
            </a:r>
            <a:r>
              <a:rPr lang="en-US" dirty="0"/>
              <a:t>SQL – </a:t>
            </a:r>
            <a:r>
              <a:rPr lang="ru-RU" dirty="0"/>
              <a:t>Пример схемы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5F035B-F977-BB0A-691F-66D90B9D1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4843B0F-8DFF-9421-9D7B-6D1D42030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82C0F90-7B49-8B96-810D-26F2E298E15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83568" y="1385692"/>
          <a:ext cx="7632848" cy="269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Картинка" r:id="rId3" imgW="0" imgH="0" progId="StaticMetafile">
                  <p:embed/>
                </p:oleObj>
              </mc:Choice>
              <mc:Fallback>
                <p:oleObj name="Картинка" r:id="rId3" imgW="0" imgH="0" progId="StaticMetafile">
                  <p:embed/>
                  <p:pic>
                    <p:nvPicPr>
                      <p:cNvPr id="6" name="Объект 5">
                        <a:extLst>
                          <a:ext uri="{FF2B5EF4-FFF2-40B4-BE49-F238E27FC236}">
                            <a16:creationId xmlns:a16="http://schemas.microsoft.com/office/drawing/2014/main" id="{582C0F90-7B49-8B96-810D-26F2E298E1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385692"/>
                        <a:ext cx="7632848" cy="269137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Объект 2">
            <a:extLst>
              <a:ext uri="{FF2B5EF4-FFF2-40B4-BE49-F238E27FC236}">
                <a16:creationId xmlns:a16="http://schemas.microsoft.com/office/drawing/2014/main" id="{C2EE36C2-3444-3D54-A9D8-0EB8CAE02F93}"/>
              </a:ext>
            </a:extLst>
          </p:cNvPr>
          <p:cNvSpPr txBox="1">
            <a:spLocks/>
          </p:cNvSpPr>
          <p:nvPr/>
        </p:nvSpPr>
        <p:spPr>
          <a:xfrm>
            <a:off x="467544" y="3501008"/>
            <a:ext cx="3456384" cy="309634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600"/>
              </a:spcBef>
              <a:buNone/>
            </a:pP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Отношение </a:t>
            </a:r>
            <a:r>
              <a:rPr lang="ru-RU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Castomers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(Покупатели)</a:t>
            </a:r>
            <a:endParaRPr lang="ru-RU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600"/>
              </a:spcBef>
              <a:buNone/>
            </a:pP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целое число, уникальный номер покупателя при регистрации, первичный ключ</a:t>
            </a:r>
            <a:endParaRPr lang="ru-RU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600"/>
              </a:spcBef>
              <a:buNone/>
            </a:pP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customer_name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фамилия покупателя, 50 символов</a:t>
            </a:r>
            <a:endParaRPr lang="ru-RU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600"/>
              </a:spcBef>
              <a:buNone/>
            </a:pPr>
            <a:r>
              <a:rPr lang="ru-RU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customer_postal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почтовый индекс покупателя </a:t>
            </a:r>
            <a:endParaRPr lang="ru-RU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E7E053-CCD9-50C7-4E7C-B820CFA74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0223" y="3609020"/>
            <a:ext cx="4824536" cy="2880320"/>
          </a:xfrm>
        </p:spPr>
        <p:txBody>
          <a:bodyPr>
            <a:noAutofit/>
          </a:bodyPr>
          <a:lstStyle/>
          <a:p>
            <a:pPr indent="0">
              <a:spcBef>
                <a:spcPts val="600"/>
              </a:spcBef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Отношение </a:t>
            </a:r>
            <a:r>
              <a:rPr lang="ru-RU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(Заказы)</a:t>
            </a:r>
            <a:endParaRPr lang="ru-RU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600"/>
              </a:spcBef>
              <a:buNone/>
            </a:pP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номер заказа, первичный ключ</a:t>
            </a:r>
            <a:endParaRPr lang="ru-RU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600"/>
              </a:spcBef>
              <a:buNone/>
            </a:pP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номер покупателя, сделавшего заказ (из таблицы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600"/>
              </a:spcBef>
              <a:buNone/>
            </a:pP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дата заказа в диапазоне от 01.01.2000 до 01.01.2022</a:t>
            </a:r>
            <a:endParaRPr lang="ru-RU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600"/>
              </a:spcBef>
              <a:buNone/>
            </a:pP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order_sum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сумма заказа, 2 знака после запятой, случайное число от 1 до 20 000</a:t>
            </a:r>
            <a:endParaRPr lang="ru-RU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573579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F65AD-3ED1-1F33-1BE8-6A8C4B9C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схемы данных на </a:t>
            </a:r>
            <a:r>
              <a:rPr lang="en-US" dirty="0"/>
              <a:t>SQL – </a:t>
            </a:r>
            <a:r>
              <a:rPr lang="ru-RU" dirty="0"/>
              <a:t>Отношения и связи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5F035B-F977-BB0A-691F-66D90B9D1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4843B0F-8DFF-9421-9D7B-6D1D42030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82C0F90-7B49-8B96-810D-26F2E298E15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483768" y="5460169"/>
          <a:ext cx="5400600" cy="1633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Картинка" r:id="rId3" imgW="0" imgH="0" progId="StaticMetafile">
                  <p:embed/>
                </p:oleObj>
              </mc:Choice>
              <mc:Fallback>
                <p:oleObj name="Картинка" r:id="rId3" imgW="0" imgH="0" progId="StaticMetafile">
                  <p:embed/>
                  <p:pic>
                    <p:nvPicPr>
                      <p:cNvPr id="6" name="Объект 5">
                        <a:extLst>
                          <a:ext uri="{FF2B5EF4-FFF2-40B4-BE49-F238E27FC236}">
                            <a16:creationId xmlns:a16="http://schemas.microsoft.com/office/drawing/2014/main" id="{582C0F90-7B49-8B96-810D-26F2E298E1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5460169"/>
                        <a:ext cx="5400600" cy="163386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EE5CA61-D615-1F52-B9FE-3A48670F5FE0}"/>
              </a:ext>
            </a:extLst>
          </p:cNvPr>
          <p:cNvSpPr txBox="1"/>
          <p:nvPr/>
        </p:nvSpPr>
        <p:spPr>
          <a:xfrm>
            <a:off x="323528" y="1319361"/>
            <a:ext cx="7128792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DROP TABLE IF EXISTS </a:t>
            </a:r>
            <a:r>
              <a:rPr lang="ru-RU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Customers</a:t>
            </a:r>
            <a:r>
              <a:rPr lang="ru-RU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CASCADE;</a:t>
            </a:r>
          </a:p>
          <a:p>
            <a:pPr>
              <a:spcBef>
                <a:spcPts val="600"/>
              </a:spcBef>
            </a:pP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CREATE TABLE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Customers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(   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customer_id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primary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key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customer_name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varchar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(50)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customer_postal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ru-RU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DROP TABLE IF EXISTS </a:t>
            </a:r>
            <a:r>
              <a:rPr lang="ru-RU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Orders</a:t>
            </a:r>
            <a:r>
              <a:rPr lang="ru-RU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CASCADE;</a:t>
            </a:r>
          </a:p>
          <a:p>
            <a:pPr>
              <a:spcBef>
                <a:spcPts val="600"/>
              </a:spcBef>
            </a:pPr>
            <a:r>
              <a:rPr lang="ru-RU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CREATE TABLE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Orders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(   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order_id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primary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key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customer_id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order_date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timestamp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ru-RU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order_sum</a:t>
            </a:r>
            <a:r>
              <a:rPr lang="ru-RU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numeric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(7, 2)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ru-RU" b="1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foreign</a:t>
            </a:r>
            <a:r>
              <a:rPr lang="ru-RU" b="1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b="1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key</a:t>
            </a:r>
            <a:r>
              <a:rPr lang="ru-RU" b="1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customer_id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ru-RU" b="1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references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Customers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customer_id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)    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on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cascade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on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update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cascade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70103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89867-448B-BEC9-9DF1-DDEAC214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схемы данных на </a:t>
            </a:r>
            <a:r>
              <a:rPr lang="en-US" dirty="0"/>
              <a:t>SQL – </a:t>
            </a:r>
            <a:r>
              <a:rPr lang="ru-RU" dirty="0"/>
              <a:t>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C4C0A4-DD5A-F7AA-8130-4BA0F54E0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340768"/>
            <a:ext cx="7848872" cy="26642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(1,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Иванов', 170043);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(2,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Петров', 170011);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(3,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Сидоров', 192289);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(4,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Кузнецов', 192177);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(5,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Семенов', 173200);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(6,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Макаренко', 192021);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(7,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Петров', 197573);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(8,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Кузнецова', 175012);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(9,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Романова', 170043);</a:t>
            </a:r>
            <a:b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Customers values (10, '</a:t>
            </a:r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Шилова', 178891);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2979E0-0CFC-60BA-E563-7FCF5B5A5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0D8D3F8-92F6-F303-F778-D53C2961388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84808" y="4020713"/>
          <a:ext cx="5934075" cy="27393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1705">
                  <a:extLst>
                    <a:ext uri="{9D8B030D-6E8A-4147-A177-3AD203B41FA5}">
                      <a16:colId xmlns:a16="http://schemas.microsoft.com/office/drawing/2014/main" val="990201759"/>
                    </a:ext>
                  </a:extLst>
                </a:gridCol>
                <a:gridCol w="3027045">
                  <a:extLst>
                    <a:ext uri="{9D8B030D-6E8A-4147-A177-3AD203B41FA5}">
                      <a16:colId xmlns:a16="http://schemas.microsoft.com/office/drawing/2014/main" val="789298710"/>
                    </a:ext>
                  </a:extLst>
                </a:gridCol>
                <a:gridCol w="1965325">
                  <a:extLst>
                    <a:ext uri="{9D8B030D-6E8A-4147-A177-3AD203B41FA5}">
                      <a16:colId xmlns:a16="http://schemas.microsoft.com/office/drawing/2014/main" val="654284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customer_id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customer_name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customer_postal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217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Иванов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170043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3140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Петров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170011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288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Сидоров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192289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8161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Кузнецов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192177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0134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Семенов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173200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377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Макаренко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192021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0045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Петров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197573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183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Кузнецова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175012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587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Романова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170043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1045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Шилова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178891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9283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38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89867-448B-BEC9-9DF1-DDEAC214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схемы данных на </a:t>
            </a:r>
            <a:r>
              <a:rPr lang="en-US" dirty="0"/>
              <a:t>SQL – </a:t>
            </a:r>
            <a:r>
              <a:rPr lang="ru-RU" dirty="0"/>
              <a:t>Генерация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C4C0A4-DD5A-F7AA-8130-4BA0F54E0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340768"/>
            <a:ext cx="8568952" cy="4032448"/>
          </a:xfrm>
        </p:spPr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or replace function 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insert_into_orders</a:t>
            </a:r>
            <a:r>
              <a:rPr 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(num integer,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start_value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integer) returns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boolean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as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$$begin  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if ($1 &lt; 0 or $2 &lt; 0)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then return false;  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end if;      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for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in 1..$1 loop          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INSERT INTO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Orders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values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($2 +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(select </a:t>
            </a:r>
            <a:r>
              <a:rPr lang="en-US" sz="1600" b="1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random_between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(1,10)),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(select timestamp '2000-01-01' + random() *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(timestamp '2022-01-01' -  timestamp '2000-01-01’)),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(select CAST(</a:t>
            </a:r>
            <a:r>
              <a:rPr lang="en-US" sz="1600" b="1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random_between_numeric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(1,20000) as numeric(7,2)))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);          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end loop;  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return true;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end$$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language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plpgsql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2979E0-0CFC-60BA-E563-7FCF5B5A5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086AB7-4D7F-A32D-ACF6-DC94B5691B2F}"/>
              </a:ext>
            </a:extLst>
          </p:cNvPr>
          <p:cNvSpPr txBox="1"/>
          <p:nvPr/>
        </p:nvSpPr>
        <p:spPr>
          <a:xfrm>
            <a:off x="251520" y="5949280"/>
            <a:ext cx="4572000" cy="3693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indent="0">
              <a:spcBef>
                <a:spcPts val="0"/>
              </a:spcBef>
              <a:buFont typeface="Arial" pitchFamily="34" charset="0"/>
              <a:buNone/>
              <a:defRPr sz="16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 err="1"/>
              <a:t>select</a:t>
            </a:r>
            <a:r>
              <a:rPr lang="ru-RU" dirty="0"/>
              <a:t> </a:t>
            </a:r>
            <a:r>
              <a:rPr lang="ru-RU" b="1" dirty="0" err="1"/>
              <a:t>insert_into_orders</a:t>
            </a:r>
            <a:r>
              <a:rPr lang="ru-RU" dirty="0"/>
              <a:t>(100000, 0);</a:t>
            </a:r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0C2E2064-BB34-E98D-3A76-38383976AC42}"/>
              </a:ext>
            </a:extLst>
          </p:cNvPr>
          <p:cNvSpPr/>
          <p:nvPr/>
        </p:nvSpPr>
        <p:spPr>
          <a:xfrm>
            <a:off x="2537520" y="4797152"/>
            <a:ext cx="1098376" cy="936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668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CA1FA2-A408-50FA-89A2-C08CEB91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целостности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81311E-5101-6F29-4969-56FA4FE46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792088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Ограничение целостности </a:t>
            </a:r>
            <a:r>
              <a:rPr lang="ru-RU" dirty="0"/>
              <a:t>– логическое выражение определенное над БД, которое должно принимать значение </a:t>
            </a:r>
            <a:r>
              <a:rPr lang="en-US" dirty="0"/>
              <a:t>TRUE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290F84-3BC0-DC43-94DE-9273559E7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095879-F8DD-4AC7-81D9-92422012C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65" y="2414697"/>
            <a:ext cx="7565792" cy="400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93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CA1FA2-A408-50FA-89A2-C08CEB91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Декларативные ограничения целостности</a:t>
            </a:r>
            <a:r>
              <a:rPr lang="en-US" dirty="0"/>
              <a:t> - </a:t>
            </a:r>
            <a:r>
              <a:rPr lang="ru-RU" dirty="0"/>
              <a:t>примеры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290F84-3BC0-DC43-94DE-9273559E7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943C858-85F4-3475-B021-6D5E242F47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528" y="1340768"/>
            <a:ext cx="3672408" cy="144016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TABLE </a:t>
            </a:r>
            <a:r>
              <a:rPr lang="ru-RU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products</a:t>
            </a: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ru-RU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product_no</a:t>
            </a: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integer</a:t>
            </a: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ru-RU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name</a:t>
            </a: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text</a:t>
            </a: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ru-RU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price</a:t>
            </a: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numeric</a:t>
            </a: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CHECK (</a:t>
            </a:r>
            <a:r>
              <a:rPr lang="ru-RU" altLang="ru-RU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price</a:t>
            </a:r>
            <a:r>
              <a:rPr lang="ru-RU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&gt; 0)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); 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06C0BAB-D904-0ED2-F8BA-014FC1A93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26" y="2930420"/>
            <a:ext cx="6461372" cy="13461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TABLE products (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product_no</a:t>
            </a: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integer,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name text,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price numeric </a:t>
            </a: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CONSTRAINT </a:t>
            </a:r>
            <a:r>
              <a:rPr lang="en-US" altLang="ru-RU" sz="1600" b="1" dirty="0" err="1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positive_price</a:t>
            </a:r>
            <a:r>
              <a:rPr lang="en-US" altLang="ru-RU" sz="1600" b="1" dirty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CHECK (price &gt; 0)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ru-RU" alt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AB1F16B9-65D6-458D-B894-522458D15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26" y="4509120"/>
            <a:ext cx="6461372" cy="219648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TABLE products (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product_no</a:t>
            </a: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integer,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name text,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price numeric </a:t>
            </a: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CHECK (price &gt; 0)</a:t>
            </a: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discounted_price</a:t>
            </a: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numeric,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CHECK (</a:t>
            </a:r>
            <a:r>
              <a:rPr lang="en-US" altLang="ru-RU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discounted_price</a:t>
            </a: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&gt; 0 AND price &gt; </a:t>
            </a:r>
            <a:r>
              <a:rPr lang="en-US" altLang="ru-RU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discounted_price</a:t>
            </a: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7EFD3286-7138-AC55-DB1E-B363202DE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1865" y="1309338"/>
            <a:ext cx="3672408" cy="14401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TABLE products (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product_no</a:t>
            </a: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integer </a:t>
            </a: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NOT NULL</a:t>
            </a: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name text </a:t>
            </a: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NOT NULL</a:t>
            </a: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price numeric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ru-RU" alt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2FC7E177-14A0-0DEE-9EAF-C59DF4A7A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1865" y="4167200"/>
            <a:ext cx="3672408" cy="14401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TABLE products (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ru-RU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product_no</a:t>
            </a: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integer,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name text,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price numeric,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UNIQUE (</a:t>
            </a:r>
            <a:r>
              <a:rPr lang="en-US" altLang="ru-RU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product_no</a:t>
            </a:r>
            <a:r>
              <a:rPr lang="ru-RU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price)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ru-RU" alt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886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Доступ к данным в СУБД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4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2C529-2C3E-BF0B-7016-A1D39A31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доступа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A1832E-E40C-5B92-CFD0-6AA3F7C97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88AF8EA-856F-062E-190B-046C60E7E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4022257"/>
            <a:ext cx="5768980" cy="2524248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98A13C7C-BF68-464C-E68D-612A757DB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88" y="1385209"/>
            <a:ext cx="6231796" cy="243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41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697E1-5253-2204-94BE-2C2DEEF54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Архитектуры доступа – по размещению компонентов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5F1AE3-8665-A69A-0901-9B497B6D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647" y="4754047"/>
            <a:ext cx="2548177" cy="6648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Централизованная архитектура (а)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D16C4E-9463-A72B-9B75-B67856F74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7C2E68-D377-1643-5D5F-FCC05DB09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7" y="1772816"/>
            <a:ext cx="5112568" cy="2643529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823769ED-30D1-E096-5DDE-154D70A82C93}"/>
              </a:ext>
            </a:extLst>
          </p:cNvPr>
          <p:cNvSpPr txBox="1">
            <a:spLocks/>
          </p:cNvSpPr>
          <p:nvPr/>
        </p:nvSpPr>
        <p:spPr>
          <a:xfrm>
            <a:off x="3297911" y="4754047"/>
            <a:ext cx="2548177" cy="6648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dirty="0"/>
              <a:t>Архитектура </a:t>
            </a:r>
            <a:br>
              <a:rPr lang="ru-RU" dirty="0"/>
            </a:br>
            <a:r>
              <a:rPr lang="ru-RU" dirty="0"/>
              <a:t>"один к одному" (б)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91229CE4-523F-DCCF-9D4F-85C807B9602D}"/>
              </a:ext>
            </a:extLst>
          </p:cNvPr>
          <p:cNvSpPr txBox="1">
            <a:spLocks/>
          </p:cNvSpPr>
          <p:nvPr/>
        </p:nvSpPr>
        <p:spPr>
          <a:xfrm>
            <a:off x="6182981" y="4774038"/>
            <a:ext cx="2637491" cy="117524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dirty="0"/>
              <a:t>Размещение </a:t>
            </a:r>
            <a:br>
              <a:rPr lang="ru-RU" dirty="0"/>
            </a:br>
            <a:r>
              <a:rPr lang="ru-RU" dirty="0"/>
              <a:t>клиента и сервера </a:t>
            </a:r>
            <a:br>
              <a:rPr lang="ru-RU" dirty="0"/>
            </a:br>
            <a:r>
              <a:rPr lang="ru-RU" dirty="0"/>
              <a:t>на отдельных машинах</a:t>
            </a:r>
          </a:p>
        </p:txBody>
      </p:sp>
      <p:pic>
        <p:nvPicPr>
          <p:cNvPr id="8" name="Рисунок 7" descr="G:\СПбГПУ\DataBases\_Course\Для лекций\1-й семестр\Системы управления базами данных - коротко о главном - № 02, 1995 _ Статья номера _ СУБД _ Издательство «Открытые системы»_files\dbms_s07.gif">
            <a:extLst>
              <a:ext uri="{FF2B5EF4-FFF2-40B4-BE49-F238E27FC236}">
                <a16:creationId xmlns:a16="http://schemas.microsoft.com/office/drawing/2014/main" id="{80011E56-5CF5-0DE4-6F6B-0814E49FA73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745536"/>
            <a:ext cx="2880320" cy="267080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Скругленный прямоугольник 76">
            <a:extLst>
              <a:ext uri="{FF2B5EF4-FFF2-40B4-BE49-F238E27FC236}">
                <a16:creationId xmlns:a16="http://schemas.microsoft.com/office/drawing/2014/main" id="{058255D2-4BA4-8C7F-7352-160E41ED101D}"/>
              </a:ext>
            </a:extLst>
          </p:cNvPr>
          <p:cNvSpPr/>
          <p:nvPr/>
        </p:nvSpPr>
        <p:spPr>
          <a:xfrm>
            <a:off x="5940152" y="1544465"/>
            <a:ext cx="3002806" cy="4620839"/>
          </a:xfrm>
          <a:prstGeom prst="roundRect">
            <a:avLst>
              <a:gd name="adj" fmla="val 10156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755577" y="5589240"/>
            <a:ext cx="4752527" cy="100811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Эволюция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12114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697E1-5253-2204-94BE-2C2DEEF54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Архитектуры доступа – по организации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D16C4E-9463-A72B-9B75-B67856F74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  <p:pic>
        <p:nvPicPr>
          <p:cNvPr id="7" name="Рисунок 6" descr="G:\СПбГПУ\DataBases\_Course\Для лекций\1-й семестр\Системы управления базами данных - коротко о главном - № 02, 1995 _ Статья номера _ СУБД _ Издательство «Открытые системы»_files\dbms_s08.gif">
            <a:extLst>
              <a:ext uri="{FF2B5EF4-FFF2-40B4-BE49-F238E27FC236}">
                <a16:creationId xmlns:a16="http://schemas.microsoft.com/office/drawing/2014/main" id="{53BE505F-C3B2-0F2D-E35F-13673B70EBC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638361"/>
            <a:ext cx="2587981" cy="20882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FE551818-2C0D-F119-46A3-48662CA61A16}"/>
              </a:ext>
            </a:extLst>
          </p:cNvPr>
          <p:cNvSpPr txBox="1">
            <a:spLocks/>
          </p:cNvSpPr>
          <p:nvPr/>
        </p:nvSpPr>
        <p:spPr>
          <a:xfrm>
            <a:off x="4860033" y="4654596"/>
            <a:ext cx="2365650" cy="161885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Многопоточная мультисерверная  архитектура</a:t>
            </a:r>
          </a:p>
        </p:txBody>
      </p:sp>
      <p:pic>
        <p:nvPicPr>
          <p:cNvPr id="11" name="Рисунок 10" descr="G:\СПбГПУ\DataBases\_Course\Для лекций\1-й семестр\Системы управления базами данных - коротко о главном - № 02, 1995 _ Статья номера _ СУБД _ Издательство «Открытые системы»_files\dbms_s09.gif">
            <a:extLst>
              <a:ext uri="{FF2B5EF4-FFF2-40B4-BE49-F238E27FC236}">
                <a16:creationId xmlns:a16="http://schemas.microsoft.com/office/drawing/2014/main" id="{DACF249B-3BF4-1928-DFB0-12A0BA2F1AF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466" y="1500561"/>
            <a:ext cx="3502022" cy="226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A60C46DF-E2B2-8552-C0C4-0AC7BA9476C1}"/>
              </a:ext>
            </a:extLst>
          </p:cNvPr>
          <p:cNvSpPr txBox="1">
            <a:spLocks/>
          </p:cNvSpPr>
          <p:nvPr/>
        </p:nvSpPr>
        <p:spPr>
          <a:xfrm>
            <a:off x="4572000" y="1393975"/>
            <a:ext cx="2188137" cy="95609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Архитектура </a:t>
            </a:r>
            <a:br>
              <a:rPr lang="ru-RU" dirty="0"/>
            </a:br>
            <a:r>
              <a:rPr lang="ru-RU" dirty="0"/>
              <a:t>с виртуальным сервером </a:t>
            </a:r>
          </a:p>
        </p:txBody>
      </p:sp>
      <p:pic>
        <p:nvPicPr>
          <p:cNvPr id="13" name="Рисунок 12" descr="G:\СПбГПУ\DataBases\_Course\Для лекций\1-й семестр\Системы управления базами данных - коротко о главном - № 02, 1995 _ Статья номера _ СУБД _ Издательство «Открытые системы»_files\dbms_s10.gif">
            <a:extLst>
              <a:ext uri="{FF2B5EF4-FFF2-40B4-BE49-F238E27FC236}">
                <a16:creationId xmlns:a16="http://schemas.microsoft.com/office/drawing/2014/main" id="{25F63F40-CB0C-8F9F-62B7-CC1DB14FCE4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988552"/>
            <a:ext cx="2905309" cy="264470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Скругленный прямоугольник 76">
            <a:extLst>
              <a:ext uri="{FF2B5EF4-FFF2-40B4-BE49-F238E27FC236}">
                <a16:creationId xmlns:a16="http://schemas.microsoft.com/office/drawing/2014/main" id="{F0A5375F-A4E3-9F03-BC8F-5E4DCCCB1EF6}"/>
              </a:ext>
            </a:extLst>
          </p:cNvPr>
          <p:cNvSpPr/>
          <p:nvPr/>
        </p:nvSpPr>
        <p:spPr>
          <a:xfrm>
            <a:off x="1677198" y="3890067"/>
            <a:ext cx="5703113" cy="2851301"/>
          </a:xfrm>
          <a:prstGeom prst="roundRect">
            <a:avLst>
              <a:gd name="adj" fmla="val 12756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2882981" y="2111955"/>
            <a:ext cx="1800199" cy="100811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Эволюция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066758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124FF-647B-1328-2084-DEAA096E9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Модели доступа к данным – двухзвенные архитектуры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E6524A-0C7C-7892-2CDF-45A661690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5" name="Объект 9" descr="G:\СПбГПУ\DataBases\_Course\Для лекций\1-й семестр\Системы управления базами данных - коротко о главном - № 02, 1995 _ Статья номера _ СУБД _ Издательство «Открытые системы»_files\dbms_s02.gif">
            <a:extLst>
              <a:ext uri="{FF2B5EF4-FFF2-40B4-BE49-F238E27FC236}">
                <a16:creationId xmlns:a16="http://schemas.microsoft.com/office/drawing/2014/main" id="{97729462-8738-0968-FC2F-C5E7C867152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7007"/>
            <a:ext cx="4824536" cy="160626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8516A3-1776-6587-DDC6-F09E0790374C}"/>
              </a:ext>
            </a:extLst>
          </p:cNvPr>
          <p:cNvSpPr txBox="1"/>
          <p:nvPr/>
        </p:nvSpPr>
        <p:spPr>
          <a:xfrm>
            <a:off x="5724128" y="1700808"/>
            <a:ext cx="237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File Server – FS</a:t>
            </a:r>
          </a:p>
        </p:txBody>
      </p:sp>
      <p:pic>
        <p:nvPicPr>
          <p:cNvPr id="8" name="Объект 11" descr="G:\СПбГПУ\DataBases\_Course\Для лекций\1-й семестр\Системы управления базами данных - коротко о главном - № 02, 1995 _ Статья номера _ СУБД _ Издательство «Открытые системы»_files\dbms_s03.gif">
            <a:extLst>
              <a:ext uri="{FF2B5EF4-FFF2-40B4-BE49-F238E27FC236}">
                <a16:creationId xmlns:a16="http://schemas.microsoft.com/office/drawing/2014/main" id="{B8E4A25D-D65D-102A-DAA8-031042F085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3115514"/>
            <a:ext cx="4824537" cy="13182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FAABF8-032A-8AFA-CB8A-679C5F36FC55}"/>
              </a:ext>
            </a:extLst>
          </p:cNvPr>
          <p:cNvSpPr txBox="1"/>
          <p:nvPr/>
        </p:nvSpPr>
        <p:spPr>
          <a:xfrm>
            <a:off x="5832648" y="3480696"/>
            <a:ext cx="2843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Remote Data Access</a:t>
            </a:r>
            <a:r>
              <a:rPr lang="ru-RU" dirty="0"/>
              <a:t> – </a:t>
            </a:r>
            <a:r>
              <a:rPr lang="en-US" dirty="0"/>
              <a:t>RDA</a:t>
            </a:r>
            <a:endParaRPr lang="ru-RU" dirty="0"/>
          </a:p>
        </p:txBody>
      </p:sp>
      <p:pic>
        <p:nvPicPr>
          <p:cNvPr id="11" name="Объект 10" descr="G:\СПбГПУ\DataBases\_Course\Для лекций\1-й семестр\Системы управления базами данных - коротко о главном - № 02, 1995 _ Статья номера _ СУБД _ Издательство «Открытые системы»_files\dbms_s04.gif">
            <a:extLst>
              <a:ext uri="{FF2B5EF4-FFF2-40B4-BE49-F238E27FC236}">
                <a16:creationId xmlns:a16="http://schemas.microsoft.com/office/drawing/2014/main" id="{10B181B3-9B57-CA65-9955-DC41B9602A0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78" y="4758614"/>
            <a:ext cx="4834388" cy="166150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719C79-EC9E-27C5-12DC-81D3C5E7A952}"/>
              </a:ext>
            </a:extLst>
          </p:cNvPr>
          <p:cNvSpPr txBox="1"/>
          <p:nvPr/>
        </p:nvSpPr>
        <p:spPr>
          <a:xfrm>
            <a:off x="5769293" y="5259634"/>
            <a:ext cx="2843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DataBase</a:t>
            </a:r>
            <a:r>
              <a:rPr lang="ru-RU" dirty="0"/>
              <a:t> Server - DBS</a:t>
            </a:r>
          </a:p>
        </p:txBody>
      </p:sp>
      <p:sp>
        <p:nvSpPr>
          <p:cNvPr id="12" name="Скругленный прямоугольник 76">
            <a:extLst>
              <a:ext uri="{FF2B5EF4-FFF2-40B4-BE49-F238E27FC236}">
                <a16:creationId xmlns:a16="http://schemas.microsoft.com/office/drawing/2014/main" id="{F0A5375F-A4E3-9F03-BC8F-5E4DCCCB1EF6}"/>
              </a:ext>
            </a:extLst>
          </p:cNvPr>
          <p:cNvSpPr/>
          <p:nvPr/>
        </p:nvSpPr>
        <p:spPr>
          <a:xfrm>
            <a:off x="179512" y="3008096"/>
            <a:ext cx="5184576" cy="3589256"/>
          </a:xfrm>
          <a:prstGeom prst="roundRect">
            <a:avLst>
              <a:gd name="adj" fmla="val 5776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085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124FF-647B-1328-2084-DEAA096E9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доступа к данным – трехзвенная архитектура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E6524A-0C7C-7892-2CDF-45A661690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0F74D-660C-CED7-EEBF-F79A3390020E}"/>
              </a:ext>
            </a:extLst>
          </p:cNvPr>
          <p:cNvSpPr txBox="1"/>
          <p:nvPr/>
        </p:nvSpPr>
        <p:spPr>
          <a:xfrm>
            <a:off x="395536" y="418929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Application Server - AS</a:t>
            </a:r>
          </a:p>
        </p:txBody>
      </p:sp>
      <p:pic>
        <p:nvPicPr>
          <p:cNvPr id="13" name="Объект 12" descr="G:\СПбГПУ\DataBases\_Course\Для лекций\1-й семестр\Системы управления базами данных - коротко о главном - № 02, 1995 _ Статья номера _ СУБД _ Издательство «Открытые системы»_files\dbms_s05.gif">
            <a:extLst>
              <a:ext uri="{FF2B5EF4-FFF2-40B4-BE49-F238E27FC236}">
                <a16:creationId xmlns:a16="http://schemas.microsoft.com/office/drawing/2014/main" id="{FC778151-1714-3A45-6819-5BEBD9E5116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02962"/>
            <a:ext cx="8280920" cy="22860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4635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FE9D9-C271-70B8-8C36-2A79A190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Уровневый доступ в СУБД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C7CC91-0B1B-B274-CB83-D6B09E7A4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  <p:pic>
        <p:nvPicPr>
          <p:cNvPr id="5" name="Объект 5">
            <a:extLst>
              <a:ext uri="{FF2B5EF4-FFF2-40B4-BE49-F238E27FC236}">
                <a16:creationId xmlns:a16="http://schemas.microsoft.com/office/drawing/2014/main" id="{3C9A0DD1-DFFA-D363-0E95-005FF9C0C34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8" y="3342064"/>
            <a:ext cx="6696743" cy="348748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165A23-EFDF-AD5E-F261-A11903B7A013}"/>
              </a:ext>
            </a:extLst>
          </p:cNvPr>
          <p:cNvSpPr txBox="1"/>
          <p:nvPr/>
        </p:nvSpPr>
        <p:spPr>
          <a:xfrm>
            <a:off x="534415" y="1328668"/>
            <a:ext cx="82911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400" b="1" dirty="0"/>
              <a:t>Авторизация на основе паролей</a:t>
            </a:r>
            <a:r>
              <a:rPr lang="ru-RU" sz="1400" dirty="0"/>
              <a:t>.</a:t>
            </a:r>
          </a:p>
          <a:p>
            <a:pPr lvl="1"/>
            <a:r>
              <a:rPr lang="ru-RU" sz="1400" dirty="0"/>
              <a:t>Аутентификация средствами базы данных.</a:t>
            </a:r>
          </a:p>
          <a:p>
            <a:pPr lvl="1"/>
            <a:r>
              <a:rPr lang="ru-RU" sz="1400" dirty="0"/>
              <a:t>Аутентификация средствами операционной системы.</a:t>
            </a:r>
          </a:p>
          <a:p>
            <a:pPr lvl="1"/>
            <a:r>
              <a:rPr lang="ru-RU" sz="1400" dirty="0"/>
              <a:t>Аутентификация уровня предприятия.</a:t>
            </a:r>
          </a:p>
          <a:p>
            <a:pPr lvl="2"/>
            <a:r>
              <a:rPr lang="ru-RU" sz="1400" dirty="0"/>
              <a:t>Локальная.</a:t>
            </a:r>
          </a:p>
          <a:p>
            <a:pPr lvl="2"/>
            <a:r>
              <a:rPr lang="ru-RU" sz="1400" dirty="0"/>
              <a:t>Сетевая (устройства ограничения доступа; сервисы сетевой аутентификации; биометрия ).</a:t>
            </a:r>
          </a:p>
          <a:p>
            <a:pPr lvl="0"/>
            <a:r>
              <a:rPr lang="ru-RU" sz="1400" b="1" dirty="0"/>
              <a:t>Авторизация на основе цифровых сертификатов.</a:t>
            </a:r>
          </a:p>
          <a:p>
            <a:pPr lvl="0"/>
            <a:r>
              <a:rPr lang="ru-RU" sz="1400" b="1" dirty="0"/>
              <a:t>Авторизация на основе протокола RADIUS. </a:t>
            </a:r>
          </a:p>
        </p:txBody>
      </p:sp>
    </p:spTree>
    <p:extLst>
      <p:ext uri="{BB962C8B-B14F-4D97-AF65-F5344CB8AC3E}">
        <p14:creationId xmlns:p14="http://schemas.microsoft.com/office/powerpoint/2010/main" val="3145022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946F2-AEEE-A428-38D9-02D733C3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доступа внутри СУБД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1ACD95-2451-592A-0F93-4E4127CB7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FF072E2-6787-68FE-9863-448C6B7D145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25" y="1473540"/>
            <a:ext cx="351707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978ACD6C-6DB6-AE87-3167-78DE3BD7FEF4}"/>
              </a:ext>
            </a:extLst>
          </p:cNvPr>
          <p:cNvSpPr/>
          <p:nvPr/>
        </p:nvSpPr>
        <p:spPr>
          <a:xfrm>
            <a:off x="4896036" y="1722987"/>
            <a:ext cx="684076" cy="30963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509C1-B7DC-0DA1-D933-D35849D6F8ED}"/>
              </a:ext>
            </a:extLst>
          </p:cNvPr>
          <p:cNvSpPr txBox="1"/>
          <p:nvPr/>
        </p:nvSpPr>
        <p:spPr>
          <a:xfrm>
            <a:off x="5548012" y="1691516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Запрос</a:t>
            </a:r>
          </a:p>
        </p:txBody>
      </p:sp>
    </p:spTree>
    <p:extLst>
      <p:ext uri="{BB962C8B-B14F-4D97-AF65-F5344CB8AC3E}">
        <p14:creationId xmlns:p14="http://schemas.microsoft.com/office/powerpoint/2010/main" val="30997203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19876-C18B-4225-4499-21C8EA5C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пользователей в СУБД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83D649-E1DD-1CE6-46F6-6B98516E2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B4429AF-6ECD-B169-A83F-3AE203E7507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6"/>
            <a:ext cx="3672408" cy="503497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68766B7E-5A54-50B6-1BD8-B54781FF4156}"/>
              </a:ext>
            </a:extLst>
          </p:cNvPr>
          <p:cNvSpPr/>
          <p:nvPr/>
        </p:nvSpPr>
        <p:spPr>
          <a:xfrm rot="10800000">
            <a:off x="5238074" y="1916832"/>
            <a:ext cx="684076" cy="37444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377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DB8CF-71C6-4D17-8FC4-9F229655B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доступа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743B84-C96D-6E25-917C-87CC83395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82781"/>
            <a:ext cx="3528392" cy="1542163"/>
          </a:xfrm>
        </p:spPr>
        <p:txBody>
          <a:bodyPr anchor="t">
            <a:normAutofit/>
          </a:bodyPr>
          <a:lstStyle/>
          <a:p>
            <a:pPr lvl="0"/>
            <a:r>
              <a:rPr lang="ru-RU" sz="1600" dirty="0"/>
              <a:t>Дискреционный доступ (</a:t>
            </a:r>
            <a:r>
              <a:rPr lang="en-US" sz="1600" dirty="0"/>
              <a:t>DAC)</a:t>
            </a:r>
            <a:r>
              <a:rPr lang="ru-RU" sz="1600" dirty="0"/>
              <a:t>;</a:t>
            </a:r>
          </a:p>
          <a:p>
            <a:pPr lvl="0"/>
            <a:r>
              <a:rPr lang="ru-RU" sz="1600" dirty="0"/>
              <a:t>Ролевой доступ (</a:t>
            </a:r>
            <a:r>
              <a:rPr lang="en-US" sz="1600" dirty="0"/>
              <a:t>RBAC)</a:t>
            </a:r>
            <a:r>
              <a:rPr lang="ru-RU" sz="1600" dirty="0"/>
              <a:t>;</a:t>
            </a:r>
          </a:p>
          <a:p>
            <a:pPr lvl="0"/>
            <a:r>
              <a:rPr lang="ru-RU" sz="1600" dirty="0"/>
              <a:t>Мандатный доступ (</a:t>
            </a:r>
            <a:r>
              <a:rPr lang="en-US" sz="1600" dirty="0"/>
              <a:t>MAC)</a:t>
            </a:r>
            <a:r>
              <a:rPr lang="ru-RU" sz="1600" dirty="0"/>
              <a:t>;</a:t>
            </a:r>
          </a:p>
          <a:p>
            <a:pPr lvl="0"/>
            <a:r>
              <a:rPr lang="ru-RU" sz="1600" dirty="0"/>
              <a:t>(</a:t>
            </a:r>
            <a:r>
              <a:rPr lang="ru-RU" sz="1600" i="1" dirty="0"/>
              <a:t>для некоторых систем</a:t>
            </a:r>
            <a:r>
              <a:rPr lang="ru-RU" sz="1600" dirty="0"/>
              <a:t>) Атрибутивный доступ (</a:t>
            </a:r>
            <a:r>
              <a:rPr lang="en-US" sz="1600" dirty="0"/>
              <a:t>ABAC</a:t>
            </a:r>
            <a:r>
              <a:rPr lang="ru-RU" sz="1600" dirty="0"/>
              <a:t>).</a:t>
            </a: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85283F-7E71-3EE5-7E98-195846360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C7EF28-9B6A-1DB4-A7F7-034C8E86A3CD}"/>
              </a:ext>
            </a:extLst>
          </p:cNvPr>
          <p:cNvSpPr/>
          <p:nvPr/>
        </p:nvSpPr>
        <p:spPr>
          <a:xfrm>
            <a:off x="4669227" y="1382781"/>
            <a:ext cx="2119746" cy="40017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76EB4B5-B998-C8AE-67B5-93EA170BAC07}"/>
              </a:ext>
            </a:extLst>
          </p:cNvPr>
          <p:cNvSpPr txBox="1">
            <a:spLocks/>
          </p:cNvSpPr>
          <p:nvPr/>
        </p:nvSpPr>
        <p:spPr>
          <a:xfrm>
            <a:off x="4427984" y="1879353"/>
            <a:ext cx="4248472" cy="16879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sz="1600" dirty="0"/>
              <a:t>Уровень устройства, на котором расположена таблица данных;</a:t>
            </a:r>
          </a:p>
          <a:p>
            <a:pPr lvl="0"/>
            <a:r>
              <a:rPr lang="ru-RU" sz="1600" dirty="0"/>
              <a:t>Уровень таблицы данных;</a:t>
            </a:r>
          </a:p>
          <a:p>
            <a:pPr lvl="0"/>
            <a:r>
              <a:rPr lang="ru-RU" sz="1600" dirty="0"/>
              <a:t>Уровень атрибута;</a:t>
            </a:r>
          </a:p>
          <a:p>
            <a:pPr lvl="0"/>
            <a:r>
              <a:rPr lang="ru-RU" sz="1600" dirty="0"/>
              <a:t>Уровень кортежа.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39D4D15-60F8-AD78-5E6A-38A1274475C5}"/>
              </a:ext>
            </a:extLst>
          </p:cNvPr>
          <p:cNvSpPr/>
          <p:nvPr/>
        </p:nvSpPr>
        <p:spPr>
          <a:xfrm>
            <a:off x="6705861" y="2973931"/>
            <a:ext cx="2119746" cy="400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СУБД+ОС</a:t>
            </a:r>
          </a:p>
        </p:txBody>
      </p:sp>
      <p:sp>
        <p:nvSpPr>
          <p:cNvPr id="8" name="Скругленный прямоугольник 76">
            <a:extLst>
              <a:ext uri="{FF2B5EF4-FFF2-40B4-BE49-F238E27FC236}">
                <a16:creationId xmlns:a16="http://schemas.microsoft.com/office/drawing/2014/main" id="{48077D79-F0D8-A24E-F637-6E8873220CBE}"/>
              </a:ext>
            </a:extLst>
          </p:cNvPr>
          <p:cNvSpPr/>
          <p:nvPr/>
        </p:nvSpPr>
        <p:spPr>
          <a:xfrm>
            <a:off x="4283967" y="1297660"/>
            <a:ext cx="4690791" cy="2269609"/>
          </a:xfrm>
          <a:prstGeom prst="roundRect">
            <a:avLst>
              <a:gd name="adj" fmla="val 12756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D99D5712-FA1B-9ACE-A1E9-8A8078EFD24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26952" y="3847346"/>
          <a:ext cx="5249935" cy="2865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2345">
                  <a:extLst>
                    <a:ext uri="{9D8B030D-6E8A-4147-A177-3AD203B41FA5}">
                      <a16:colId xmlns:a16="http://schemas.microsoft.com/office/drawing/2014/main" val="3049530926"/>
                    </a:ext>
                  </a:extLst>
                </a:gridCol>
                <a:gridCol w="4137590">
                  <a:extLst>
                    <a:ext uri="{9D8B030D-6E8A-4147-A177-3AD203B41FA5}">
                      <a16:colId xmlns:a16="http://schemas.microsoft.com/office/drawing/2014/main" val="136879649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Пример 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15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</a:rPr>
                        <a:t>dbread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Роли с правами только на чтение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362361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</a:rPr>
                        <a:t>dbwri</a:t>
                      </a:r>
                      <a:r>
                        <a:rPr lang="en-US" sz="1400">
                          <a:effectLst/>
                        </a:rPr>
                        <a:t>te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Роли с правами за запись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660404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dbowner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Роли с полными правами (включая запуск кода)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61877118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Пример 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1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connect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Конечные пользователи с допуском на чтение/запись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701487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resource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Поставщики и создатели объектов («владельцы» объектов)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28994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DBA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Администратор данных с полными правами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56452572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A54CCDF-54DF-6C4F-E4A6-1184491934BC}"/>
              </a:ext>
            </a:extLst>
          </p:cNvPr>
          <p:cNvSpPr/>
          <p:nvPr/>
        </p:nvSpPr>
        <p:spPr>
          <a:xfrm>
            <a:off x="323528" y="3479845"/>
            <a:ext cx="2119746" cy="40017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DAC</a:t>
            </a:r>
            <a:r>
              <a:rPr lang="ru-RU"/>
              <a:t>+</a:t>
            </a:r>
            <a:r>
              <a:rPr lang="en-US"/>
              <a:t>RBAC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362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DB8CF-71C6-4D17-8FC4-9F229655B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Грануляция доступа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85283F-7E71-3EE5-7E98-195846360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F99C5B7-7FBE-A777-8EE3-C275A89E1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484313"/>
            <a:ext cx="3887787" cy="144063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OLS (Object Level Security) </a:t>
            </a:r>
            <a:endParaRPr lang="ru-RU" dirty="0"/>
          </a:p>
          <a:p>
            <a:pPr lvl="0"/>
            <a:r>
              <a:rPr lang="en-US" dirty="0"/>
              <a:t>RLS</a:t>
            </a:r>
            <a:r>
              <a:rPr lang="ru-RU" dirty="0"/>
              <a:t> (</a:t>
            </a:r>
            <a:r>
              <a:rPr lang="en-US" dirty="0"/>
              <a:t>Row Level Security</a:t>
            </a:r>
            <a:r>
              <a:rPr lang="ru-RU" dirty="0"/>
              <a:t>) </a:t>
            </a:r>
          </a:p>
          <a:p>
            <a:pPr lvl="0"/>
            <a:r>
              <a:rPr lang="en-US" dirty="0"/>
              <a:t>CLS (Cell Level Security)</a:t>
            </a:r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D1582A1-DE90-8BCE-4C70-E492AF373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60" y="3303230"/>
            <a:ext cx="8114479" cy="312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66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2DE72-072E-0FE0-0686-D01F9C4B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Column/Attribute level security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BB5F41-091F-0046-9D64-DA6E36008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34</a:t>
            </a:fld>
            <a:endParaRPr lang="ru-RU"/>
          </a:p>
        </p:txBody>
      </p:sp>
      <p:graphicFrame>
        <p:nvGraphicFramePr>
          <p:cNvPr id="5" name="Объект 11">
            <a:extLst>
              <a:ext uri="{FF2B5EF4-FFF2-40B4-BE49-F238E27FC236}">
                <a16:creationId xmlns:a16="http://schemas.microsoft.com/office/drawing/2014/main" id="{C5474398-987E-3182-B801-F1B43EE6F6B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66636888"/>
              </p:ext>
            </p:extLst>
          </p:nvPr>
        </p:nvGraphicFramePr>
        <p:xfrm>
          <a:off x="251521" y="1340768"/>
          <a:ext cx="8712969" cy="527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2422035369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499717821"/>
                    </a:ext>
                  </a:extLst>
                </a:gridCol>
                <a:gridCol w="4464498">
                  <a:extLst>
                    <a:ext uri="{9D8B030D-6E8A-4147-A177-3AD203B41FA5}">
                      <a16:colId xmlns:a16="http://schemas.microsoft.com/office/drawing/2014/main" val="155485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Пример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90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GRANT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</a:rPr>
                        <a:t>Разрешает роли или пользователю выполнять операции, определенные в момент предоставления разрешения</a:t>
                      </a:r>
                    </a:p>
                    <a:p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GRANT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SELECT,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INSERT,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UPDATE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Sales.Customer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TO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Sara;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GRANT SELECT,UPDATE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(Demographics,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ModifiedDate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)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Sales.Individual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TO Sara;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GRANT EXECUTE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dbo.uspGetBillOfMaterials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TO Sara;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153680"/>
                  </a:ext>
                </a:extLst>
              </a:tr>
              <a:tr h="327352">
                <a:tc>
                  <a:txBody>
                    <a:bodyPr/>
                    <a:lstStyle/>
                    <a:p>
                      <a:r>
                        <a:rPr lang="ru-RU" sz="1600" b="1" dirty="0"/>
                        <a:t>DENY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</a:rPr>
                        <a:t>Запрещает пользователю или роли определенные разрешения и предотвращает наследование этих разрешений от других ролей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DENY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DELETE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Sales.Customer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TO Sara;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121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REVOKE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</a:rPr>
                        <a:t>Отзывает ранее запрещенные или предоставленные разрешения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REVOKE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UPDATE (Demographics)</a:t>
                      </a:r>
                    </a:p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Sales.Individual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TO Sara;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19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610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5A5469C-CBA9-0CE8-2912-4A7C9333F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84547" y="3781721"/>
            <a:ext cx="4320480" cy="294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DC8E9-9B22-16CF-4CA1-FC5FDD81B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Row level security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07842D-3D0D-0DEC-2FF4-D74DC7959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49504"/>
            <a:ext cx="7848872" cy="16754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1600" b="1" dirty="0"/>
              <a:t>Безопасность на уровне строк </a:t>
            </a:r>
            <a:r>
              <a:rPr lang="ru-RU" sz="1600" dirty="0"/>
              <a:t>поддерживает два типа предикатов безопасности.</a:t>
            </a:r>
          </a:p>
          <a:p>
            <a:pPr lvl="1"/>
            <a:r>
              <a:rPr lang="ru-RU" sz="1600" dirty="0"/>
              <a:t>Предикаты фильтров автоматически фильтруют строки, доступные для операций чтения (SELECT, UPDATE и DELETE).</a:t>
            </a:r>
          </a:p>
          <a:p>
            <a:pPr lvl="1"/>
            <a:r>
              <a:rPr lang="ru-RU" sz="1600" dirty="0"/>
              <a:t>Предикаты BLOCK явно блокируют операции записи (AFTER INSERT, AFTER UPDATE, BEFORE UPDATE, BEFORE DELETE), которые нарушают предикат.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3E65BE-BCB9-A5A8-F9EB-3B9C0E01B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84AD8A-D205-4C66-6ECC-3A6D5F056BF8}"/>
              </a:ext>
            </a:extLst>
          </p:cNvPr>
          <p:cNvSpPr txBox="1"/>
          <p:nvPr/>
        </p:nvSpPr>
        <p:spPr>
          <a:xfrm>
            <a:off x="395536" y="2874670"/>
            <a:ext cx="6858000" cy="3941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</a:pPr>
            <a:r>
              <a:rPr lang="en-US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ALTER TABLE </a:t>
            </a:r>
            <a:r>
              <a:rPr lang="en-US" sz="1800" dirty="0" err="1">
                <a:solidFill>
                  <a:schemeClr val="accent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priem</a:t>
            </a:r>
            <a:r>
              <a:rPr lang="en-US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ENABLE ROW LEVEL SECURITY;</a:t>
            </a:r>
            <a:endParaRPr lang="ru-RU" sz="18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EA30EE-EEE6-CBC8-198F-D1C2DE24C6E7}"/>
              </a:ext>
            </a:extLst>
          </p:cNvPr>
          <p:cNvSpPr txBox="1"/>
          <p:nvPr/>
        </p:nvSpPr>
        <p:spPr>
          <a:xfrm>
            <a:off x="251520" y="3478506"/>
            <a:ext cx="6264696" cy="1058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</a:pPr>
            <a:r>
              <a:rPr lang="en-US" sz="18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CREATE POLICY </a:t>
            </a:r>
            <a:r>
              <a:rPr lang="en-US" sz="1800" b="1" dirty="0">
                <a:solidFill>
                  <a:schemeClr val="accent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doctor</a:t>
            </a:r>
            <a:r>
              <a:rPr lang="ru-RU" sz="1800" b="1" dirty="0">
                <a:solidFill>
                  <a:schemeClr val="accent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_</a:t>
            </a:r>
            <a:r>
              <a:rPr lang="en-US" sz="1800" b="1" dirty="0">
                <a:solidFill>
                  <a:schemeClr val="accent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update</a:t>
            </a:r>
            <a:r>
              <a:rPr lang="ru-RU" sz="1800" b="1" dirty="0">
                <a:solidFill>
                  <a:schemeClr val="accent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_</a:t>
            </a:r>
            <a:r>
              <a:rPr lang="en-US" sz="1800" b="1" dirty="0">
                <a:solidFill>
                  <a:schemeClr val="accent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policy </a:t>
            </a:r>
            <a:r>
              <a:rPr lang="en-US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ON </a:t>
            </a:r>
            <a:r>
              <a:rPr lang="en-US" sz="1800" dirty="0" err="1">
                <a:solidFill>
                  <a:schemeClr val="accent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priem</a:t>
            </a:r>
            <a:endParaRPr lang="ru-RU" sz="1800" dirty="0">
              <a:solidFill>
                <a:schemeClr val="accent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</a:pPr>
            <a:r>
              <a:rPr lang="en-US" sz="18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FOR</a:t>
            </a:r>
            <a:r>
              <a:rPr lang="en-US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UPDATE </a:t>
            </a:r>
            <a:r>
              <a:rPr lang="en-US" sz="18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TO</a:t>
            </a:r>
            <a:r>
              <a:rPr lang="en-US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doctor</a:t>
            </a:r>
            <a:endParaRPr lang="ru-RU" sz="1800" dirty="0">
              <a:solidFill>
                <a:schemeClr val="accent2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</a:pPr>
            <a:r>
              <a:rPr lang="en-US" sz="18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USING</a:t>
            </a:r>
            <a:r>
              <a:rPr lang="en-US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priem.doctor_name</a:t>
            </a:r>
            <a:r>
              <a:rPr lang="en-US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current_user</a:t>
            </a:r>
            <a:r>
              <a:rPr lang="en-US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69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2F3F8-25DD-1AEA-E0BB-749C71E7E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3A9C08-B11A-1BCF-0990-335F20DF9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33673"/>
            <a:ext cx="7848872" cy="1547430"/>
          </a:xfrm>
        </p:spPr>
        <p:txBody>
          <a:bodyPr anchor="t">
            <a:normAutofit/>
          </a:bodyPr>
          <a:lstStyle/>
          <a:p>
            <a:r>
              <a:rPr lang="ru-RU" dirty="0"/>
              <a:t>Требование доверенного администратора</a:t>
            </a:r>
          </a:p>
          <a:p>
            <a:r>
              <a:rPr lang="ru-RU" dirty="0"/>
              <a:t>Несовместимость с рядом компонентов</a:t>
            </a:r>
          </a:p>
          <a:p>
            <a:r>
              <a:rPr lang="ru-RU" dirty="0"/>
              <a:t>Нестойкость к непрямым </a:t>
            </a:r>
            <a:r>
              <a:rPr lang="ru-RU" dirty="0" smtClean="0"/>
              <a:t>запросам</a:t>
            </a:r>
          </a:p>
          <a:p>
            <a:r>
              <a:rPr lang="ru-RU" dirty="0" smtClean="0"/>
              <a:t>Негибкость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6B6DAD-7B33-9FE3-B176-3D9F7EACB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FB40379-95C2-D341-E031-48A0991EBDA6}"/>
              </a:ext>
            </a:extLst>
          </p:cNvPr>
          <p:cNvSpPr/>
          <p:nvPr/>
        </p:nvSpPr>
        <p:spPr>
          <a:xfrm>
            <a:off x="491927" y="4180365"/>
            <a:ext cx="4311466" cy="1077218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SELECT 1/(PAYROLL</a:t>
            </a:r>
            <a:r>
              <a:rPr lang="ru-RU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SALARY-100000) </a:t>
            </a:r>
            <a:endParaRPr lang="ru-RU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FROM PAYROLL </a:t>
            </a:r>
            <a:endParaRPr lang="ru-RU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WHERE PAYROLL</a:t>
            </a:r>
            <a:r>
              <a:rPr lang="ru-RU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NAME='John Doe'</a:t>
            </a:r>
            <a:endParaRPr lang="ru-RU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7E8FFCB-79CF-1234-4E72-8060E540FD73}"/>
              </a:ext>
            </a:extLst>
          </p:cNvPr>
          <p:cNvSpPr/>
          <p:nvPr/>
        </p:nvSpPr>
        <p:spPr>
          <a:xfrm>
            <a:off x="5017852" y="4272698"/>
            <a:ext cx="367240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dirty="0">
                <a:solidFill>
                  <a:srgbClr val="C00000"/>
                </a:solidFill>
              </a:rPr>
              <a:t>ВЫБРАТЬ</a:t>
            </a:r>
            <a:r>
              <a:rPr lang="en-US" sz="1400" dirty="0"/>
              <a:t> 1/(PAYROLL</a:t>
            </a:r>
            <a:r>
              <a:rPr lang="ru-RU" sz="1400" dirty="0"/>
              <a:t>.</a:t>
            </a:r>
            <a:r>
              <a:rPr lang="en-US" sz="1400" dirty="0"/>
              <a:t>SALARY-100000) </a:t>
            </a:r>
            <a:endParaRPr lang="ru-RU" sz="1400" dirty="0"/>
          </a:p>
          <a:p>
            <a:pPr>
              <a:spcBef>
                <a:spcPts val="600"/>
              </a:spcBef>
            </a:pPr>
            <a:r>
              <a:rPr lang="ru-RU" sz="1400" dirty="0">
                <a:solidFill>
                  <a:srgbClr val="C00000"/>
                </a:solidFill>
              </a:rPr>
              <a:t>ИЗ</a:t>
            </a:r>
            <a:r>
              <a:rPr lang="en-US" sz="1400" dirty="0"/>
              <a:t> PAYROLL </a:t>
            </a:r>
            <a:endParaRPr lang="ru-RU" sz="1400" dirty="0"/>
          </a:p>
          <a:p>
            <a:pPr>
              <a:spcBef>
                <a:spcPts val="600"/>
              </a:spcBef>
            </a:pPr>
            <a:r>
              <a:rPr lang="ru-RU" sz="1400" dirty="0">
                <a:solidFill>
                  <a:srgbClr val="C00000"/>
                </a:solidFill>
              </a:rPr>
              <a:t>ГДЕ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/>
              <a:t>PAYROLL</a:t>
            </a:r>
            <a:r>
              <a:rPr lang="ru-RU" sz="1400" dirty="0"/>
              <a:t>.</a:t>
            </a:r>
            <a:r>
              <a:rPr lang="en-US" sz="1400" dirty="0"/>
              <a:t>NAME='John Doe'</a:t>
            </a:r>
            <a:endParaRPr lang="ru-RU" sz="14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A5E0CE5-67E4-6A18-7A71-98D605C051B9}"/>
              </a:ext>
            </a:extLst>
          </p:cNvPr>
          <p:cNvSpPr/>
          <p:nvPr/>
        </p:nvSpPr>
        <p:spPr>
          <a:xfrm>
            <a:off x="1556678" y="2981020"/>
            <a:ext cx="58956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PAYROLL</a:t>
            </a:r>
            <a:r>
              <a:rPr lang="ru-RU" dirty="0">
                <a:solidFill>
                  <a:schemeClr val="accent1"/>
                </a:solidFill>
              </a:rPr>
              <a:t> </a:t>
            </a:r>
            <a:r>
              <a:rPr lang="ru-RU" dirty="0"/>
              <a:t>– отношение (таблица)</a:t>
            </a:r>
          </a:p>
          <a:p>
            <a:r>
              <a:rPr lang="en-US" dirty="0">
                <a:solidFill>
                  <a:schemeClr val="accent1"/>
                </a:solidFill>
              </a:rPr>
              <a:t>SALARY, NAME</a:t>
            </a:r>
            <a:r>
              <a:rPr lang="ru-RU" dirty="0">
                <a:solidFill>
                  <a:schemeClr val="accent1"/>
                </a:solidFill>
              </a:rPr>
              <a:t> </a:t>
            </a:r>
            <a:r>
              <a:rPr lang="ru-RU" dirty="0"/>
              <a:t>– атрибуты этого отношения (столбцы)</a:t>
            </a:r>
          </a:p>
        </p:txBody>
      </p:sp>
      <p:sp>
        <p:nvSpPr>
          <p:cNvPr id="8" name="Скругленный прямоугольник 76">
            <a:extLst>
              <a:ext uri="{FF2B5EF4-FFF2-40B4-BE49-F238E27FC236}">
                <a16:creationId xmlns:a16="http://schemas.microsoft.com/office/drawing/2014/main" id="{2788DCCC-447A-A8A2-CBEE-B1066F9C8695}"/>
              </a:ext>
            </a:extLst>
          </p:cNvPr>
          <p:cNvSpPr/>
          <p:nvPr/>
        </p:nvSpPr>
        <p:spPr>
          <a:xfrm>
            <a:off x="302265" y="4080448"/>
            <a:ext cx="4690791" cy="1277052"/>
          </a:xfrm>
          <a:prstGeom prst="roundRect">
            <a:avLst>
              <a:gd name="adj" fmla="val 12756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52F13-562F-5203-FCBC-027AD3CF99B0}"/>
              </a:ext>
            </a:extLst>
          </p:cNvPr>
          <p:cNvSpPr txBox="1"/>
          <p:nvPr/>
        </p:nvSpPr>
        <p:spPr>
          <a:xfrm>
            <a:off x="1312630" y="6167273"/>
            <a:ext cx="711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chemeClr val="accent1"/>
                </a:solidFill>
              </a:rPr>
              <a:t>https://postgrespro.ru/docs/postgresql/9.5/</a:t>
            </a:r>
            <a:r>
              <a:rPr lang="ru-RU" b="1" i="1" dirty="0">
                <a:solidFill>
                  <a:schemeClr val="accent1"/>
                </a:solidFill>
              </a:rPr>
              <a:t>ddl-rowsecurity</a:t>
            </a:r>
          </a:p>
        </p:txBody>
      </p:sp>
    </p:spTree>
    <p:extLst>
      <p:ext uri="{BB962C8B-B14F-4D97-AF65-F5344CB8AC3E}">
        <p14:creationId xmlns:p14="http://schemas.microsoft.com/office/powerpoint/2010/main" val="383426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750" y="2384425"/>
            <a:ext cx="7772400" cy="1900238"/>
          </a:xfrm>
        </p:spPr>
        <p:txBody>
          <a:bodyPr/>
          <a:lstStyle/>
          <a:p>
            <a:pPr algn="ctr">
              <a:lnSpc>
                <a:spcPct val="150000"/>
              </a:lnSpc>
              <a:defRPr/>
            </a:pPr>
            <a:r>
              <a:rPr lang="ru-RU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схемы данных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819" name="Рисунок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412750"/>
            <a:ext cx="244792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6788150"/>
      </p:ext>
    </p:extLst>
  </p:cSld>
  <p:clrMapOvr>
    <a:masterClrMapping/>
  </p:clrMapOvr>
  <p:transition spd="slow" advTm="1215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Проектирование баз данных</a:t>
            </a:r>
          </a:p>
        </p:txBody>
      </p:sp>
      <p:sp>
        <p:nvSpPr>
          <p:cNvPr id="36867" name="Объект 2"/>
          <p:cNvSpPr>
            <a:spLocks noGrp="1" noChangeArrowheads="1"/>
          </p:cNvSpPr>
          <p:nvPr>
            <p:ph idx="1"/>
          </p:nvPr>
        </p:nvSpPr>
        <p:spPr>
          <a:xfrm>
            <a:off x="179388" y="1258888"/>
            <a:ext cx="7848600" cy="1008062"/>
          </a:xfrm>
        </p:spPr>
        <p:txBody>
          <a:bodyPr anchor="t"/>
          <a:lstStyle/>
          <a:p>
            <a:r>
              <a:rPr lang="ru-RU" altLang="ru-RU" b="1" smtClean="0"/>
              <a:t>Семантическое проектирование</a:t>
            </a:r>
          </a:p>
          <a:p>
            <a:r>
              <a:rPr lang="ru-RU" altLang="ru-RU" smtClean="0"/>
              <a:t>Математическое проектирование</a:t>
            </a:r>
          </a:p>
        </p:txBody>
      </p:sp>
      <p:sp>
        <p:nvSpPr>
          <p:cNvPr id="36868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9AA31-43CE-4F3F-97A3-268338084610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36869" name="Объект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609975"/>
            <a:ext cx="7704138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70" name="Группа 5"/>
          <p:cNvGrpSpPr>
            <a:grpSpLocks/>
          </p:cNvGrpSpPr>
          <p:nvPr/>
        </p:nvGrpSpPr>
        <p:grpSpPr bwMode="auto">
          <a:xfrm>
            <a:off x="1749425" y="2322513"/>
            <a:ext cx="7127875" cy="952500"/>
            <a:chOff x="3403600" y="1483518"/>
            <a:chExt cx="7127702" cy="952261"/>
          </a:xfrm>
        </p:grpSpPr>
        <p:sp>
          <p:nvSpPr>
            <p:cNvPr id="7" name="Скругленный прямоугольник 6"/>
            <p:cNvSpPr/>
            <p:nvPr/>
          </p:nvSpPr>
          <p:spPr>
            <a:xfrm>
              <a:off x="3403600" y="1521608"/>
              <a:ext cx="1257269" cy="914171"/>
            </a:xfrm>
            <a:prstGeom prst="roundRect">
              <a:avLst/>
            </a:prstGeom>
            <a:solidFill>
              <a:srgbClr val="C42F1A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dirty="0"/>
                <a:t>Модель  данных</a:t>
              </a:r>
            </a:p>
          </p:txBody>
        </p:sp>
        <p:sp>
          <p:nvSpPr>
            <p:cNvPr id="8" name="Скругленный прямоугольник 7"/>
            <p:cNvSpPr/>
            <p:nvPr/>
          </p:nvSpPr>
          <p:spPr>
            <a:xfrm>
              <a:off x="5564136" y="1483518"/>
              <a:ext cx="1822406" cy="914171"/>
            </a:xfrm>
            <a:prstGeom prst="roundRect">
              <a:avLst/>
            </a:prstGeom>
            <a:solidFill>
              <a:srgbClr val="C42F1A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dirty="0"/>
                <a:t>Связи </a:t>
              </a:r>
            </a:p>
            <a:p>
              <a:pPr algn="ctr">
                <a:defRPr/>
              </a:pPr>
              <a:r>
                <a:rPr lang="ru-RU" dirty="0"/>
                <a:t>Отношения</a:t>
              </a:r>
            </a:p>
            <a:p>
              <a:pPr algn="ctr">
                <a:defRPr/>
              </a:pPr>
              <a:r>
                <a:rPr lang="ru-RU" dirty="0"/>
                <a:t>Операции</a:t>
              </a:r>
            </a:p>
          </p:txBody>
        </p:sp>
        <p:sp>
          <p:nvSpPr>
            <p:cNvPr id="9" name="Скругленный прямоугольник 8"/>
            <p:cNvSpPr/>
            <p:nvPr/>
          </p:nvSpPr>
          <p:spPr>
            <a:xfrm>
              <a:off x="8291394" y="1483518"/>
              <a:ext cx="2239908" cy="914171"/>
            </a:xfrm>
            <a:prstGeom prst="roundRect">
              <a:avLst/>
            </a:prstGeom>
            <a:solidFill>
              <a:srgbClr val="C42F1A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dirty="0"/>
                <a:t>Манипулирование и вывод</a:t>
              </a:r>
            </a:p>
          </p:txBody>
        </p:sp>
        <p:sp>
          <p:nvSpPr>
            <p:cNvPr id="10" name="Двойная стрелка влево/вправо 9"/>
            <p:cNvSpPr/>
            <p:nvPr/>
          </p:nvSpPr>
          <p:spPr>
            <a:xfrm>
              <a:off x="4660869" y="1715235"/>
              <a:ext cx="903266" cy="428517"/>
            </a:xfrm>
            <a:prstGeom prst="left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1" name="Двойная стрелка влево/вправо 10"/>
            <p:cNvSpPr/>
            <p:nvPr/>
          </p:nvSpPr>
          <p:spPr>
            <a:xfrm>
              <a:off x="7386541" y="1715235"/>
              <a:ext cx="904853" cy="428517"/>
            </a:xfrm>
            <a:prstGeom prst="left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36871" name="Группа 11"/>
          <p:cNvGrpSpPr>
            <a:grpSpLocks/>
          </p:cNvGrpSpPr>
          <p:nvPr/>
        </p:nvGrpSpPr>
        <p:grpSpPr bwMode="auto">
          <a:xfrm>
            <a:off x="2555875" y="6153150"/>
            <a:ext cx="3732213" cy="704850"/>
            <a:chOff x="2279650" y="5614325"/>
            <a:chExt cx="5073650" cy="705220"/>
          </a:xfrm>
        </p:grpSpPr>
        <p:sp>
          <p:nvSpPr>
            <p:cNvPr id="36872" name="TextBox 13"/>
            <p:cNvSpPr txBox="1">
              <a:spLocks noChangeArrowheads="1"/>
            </p:cNvSpPr>
            <p:nvPr/>
          </p:nvSpPr>
          <p:spPr bwMode="auto">
            <a:xfrm>
              <a:off x="2937776" y="5950213"/>
              <a:ext cx="388439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T Sans" pitchFamily="34" charset="-5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T Sans" pitchFamily="34" charset="-5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T Sans" pitchFamily="34" charset="-5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T Sans" pitchFamily="34" charset="-5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T Sans" pitchFamily="34" charset="-5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T Sans" pitchFamily="34" charset="-5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T Sans" pitchFamily="34" charset="-5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T Sans" pitchFamily="34" charset="-5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T Sans" pitchFamily="34" charset="-52"/>
                </a:defRPr>
              </a:lvl9pPr>
            </a:lstStyle>
            <a:p>
              <a:r>
                <a:rPr lang="ru-RU" altLang="ru-RU">
                  <a:solidFill>
                    <a:schemeClr val="accent1"/>
                  </a:solidFill>
                </a:rPr>
                <a:t>Математическое проектирование</a:t>
              </a:r>
            </a:p>
          </p:txBody>
        </p:sp>
        <p:sp>
          <p:nvSpPr>
            <p:cNvPr id="13" name="Правая фигурная скобка 12"/>
            <p:cNvSpPr/>
            <p:nvPr/>
          </p:nvSpPr>
          <p:spPr>
            <a:xfrm rot="5400000">
              <a:off x="4613169" y="3280806"/>
              <a:ext cx="406613" cy="5073650"/>
            </a:xfrm>
            <a:prstGeom prst="rightBrace">
              <a:avLst>
                <a:gd name="adj1" fmla="val 33333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861934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Семантическое проектирование</a:t>
            </a:r>
          </a:p>
        </p:txBody>
      </p:sp>
      <p:sp>
        <p:nvSpPr>
          <p:cNvPr id="37891" name="Объект 2"/>
          <p:cNvSpPr>
            <a:spLocks noGrp="1" noChangeArrowheads="1"/>
          </p:cNvSpPr>
          <p:nvPr>
            <p:ph idx="1"/>
          </p:nvPr>
        </p:nvSpPr>
        <p:spPr>
          <a:xfrm>
            <a:off x="684213" y="1484313"/>
            <a:ext cx="7848600" cy="1296987"/>
          </a:xfrm>
        </p:spPr>
        <p:txBody>
          <a:bodyPr/>
          <a:lstStyle/>
          <a:p>
            <a:r>
              <a:rPr lang="ru-RU" altLang="ru-RU" smtClean="0"/>
              <a:t>Формализация предметной области на основе аналитического описания, верификации и отображения в логическую модель (схему базы данных)</a:t>
            </a:r>
          </a:p>
        </p:txBody>
      </p:sp>
      <p:sp>
        <p:nvSpPr>
          <p:cNvPr id="37892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D0AE4B-3FA6-4979-808C-E2186C379A8F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3789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702" y="3777875"/>
            <a:ext cx="2163763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2" y="3938588"/>
            <a:ext cx="2411412" cy="160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трелка: вправо 5"/>
          <p:cNvSpPr/>
          <p:nvPr/>
        </p:nvSpPr>
        <p:spPr>
          <a:xfrm>
            <a:off x="376432" y="2722563"/>
            <a:ext cx="8185150" cy="63341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pic>
        <p:nvPicPr>
          <p:cNvPr id="37896" name="Рисунок 6"/>
          <p:cNvPicPr>
            <a:picLocks noChangeAspect="1" noChangeArrowheads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915" y="4056063"/>
            <a:ext cx="21621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7" name="Рисунок 7" descr="Мужчина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17" y="5313363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Рисунок 8" descr="Мужчина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443" y="538003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9" name="Рисунок 9" descr="Мужчина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802" y="529748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0" name="TextBox 10"/>
          <p:cNvSpPr txBox="1">
            <a:spLocks noChangeArrowheads="1"/>
          </p:cNvSpPr>
          <p:nvPr/>
        </p:nvSpPr>
        <p:spPr bwMode="auto">
          <a:xfrm>
            <a:off x="469479" y="6294438"/>
            <a:ext cx="1558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PT Sans" pitchFamily="34" charset="-52"/>
              </a:rPr>
              <a:t>Пользователь</a:t>
            </a:r>
          </a:p>
        </p:txBody>
      </p:sp>
      <p:sp>
        <p:nvSpPr>
          <p:cNvPr id="37901" name="TextBox 11"/>
          <p:cNvSpPr txBox="1">
            <a:spLocks noChangeArrowheads="1"/>
          </p:cNvSpPr>
          <p:nvPr/>
        </p:nvSpPr>
        <p:spPr bwMode="auto">
          <a:xfrm>
            <a:off x="3440181" y="6334126"/>
            <a:ext cx="1128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PT Sans" pitchFamily="34" charset="-52"/>
              </a:rPr>
              <a:t>Аналитик</a:t>
            </a:r>
          </a:p>
        </p:txBody>
      </p:sp>
      <p:sp>
        <p:nvSpPr>
          <p:cNvPr id="37902" name="TextBox 12"/>
          <p:cNvSpPr txBox="1">
            <a:spLocks noChangeArrowheads="1"/>
          </p:cNvSpPr>
          <p:nvPr/>
        </p:nvSpPr>
        <p:spPr bwMode="auto">
          <a:xfrm>
            <a:off x="5447927" y="6224588"/>
            <a:ext cx="3146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PT Sans" pitchFamily="34" charset="-52"/>
              </a:rPr>
              <a:t>Администратор базы данных</a:t>
            </a:r>
          </a:p>
        </p:txBody>
      </p:sp>
      <p:sp>
        <p:nvSpPr>
          <p:cNvPr id="37903" name="TextBox 13"/>
          <p:cNvSpPr txBox="1">
            <a:spLocks noChangeArrowheads="1"/>
          </p:cNvSpPr>
          <p:nvPr/>
        </p:nvSpPr>
        <p:spPr bwMode="auto">
          <a:xfrm>
            <a:off x="153567" y="3754438"/>
            <a:ext cx="2266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b="1">
                <a:latin typeface="PT Sans" pitchFamily="34" charset="-52"/>
              </a:rPr>
              <a:t>Предметная область</a:t>
            </a:r>
          </a:p>
        </p:txBody>
      </p:sp>
      <p:sp>
        <p:nvSpPr>
          <p:cNvPr id="37904" name="TextBox 14"/>
          <p:cNvSpPr txBox="1">
            <a:spLocks noChangeArrowheads="1"/>
          </p:cNvSpPr>
          <p:nvPr/>
        </p:nvSpPr>
        <p:spPr bwMode="auto">
          <a:xfrm>
            <a:off x="3208575" y="3190500"/>
            <a:ext cx="21741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PT Sans" pitchFamily="34" charset="-52"/>
              </a:rPr>
              <a:t>Концептуальная модель</a:t>
            </a:r>
          </a:p>
        </p:txBody>
      </p:sp>
      <p:sp>
        <p:nvSpPr>
          <p:cNvPr id="37905" name="TextBox 15"/>
          <p:cNvSpPr txBox="1">
            <a:spLocks noChangeArrowheads="1"/>
          </p:cNvSpPr>
          <p:nvPr/>
        </p:nvSpPr>
        <p:spPr bwMode="auto">
          <a:xfrm>
            <a:off x="5932115" y="3694113"/>
            <a:ext cx="2151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b="1">
                <a:latin typeface="PT Sans" pitchFamily="34" charset="-52"/>
              </a:rPr>
              <a:t>Логическая модель</a:t>
            </a:r>
          </a:p>
        </p:txBody>
      </p:sp>
      <p:sp>
        <p:nvSpPr>
          <p:cNvPr id="37906" name="TextBox 16"/>
          <p:cNvSpPr txBox="1">
            <a:spLocks noChangeArrowheads="1"/>
          </p:cNvSpPr>
          <p:nvPr/>
        </p:nvSpPr>
        <p:spPr bwMode="auto">
          <a:xfrm>
            <a:off x="379040" y="2868654"/>
            <a:ext cx="1022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PT Sans" pitchFamily="34" charset="-52"/>
              </a:rPr>
              <a:t>Понятия</a:t>
            </a:r>
          </a:p>
        </p:txBody>
      </p:sp>
      <p:sp>
        <p:nvSpPr>
          <p:cNvPr id="37907" name="TextBox 17"/>
          <p:cNvSpPr txBox="1">
            <a:spLocks noChangeArrowheads="1"/>
          </p:cNvSpPr>
          <p:nvPr/>
        </p:nvSpPr>
        <p:spPr bwMode="auto">
          <a:xfrm>
            <a:off x="6505202" y="2855954"/>
            <a:ext cx="1695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PT Sans" pitchFamily="34" charset="-52"/>
              </a:rPr>
              <a:t>Формализация</a:t>
            </a:r>
          </a:p>
        </p:txBody>
      </p:sp>
      <p:sp>
        <p:nvSpPr>
          <p:cNvPr id="19" name="Стрелка: вправо 18"/>
          <p:cNvSpPr/>
          <p:nvPr/>
        </p:nvSpPr>
        <p:spPr>
          <a:xfrm>
            <a:off x="7521202" y="5578475"/>
            <a:ext cx="679450" cy="4826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" name="Блок-схема: магнитный диск 19"/>
          <p:cNvSpPr/>
          <p:nvPr/>
        </p:nvSpPr>
        <p:spPr>
          <a:xfrm>
            <a:off x="8368927" y="5297488"/>
            <a:ext cx="715963" cy="846137"/>
          </a:xfrm>
          <a:prstGeom prst="flowChartMagneticDisk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6838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Концептуальная модель данных - назначение</a:t>
            </a:r>
          </a:p>
        </p:txBody>
      </p:sp>
      <p:sp>
        <p:nvSpPr>
          <p:cNvPr id="38915" name="Объект 2"/>
          <p:cNvSpPr>
            <a:spLocks noGrp="1" noChangeArrowheads="1"/>
          </p:cNvSpPr>
          <p:nvPr>
            <p:ph idx="1"/>
          </p:nvPr>
        </p:nvSpPr>
        <p:spPr>
          <a:xfrm>
            <a:off x="323850" y="1473200"/>
            <a:ext cx="8640763" cy="5124450"/>
          </a:xfrm>
        </p:spPr>
        <p:txBody>
          <a:bodyPr/>
          <a:lstStyle/>
          <a:p>
            <a:r>
              <a:rPr lang="ru-RU" altLang="ru-RU" sz="1600" b="1" smtClean="0"/>
              <a:t>Почему не сразу логическая (реляционная схема) данных?</a:t>
            </a:r>
          </a:p>
          <a:p>
            <a:pPr lvl="1"/>
            <a:r>
              <a:rPr lang="ru-RU" altLang="ru-RU" sz="1600" smtClean="0"/>
              <a:t>Недостаточно средств для представления семантики предметной области</a:t>
            </a:r>
          </a:p>
          <a:p>
            <a:pPr lvl="1"/>
            <a:r>
              <a:rPr lang="ru-RU" altLang="ru-RU" sz="1600" smtClean="0"/>
              <a:t>Плоские таблицы не всегда соответствуют предметной области</a:t>
            </a:r>
          </a:p>
          <a:p>
            <a:pPr lvl="1"/>
            <a:r>
              <a:rPr lang="ru-RU" altLang="ru-RU" sz="1600" smtClean="0"/>
              <a:t>Отсутствуют формальные средства представления зависимостей и ограничений</a:t>
            </a:r>
          </a:p>
          <a:p>
            <a:r>
              <a:rPr lang="ru-RU" altLang="ru-RU" sz="1600" b="1" smtClean="0"/>
              <a:t>Концептуальная модель используется</a:t>
            </a:r>
            <a:r>
              <a:rPr lang="ru-RU" altLang="ru-RU" sz="1600" smtClean="0"/>
              <a:t>:</a:t>
            </a:r>
          </a:p>
          <a:p>
            <a:pPr lvl="1"/>
            <a:r>
              <a:rPr lang="ru-RU" altLang="ru-RU" sz="1600" smtClean="0"/>
              <a:t>Как инструмент проектирования и описания предметной области</a:t>
            </a:r>
          </a:p>
          <a:p>
            <a:pPr lvl="1"/>
            <a:r>
              <a:rPr lang="ru-RU" altLang="ru-RU" sz="1600" smtClean="0"/>
              <a:t>Для оценки ошибок стадии проектирования </a:t>
            </a:r>
          </a:p>
          <a:p>
            <a:pPr lvl="1"/>
            <a:r>
              <a:rPr lang="ru-RU" altLang="ru-RU" sz="1600" smtClean="0"/>
              <a:t>Построение базовой документации </a:t>
            </a:r>
          </a:p>
          <a:p>
            <a:r>
              <a:rPr lang="ru-RU" altLang="ru-RU" sz="1600" b="1" smtClean="0"/>
              <a:t>Способы создания:</a:t>
            </a:r>
            <a:endParaRPr lang="ru-RU" altLang="ru-RU" sz="1600" smtClean="0"/>
          </a:p>
          <a:p>
            <a:pPr lvl="1"/>
            <a:r>
              <a:rPr lang="ru-RU" altLang="ru-RU" sz="1600" smtClean="0"/>
              <a:t>Ручной</a:t>
            </a:r>
          </a:p>
          <a:p>
            <a:pPr lvl="1"/>
            <a:r>
              <a:rPr lang="ru-RU" altLang="ru-RU" sz="1600" smtClean="0"/>
              <a:t>Автоматизированный (математические основы моделирования данных на базе ФЗ)</a:t>
            </a:r>
          </a:p>
          <a:p>
            <a:pPr lvl="1"/>
            <a:r>
              <a:rPr lang="ru-RU" altLang="ru-RU" sz="1600" smtClean="0"/>
              <a:t>Работа с базой данных на уровне семантической модели </a:t>
            </a:r>
            <a:r>
              <a:rPr lang="ru-RU" altLang="ru-RU" sz="1600" i="1" smtClean="0"/>
              <a:t>(ООБД)</a:t>
            </a:r>
          </a:p>
          <a:p>
            <a:r>
              <a:rPr lang="ru-RU" altLang="ru-RU" sz="1600" smtClean="0"/>
              <a:t> </a:t>
            </a:r>
            <a:r>
              <a:rPr lang="ru-RU" altLang="ru-RU" sz="1600" b="1" smtClean="0"/>
              <a:t>Основные способы описания </a:t>
            </a:r>
            <a:r>
              <a:rPr lang="ru-RU" altLang="ru-RU" sz="1600" smtClean="0"/>
              <a:t>семантической модели:</a:t>
            </a:r>
          </a:p>
          <a:p>
            <a:pPr lvl="1"/>
            <a:r>
              <a:rPr lang="ru-RU" altLang="ru-RU" sz="1600" smtClean="0"/>
              <a:t>ER-модель (entity – relation, модель сущность - связь) [различные нотации]</a:t>
            </a:r>
          </a:p>
          <a:p>
            <a:pPr lvl="1"/>
            <a:r>
              <a:rPr lang="en-US" altLang="ru-RU" sz="1600" smtClean="0"/>
              <a:t>UML (</a:t>
            </a:r>
            <a:r>
              <a:rPr lang="ru-RU" altLang="ru-RU" sz="1600" smtClean="0"/>
              <a:t>модель классов</a:t>
            </a:r>
            <a:r>
              <a:rPr lang="en-US" altLang="ru-RU" sz="1600" smtClean="0"/>
              <a:t>  </a:t>
            </a:r>
            <a:r>
              <a:rPr lang="ru-RU" altLang="ru-RU" sz="1600" smtClean="0"/>
              <a:t>в</a:t>
            </a:r>
            <a:r>
              <a:rPr lang="en-US" altLang="ru-RU" sz="1600" smtClean="0"/>
              <a:t> UML – Unified Modeling Language)</a:t>
            </a:r>
            <a:endParaRPr lang="ru-RU" altLang="ru-RU" sz="1600" smtClean="0"/>
          </a:p>
          <a:p>
            <a:pPr lvl="1"/>
            <a:r>
              <a:rPr lang="ru-RU" altLang="ru-RU" sz="1600" smtClean="0"/>
              <a:t>* * * </a:t>
            </a:r>
          </a:p>
          <a:p>
            <a:endParaRPr lang="ru-RU" altLang="ru-RU" sz="1600" smtClean="0"/>
          </a:p>
        </p:txBody>
      </p:sp>
      <p:sp>
        <p:nvSpPr>
          <p:cNvPr id="38916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1FF4E2-8B50-4A75-8F3E-0B9B4C031F2B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ru-RU" altLang="ru-RU" sz="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495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Примеры сущностей в </a:t>
            </a:r>
            <a:r>
              <a:rPr lang="en-GB" dirty="0"/>
              <a:t>ER</a:t>
            </a:r>
            <a:r>
              <a:rPr lang="en-US" dirty="0"/>
              <a:t> </a:t>
            </a:r>
            <a:r>
              <a:rPr lang="ru-RU" dirty="0"/>
              <a:t>модели</a:t>
            </a:r>
            <a:br>
              <a:rPr lang="ru-RU" dirty="0"/>
            </a:br>
            <a:r>
              <a:rPr lang="ru-RU" sz="1800" i="1" dirty="0"/>
              <a:t>с разной степенью детализации</a:t>
            </a:r>
            <a:endParaRPr lang="ru-RU" i="1" dirty="0"/>
          </a:p>
        </p:txBody>
      </p:sp>
      <p:sp>
        <p:nvSpPr>
          <p:cNvPr id="39939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6B3B35-7681-4964-AE36-D945A00EF3CF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39940" name="Объект 5"/>
          <p:cNvPicPr>
            <a:picLocks noGrp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627188"/>
            <a:ext cx="8021638" cy="3284537"/>
          </a:xfrm>
        </p:spPr>
      </p:pic>
    </p:spTree>
    <p:extLst>
      <p:ext uri="{BB962C8B-B14F-4D97-AF65-F5344CB8AC3E}">
        <p14:creationId xmlns:p14="http://schemas.microsoft.com/office/powerpoint/2010/main" val="37565253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Таблица и ее поля</a:t>
            </a:r>
          </a:p>
        </p:txBody>
      </p:sp>
      <p:sp>
        <p:nvSpPr>
          <p:cNvPr id="41987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2E4365-424C-4E6F-80E5-BE1AEA9B2133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4198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863" y="2565400"/>
            <a:ext cx="3097212" cy="323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622300" y="1931988"/>
          <a:ext cx="6451600" cy="503238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439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2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61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effectLst/>
                        </a:rPr>
                        <a:t>Концептуальная схема</a:t>
                      </a:r>
                      <a:endParaRPr lang="ru-RU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312" marB="34312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effectLst/>
                        </a:rPr>
                        <a:t>Логическая схема</a:t>
                      </a:r>
                      <a:endParaRPr lang="ru-RU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312" marB="343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61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effectLst/>
                        </a:rPr>
                        <a:t>Сущность</a:t>
                      </a:r>
                      <a:endParaRPr lang="ru-RU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312" marB="34312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effectLst/>
                        </a:rPr>
                        <a:t>Отношение - Таблица (</a:t>
                      </a:r>
                      <a:r>
                        <a:rPr lang="ru-RU" sz="1200" kern="1200" dirty="0" err="1">
                          <a:effectLst/>
                        </a:rPr>
                        <a:t>table</a:t>
                      </a:r>
                      <a:r>
                        <a:rPr lang="ru-RU" sz="1200" kern="1200" dirty="0">
                          <a:effectLst/>
                        </a:rPr>
                        <a:t>)</a:t>
                      </a:r>
                      <a:endParaRPr lang="ru-RU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312" marB="343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40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Связи концептуальных объектов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7813" y="1340768"/>
            <a:ext cx="8312150" cy="53736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Связи обладают свойствами:</a:t>
            </a:r>
          </a:p>
          <a:p>
            <a:pPr lvl="1">
              <a:defRPr/>
            </a:pPr>
            <a:r>
              <a:rPr lang="ru-RU" dirty="0"/>
              <a:t>тип;</a:t>
            </a:r>
          </a:p>
          <a:p>
            <a:pPr lvl="1">
              <a:defRPr/>
            </a:pPr>
            <a:r>
              <a:rPr lang="ru-RU" dirty="0"/>
              <a:t>кардинальность;</a:t>
            </a:r>
          </a:p>
          <a:p>
            <a:pPr lvl="1">
              <a:defRPr/>
            </a:pPr>
            <a:r>
              <a:rPr lang="ru-RU" i="1" dirty="0"/>
              <a:t>внешний ключ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dirty="0"/>
              <a:t>Типы связей:</a:t>
            </a:r>
          </a:p>
          <a:p>
            <a:pPr marL="600075" lvl="1" indent="-257175">
              <a:buFont typeface="+mj-lt"/>
              <a:buAutoNum type="arabicPeriod"/>
              <a:defRPr/>
            </a:pPr>
            <a:r>
              <a:rPr lang="ru-RU" dirty="0"/>
              <a:t>Иерархическая категоризация (наследование),</a:t>
            </a:r>
          </a:p>
          <a:p>
            <a:pPr marL="600075" lvl="1" indent="-257175">
              <a:buFont typeface="+mj-lt"/>
              <a:buAutoNum type="arabicPeriod"/>
              <a:defRPr/>
            </a:pPr>
            <a:r>
              <a:rPr lang="ru-RU" dirty="0"/>
              <a:t>Агрегирование (владение),</a:t>
            </a:r>
          </a:p>
          <a:p>
            <a:pPr marL="600075" lvl="1" indent="-257175">
              <a:buFont typeface="+mj-lt"/>
              <a:buAutoNum type="arabicPeriod"/>
              <a:defRPr/>
            </a:pPr>
            <a:r>
              <a:rPr lang="ru-RU" dirty="0"/>
              <a:t>Ссылка и множественная ассоциация (связь много-ко-многим).</a:t>
            </a:r>
          </a:p>
          <a:p>
            <a:pPr marL="300038">
              <a:defRPr/>
            </a:pPr>
            <a:r>
              <a:rPr lang="ru-RU" b="1" dirty="0"/>
              <a:t>Степень связи (или кардинальность) связи</a:t>
            </a:r>
            <a:r>
              <a:rPr lang="ru-RU" dirty="0"/>
              <a:t> определяется количеством участников связи. </a:t>
            </a:r>
          </a:p>
          <a:p>
            <a:pPr marL="600075" lvl="1">
              <a:defRPr/>
            </a:pPr>
            <a:r>
              <a:rPr lang="ru-RU" dirty="0"/>
              <a:t>Возможная кардинальность связи задается в виде набора правил для каждого типа связи.</a:t>
            </a:r>
          </a:p>
          <a:p>
            <a:pPr marL="300038">
              <a:defRPr/>
            </a:pPr>
            <a:r>
              <a:rPr lang="ru-RU" b="1" i="1" dirty="0">
                <a:solidFill>
                  <a:schemeClr val="bg1">
                    <a:lumMod val="65000"/>
                  </a:schemeClr>
                </a:solidFill>
              </a:rPr>
              <a:t>Внешний ключ</a:t>
            </a:r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 – атрибут одной сущности продублированный в другой для обеспечения связи между сущностями. </a:t>
            </a:r>
          </a:p>
          <a:p>
            <a:pPr marL="600075" lvl="1">
              <a:defRPr/>
            </a:pPr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На концептуальной схеме внешние ключи (или мигрирующие атрибуты) как правило не отображаются.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43012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A5E1FA-07F6-418E-A5E1-3729E6B605FC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8170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Связи и внешние ключи</a:t>
            </a:r>
            <a:br>
              <a:rPr lang="ru-RU" dirty="0"/>
            </a:br>
            <a:r>
              <a:rPr lang="ru-RU" dirty="0"/>
              <a:t>Терминология и обозначения</a:t>
            </a:r>
          </a:p>
        </p:txBody>
      </p:sp>
      <p:sp>
        <p:nvSpPr>
          <p:cNvPr id="44035" name="Объект 2"/>
          <p:cNvSpPr>
            <a:spLocks noGrp="1" noChangeArrowheads="1"/>
          </p:cNvSpPr>
          <p:nvPr>
            <p:ph idx="1"/>
          </p:nvPr>
        </p:nvSpPr>
        <p:spPr>
          <a:xfrm>
            <a:off x="684213" y="1484313"/>
            <a:ext cx="7848600" cy="4752975"/>
          </a:xfrm>
        </p:spPr>
        <p:txBody>
          <a:bodyPr/>
          <a:lstStyle/>
          <a:p>
            <a:r>
              <a:rPr lang="ru-RU" altLang="ru-RU" b="1" u="sng" smtClean="0"/>
              <a:t>Идентифицирующая связь </a:t>
            </a:r>
            <a:r>
              <a:rPr lang="ru-RU" altLang="ru-RU" smtClean="0"/>
              <a:t>- сплошная линия</a:t>
            </a:r>
          </a:p>
          <a:p>
            <a:pPr lvl="1"/>
            <a:r>
              <a:rPr lang="ru-RU" altLang="ru-RU" smtClean="0"/>
              <a:t>атрибуты мигрируют в первичный ключ таблицы; </a:t>
            </a:r>
          </a:p>
          <a:p>
            <a:r>
              <a:rPr lang="ru-RU" altLang="ru-RU" b="1" u="sng" smtClean="0"/>
              <a:t>Неидентифицирующая связь</a:t>
            </a:r>
            <a:r>
              <a:rPr lang="ru-RU" altLang="ru-RU" smtClean="0"/>
              <a:t> – пунктирная линия</a:t>
            </a:r>
          </a:p>
          <a:p>
            <a:pPr lvl="1"/>
            <a:r>
              <a:rPr lang="ru-RU" altLang="ru-RU" smtClean="0"/>
              <a:t>атрибуты мигрируют в тело таблицы. </a:t>
            </a:r>
          </a:p>
          <a:p>
            <a:r>
              <a:rPr lang="ru-RU" altLang="ru-RU" b="1" smtClean="0"/>
              <a:t>Чѐрная точка</a:t>
            </a:r>
            <a:r>
              <a:rPr lang="ru-RU" altLang="ru-RU" smtClean="0"/>
              <a:t> </a:t>
            </a:r>
          </a:p>
          <a:p>
            <a:pPr lvl="1"/>
            <a:r>
              <a:rPr lang="ru-RU" altLang="ru-RU" smtClean="0"/>
              <a:t>указывает таблицу, </a:t>
            </a:r>
            <a:r>
              <a:rPr lang="ru-RU" altLang="ru-RU" b="1" smtClean="0"/>
              <a:t>в</a:t>
            </a:r>
            <a:r>
              <a:rPr lang="ru-RU" altLang="ru-RU" smtClean="0"/>
              <a:t> которую мигрируют (переходят) атрибуты; </a:t>
            </a:r>
          </a:p>
          <a:p>
            <a:r>
              <a:rPr lang="ru-RU" altLang="ru-RU" b="1" smtClean="0"/>
              <a:t>Прозрачный ромбик</a:t>
            </a:r>
            <a:r>
              <a:rPr lang="ru-RU" altLang="ru-RU" smtClean="0"/>
              <a:t> (только для </a:t>
            </a:r>
            <a:r>
              <a:rPr lang="ru-RU" altLang="ru-RU" i="1" u="sng" smtClean="0"/>
              <a:t>неидентифицирующих</a:t>
            </a:r>
            <a:r>
              <a:rPr lang="ru-RU" altLang="ru-RU" smtClean="0"/>
              <a:t> связей) </a:t>
            </a:r>
          </a:p>
          <a:p>
            <a:pPr lvl="1"/>
            <a:r>
              <a:rPr lang="ru-RU" altLang="ru-RU" smtClean="0"/>
              <a:t>означает, что ссылка – опциональная (т.е. значения мигрировавших атрибутов могут быть не заданы). </a:t>
            </a:r>
          </a:p>
          <a:p>
            <a:r>
              <a:rPr lang="ru-RU" altLang="ru-RU" smtClean="0"/>
              <a:t>Мигрирующие атрибуты называют </a:t>
            </a:r>
            <a:r>
              <a:rPr lang="ru-RU" altLang="ru-RU" b="1" smtClean="0">
                <a:solidFill>
                  <a:schemeClr val="accent2"/>
                </a:solidFill>
              </a:rPr>
              <a:t>внешним ключом</a:t>
            </a:r>
            <a:r>
              <a:rPr lang="ru-RU" altLang="ru-RU" smtClean="0"/>
              <a:t>.</a:t>
            </a:r>
          </a:p>
          <a:p>
            <a:endParaRPr lang="ru-RU" altLang="ru-RU" smtClean="0"/>
          </a:p>
        </p:txBody>
      </p:sp>
      <p:sp>
        <p:nvSpPr>
          <p:cNvPr id="44036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452396-B1F0-43CD-B81F-F140B1105FAD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39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Перевод концептуальных связей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539750" y="1633538"/>
          <a:ext cx="7920038" cy="437388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960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</a:rPr>
                        <a:t>Концептуальная связь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>
                          <a:effectLst/>
                        </a:rPr>
                        <a:t>Логическая связь</a:t>
                      </a:r>
                      <a:endParaRPr lang="ru-RU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08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</a:rPr>
                        <a:t>Иерархия/наследование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</a:rPr>
                        <a:t>Идентифицирующая связь; </a:t>
                      </a:r>
                    </a:p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800" kern="1200" dirty="0">
                        <a:effectLst/>
                      </a:endParaRPr>
                    </a:p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effectLst/>
                        </a:rPr>
                        <a:t>причѐм</a:t>
                      </a:r>
                      <a:r>
                        <a:rPr lang="ru-RU" sz="1800" kern="1200" dirty="0">
                          <a:effectLst/>
                        </a:rPr>
                        <a:t> первичный ключ полностью совпадает с внешним ключом</a:t>
                      </a:r>
                    </a:p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388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</a:rPr>
                        <a:t>Агрегирование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</a:rPr>
                        <a:t>Идентифицирующая связь; </a:t>
                      </a:r>
                    </a:p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800" kern="1200" dirty="0">
                        <a:effectLst/>
                      </a:endParaRPr>
                    </a:p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</a:rPr>
                        <a:t>первичный ключ состоит из первичного внешнего ключа и </a:t>
                      </a:r>
                      <a:r>
                        <a:rPr lang="ru-RU" sz="1800" kern="1200" dirty="0" err="1">
                          <a:effectLst/>
                        </a:rPr>
                        <a:t>ещѐ</a:t>
                      </a:r>
                      <a:r>
                        <a:rPr lang="ru-RU" sz="1800" kern="1200" dirty="0">
                          <a:effectLst/>
                        </a:rPr>
                        <a:t> одного или нескольких атрибутов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28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effectLst/>
                        </a:rPr>
                        <a:t>Ассоциация /</a:t>
                      </a:r>
                      <a:r>
                        <a:rPr lang="ru-RU" sz="1800" kern="1200" baseline="0" dirty="0">
                          <a:effectLst/>
                        </a:rPr>
                        <a:t> ссылка</a:t>
                      </a:r>
                      <a:endParaRPr lang="ru-RU" sz="1800" kern="1200" dirty="0">
                        <a:effectLst/>
                      </a:endParaRPr>
                    </a:p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(НЕ множественная)</a:t>
                      </a:r>
                    </a:p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800" kern="1200" dirty="0">
                        <a:effectLst/>
                      </a:endParaRPr>
                    </a:p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effectLst/>
                        </a:rPr>
                        <a:t>Неидентифицирующая</a:t>
                      </a:r>
                      <a:r>
                        <a:rPr lang="ru-RU" sz="1800" kern="1200" dirty="0">
                          <a:effectLst/>
                        </a:rPr>
                        <a:t> связь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075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817480-486F-4965-B38E-832F0B9C3B11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37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Наследование </a:t>
            </a:r>
            <a:br>
              <a:rPr lang="ru-RU" dirty="0"/>
            </a:br>
            <a:r>
              <a:rPr lang="ru-RU" dirty="0"/>
              <a:t>и иерархическая категоризация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268413"/>
            <a:ext cx="8285163" cy="51387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 dirty="0"/>
              <a:t>Базовая сущность</a:t>
            </a:r>
            <a:r>
              <a:rPr lang="ru-RU" dirty="0"/>
              <a:t> – это та сущность, которую конкретизируют; </a:t>
            </a:r>
          </a:p>
          <a:p>
            <a:pPr>
              <a:defRPr/>
            </a:pPr>
            <a:r>
              <a:rPr lang="ru-RU" b="1" dirty="0"/>
              <a:t>Унаследованная сущность</a:t>
            </a:r>
            <a:r>
              <a:rPr lang="ru-RU" dirty="0"/>
              <a:t> – это сущность, которая содержит дополнительные атрибуты уточняя при этом базовую сущность (наследник).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 dirty="0">
                <a:solidFill>
                  <a:srgbClr val="C00000"/>
                </a:solidFill>
              </a:rPr>
              <a:t>Правила кардинальности </a:t>
            </a:r>
            <a:r>
              <a:rPr lang="ru-RU" dirty="0"/>
              <a:t>для наследования:</a:t>
            </a:r>
          </a:p>
          <a:p>
            <a:pPr marL="600075" lvl="1" indent="-257175">
              <a:buFont typeface="+mj-lt"/>
              <a:buAutoNum type="arabicPeriod"/>
              <a:defRPr/>
            </a:pPr>
            <a:r>
              <a:rPr lang="ru-RU" dirty="0"/>
              <a:t>некоторому экземпляру из базовой сущности </a:t>
            </a:r>
            <a:r>
              <a:rPr lang="ru-RU" dirty="0">
                <a:solidFill>
                  <a:srgbClr val="C00000"/>
                </a:solidFill>
              </a:rPr>
              <a:t>может соответствовать один</a:t>
            </a:r>
            <a:r>
              <a:rPr lang="ru-RU" dirty="0"/>
              <a:t> экземпляр из унаследованной сущности;</a:t>
            </a:r>
          </a:p>
          <a:p>
            <a:pPr marL="600075" lvl="1" indent="-257175">
              <a:buFont typeface="+mj-lt"/>
              <a:buAutoNum type="arabicPeriod"/>
              <a:defRPr/>
            </a:pPr>
            <a:r>
              <a:rPr lang="ru-RU" dirty="0"/>
              <a:t>любому экземпляру из унаследованной сущности обязательно соответствует </a:t>
            </a:r>
            <a:r>
              <a:rPr lang="ru-RU" dirty="0">
                <a:solidFill>
                  <a:srgbClr val="C00000"/>
                </a:solidFill>
              </a:rPr>
              <a:t>ровно один </a:t>
            </a:r>
            <a:r>
              <a:rPr lang="ru-RU" dirty="0"/>
              <a:t>экземпляр из базовой сущности;</a:t>
            </a:r>
          </a:p>
          <a:p>
            <a:pPr marL="600075" lvl="1" indent="-257175">
              <a:buFont typeface="+mj-lt"/>
              <a:buAutoNum type="arabicPeriod"/>
              <a:defRPr/>
            </a:pPr>
            <a:r>
              <a:rPr lang="ru-RU" dirty="0"/>
              <a:t>мощность унаследованной сущности лежит в промежутке от нуля до мощности базовой сущности включительно.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  <p:sp>
        <p:nvSpPr>
          <p:cNvPr id="4608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5D0D8D-1642-43AD-A5A1-E5BC9E8CD62A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6321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Пример наследования </a:t>
            </a:r>
            <a:br>
              <a:rPr lang="ru-RU" dirty="0"/>
            </a:br>
            <a:r>
              <a:rPr lang="ru-RU" dirty="0"/>
              <a:t>(иерархической категоризации)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700213"/>
            <a:ext cx="3784600" cy="4537075"/>
          </a:xfrm>
        </p:spPr>
        <p:txBody>
          <a:bodyPr>
            <a:normAutofit fontScale="85000" lnSpcReduction="1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b="1" i="1" dirty="0"/>
              <a:t>Базовая сущность – Человек; унаследованная сущность – Студент.</a:t>
            </a:r>
            <a:endParaRPr lang="ru-RU" dirty="0"/>
          </a:p>
          <a:p>
            <a:pPr>
              <a:defRPr/>
            </a:pPr>
            <a:r>
              <a:rPr lang="ru-RU" dirty="0"/>
              <a:t>Атрибуты сущности Человек:</a:t>
            </a:r>
          </a:p>
          <a:p>
            <a:pPr lvl="1">
              <a:defRPr/>
            </a:pPr>
            <a:r>
              <a:rPr lang="ru-RU" dirty="0">
                <a:solidFill>
                  <a:srgbClr val="C00000"/>
                </a:solidFill>
              </a:rPr>
              <a:t>номер паспорта (первичный ключ);</a:t>
            </a:r>
          </a:p>
          <a:p>
            <a:pPr lvl="1">
              <a:defRPr/>
            </a:pPr>
            <a:r>
              <a:rPr lang="ru-RU" dirty="0"/>
              <a:t>фамилия;</a:t>
            </a:r>
          </a:p>
          <a:p>
            <a:pPr lvl="1">
              <a:defRPr/>
            </a:pPr>
            <a:r>
              <a:rPr lang="ru-RU" dirty="0"/>
              <a:t>имя;</a:t>
            </a:r>
          </a:p>
          <a:p>
            <a:pPr lvl="1">
              <a:defRPr/>
            </a:pPr>
            <a:r>
              <a:rPr lang="ru-RU" dirty="0"/>
              <a:t>отчество;</a:t>
            </a:r>
          </a:p>
          <a:p>
            <a:pPr lvl="1">
              <a:defRPr/>
            </a:pPr>
            <a:r>
              <a:rPr lang="ru-RU" dirty="0"/>
              <a:t>дата рождения.</a:t>
            </a:r>
          </a:p>
          <a:p>
            <a:pPr>
              <a:defRPr/>
            </a:pPr>
            <a:r>
              <a:rPr lang="ru-RU" dirty="0"/>
              <a:t>Атрибуты сущности Студент:</a:t>
            </a:r>
          </a:p>
          <a:p>
            <a:pPr lvl="1">
              <a:defRPr/>
            </a:pPr>
            <a:r>
              <a:rPr lang="ru-RU" dirty="0">
                <a:solidFill>
                  <a:srgbClr val="C00000"/>
                </a:solidFill>
              </a:rPr>
              <a:t>номер паспорта (первичный ключ; ссылка на сущность Человек);</a:t>
            </a:r>
          </a:p>
          <a:p>
            <a:pPr lvl="1">
              <a:defRPr/>
            </a:pPr>
            <a:r>
              <a:rPr lang="ru-RU" dirty="0"/>
              <a:t>номер студ. билета (альтернативный ключ);</a:t>
            </a:r>
          </a:p>
          <a:p>
            <a:pPr lvl="1">
              <a:defRPr/>
            </a:pPr>
            <a:r>
              <a:rPr lang="ru-RU" dirty="0"/>
              <a:t>кафедра;</a:t>
            </a:r>
          </a:p>
          <a:p>
            <a:pPr lvl="1">
              <a:defRPr/>
            </a:pPr>
            <a:r>
              <a:rPr lang="ru-RU" dirty="0"/>
              <a:t>год обучения.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48132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48C6DD-96B9-4D64-8400-024FC1A38A1F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48133" name="Рисунок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388" y="1916113"/>
            <a:ext cx="4830762" cy="341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6240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Ключи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3375" y="1628775"/>
            <a:ext cx="8256588" cy="2016125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/>
              <a:t>Первичный ключ унаследованной сущности должен быть </a:t>
            </a:r>
            <a:r>
              <a:rPr lang="ru-RU" u="sng" dirty="0"/>
              <a:t>в точности таким же</a:t>
            </a:r>
            <a:r>
              <a:rPr lang="ru-RU" dirty="0"/>
              <a:t>, как и первичный ключ базовой; </a:t>
            </a:r>
          </a:p>
          <a:p>
            <a:pPr>
              <a:defRPr/>
            </a:pPr>
            <a:r>
              <a:rPr lang="ru-RU" dirty="0"/>
              <a:t>Первичный ключ унаследованной сущности должен </a:t>
            </a:r>
            <a:r>
              <a:rPr lang="ru-RU" u="sng" dirty="0"/>
              <a:t>ссылаться</a:t>
            </a:r>
            <a:r>
              <a:rPr lang="ru-RU" dirty="0"/>
              <a:t> на первичный ключ базовой</a:t>
            </a:r>
          </a:p>
          <a:p>
            <a:pPr lvl="1">
              <a:defRPr/>
            </a:pPr>
            <a:r>
              <a:rPr lang="ru-RU" dirty="0"/>
              <a:t>Это </a:t>
            </a:r>
            <a:r>
              <a:rPr lang="ru-RU" i="1" dirty="0"/>
              <a:t>мигрирующий атрибут </a:t>
            </a:r>
            <a:r>
              <a:rPr lang="ru-RU" dirty="0"/>
              <a:t>из базовой сущности в унаследованную, представляющий собой </a:t>
            </a:r>
            <a:r>
              <a:rPr lang="ru-RU" i="1" dirty="0"/>
              <a:t>внешний ключ </a:t>
            </a:r>
            <a:r>
              <a:rPr lang="ru-RU" dirty="0"/>
              <a:t>унаследованной сущности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49156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0EA221-5A80-4405-AC03-543757C1EF52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508000" y="3486150"/>
            <a:ext cx="7951788" cy="3038475"/>
          </a:xfrm>
          <a:prstGeom prst="rect">
            <a:avLst/>
          </a:prstGeom>
        </p:spPr>
        <p:txBody>
          <a:bodyPr lIns="68580" tIns="34290" rIns="68580" bIns="3429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  <a:defRPr/>
            </a:pPr>
            <a:r>
              <a:rPr lang="ru-RU" sz="1350" b="1" i="1" dirty="0"/>
              <a:t>Базовая сущность – Человек; унаследованная сущность – Студент.</a:t>
            </a:r>
            <a:endParaRPr lang="ru-RU" sz="1350" dirty="0"/>
          </a:p>
          <a:p>
            <a:pPr>
              <a:defRPr/>
            </a:pPr>
            <a:r>
              <a:rPr lang="ru-RU" sz="1350" dirty="0"/>
              <a:t>Атрибуты сущности Человек:</a:t>
            </a:r>
          </a:p>
          <a:p>
            <a:pPr lvl="1">
              <a:defRPr/>
            </a:pPr>
            <a:r>
              <a:rPr lang="ru-RU" sz="1200" dirty="0">
                <a:solidFill>
                  <a:srgbClr val="C00000"/>
                </a:solidFill>
              </a:rPr>
              <a:t>номер паспорта (первичный ключ);</a:t>
            </a:r>
          </a:p>
          <a:p>
            <a:pPr lvl="1">
              <a:defRPr/>
            </a:pPr>
            <a:r>
              <a:rPr lang="ru-RU" sz="1200" dirty="0"/>
              <a:t>фамилия;</a:t>
            </a:r>
          </a:p>
          <a:p>
            <a:pPr lvl="1">
              <a:defRPr/>
            </a:pPr>
            <a:r>
              <a:rPr lang="ru-RU" sz="1200" dirty="0"/>
              <a:t>дата рождения…</a:t>
            </a:r>
          </a:p>
          <a:p>
            <a:pPr>
              <a:defRPr/>
            </a:pPr>
            <a:r>
              <a:rPr lang="ru-RU" sz="1350" dirty="0"/>
              <a:t>Атрибуты сущности Студент:</a:t>
            </a:r>
          </a:p>
          <a:p>
            <a:pPr lvl="1">
              <a:defRPr/>
            </a:pPr>
            <a:r>
              <a:rPr lang="ru-RU" sz="1200" dirty="0">
                <a:solidFill>
                  <a:srgbClr val="C00000"/>
                </a:solidFill>
              </a:rPr>
              <a:t>номер паспорта (первичный ключ; ссылка на сущность Человек);</a:t>
            </a:r>
          </a:p>
          <a:p>
            <a:pPr lvl="1">
              <a:defRPr/>
            </a:pPr>
            <a:r>
              <a:rPr lang="ru-RU" sz="1200" dirty="0"/>
              <a:t>номер студ. билета (альтернативный ключ);</a:t>
            </a:r>
          </a:p>
          <a:p>
            <a:pPr lvl="1">
              <a:defRPr/>
            </a:pPr>
            <a:r>
              <a:rPr lang="ru-RU" sz="1200" dirty="0"/>
              <a:t>кафедра;</a:t>
            </a:r>
          </a:p>
          <a:p>
            <a:pPr lvl="1">
              <a:defRPr/>
            </a:pPr>
            <a:r>
              <a:rPr lang="ru-RU" sz="1200" dirty="0"/>
              <a:t>год обучения…</a:t>
            </a:r>
          </a:p>
          <a:p>
            <a:pPr>
              <a:defRPr/>
            </a:pPr>
            <a:endParaRPr lang="ru-RU" sz="1350" dirty="0"/>
          </a:p>
        </p:txBody>
      </p:sp>
    </p:spTree>
    <p:extLst>
      <p:ext uri="{BB962C8B-B14F-4D97-AF65-F5344CB8AC3E}">
        <p14:creationId xmlns:p14="http://schemas.microsoft.com/office/powerpoint/2010/main" val="21912433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484313"/>
            <a:ext cx="7688263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Пример наследования </a:t>
            </a:r>
            <a:br>
              <a:rPr lang="ru-RU" dirty="0"/>
            </a:br>
            <a:r>
              <a:rPr lang="ru-RU" dirty="0"/>
              <a:t>(иерархической категоризации)</a:t>
            </a:r>
          </a:p>
        </p:txBody>
      </p:sp>
      <p:sp>
        <p:nvSpPr>
          <p:cNvPr id="5018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CB3B62-DCB6-484B-8542-773D91CA5458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920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Виды наследования </a:t>
            </a:r>
            <a:br>
              <a:rPr lang="ru-RU" dirty="0"/>
            </a:br>
            <a:r>
              <a:rPr lang="ru-RU" dirty="0"/>
              <a:t>(иерархической категоризации)</a:t>
            </a:r>
          </a:p>
        </p:txBody>
      </p:sp>
      <p:sp>
        <p:nvSpPr>
          <p:cNvPr id="51203" name="Объект 2"/>
          <p:cNvSpPr>
            <a:spLocks noGrp="1" noChangeArrowheads="1"/>
          </p:cNvSpPr>
          <p:nvPr>
            <p:ph idx="1"/>
          </p:nvPr>
        </p:nvSpPr>
        <p:spPr>
          <a:xfrm>
            <a:off x="323850" y="1484313"/>
            <a:ext cx="8208963" cy="4752975"/>
          </a:xfrm>
        </p:spPr>
        <p:txBody>
          <a:bodyPr anchor="t"/>
          <a:lstStyle/>
          <a:p>
            <a:pPr>
              <a:spcBef>
                <a:spcPts val="1200"/>
              </a:spcBef>
            </a:pPr>
            <a:r>
              <a:rPr lang="ru-RU" altLang="ru-RU" b="1" u="sng" smtClean="0"/>
              <a:t>Не звершѐнная иерархическая категоризация</a:t>
            </a:r>
            <a:r>
              <a:rPr lang="ru-RU" altLang="ru-RU" smtClean="0"/>
              <a:t> </a:t>
            </a:r>
          </a:p>
          <a:p>
            <a:pPr>
              <a:spcBef>
                <a:spcPts val="1200"/>
              </a:spcBef>
            </a:pPr>
            <a:r>
              <a:rPr lang="ru-RU" altLang="ru-RU" b="1" u="sng" smtClean="0"/>
              <a:t>Завершѐнная иерархическая категоризация</a:t>
            </a:r>
            <a:r>
              <a:rPr lang="ru-RU" altLang="ru-RU" smtClean="0"/>
              <a:t> – это вариант иерархической категоризации со специальными правилами кардинальности (которые добавляются к общим правилам кардинальности для наследования):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каждому экземпляру из базовой сущности всегда соответствует ровно один экземпляр из ровно одной унаследованной сущности;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сумма мощностей всех унаследованных сущностей в точности соответствует мощности базовой сущности.</a:t>
            </a:r>
          </a:p>
          <a:p>
            <a:pPr>
              <a:spcBef>
                <a:spcPts val="1200"/>
              </a:spcBef>
            </a:pPr>
            <a:endParaRPr lang="ru-RU" altLang="ru-RU" smtClean="0"/>
          </a:p>
        </p:txBody>
      </p:sp>
      <p:sp>
        <p:nvSpPr>
          <p:cNvPr id="5120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D61403-C37D-4E51-9378-9FB50C8C03CE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880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Агрегирование (</a:t>
            </a:r>
            <a:r>
              <a:rPr lang="ru-RU" dirty="0" err="1"/>
              <a:t>master-detail</a:t>
            </a:r>
            <a:r>
              <a:rPr lang="ru-RU" u="sng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8000" y="1484313"/>
            <a:ext cx="8081963" cy="5040312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defRPr/>
            </a:pPr>
            <a:r>
              <a:rPr lang="ru-RU" b="1" dirty="0"/>
              <a:t>Агрегирование (владение</a:t>
            </a:r>
            <a:r>
              <a:rPr lang="ru-RU" dirty="0"/>
              <a:t>) – </a:t>
            </a:r>
            <a:r>
              <a:rPr lang="ru-RU" dirty="0" err="1"/>
              <a:t>жѐсткая</a:t>
            </a:r>
            <a:r>
              <a:rPr lang="ru-RU" dirty="0"/>
              <a:t> ассоциация с </a:t>
            </a:r>
            <a:r>
              <a:rPr lang="ru-RU" dirty="0" err="1"/>
              <a:t>кортежѐм</a:t>
            </a:r>
            <a:r>
              <a:rPr lang="ru-RU" dirty="0"/>
              <a:t> одной сущности нескольких кортежей другой. </a:t>
            </a:r>
          </a:p>
          <a:p>
            <a:pPr lvl="1">
              <a:spcBef>
                <a:spcPts val="600"/>
              </a:spcBef>
              <a:defRPr/>
            </a:pPr>
            <a:r>
              <a:rPr lang="ru-RU" dirty="0"/>
              <a:t>В этом случае первая сущность называется </a:t>
            </a:r>
            <a:r>
              <a:rPr lang="ru-RU" b="1" i="1" dirty="0"/>
              <a:t>родительской</a:t>
            </a:r>
            <a:r>
              <a:rPr lang="ru-RU" dirty="0"/>
              <a:t>, а вторая – </a:t>
            </a:r>
            <a:r>
              <a:rPr lang="ru-RU" b="1" i="1" dirty="0"/>
              <a:t>дочерней</a:t>
            </a:r>
            <a:r>
              <a:rPr lang="ru-RU" dirty="0"/>
              <a:t>.</a:t>
            </a:r>
          </a:p>
          <a:p>
            <a:pPr lvl="1">
              <a:spcBef>
                <a:spcPts val="600"/>
              </a:spcBef>
              <a:defRPr/>
            </a:pPr>
            <a:r>
              <a:rPr lang="ru-RU" dirty="0"/>
              <a:t>Агрегирование применяется в том случае, если кортеж дочерней сущности </a:t>
            </a:r>
            <a:r>
              <a:rPr lang="ru-RU" b="1" dirty="0"/>
              <a:t>не может существовать </a:t>
            </a:r>
            <a:r>
              <a:rPr lang="ru-RU" dirty="0"/>
              <a:t>без кортежа родительской (или это лишено смысла).</a:t>
            </a:r>
          </a:p>
          <a:p>
            <a:pPr>
              <a:spcBef>
                <a:spcPts val="600"/>
              </a:spcBef>
              <a:defRPr/>
            </a:pPr>
            <a:r>
              <a:rPr lang="ru-RU" dirty="0">
                <a:solidFill>
                  <a:schemeClr val="accent1"/>
                </a:solidFill>
              </a:rPr>
              <a:t>Первичный ключ дочерней сущности </a:t>
            </a:r>
            <a:r>
              <a:rPr lang="ru-RU" dirty="0"/>
              <a:t>состоит из атрибутов первичного ключа родительской сущности плюс одного или нескольких дополнительных полей (</a:t>
            </a:r>
            <a:r>
              <a:rPr lang="ru-RU" i="1" dirty="0"/>
              <a:t>как правило одного</a:t>
            </a:r>
            <a:r>
              <a:rPr lang="ru-RU" dirty="0"/>
              <a:t>). </a:t>
            </a:r>
          </a:p>
          <a:p>
            <a:pPr>
              <a:spcBef>
                <a:spcPts val="600"/>
              </a:spcBef>
              <a:defRPr/>
            </a:pPr>
            <a:r>
              <a:rPr lang="ru-RU" dirty="0">
                <a:solidFill>
                  <a:schemeClr val="accent1"/>
                </a:solidFill>
              </a:rPr>
              <a:t>В качестве дополнительного поля ключа </a:t>
            </a:r>
            <a:r>
              <a:rPr lang="ru-RU" dirty="0"/>
              <a:t>можно использовать какое-либо поле данных, уникальное в пределах кортежа родительской сущности (мастер-кортежа), либо абстрактный </a:t>
            </a:r>
            <a:r>
              <a:rPr lang="ru-RU" dirty="0" err="1"/>
              <a:t>перечислитель</a:t>
            </a:r>
            <a:r>
              <a:rPr lang="ru-RU" dirty="0"/>
              <a:t> (</a:t>
            </a:r>
            <a:r>
              <a:rPr lang="ru-RU" dirty="0" err="1"/>
              <a:t>enumerator</a:t>
            </a:r>
            <a:r>
              <a:rPr lang="ru-RU" dirty="0"/>
              <a:t>). </a:t>
            </a:r>
          </a:p>
          <a:p>
            <a:pPr lvl="1">
              <a:spcBef>
                <a:spcPts val="600"/>
              </a:spcBef>
              <a:defRPr/>
            </a:pPr>
            <a:r>
              <a:rPr lang="ru-RU" dirty="0"/>
              <a:t>Важно, чтобы мигрирующие атрибуты помещались </a:t>
            </a:r>
            <a:r>
              <a:rPr lang="ru-RU" b="1" dirty="0"/>
              <a:t>в начало </a:t>
            </a:r>
            <a:r>
              <a:rPr lang="ru-RU" dirty="0"/>
              <a:t>ключа родительской сущности и </a:t>
            </a:r>
            <a:r>
              <a:rPr lang="ru-RU" b="1" dirty="0"/>
              <a:t>в том же порядке</a:t>
            </a:r>
            <a:r>
              <a:rPr lang="ru-RU" dirty="0"/>
              <a:t>, в котором они присутствуют в родительской.</a:t>
            </a:r>
          </a:p>
        </p:txBody>
      </p:sp>
      <p:sp>
        <p:nvSpPr>
          <p:cNvPr id="52228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AD1968-8C17-463D-AD46-9C164A59BC55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3749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Правила кардинальности</a:t>
            </a:r>
          </a:p>
        </p:txBody>
      </p:sp>
      <p:sp>
        <p:nvSpPr>
          <p:cNvPr id="53251" name="Объект 2"/>
          <p:cNvSpPr>
            <a:spLocks noGrp="1" noChangeArrowheads="1"/>
          </p:cNvSpPr>
          <p:nvPr>
            <p:ph idx="1"/>
          </p:nvPr>
        </p:nvSpPr>
        <p:spPr>
          <a:xfrm>
            <a:off x="254000" y="1422400"/>
            <a:ext cx="8636000" cy="5435600"/>
          </a:xfrm>
        </p:spPr>
        <p:txBody>
          <a:bodyPr anchor="t"/>
          <a:lstStyle/>
          <a:p>
            <a:r>
              <a:rPr lang="ru-RU" altLang="ru-RU" smtClean="0"/>
              <a:t>каждому кортежу из дочерней сущности </a:t>
            </a:r>
            <a:r>
              <a:rPr lang="ru-RU" altLang="ru-RU" smtClean="0">
                <a:solidFill>
                  <a:srgbClr val="C00000"/>
                </a:solidFill>
              </a:rPr>
              <a:t>соответствует ровно один</a:t>
            </a:r>
            <a:r>
              <a:rPr lang="ru-RU" altLang="ru-RU" smtClean="0"/>
              <a:t> экземпляр из родительской сущности. </a:t>
            </a:r>
          </a:p>
          <a:p>
            <a:r>
              <a:rPr lang="ru-RU" altLang="ru-RU" smtClean="0"/>
              <a:t>некоторому экземпляру из родительской сущности </a:t>
            </a:r>
            <a:r>
              <a:rPr lang="ru-RU" altLang="ru-RU" smtClean="0">
                <a:solidFill>
                  <a:srgbClr val="C00000"/>
                </a:solidFill>
              </a:rPr>
              <a:t>могут соответствовать один или несколько </a:t>
            </a:r>
            <a:r>
              <a:rPr lang="ru-RU" altLang="ru-RU" smtClean="0"/>
              <a:t>экземпляров из дочерней сущности (или не одного);</a:t>
            </a:r>
          </a:p>
          <a:p>
            <a:pPr lvl="1"/>
            <a:endParaRPr lang="ru-RU" altLang="ru-RU" smtClean="0"/>
          </a:p>
          <a:p>
            <a:pPr lvl="1"/>
            <a:endParaRPr lang="ru-RU" altLang="ru-RU" smtClean="0"/>
          </a:p>
          <a:p>
            <a:pPr lvl="1"/>
            <a:endParaRPr lang="ru-RU" altLang="ru-RU" smtClean="0"/>
          </a:p>
          <a:p>
            <a:pPr lvl="1"/>
            <a:endParaRPr lang="ru-RU" altLang="ru-RU" smtClean="0"/>
          </a:p>
          <a:p>
            <a:r>
              <a:rPr lang="ru-RU" altLang="ru-RU" smtClean="0"/>
              <a:t>некоторому экземпляру из родительской сущности </a:t>
            </a:r>
            <a:r>
              <a:rPr lang="ru-RU" altLang="ru-RU" smtClean="0">
                <a:solidFill>
                  <a:srgbClr val="C00000"/>
                </a:solidFill>
              </a:rPr>
              <a:t>обязательно соответствует хотя бы один экземпляр </a:t>
            </a:r>
            <a:r>
              <a:rPr lang="ru-RU" altLang="ru-RU" smtClean="0"/>
              <a:t>из дочерней сущности;</a:t>
            </a:r>
          </a:p>
          <a:p>
            <a:endParaRPr lang="ru-RU" altLang="ru-RU" smtClean="0"/>
          </a:p>
        </p:txBody>
      </p:sp>
      <p:sp>
        <p:nvSpPr>
          <p:cNvPr id="53252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DBCDAB-5AAD-4570-9F93-C0CC178F09CB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53253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3130550"/>
            <a:ext cx="5207000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232400"/>
            <a:ext cx="5975350" cy="133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4107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Пример агрегирования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0" y="1341438"/>
            <a:ext cx="4129088" cy="5327650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/>
              <a:t>Атрибуты сущности Дом: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улица (поле первичного ключа);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номер дома (поле первичного ключа);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этажность;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общая площадь;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архитектор.</a:t>
            </a:r>
          </a:p>
          <a:p>
            <a:pPr>
              <a:spcBef>
                <a:spcPts val="1200"/>
              </a:spcBef>
              <a:defRPr/>
            </a:pPr>
            <a:r>
              <a:rPr lang="ru-RU" dirty="0"/>
              <a:t>Атрибуты сущности Квартира: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улица (поле первичного ключа, поле ссылки на сущность Дом);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номер дома (поле первичного ключа, поле ссылки на сущность Дом);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номер квартиры (поле первичного ключа);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площадь квартиры;</a:t>
            </a:r>
          </a:p>
          <a:p>
            <a:pPr marL="600075" lvl="1" indent="-257175"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dirty="0"/>
              <a:t>фамилия владельца.</a:t>
            </a:r>
          </a:p>
          <a:p>
            <a:pPr>
              <a:spcBef>
                <a:spcPts val="1200"/>
              </a:spcBef>
              <a:defRPr/>
            </a:pPr>
            <a:endParaRPr lang="ru-RU" dirty="0"/>
          </a:p>
        </p:txBody>
      </p:sp>
      <p:sp>
        <p:nvSpPr>
          <p:cNvPr id="54276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E062E2-5C58-44E2-B86C-7F8B6D2B85EB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54277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688" y="1844675"/>
            <a:ext cx="369252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0944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Ассоциация (ссылка)</a:t>
            </a:r>
          </a:p>
        </p:txBody>
      </p:sp>
      <p:sp>
        <p:nvSpPr>
          <p:cNvPr id="55299" name="Объект 2"/>
          <p:cNvSpPr>
            <a:spLocks noGrp="1" noChangeArrowheads="1"/>
          </p:cNvSpPr>
          <p:nvPr>
            <p:ph idx="1"/>
          </p:nvPr>
        </p:nvSpPr>
        <p:spPr>
          <a:xfrm>
            <a:off x="206375" y="1455738"/>
            <a:ext cx="8383588" cy="5402262"/>
          </a:xfrm>
        </p:spPr>
        <p:txBody>
          <a:bodyPr/>
          <a:lstStyle/>
          <a:p>
            <a:r>
              <a:rPr lang="ru-RU" altLang="ru-RU" smtClean="0"/>
              <a:t>Ссылка – это такая связь, в которой кортеж одной сущности ссылается (указывает) на кортеж другой сущности. </a:t>
            </a:r>
          </a:p>
          <a:p>
            <a:r>
              <a:rPr lang="ru-RU" altLang="ru-RU" smtClean="0"/>
              <a:t>Сущность, на которую ссылаются, называется справочник (или словарь).</a:t>
            </a:r>
          </a:p>
          <a:p>
            <a:endParaRPr lang="ru-RU" altLang="ru-RU" smtClean="0"/>
          </a:p>
          <a:p>
            <a:r>
              <a:rPr lang="ru-RU" altLang="ru-RU" smtClean="0"/>
              <a:t>При ссылке </a:t>
            </a:r>
            <a:r>
              <a:rPr lang="ru-RU" altLang="ru-RU" smtClean="0">
                <a:solidFill>
                  <a:srgbClr val="C00000"/>
                </a:solidFill>
              </a:rPr>
              <a:t>ключ справочника мигрирует в тело </a:t>
            </a:r>
            <a:r>
              <a:rPr lang="ru-RU" altLang="ru-RU" smtClean="0"/>
              <a:t>(</a:t>
            </a:r>
            <a:r>
              <a:rPr lang="ru-RU" altLang="ru-RU" i="1" smtClean="0"/>
              <a:t>но не в первичный ключ</a:t>
            </a:r>
            <a:r>
              <a:rPr lang="ru-RU" altLang="ru-RU" smtClean="0"/>
              <a:t>) ссылающейся сущности</a:t>
            </a:r>
          </a:p>
          <a:p>
            <a:endParaRPr lang="ru-RU" altLang="ru-RU" smtClean="0"/>
          </a:p>
          <a:p>
            <a:r>
              <a:rPr lang="ru-RU" altLang="ru-RU" smtClean="0"/>
              <a:t>Ссылка может быть </a:t>
            </a:r>
            <a:r>
              <a:rPr lang="ru-RU" altLang="ru-RU" b="1" smtClean="0"/>
              <a:t>обязательной</a:t>
            </a:r>
            <a:r>
              <a:rPr lang="ru-RU" altLang="ru-RU" smtClean="0"/>
              <a:t> или </a:t>
            </a:r>
            <a:r>
              <a:rPr lang="ru-RU" altLang="ru-RU" b="1" smtClean="0"/>
              <a:t>необязательной</a:t>
            </a:r>
            <a:r>
              <a:rPr lang="ru-RU" altLang="ru-RU" smtClean="0"/>
              <a:t>:</a:t>
            </a:r>
          </a:p>
          <a:p>
            <a:pPr lvl="1"/>
            <a:r>
              <a:rPr lang="ru-RU" altLang="ru-RU" smtClean="0"/>
              <a:t> </a:t>
            </a:r>
            <a:r>
              <a:rPr lang="ru-RU" altLang="ru-RU" u="sng" smtClean="0"/>
              <a:t>атрибуты обязательной ссылки всегда должны быть определены, т.е. не могут принимать значение null</a:t>
            </a:r>
            <a:r>
              <a:rPr lang="ru-RU" altLang="ru-RU" smtClean="0"/>
              <a:t>.</a:t>
            </a:r>
          </a:p>
          <a:p>
            <a:r>
              <a:rPr lang="ru-RU" altLang="ru-RU" smtClean="0"/>
              <a:t>Ссылка может </a:t>
            </a:r>
            <a:r>
              <a:rPr lang="ru-RU" altLang="ru-RU" b="1" smtClean="0"/>
              <a:t>состоять из одного поля</a:t>
            </a:r>
            <a:r>
              <a:rPr lang="ru-RU" altLang="ru-RU" smtClean="0"/>
              <a:t> или </a:t>
            </a:r>
            <a:r>
              <a:rPr lang="ru-RU" altLang="ru-RU" b="1" smtClean="0"/>
              <a:t>из нескольких</a:t>
            </a:r>
            <a:r>
              <a:rPr lang="ru-RU" altLang="ru-RU" smtClean="0"/>
              <a:t> – в зависимости от числа полей в ключе справочника. </a:t>
            </a:r>
          </a:p>
          <a:p>
            <a:pPr lvl="1"/>
            <a:r>
              <a:rPr lang="ru-RU" altLang="ru-RU" smtClean="0"/>
              <a:t>В случае необязательной ссылки все поля ссылки в одном кортежа должны быть определены или пусты.</a:t>
            </a:r>
          </a:p>
          <a:p>
            <a:endParaRPr lang="ru-RU" altLang="ru-RU" smtClean="0"/>
          </a:p>
          <a:p>
            <a:endParaRPr lang="ru-RU" altLang="ru-RU" smtClean="0"/>
          </a:p>
        </p:txBody>
      </p:sp>
      <p:sp>
        <p:nvSpPr>
          <p:cNvPr id="5530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FD53B4-F45C-45BE-8D11-F17375C95190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3492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Пример ассоциации</a:t>
            </a:r>
          </a:p>
        </p:txBody>
      </p:sp>
      <p:sp>
        <p:nvSpPr>
          <p:cNvPr id="56323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CB9A3F-7987-4B5B-9B28-0654425AFBD0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56324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5" y="1628775"/>
            <a:ext cx="5491163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5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4329113"/>
            <a:ext cx="5329238" cy="171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Объект 2"/>
          <p:cNvSpPr txBox="1">
            <a:spLocks/>
          </p:cNvSpPr>
          <p:nvPr/>
        </p:nvSpPr>
        <p:spPr>
          <a:xfrm>
            <a:off x="508000" y="1628775"/>
            <a:ext cx="2844800" cy="4968875"/>
          </a:xfrm>
          <a:prstGeom prst="rect">
            <a:avLst/>
          </a:prstGeom>
        </p:spPr>
        <p:txBody>
          <a:bodyPr lIns="68580" tIns="34290" rIns="68580" bIns="3429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  <a:defRPr/>
            </a:pPr>
            <a:r>
              <a:rPr lang="ru-RU" dirty="0"/>
              <a:t>некоторому экземпляру из ссылающейся сущности может соответствовать один экземпляр из справочника;</a:t>
            </a:r>
          </a:p>
          <a:p>
            <a:pPr>
              <a:buFont typeface="+mj-lt"/>
              <a:buAutoNum type="arabicPeriod"/>
              <a:defRPr/>
            </a:pPr>
            <a:r>
              <a:rPr lang="ru-RU" dirty="0"/>
              <a:t>некоторому экземпляру из справочника может соответствовать сколько угодно экземпляров из ссылающейся сущности.</a:t>
            </a:r>
          </a:p>
          <a:p>
            <a:pPr>
              <a:defRPr/>
            </a:pPr>
            <a:endParaRPr lang="ru-RU" dirty="0"/>
          </a:p>
          <a:p>
            <a:pPr marL="0" indent="0" algn="ctr">
              <a:buFont typeface="Wingdings 3" charset="2"/>
              <a:buNone/>
              <a:defRPr/>
            </a:pPr>
            <a:r>
              <a:rPr lang="ru-RU" dirty="0"/>
              <a:t>Ссылка является связью «многие-к-одному».</a:t>
            </a:r>
          </a:p>
        </p:txBody>
      </p:sp>
    </p:spTree>
    <p:extLst>
      <p:ext uri="{BB962C8B-B14F-4D97-AF65-F5344CB8AC3E}">
        <p14:creationId xmlns:p14="http://schemas.microsoft.com/office/powerpoint/2010/main" val="40381412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Пример</a:t>
            </a:r>
          </a:p>
        </p:txBody>
      </p:sp>
      <p:sp>
        <p:nvSpPr>
          <p:cNvPr id="57347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1B3FD2-63A5-464F-93BA-065CE516D123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5734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482725"/>
            <a:ext cx="7639050" cy="518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24544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3D4731-DB1B-4039-B146-E2FEC66B6FD1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58371" name="Объект 4"/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4450" y="1897063"/>
            <a:ext cx="3254375" cy="1449387"/>
          </a:xfrm>
        </p:spPr>
      </p:pic>
      <p:sp>
        <p:nvSpPr>
          <p:cNvPr id="58372" name="Заголовок 1"/>
          <p:cNvSpPr txBox="1">
            <a:spLocks noChangeArrowheads="1"/>
          </p:cNvSpPr>
          <p:nvPr/>
        </p:nvSpPr>
        <p:spPr bwMode="auto">
          <a:xfrm>
            <a:off x="584200" y="1296988"/>
            <a:ext cx="644683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700">
                <a:solidFill>
                  <a:schemeClr val="accent1"/>
                </a:solidFill>
              </a:rPr>
              <a:t>Представление вложенности</a:t>
            </a: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187450" y="96838"/>
            <a:ext cx="6448425" cy="990600"/>
          </a:xfrm>
        </p:spPr>
        <p:txBody>
          <a:bodyPr/>
          <a:lstStyle/>
          <a:p>
            <a:pPr>
              <a:defRPr/>
            </a:pPr>
            <a:r>
              <a:rPr lang="ru-RU" dirty="0"/>
              <a:t>Множественная ассоциация </a:t>
            </a: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584200" y="3906838"/>
            <a:ext cx="6446838" cy="862012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350" b="1" i="1" dirty="0"/>
              <a:t>Множественная ассоциация</a:t>
            </a:r>
            <a:r>
              <a:rPr lang="ru-RU" sz="1350" dirty="0"/>
              <a:t> – это случай, когда любой кортеж одной сущности может быть ассоциированным с любым количеством кортежей другой сущности, и наоборот.</a:t>
            </a:r>
          </a:p>
          <a:p>
            <a:pPr>
              <a:defRPr/>
            </a:pPr>
            <a:endParaRPr lang="ru-RU" sz="1350" dirty="0"/>
          </a:p>
        </p:txBody>
      </p:sp>
      <p:pic>
        <p:nvPicPr>
          <p:cNvPr id="58375" name="Рисунок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75" y="4856163"/>
            <a:ext cx="4699000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9655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Основные </a:t>
            </a:r>
            <a:r>
              <a:rPr lang="ru-RU"/>
              <a:t>к</a:t>
            </a:r>
            <a:r>
              <a:rPr lang="ru-RU" b="1"/>
              <a:t>о</a:t>
            </a:r>
            <a:r>
              <a:rPr lang="ru-RU"/>
              <a:t>мпоненты логической </a:t>
            </a:r>
            <a:r>
              <a:rPr lang="ru-RU" dirty="0"/>
              <a:t>схемы </a:t>
            </a:r>
            <a:br>
              <a:rPr lang="ru-RU" dirty="0"/>
            </a:br>
            <a:r>
              <a:rPr lang="ru-RU" dirty="0"/>
              <a:t>и их получение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261626"/>
              </p:ext>
            </p:extLst>
          </p:nvPr>
        </p:nvGraphicFramePr>
        <p:xfrm>
          <a:off x="539965" y="1628800"/>
          <a:ext cx="8056563" cy="4275135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04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4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Концептуальная схема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Логическая схема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4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Сущность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Отношение - Таблица (</a:t>
                      </a:r>
                      <a:r>
                        <a:rPr lang="ru-RU" sz="1600" kern="1200" dirty="0" err="1">
                          <a:effectLst/>
                        </a:rPr>
                        <a:t>table</a:t>
                      </a:r>
                      <a:r>
                        <a:rPr lang="ru-RU" sz="1600" kern="1200" dirty="0">
                          <a:effectLst/>
                        </a:rPr>
                        <a:t>)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4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</a:rPr>
                        <a:t>Экземпляр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effectLst/>
                        </a:rPr>
                        <a:t>Кортеж</a:t>
                      </a:r>
                      <a:r>
                        <a:rPr lang="ru-RU" sz="1600" kern="1200" baseline="0" dirty="0">
                          <a:effectLst/>
                        </a:rPr>
                        <a:t> или </a:t>
                      </a:r>
                      <a:r>
                        <a:rPr lang="ru-RU" sz="1600" kern="1200" dirty="0">
                          <a:effectLst/>
                        </a:rPr>
                        <a:t>Запись таблицы (</a:t>
                      </a:r>
                      <a:r>
                        <a:rPr lang="ru-RU" sz="1600" kern="1200" dirty="0" err="1">
                          <a:effectLst/>
                        </a:rPr>
                        <a:t>record</a:t>
                      </a:r>
                      <a:r>
                        <a:rPr lang="ru-RU" sz="1600" kern="1200" dirty="0">
                          <a:effectLst/>
                        </a:rPr>
                        <a:t>)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4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Атрибут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Атрибут, также поле записи, колонка (</a:t>
                      </a:r>
                      <a:r>
                        <a:rPr lang="ru-RU" sz="1600" kern="1200" dirty="0" err="1">
                          <a:effectLst/>
                        </a:rPr>
                        <a:t>field</a:t>
                      </a:r>
                      <a:r>
                        <a:rPr lang="ru-RU" sz="1600" kern="1200" dirty="0">
                          <a:effectLst/>
                        </a:rPr>
                        <a:t>, </a:t>
                      </a:r>
                      <a:r>
                        <a:rPr lang="ru-RU" sz="1600" kern="1200" dirty="0" err="1">
                          <a:effectLst/>
                        </a:rPr>
                        <a:t>column</a:t>
                      </a:r>
                      <a:r>
                        <a:rPr lang="ru-RU" sz="1600" kern="1200" dirty="0">
                          <a:effectLst/>
                        </a:rPr>
                        <a:t>)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30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>
                          <a:effectLst/>
                        </a:rPr>
                        <a:t>Домен</a:t>
                      </a:r>
                      <a:endParaRPr lang="ru-RU" sz="16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Тип данных и ограничитель уровня поля </a:t>
                      </a:r>
                      <a:br>
                        <a:rPr lang="ru-RU" sz="1600" kern="1200" dirty="0">
                          <a:effectLst/>
                        </a:rPr>
                      </a:br>
                      <a:r>
                        <a:rPr lang="ru-RU" sz="1600" kern="1200" dirty="0">
                          <a:effectLst/>
                        </a:rPr>
                        <a:t>(</a:t>
                      </a:r>
                      <a:r>
                        <a:rPr lang="en-US" sz="1600" kern="1200" dirty="0">
                          <a:effectLst/>
                        </a:rPr>
                        <a:t>data type with it</a:t>
                      </a:r>
                      <a:r>
                        <a:rPr lang="ru-RU" sz="1600" kern="1200" dirty="0">
                          <a:effectLst/>
                        </a:rPr>
                        <a:t>’</a:t>
                      </a:r>
                      <a:r>
                        <a:rPr lang="en-US" sz="1600" kern="1200" dirty="0">
                          <a:effectLst/>
                        </a:rPr>
                        <a:t>s constraint</a:t>
                      </a:r>
                      <a:r>
                        <a:rPr lang="ru-RU" sz="1600" kern="1200" dirty="0">
                          <a:effectLst/>
                        </a:rPr>
                        <a:t>)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30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>
                          <a:effectLst/>
                        </a:rPr>
                        <a:t>Ключ первичный</a:t>
                      </a:r>
                      <a:endParaRPr lang="ru-RU" sz="16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Ключ первичный (</a:t>
                      </a:r>
                      <a:r>
                        <a:rPr lang="en-US" sz="1600" kern="1200" dirty="0">
                          <a:effectLst/>
                        </a:rPr>
                        <a:t>primary key</a:t>
                      </a:r>
                      <a:r>
                        <a:rPr lang="ru-RU" sz="1600" kern="1200" dirty="0">
                          <a:effectLst/>
                        </a:rPr>
                        <a:t>); </a:t>
                      </a:r>
                      <a:br>
                        <a:rPr lang="ru-RU" sz="1600" kern="1200" dirty="0">
                          <a:effectLst/>
                        </a:rPr>
                      </a:br>
                      <a:r>
                        <a:rPr lang="ru-RU" sz="1600" kern="1200" dirty="0">
                          <a:effectLst/>
                        </a:rPr>
                        <a:t>уникальность и обязательность подразумеваются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30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>
                          <a:effectLst/>
                        </a:rPr>
                        <a:t>Ключ альтернативный</a:t>
                      </a:r>
                      <a:endParaRPr lang="ru-RU" sz="16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Уникальный индекс и требование обязательности (</a:t>
                      </a:r>
                      <a:r>
                        <a:rPr lang="ru-RU" sz="1600" kern="1200" dirty="0" err="1">
                          <a:effectLst/>
                        </a:rPr>
                        <a:t>unique</a:t>
                      </a:r>
                      <a:r>
                        <a:rPr lang="ru-RU" sz="1600" kern="1200" dirty="0">
                          <a:effectLst/>
                        </a:rPr>
                        <a:t> </a:t>
                      </a:r>
                      <a:r>
                        <a:rPr lang="ru-RU" sz="1600" kern="1200" dirty="0" err="1">
                          <a:effectLst/>
                        </a:rPr>
                        <a:t>not</a:t>
                      </a:r>
                      <a:r>
                        <a:rPr lang="ru-RU" sz="1600" kern="1200" dirty="0">
                          <a:effectLst/>
                        </a:rPr>
                        <a:t> </a:t>
                      </a:r>
                      <a:r>
                        <a:rPr lang="ru-RU" sz="1600" kern="1200" dirty="0" err="1">
                          <a:effectLst/>
                        </a:rPr>
                        <a:t>null</a:t>
                      </a:r>
                      <a:r>
                        <a:rPr lang="ru-RU" sz="1600" kern="1200" dirty="0">
                          <a:effectLst/>
                        </a:rPr>
                        <a:t>)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015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>
                          <a:effectLst/>
                        </a:rPr>
                        <a:t>Связь – наследование, агрегирование, ссылка</a:t>
                      </a:r>
                      <a:endParaRPr lang="ru-RU" sz="16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Мигрирующие атрибуты </a:t>
                      </a:r>
                      <a:br>
                        <a:rPr lang="ru-RU" sz="1600" kern="1200" dirty="0">
                          <a:effectLst/>
                        </a:rPr>
                      </a:br>
                      <a:r>
                        <a:rPr lang="ru-RU" sz="1600" kern="1200" dirty="0">
                          <a:effectLst/>
                        </a:rPr>
                        <a:t>и ограничитель ссылочной целостности </a:t>
                      </a:r>
                      <a:br>
                        <a:rPr lang="ru-RU" sz="1600" kern="1200" dirty="0">
                          <a:effectLst/>
                        </a:rPr>
                      </a:br>
                      <a:r>
                        <a:rPr lang="ru-RU" sz="1600" kern="1200" dirty="0">
                          <a:effectLst/>
                        </a:rPr>
                        <a:t>(</a:t>
                      </a:r>
                      <a:r>
                        <a:rPr lang="en-US" sz="1600" kern="1200" dirty="0">
                          <a:effectLst/>
                        </a:rPr>
                        <a:t>foreign key with referential integrity con</a:t>
                      </a:r>
                      <a:r>
                        <a:rPr lang="ru-RU" sz="1600" kern="1200" dirty="0" err="1">
                          <a:effectLst/>
                        </a:rPr>
                        <a:t>straint</a:t>
                      </a:r>
                      <a:r>
                        <a:rPr lang="ru-RU" sz="1600" kern="1200" dirty="0">
                          <a:effectLst/>
                        </a:rPr>
                        <a:t>)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630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Связь – множественная ассоциация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Дополнительная таблица с ссылками на ассоциированные таблицы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34293" marB="3429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9426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9AAD98-8E50-418F-B6E0-E4E8E8F3497A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35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Множественная ассоциация (ссылка)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0" y="1509713"/>
            <a:ext cx="7777163" cy="893762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 dirty="0"/>
              <a:t>Множественная ассоциация реализуется с помощью </a:t>
            </a:r>
            <a:r>
              <a:rPr lang="ru-RU" b="1" dirty="0"/>
              <a:t>специальной дополнительной таблицы</a:t>
            </a:r>
            <a:r>
              <a:rPr lang="ru-RU" dirty="0"/>
              <a:t>, в которую мигрируют ключи из ассоциированных таблиц. </a:t>
            </a:r>
          </a:p>
          <a:p>
            <a:pPr>
              <a:defRPr/>
            </a:pPr>
            <a:r>
              <a:rPr lang="ru-RU" u="sng" dirty="0"/>
              <a:t>Все поля дополнительной таблицы являются </a:t>
            </a:r>
            <a:r>
              <a:rPr lang="ru-RU" u="sng" dirty="0" err="1"/>
              <a:t>еѐ</a:t>
            </a:r>
            <a:r>
              <a:rPr lang="ru-RU" u="sng" dirty="0"/>
              <a:t> первичным ключом</a:t>
            </a:r>
            <a:endParaRPr lang="ru-RU" dirty="0"/>
          </a:p>
        </p:txBody>
      </p:sp>
      <p:sp>
        <p:nvSpPr>
          <p:cNvPr id="6042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94CD23-6616-431D-9836-0EA6E7EAED4C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60421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38" y="2565400"/>
            <a:ext cx="5759450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523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Пример схемы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16688" y="1484313"/>
            <a:ext cx="2247900" cy="2909887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ru-RU" u="sng" dirty="0"/>
              <a:t>порядок следования полей в первичном ключе очень важен</a:t>
            </a:r>
            <a:r>
              <a:rPr lang="ru-RU" dirty="0"/>
              <a:t>; </a:t>
            </a:r>
          </a:p>
          <a:p>
            <a:pPr>
              <a:defRPr/>
            </a:pPr>
            <a:r>
              <a:rPr lang="ru-RU" dirty="0"/>
              <a:t>этому порядку должен соответствовать </a:t>
            </a:r>
            <a:r>
              <a:rPr lang="ru-RU" u="sng" dirty="0"/>
              <a:t>порядок следования мигрирующий полей</a:t>
            </a:r>
            <a:endParaRPr lang="ru-RU" dirty="0"/>
          </a:p>
        </p:txBody>
      </p:sp>
      <p:sp>
        <p:nvSpPr>
          <p:cNvPr id="6144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B59335-EC1E-4A6F-A6BB-2F8471DB8FB7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6144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254125"/>
            <a:ext cx="6264275" cy="547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491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«Диалекты» </a:t>
            </a:r>
            <a:r>
              <a:rPr lang="ru-RU" dirty="0" err="1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постреляционных</a:t>
            </a:r>
            <a:r>
              <a:rPr lang="ru-RU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СУБД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2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Особенности СУБД</a:t>
            </a:r>
            <a:br>
              <a:rPr lang="ru-RU" dirty="0" smtClean="0"/>
            </a:br>
            <a:r>
              <a:rPr lang="ru-RU" sz="1800" dirty="0"/>
              <a:t>как области информационных технологий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8000" y="1341438"/>
            <a:ext cx="7664450" cy="5400675"/>
          </a:xfrm>
        </p:spPr>
        <p:txBody>
          <a:bodyPr>
            <a:normAutofit fontScale="92500"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 smtClean="0"/>
              <a:t>Терминологические различия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Маркетинговое влияние (</a:t>
            </a:r>
            <a:r>
              <a:rPr lang="en-GB" dirty="0" err="1"/>
              <a:t>NoSQL</a:t>
            </a:r>
            <a:r>
              <a:rPr lang="en-GB" dirty="0"/>
              <a:t>)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Разные </a:t>
            </a:r>
            <a:r>
              <a:rPr lang="ru-RU" dirty="0"/>
              <a:t>термины </a:t>
            </a:r>
            <a:r>
              <a:rPr lang="ru-RU" dirty="0" smtClean="0"/>
              <a:t>для одного явления </a:t>
            </a:r>
            <a:br>
              <a:rPr lang="ru-RU" dirty="0" smtClean="0"/>
            </a:br>
            <a:r>
              <a:rPr lang="ru-RU" dirty="0" smtClean="0"/>
              <a:t>(реляционные</a:t>
            </a:r>
            <a:r>
              <a:rPr lang="ru-RU" dirty="0"/>
              <a:t>, пост-реляционные, </a:t>
            </a:r>
            <a:r>
              <a:rPr lang="ru-RU" dirty="0" smtClean="0"/>
              <a:t>объектно-реляционные СУБД)</a:t>
            </a:r>
            <a:endParaRPr lang="ru-RU" dirty="0"/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Разные диалекты </a:t>
            </a:r>
            <a:r>
              <a:rPr lang="en-GB" dirty="0" smtClean="0"/>
              <a:t>SQL</a:t>
            </a:r>
            <a:endParaRPr lang="en-US" dirty="0" smtClean="0"/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Внутреннее толкование терминов (наследование)</a:t>
            </a:r>
          </a:p>
          <a:p>
            <a:pPr>
              <a:spcBef>
                <a:spcPts val="1200"/>
              </a:spcBef>
              <a:defRPr/>
            </a:pPr>
            <a:r>
              <a:rPr lang="ru-RU" dirty="0" smtClean="0"/>
              <a:t>Архитектурная схожесть</a:t>
            </a:r>
            <a:r>
              <a:rPr lang="en-US" dirty="0" smtClean="0"/>
              <a:t> (</a:t>
            </a:r>
            <a:r>
              <a:rPr lang="ru-RU" dirty="0" smtClean="0"/>
              <a:t>вне зависимости от терминологии)</a:t>
            </a:r>
            <a:endParaRPr lang="en-US" dirty="0" smtClean="0"/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Общий набор подходов к хранению (строки / агрегаты, хранение по столбцам; понятие и реальное применение </a:t>
            </a:r>
            <a:r>
              <a:rPr lang="en-GB" dirty="0" smtClean="0"/>
              <a:t>extent</a:t>
            </a:r>
            <a:r>
              <a:rPr lang="ru-RU" dirty="0" smtClean="0"/>
              <a:t>-а)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Общие принципы манипулирования данными (соединения и планы запросов, стандарт запросов </a:t>
            </a:r>
            <a:r>
              <a:rPr lang="en-GB" dirty="0" smtClean="0"/>
              <a:t>SQL</a:t>
            </a:r>
            <a:r>
              <a:rPr lang="ru-RU" dirty="0" smtClean="0"/>
              <a:t>)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Общие структуры быстрого доступа (инвертированные списки, </a:t>
            </a:r>
            <a:r>
              <a:rPr lang="en-GB" dirty="0" smtClean="0"/>
              <a:t>B+</a:t>
            </a:r>
            <a:r>
              <a:rPr lang="en-US" dirty="0" smtClean="0"/>
              <a:t> </a:t>
            </a:r>
            <a:r>
              <a:rPr lang="ru-RU" dirty="0" smtClean="0"/>
              <a:t>деревья, доступ по </a:t>
            </a:r>
            <a:r>
              <a:rPr lang="ru-RU" dirty="0" err="1" smtClean="0"/>
              <a:t>хэш</a:t>
            </a:r>
            <a:r>
              <a:rPr lang="ru-RU" dirty="0" smtClean="0"/>
              <a:t>)</a:t>
            </a:r>
            <a:endParaRPr lang="en-US" dirty="0" smtClean="0"/>
          </a:p>
          <a:p>
            <a:pPr lvl="1">
              <a:spcBef>
                <a:spcPts val="1200"/>
              </a:spcBef>
              <a:defRPr/>
            </a:pPr>
            <a:r>
              <a:rPr lang="en-US" dirty="0" smtClean="0"/>
              <a:t>…</a:t>
            </a:r>
            <a:endParaRPr lang="ru-RU" dirty="0"/>
          </a:p>
        </p:txBody>
      </p:sp>
      <p:sp>
        <p:nvSpPr>
          <p:cNvPr id="63492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F3D1FCBE-E7F9-46A0-BA93-9EF32A7160EE}" type="slidenum">
              <a:rPr lang="ru-RU" altLang="ru-RU">
                <a:solidFill>
                  <a:schemeClr val="bg1"/>
                </a:solidFill>
              </a:rPr>
              <a:pPr/>
              <a:t>62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42000" y="981075"/>
            <a:ext cx="3095625" cy="14763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dirty="0"/>
              <a:t>Примеры : 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/>
              <a:t>Понятие и реализация наследования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/>
              <a:t>Приоритеты операций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/>
              <a:t>Понятие «экстента»</a:t>
            </a:r>
          </a:p>
        </p:txBody>
      </p:sp>
    </p:spTree>
    <p:extLst>
      <p:ext uri="{BB962C8B-B14F-4D97-AF65-F5344CB8AC3E}">
        <p14:creationId xmlns:p14="http://schemas.microsoft.com/office/powerpoint/2010/main" val="34312270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Наследование</a:t>
            </a:r>
            <a:br>
              <a:rPr lang="ru-RU" dirty="0"/>
            </a:br>
            <a:r>
              <a:rPr lang="ru-RU" dirty="0"/>
              <a:t>на примере </a:t>
            </a:r>
            <a:r>
              <a:rPr lang="en-GB" dirty="0" err="1"/>
              <a:t>PosgreSQL</a:t>
            </a:r>
            <a:endParaRPr lang="ru-RU" dirty="0"/>
          </a:p>
        </p:txBody>
      </p:sp>
      <p:sp>
        <p:nvSpPr>
          <p:cNvPr id="65539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C15CF337-2DCF-409B-A9E4-E20BF8FCEB79}" type="slidenum">
              <a:rPr lang="ru-RU" altLang="ru-RU">
                <a:solidFill>
                  <a:schemeClr val="bg1"/>
                </a:solidFill>
              </a:rPr>
              <a:pPr/>
              <a:t>63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65540" name="Объект 2"/>
          <p:cNvSpPr txBox="1">
            <a:spLocks/>
          </p:cNvSpPr>
          <p:nvPr/>
        </p:nvSpPr>
        <p:spPr bwMode="auto">
          <a:xfrm>
            <a:off x="347663" y="1628775"/>
            <a:ext cx="461010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/>
              <a:t>Наследование в ООП</a:t>
            </a:r>
          </a:p>
          <a:p>
            <a:r>
              <a:rPr lang="ru-RU" altLang="ru-RU"/>
              <a:t>Наследование в концептуальном моделировании</a:t>
            </a:r>
          </a:p>
          <a:p>
            <a:r>
              <a:rPr lang="ru-RU" altLang="ru-RU"/>
              <a:t>Наследование в СУБД?</a:t>
            </a:r>
          </a:p>
        </p:txBody>
      </p:sp>
      <p:pic>
        <p:nvPicPr>
          <p:cNvPr id="65541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207494"/>
            <a:ext cx="2203450" cy="331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2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3249613"/>
            <a:ext cx="20574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трелка вправо 7"/>
          <p:cNvSpPr/>
          <p:nvPr/>
        </p:nvSpPr>
        <p:spPr>
          <a:xfrm>
            <a:off x="3254375" y="5141069"/>
            <a:ext cx="954088" cy="317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5544" name="TextBox 8"/>
          <p:cNvSpPr txBox="1">
            <a:spLocks noChangeArrowheads="1"/>
          </p:cNvSpPr>
          <p:nvPr/>
        </p:nvSpPr>
        <p:spPr bwMode="auto">
          <a:xfrm>
            <a:off x="3387725" y="3905994"/>
            <a:ext cx="698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sz="7200" dirty="0"/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5600" y="1484313"/>
            <a:ext cx="3529013" cy="16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1400" b="1" dirty="0"/>
              <a:t>Почему </a:t>
            </a:r>
            <a:r>
              <a:rPr lang="en-GB" sz="1400" b="1" dirty="0" err="1"/>
              <a:t>PosgreSQL</a:t>
            </a:r>
            <a:r>
              <a:rPr lang="ru-RU" sz="1400" b="1" dirty="0"/>
              <a:t>?</a:t>
            </a:r>
          </a:p>
          <a:p>
            <a:pPr marL="214313" indent="-214313">
              <a:buFontTx/>
              <a:buChar char="-"/>
              <a:defRPr/>
            </a:pPr>
            <a:r>
              <a:rPr lang="ru-RU" sz="1400" dirty="0"/>
              <a:t>своя интерпретация термина</a:t>
            </a:r>
          </a:p>
          <a:p>
            <a:pPr>
              <a:defRPr/>
            </a:pPr>
            <a:r>
              <a:rPr lang="en-GB" sz="1400" dirty="0"/>
              <a:t>    </a:t>
            </a:r>
            <a:r>
              <a:rPr lang="ru-RU" sz="1400" dirty="0"/>
              <a:t>отличие от стандартов (</a:t>
            </a:r>
            <a:r>
              <a:rPr lang="en-GB" sz="1400" dirty="0"/>
              <a:t>ER,SQL)</a:t>
            </a:r>
            <a:endParaRPr lang="ru-RU" sz="1400" dirty="0"/>
          </a:p>
          <a:p>
            <a:pPr marL="214313" indent="-214313">
              <a:buFontTx/>
              <a:buChar char="-"/>
              <a:defRPr/>
            </a:pPr>
            <a:r>
              <a:rPr lang="ru-RU" sz="1400" dirty="0"/>
              <a:t>законченное решение, но:</a:t>
            </a:r>
            <a:endParaRPr lang="en-GB" sz="1400" dirty="0"/>
          </a:p>
          <a:p>
            <a:pPr>
              <a:defRPr/>
            </a:pPr>
            <a:r>
              <a:rPr lang="en-GB" sz="1400" dirty="0"/>
              <a:t>    </a:t>
            </a:r>
            <a:r>
              <a:rPr lang="ru-RU" sz="1400" dirty="0"/>
              <a:t>непредсказуемое поведение;</a:t>
            </a:r>
          </a:p>
          <a:p>
            <a:pPr>
              <a:defRPr/>
            </a:pPr>
            <a:r>
              <a:rPr lang="ru-RU" sz="1400" dirty="0"/>
              <a:t>    ? производительность:</a:t>
            </a:r>
          </a:p>
          <a:p>
            <a:pPr>
              <a:defRPr/>
            </a:pPr>
            <a:r>
              <a:rPr lang="ru-RU" sz="1400" dirty="0"/>
              <a:t>    что происходит на самом деле?</a:t>
            </a:r>
          </a:p>
        </p:txBody>
      </p:sp>
    </p:spTree>
    <p:extLst>
      <p:ext uri="{BB962C8B-B14F-4D97-AF65-F5344CB8AC3E}">
        <p14:creationId xmlns:p14="http://schemas.microsoft.com/office/powerpoint/2010/main" val="11195367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Объявление иерархии</a:t>
            </a:r>
            <a:endParaRPr lang="ru-RU" dirty="0"/>
          </a:p>
        </p:txBody>
      </p:sp>
      <p:sp>
        <p:nvSpPr>
          <p:cNvPr id="66563" name="Объект 2"/>
          <p:cNvSpPr>
            <a:spLocks noGrp="1"/>
          </p:cNvSpPr>
          <p:nvPr>
            <p:ph idx="1"/>
          </p:nvPr>
        </p:nvSpPr>
        <p:spPr>
          <a:xfrm>
            <a:off x="250825" y="1268413"/>
            <a:ext cx="8497888" cy="3168650"/>
          </a:xfrm>
        </p:spPr>
        <p:txBody>
          <a:bodyPr anchor="t"/>
          <a:lstStyle/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GB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en-GB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altLang="ru-RU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ru-RU" altLang="ru-RU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ru-RU" sz="16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  text,</a:t>
            </a:r>
            <a:endParaRPr lang="ru-RU" altLang="ru-RU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ru-RU" sz="16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population</a:t>
            </a:r>
            <a:r>
              <a:rPr lang="ru-RU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ru-RU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ru-RU" sz="16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altitude</a:t>
            </a:r>
            <a:r>
              <a:rPr lang="ru-RU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  -- высота над уровнем моря в метрах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U" altLang="ru-RU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ru-RU" altLang="ru-RU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TABLE Capital (</a:t>
            </a:r>
            <a:endParaRPr lang="ru-RU" altLang="ru-RU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ru-RU" sz="16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en-US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char(2)</a:t>
            </a:r>
            <a:endParaRPr lang="ru-RU" altLang="ru-RU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ru-RU" altLang="ru-RU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ru-RU" sz="1600" b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INHERITS</a:t>
            </a:r>
            <a:r>
              <a:rPr lang="ru-RU" altLang="ru-RU" sz="1600" b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ru-RU" sz="1600" b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cities</a:t>
            </a:r>
            <a:r>
              <a:rPr lang="ru-RU" altLang="ru-RU" sz="1600" b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altLang="ru-RU" sz="160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endParaRPr lang="ru-RU" altLang="ru-RU" sz="1600" smtClean="0"/>
          </a:p>
        </p:txBody>
      </p:sp>
      <p:sp>
        <p:nvSpPr>
          <p:cNvPr id="66564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8429BEF6-FAA1-4C49-8059-659C928C8CA9}" type="slidenum">
              <a:rPr lang="ru-RU" altLang="ru-RU">
                <a:solidFill>
                  <a:schemeClr val="bg1"/>
                </a:solidFill>
              </a:rPr>
              <a:pPr/>
              <a:t>64</a:t>
            </a:fld>
            <a:endParaRPr lang="ru-RU" altLang="ru-RU">
              <a:solidFill>
                <a:schemeClr val="bg1"/>
              </a:solidFill>
            </a:endParaRPr>
          </a:p>
        </p:txBody>
      </p:sp>
      <p:grpSp>
        <p:nvGrpSpPr>
          <p:cNvPr id="66565" name="Группа 4"/>
          <p:cNvGrpSpPr>
            <a:grpSpLocks/>
          </p:cNvGrpSpPr>
          <p:nvPr/>
        </p:nvGrpSpPr>
        <p:grpSpPr bwMode="auto">
          <a:xfrm>
            <a:off x="1295317" y="5111553"/>
            <a:ext cx="3019425" cy="1273175"/>
            <a:chOff x="1135356" y="3653562"/>
            <a:chExt cx="4025457" cy="1697148"/>
          </a:xfrm>
        </p:grpSpPr>
        <p:pic>
          <p:nvPicPr>
            <p:cNvPr id="66573" name="Рисунок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356" y="3653562"/>
              <a:ext cx="4025457" cy="1697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3734337" y="4935946"/>
              <a:ext cx="698423" cy="338583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sz="1050" dirty="0">
                  <a:latin typeface="Arial Narrow" panose="020B0606020202030204" pitchFamily="34" charset="0"/>
                </a:rPr>
                <a:t>state</a:t>
              </a:r>
              <a:endParaRPr lang="ru-RU" sz="1050" dirty="0">
                <a:latin typeface="Arial Narrow" panose="020B0606020202030204" pitchFamily="34" charset="0"/>
              </a:endParaRPr>
            </a:p>
          </p:txBody>
        </p:sp>
      </p:grpSp>
      <p:sp>
        <p:nvSpPr>
          <p:cNvPr id="8" name="Прямоугольник 7"/>
          <p:cNvSpPr/>
          <p:nvPr/>
        </p:nvSpPr>
        <p:spPr>
          <a:xfrm>
            <a:off x="1042905" y="4909940"/>
            <a:ext cx="3565525" cy="17414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66567" name="Рисунок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984481"/>
            <a:ext cx="1092820" cy="1614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6568" name="Группа 9"/>
          <p:cNvGrpSpPr>
            <a:grpSpLocks/>
          </p:cNvGrpSpPr>
          <p:nvPr/>
        </p:nvGrpSpPr>
        <p:grpSpPr bwMode="auto">
          <a:xfrm>
            <a:off x="6696075" y="3857625"/>
            <a:ext cx="1887538" cy="2752725"/>
            <a:chOff x="1239371" y="2873705"/>
            <a:chExt cx="2516440" cy="3670852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1239371" y="2873705"/>
              <a:ext cx="2516440" cy="3670852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pic>
          <p:nvPicPr>
            <p:cNvPr id="66572" name="Рисунок 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2713" y="3122661"/>
              <a:ext cx="1849755" cy="3029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3" name="Прямая со стрелкой 12"/>
          <p:cNvCxnSpPr/>
          <p:nvPr/>
        </p:nvCxnSpPr>
        <p:spPr>
          <a:xfrm flipH="1">
            <a:off x="3541713" y="3881438"/>
            <a:ext cx="954087" cy="460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5413375" y="3829050"/>
            <a:ext cx="1147763" cy="565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628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Как рассматривать таблицы</a:t>
            </a:r>
            <a:endParaRPr lang="ru-RU" dirty="0"/>
          </a:p>
        </p:txBody>
      </p:sp>
      <p:sp>
        <p:nvSpPr>
          <p:cNvPr id="67587" name="Текст 5"/>
          <p:cNvSpPr>
            <a:spLocks noGrp="1"/>
          </p:cNvSpPr>
          <p:nvPr>
            <p:ph type="body" idx="1"/>
          </p:nvPr>
        </p:nvSpPr>
        <p:spPr>
          <a:xfrm>
            <a:off x="5380038" y="1295400"/>
            <a:ext cx="3138487" cy="622300"/>
          </a:xfrm>
        </p:spPr>
        <p:txBody>
          <a:bodyPr/>
          <a:lstStyle/>
          <a:p>
            <a:r>
              <a:rPr lang="ru-RU" altLang="ru-RU" smtClean="0"/>
              <a:t>Связанно (схема 2)</a:t>
            </a:r>
          </a:p>
        </p:txBody>
      </p:sp>
      <p:sp>
        <p:nvSpPr>
          <p:cNvPr id="67588" name="Объект 6"/>
          <p:cNvSpPr>
            <a:spLocks noGrp="1"/>
          </p:cNvSpPr>
          <p:nvPr>
            <p:ph sz="half" idx="2"/>
          </p:nvPr>
        </p:nvSpPr>
        <p:spPr>
          <a:xfrm>
            <a:off x="396875" y="2270125"/>
            <a:ext cx="3598863" cy="3997325"/>
          </a:xfrm>
        </p:spPr>
        <p:txBody>
          <a:bodyPr anchor="t"/>
          <a:lstStyle/>
          <a:p>
            <a:r>
              <a:rPr lang="ru-RU" altLang="ru-RU" sz="1800" smtClean="0"/>
              <a:t>Разделение таблиц при выборке данных;</a:t>
            </a:r>
          </a:p>
          <a:p>
            <a:r>
              <a:rPr lang="ru-RU" altLang="ru-RU" sz="1800" smtClean="0"/>
              <a:t>Возможность </a:t>
            </a:r>
            <a:r>
              <a:rPr lang="ru-RU" altLang="ru-RU" sz="1800" b="1" i="1" smtClean="0"/>
              <a:t>явного</a:t>
            </a:r>
            <a:r>
              <a:rPr lang="ru-RU" altLang="ru-RU" sz="1800" smtClean="0"/>
              <a:t> обращения к источнику данных;</a:t>
            </a:r>
          </a:p>
          <a:p>
            <a:r>
              <a:rPr lang="ru-RU" altLang="ru-RU" sz="1800" smtClean="0"/>
              <a:t>Возможность определения наследования над существующими таблицами;</a:t>
            </a:r>
          </a:p>
          <a:p>
            <a:endParaRPr lang="ru-RU" altLang="ru-RU" sz="1800" smtClean="0"/>
          </a:p>
        </p:txBody>
      </p:sp>
      <p:sp>
        <p:nvSpPr>
          <p:cNvPr id="67589" name="Текст 7"/>
          <p:cNvSpPr>
            <a:spLocks noGrp="1"/>
          </p:cNvSpPr>
          <p:nvPr>
            <p:ph type="body" sz="quarter" idx="3"/>
          </p:nvPr>
        </p:nvSpPr>
        <p:spPr>
          <a:xfrm>
            <a:off x="539750" y="1482725"/>
            <a:ext cx="3678238" cy="431800"/>
          </a:xfrm>
        </p:spPr>
        <p:txBody>
          <a:bodyPr>
            <a:normAutofit lnSpcReduction="10000"/>
          </a:bodyPr>
          <a:lstStyle/>
          <a:p>
            <a:r>
              <a:rPr lang="ru-RU" altLang="ru-RU" smtClean="0"/>
              <a:t>Раздельно (схема 1)</a:t>
            </a:r>
          </a:p>
        </p:txBody>
      </p:sp>
      <p:sp>
        <p:nvSpPr>
          <p:cNvPr id="67590" name="Объект 8"/>
          <p:cNvSpPr>
            <a:spLocks noGrp="1"/>
          </p:cNvSpPr>
          <p:nvPr>
            <p:ph sz="quarter" idx="4"/>
          </p:nvPr>
        </p:nvSpPr>
        <p:spPr>
          <a:xfrm>
            <a:off x="4691063" y="2206625"/>
            <a:ext cx="4257675" cy="410368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ru-RU" altLang="ru-RU" sz="1800" smtClean="0"/>
              <a:t>Родительскую таблицу нельзя удалить, пока существуют унаследованные от неё. </a:t>
            </a:r>
          </a:p>
          <a:p>
            <a:pPr>
              <a:spcBef>
                <a:spcPts val="1200"/>
              </a:spcBef>
            </a:pPr>
            <a:r>
              <a:rPr lang="ru-RU" altLang="ru-RU" sz="1800" smtClean="0"/>
              <a:t>В дочерних таблицах нельзя удалять или модифицировать столбцы или ограничения-проверки, унаследованные от родительских таблиц. </a:t>
            </a:r>
          </a:p>
          <a:p>
            <a:pPr>
              <a:spcBef>
                <a:spcPts val="1200"/>
              </a:spcBef>
            </a:pPr>
            <a:r>
              <a:rPr lang="ru-RU" altLang="ru-RU" sz="1800" smtClean="0"/>
              <a:t>Особенности разграничения прав доступа.</a:t>
            </a:r>
          </a:p>
          <a:p>
            <a:pPr>
              <a:spcBef>
                <a:spcPts val="1200"/>
              </a:spcBef>
            </a:pPr>
            <a:r>
              <a:rPr lang="ru-RU" altLang="ru-RU" sz="1800" smtClean="0"/>
              <a:t>Особенности вставки данных в таблицы.</a:t>
            </a:r>
          </a:p>
          <a:p>
            <a:pPr>
              <a:spcBef>
                <a:spcPts val="1200"/>
              </a:spcBef>
            </a:pPr>
            <a:endParaRPr lang="ru-RU" altLang="ru-RU" sz="1800" smtClean="0"/>
          </a:p>
        </p:txBody>
      </p:sp>
      <p:sp>
        <p:nvSpPr>
          <p:cNvPr id="67591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DD9DB70F-F208-4BDC-A95A-42C2A453AD03}" type="slidenum">
              <a:rPr lang="ru-RU" altLang="ru-RU">
                <a:solidFill>
                  <a:schemeClr val="bg1"/>
                </a:solidFill>
              </a:rPr>
              <a:pPr/>
              <a:t>65</a:t>
            </a:fld>
            <a:endParaRPr lang="ru-RU" alt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8087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Правила выборки данных</a:t>
            </a:r>
          </a:p>
        </p:txBody>
      </p:sp>
      <p:sp>
        <p:nvSpPr>
          <p:cNvPr id="68611" name="Объект 2"/>
          <p:cNvSpPr>
            <a:spLocks noGrp="1"/>
          </p:cNvSpPr>
          <p:nvPr>
            <p:ph idx="1"/>
          </p:nvPr>
        </p:nvSpPr>
        <p:spPr>
          <a:xfrm>
            <a:off x="508000" y="1455738"/>
            <a:ext cx="6446838" cy="993775"/>
          </a:xfrm>
        </p:spPr>
        <p:txBody>
          <a:bodyPr>
            <a:normAutofit lnSpcReduction="10000"/>
          </a:bodyPr>
          <a:lstStyle/>
          <a:p>
            <a:r>
              <a:rPr lang="ru-RU" altLang="ru-RU" smtClean="0"/>
              <a:t>запросы могут выбирать:</a:t>
            </a:r>
          </a:p>
          <a:p>
            <a:pPr lvl="1"/>
            <a:r>
              <a:rPr lang="ru-RU" altLang="ru-RU" smtClean="0"/>
              <a:t>все строки родительской таблицы;</a:t>
            </a:r>
          </a:p>
          <a:p>
            <a:pPr lvl="1"/>
            <a:r>
              <a:rPr lang="ru-RU" altLang="ru-RU" u="sng" smtClean="0"/>
              <a:t>все строки родительской и всех дочерних таблиц.</a:t>
            </a:r>
          </a:p>
          <a:p>
            <a:endParaRPr lang="ru-RU" altLang="ru-RU" smtClean="0"/>
          </a:p>
        </p:txBody>
      </p:sp>
      <p:sp>
        <p:nvSpPr>
          <p:cNvPr id="68612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55ADE3C0-695F-49A9-B235-A24D3E51D437}" type="slidenum">
              <a:rPr lang="ru-RU" altLang="ru-RU">
                <a:solidFill>
                  <a:schemeClr val="bg1"/>
                </a:solidFill>
              </a:rPr>
              <a:pPr/>
              <a:t>66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68613" name="TextBox 4"/>
          <p:cNvSpPr txBox="1">
            <a:spLocks noChangeArrowheads="1"/>
          </p:cNvSpPr>
          <p:nvPr/>
        </p:nvSpPr>
        <p:spPr bwMode="auto">
          <a:xfrm>
            <a:off x="7265988" y="968375"/>
            <a:ext cx="17494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b="1" i="1">
                <a:solidFill>
                  <a:schemeClr val="bg1"/>
                </a:solidFill>
              </a:rPr>
              <a:t>Когда таблицы рассматриваются отдельно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95288" y="2565400"/>
          <a:ext cx="8096250" cy="38703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7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18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Объект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427" marR="37427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Запрос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427" marR="37427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Результат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427" marR="3742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4429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Родительская и дочерняя таблица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427" marR="37427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name, altitude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FROM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Сit</a:t>
                      </a:r>
                      <a:r>
                        <a:rPr lang="en-GB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WHERE altitude &gt; 500;</a:t>
                      </a:r>
                      <a:endParaRPr lang="ru-RU" sz="14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37427" marR="37427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name    | altitude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-----------+----------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Las Vegas |     2174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Mariposa  |     1953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Madison   |      </a:t>
                      </a:r>
                      <a:r>
                        <a:rPr lang="en-US" sz="1100" b="1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845</a:t>
                      </a:r>
                      <a:endParaRPr lang="ru-RU" sz="1100" b="1" dirty="0" smtClean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rgbClr val="595959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37427" marR="3742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5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Только родительская таблица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427" marR="37427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name, altitude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FROM </a:t>
                      </a:r>
                      <a:r>
                        <a:rPr lang="en-US" sz="14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ONLY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Сit</a:t>
                      </a:r>
                      <a:r>
                        <a:rPr lang="en-GB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WHERE altitude &gt; 500;</a:t>
                      </a:r>
                      <a:endParaRPr lang="ru-RU" sz="14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37427" marR="37427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name    | altitude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-----------+----------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Las Vegas |     2174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Mariposa  |     </a:t>
                      </a:r>
                      <a:r>
                        <a:rPr lang="en-US" sz="110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1953</a:t>
                      </a:r>
                      <a:endParaRPr lang="ru-RU" sz="1100" dirty="0" smtClean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rgbClr val="595959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37427" marR="3742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35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Родительская и дочерняя таблица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427" marR="37427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name, altitude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FROM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Сit</a:t>
                      </a:r>
                      <a:r>
                        <a:rPr lang="en-GB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sz="14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  <a:endParaRPr lang="ru-RU" sz="14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WHERE altitude &gt; 500;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14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37427" marR="37427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name    | altitude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-----------+----------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Las Vegas |     2174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Mariposa  |     1953</a:t>
                      </a:r>
                      <a:endParaRPr lang="ru-RU" sz="11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Madison   |      845</a:t>
                      </a:r>
                      <a:endParaRPr lang="ru-RU" sz="1100" b="1" dirty="0">
                        <a:solidFill>
                          <a:srgbClr val="595959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37427" marR="3742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9611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Явное указание источника данных</a:t>
            </a:r>
            <a:endParaRPr lang="ru-RU" dirty="0"/>
          </a:p>
        </p:txBody>
      </p:sp>
      <p:sp>
        <p:nvSpPr>
          <p:cNvPr id="69635" name="Объект 2"/>
          <p:cNvSpPr>
            <a:spLocks noGrp="1"/>
          </p:cNvSpPr>
          <p:nvPr>
            <p:ph idx="1"/>
          </p:nvPr>
        </p:nvSpPr>
        <p:spPr>
          <a:xfrm>
            <a:off x="498475" y="1466850"/>
            <a:ext cx="6446838" cy="993775"/>
          </a:xfrm>
        </p:spPr>
        <p:txBody>
          <a:bodyPr>
            <a:normAutofit lnSpcReduction="10000"/>
          </a:bodyPr>
          <a:lstStyle/>
          <a:p>
            <a:r>
              <a:rPr lang="ru-RU" altLang="ru-RU" smtClean="0"/>
              <a:t>запросы могут выбирать:</a:t>
            </a:r>
          </a:p>
          <a:p>
            <a:pPr lvl="1"/>
            <a:r>
              <a:rPr lang="ru-RU" altLang="ru-RU" smtClean="0"/>
              <a:t>все строки родительской таблицы;</a:t>
            </a:r>
          </a:p>
          <a:p>
            <a:pPr lvl="1"/>
            <a:r>
              <a:rPr lang="ru-RU" altLang="ru-RU" u="sng" smtClean="0"/>
              <a:t>все строки родительской и всех дочерних таблиц.</a:t>
            </a:r>
          </a:p>
          <a:p>
            <a:endParaRPr lang="ru-RU" altLang="ru-RU" smtClean="0"/>
          </a:p>
        </p:txBody>
      </p:sp>
      <p:sp>
        <p:nvSpPr>
          <p:cNvPr id="69636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2CD8020F-3301-444D-A994-B571AB3735C4}" type="slidenum">
              <a:rPr lang="ru-RU" altLang="ru-RU">
                <a:solidFill>
                  <a:schemeClr val="bg1"/>
                </a:solidFill>
              </a:rPr>
              <a:pPr/>
              <a:t>67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69637" name="TextBox 4"/>
          <p:cNvSpPr txBox="1">
            <a:spLocks noChangeArrowheads="1"/>
          </p:cNvSpPr>
          <p:nvPr/>
        </p:nvSpPr>
        <p:spPr bwMode="auto">
          <a:xfrm>
            <a:off x="7265988" y="968375"/>
            <a:ext cx="17494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b="1" i="1">
                <a:solidFill>
                  <a:schemeClr val="bg1"/>
                </a:solidFill>
              </a:rPr>
              <a:t>Когда таблицы рассматриваются отдельно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23528" y="2459907"/>
          <a:ext cx="8568951" cy="35060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2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7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9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65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Источник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Запрос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Результат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118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Системный столбец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c.tableoid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c.name</a:t>
                      </a:r>
                      <a:r>
                        <a:rPr lang="en-US" sz="140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ru-RU" sz="1400" dirty="0" smtClean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c.altitude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Сit</a:t>
                      </a:r>
                      <a:r>
                        <a:rPr lang="en-GB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WHERE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c.altitude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&gt; 500;</a:t>
                      </a:r>
                      <a:endParaRPr lang="ru-RU" sz="14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tableoid</a:t>
                      </a: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 name    | altitude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----------+-----------+----------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139793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Las Vegas |     2174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139793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Mariposa  |     1953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13979</a:t>
                      </a:r>
                      <a:r>
                        <a:rPr lang="en-US" sz="14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Madison   |      </a:t>
                      </a:r>
                      <a:r>
                        <a:rPr lang="en-US" sz="140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845</a:t>
                      </a:r>
                      <a:endParaRPr lang="ru-RU" sz="1400" dirty="0" smtClean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solidFill>
                          <a:srgbClr val="595959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118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Системное отношение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p.relname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c.name</a:t>
                      </a:r>
                      <a:r>
                        <a:rPr lang="en-US" sz="140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ru-RU" sz="1400" dirty="0" smtClean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c.altitude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Сit</a:t>
                      </a:r>
                      <a:r>
                        <a:rPr lang="en-GB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c,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pg_class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WHERE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c.altitude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&gt; 500 </a:t>
                      </a:r>
                      <a:endParaRPr lang="ru-RU" sz="1400" dirty="0" smtClean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c.tableoid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p.oid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ru-RU" sz="14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relname</a:t>
                      </a: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|   name    | altitude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----------+-----------+----------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cities  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Las Vegas |     2174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cities  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Mariposa  |     1953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capitals</a:t>
                      </a: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Madison   |      845</a:t>
                      </a:r>
                      <a:endParaRPr lang="ru-RU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1400" dirty="0">
                        <a:solidFill>
                          <a:srgbClr val="595959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0339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Проверка прав доступа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7038" y="2133600"/>
            <a:ext cx="8393112" cy="4464050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ru-RU" dirty="0" smtClean="0"/>
              <a:t>Проверка прав доступа - </a:t>
            </a:r>
            <a:r>
              <a:rPr lang="ru-RU" b="1" dirty="0" smtClean="0"/>
              <a:t>только в родительской таблице</a:t>
            </a:r>
          </a:p>
          <a:p>
            <a:pPr marL="342900" lvl="1" indent="0">
              <a:buFont typeface="Arial" panose="020B0604020202020204" pitchFamily="34" charset="0"/>
              <a:buNone/>
              <a:defRPr/>
            </a:pPr>
            <a:r>
              <a:rPr lang="ru-RU" dirty="0" smtClean="0"/>
              <a:t>Пример:</a:t>
            </a:r>
          </a:p>
          <a:p>
            <a:pPr lvl="1">
              <a:defRPr/>
            </a:pPr>
            <a:r>
              <a:rPr lang="ru-RU" dirty="0" smtClean="0"/>
              <a:t>UPDATE </a:t>
            </a:r>
            <a:r>
              <a:rPr lang="ru-RU" dirty="0"/>
              <a:t>для </a:t>
            </a:r>
            <a:r>
              <a:rPr lang="ru-RU" dirty="0" smtClean="0"/>
              <a:t>cities </a:t>
            </a:r>
            <a:r>
              <a:rPr lang="ru-RU" b="1" i="1" dirty="0"/>
              <a:t>подразумевает</a:t>
            </a:r>
            <a:r>
              <a:rPr lang="ru-RU" dirty="0"/>
              <a:t> право на изменение строк также в таблице capitals,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i="1" dirty="0" smtClean="0"/>
              <a:t>когда </a:t>
            </a:r>
            <a:r>
              <a:rPr lang="ru-RU" i="1" dirty="0"/>
              <a:t>к ним происходит обращение через таблицу cities</a:t>
            </a:r>
            <a:r>
              <a:rPr lang="ru-RU" dirty="0"/>
              <a:t>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>
                <a:solidFill>
                  <a:schemeClr val="accent2"/>
                </a:solidFill>
              </a:rPr>
              <a:t>Но </a:t>
            </a:r>
            <a:r>
              <a:rPr lang="ru-RU" i="1" dirty="0">
                <a:solidFill>
                  <a:schemeClr val="accent2"/>
                </a:solidFill>
              </a:rPr>
              <a:t>изменить таблицу capitals напрямую без дополнительного разрешения нельзя</a:t>
            </a:r>
            <a:r>
              <a:rPr lang="ru-RU" dirty="0">
                <a:solidFill>
                  <a:schemeClr val="accent2"/>
                </a:solidFill>
              </a:rPr>
              <a:t>. </a:t>
            </a:r>
            <a:endParaRPr lang="ru-RU" dirty="0" smtClean="0">
              <a:solidFill>
                <a:schemeClr val="accent2"/>
              </a:solidFill>
            </a:endParaRPr>
          </a:p>
          <a:p>
            <a:pPr marL="342900" lvl="1" indent="0">
              <a:buFont typeface="Arial" panose="020B0604020202020204" pitchFamily="34" charset="0"/>
              <a:buNone/>
              <a:defRPr/>
            </a:pPr>
            <a:r>
              <a:rPr lang="ru-RU" dirty="0" smtClean="0"/>
              <a:t>Следствие:</a:t>
            </a:r>
          </a:p>
          <a:p>
            <a:pPr lvl="1">
              <a:defRPr/>
            </a:pPr>
            <a:r>
              <a:rPr lang="ru-RU" dirty="0"/>
              <a:t>Политики </a:t>
            </a:r>
            <a:r>
              <a:rPr lang="ru-RU" dirty="0" smtClean="0"/>
              <a:t>дочерних </a:t>
            </a:r>
            <a:r>
              <a:rPr lang="ru-RU" dirty="0"/>
              <a:t>таблиц, если они определены, действуют только когда такие таблицы </a:t>
            </a:r>
            <a:r>
              <a:rPr lang="ru-RU" b="1" i="1" dirty="0"/>
              <a:t>явно задействуются в </a:t>
            </a:r>
            <a:r>
              <a:rPr lang="ru-RU" b="1" i="1" dirty="0" smtClean="0"/>
              <a:t>запросе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(</a:t>
            </a:r>
            <a:r>
              <a:rPr lang="ru-RU" i="1" dirty="0" smtClean="0">
                <a:solidFill>
                  <a:srgbClr val="7030A0"/>
                </a:solidFill>
              </a:rPr>
              <a:t>тогда политики</a:t>
            </a:r>
            <a:r>
              <a:rPr lang="ru-RU" i="1" dirty="0">
                <a:solidFill>
                  <a:srgbClr val="7030A0"/>
                </a:solidFill>
              </a:rPr>
              <a:t>, связанные с родительскими таблицами, </a:t>
            </a:r>
            <a:r>
              <a:rPr lang="ru-RU" i="1" dirty="0" smtClean="0">
                <a:solidFill>
                  <a:srgbClr val="7030A0"/>
                </a:solidFill>
              </a:rPr>
              <a:t>игнорируются</a:t>
            </a:r>
            <a:r>
              <a:rPr lang="ru-RU" dirty="0" smtClean="0"/>
              <a:t>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  <p:sp>
        <p:nvSpPr>
          <p:cNvPr id="70660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738A05E7-B8A3-4B0C-9766-12CA6697FADF}" type="slidenum">
              <a:rPr lang="ru-RU" altLang="ru-RU">
                <a:solidFill>
                  <a:schemeClr val="bg1"/>
                </a:solidFill>
              </a:rPr>
              <a:pPr/>
              <a:t>68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27763" y="1341438"/>
            <a:ext cx="2271712" cy="6461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b="1" i="1" dirty="0">
                <a:solidFill>
                  <a:schemeClr val="bg1"/>
                </a:solidFill>
              </a:rPr>
              <a:t>Особенности толкования</a:t>
            </a:r>
          </a:p>
        </p:txBody>
      </p:sp>
    </p:spTree>
    <p:extLst>
      <p:ext uri="{BB962C8B-B14F-4D97-AF65-F5344CB8AC3E}">
        <p14:creationId xmlns:p14="http://schemas.microsoft.com/office/powerpoint/2010/main" val="9362983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Индексы и ограничения</a:t>
            </a:r>
            <a:endParaRPr lang="ru-RU" dirty="0"/>
          </a:p>
        </p:txBody>
      </p:sp>
      <p:sp>
        <p:nvSpPr>
          <p:cNvPr id="71683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8FD370FE-794E-4C2C-9E00-CCC4136F017E}" type="slidenum">
              <a:rPr lang="ru-RU" altLang="ru-RU">
                <a:solidFill>
                  <a:schemeClr val="bg1"/>
                </a:solidFill>
              </a:rPr>
              <a:pPr/>
              <a:t>69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71684" name="TextBox 12"/>
          <p:cNvSpPr txBox="1">
            <a:spLocks noChangeArrowheads="1"/>
          </p:cNvSpPr>
          <p:nvPr/>
        </p:nvSpPr>
        <p:spPr bwMode="auto">
          <a:xfrm>
            <a:off x="7265988" y="968375"/>
            <a:ext cx="17494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b="1" i="1">
                <a:solidFill>
                  <a:schemeClr val="bg1"/>
                </a:solidFill>
              </a:rPr>
              <a:t>Особенности толкования</a:t>
            </a:r>
          </a:p>
        </p:txBody>
      </p:sp>
      <p:sp>
        <p:nvSpPr>
          <p:cNvPr id="71685" name="Объект 4"/>
          <p:cNvSpPr>
            <a:spLocks noGrp="1"/>
          </p:cNvSpPr>
          <p:nvPr>
            <p:ph idx="1"/>
          </p:nvPr>
        </p:nvSpPr>
        <p:spPr>
          <a:xfrm>
            <a:off x="323850" y="1355725"/>
            <a:ext cx="8064500" cy="2909888"/>
          </a:xfrm>
        </p:spPr>
        <p:txBody>
          <a:bodyPr/>
          <a:lstStyle/>
          <a:p>
            <a:r>
              <a:rPr lang="ru-RU" altLang="ru-RU" smtClean="0"/>
              <a:t>Автоматически наследуются</a:t>
            </a:r>
          </a:p>
          <a:p>
            <a:pPr lvl="1"/>
            <a:r>
              <a:rPr lang="ru-RU" altLang="ru-RU" smtClean="0"/>
              <a:t>ограничения-проверки и </a:t>
            </a:r>
          </a:p>
          <a:p>
            <a:pPr lvl="1"/>
            <a:r>
              <a:rPr lang="ru-RU" altLang="ru-RU" smtClean="0"/>
              <a:t>ограничения NOT NULL </a:t>
            </a:r>
            <a:br>
              <a:rPr lang="ru-RU" altLang="ru-RU" smtClean="0"/>
            </a:br>
            <a:r>
              <a:rPr lang="ru-RU" altLang="ru-RU" smtClean="0"/>
              <a:t>(если только для них не задано явно NO INHERIT). </a:t>
            </a:r>
          </a:p>
          <a:p>
            <a:r>
              <a:rPr lang="ru-RU" altLang="ru-RU" smtClean="0"/>
              <a:t>НЕ наследуются</a:t>
            </a:r>
          </a:p>
          <a:p>
            <a:pPr lvl="1"/>
            <a:r>
              <a:rPr lang="ru-RU" altLang="ru-RU" smtClean="0"/>
              <a:t>Уникальность</a:t>
            </a:r>
          </a:p>
          <a:p>
            <a:pPr lvl="1"/>
            <a:r>
              <a:rPr lang="ru-RU" altLang="ru-RU" smtClean="0"/>
              <a:t>Первичные и внешние ключи</a:t>
            </a:r>
          </a:p>
          <a:p>
            <a:pPr lvl="1"/>
            <a:r>
              <a:rPr lang="ru-RU" altLang="ru-RU" b="1" u="sng" smtClean="0"/>
              <a:t>Индексы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991100" y="3213100"/>
            <a:ext cx="3683000" cy="831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indent="404813"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мы объявим </a:t>
            </a:r>
            <a:r>
              <a:rPr lang="ru-RU" altLang="ru-RU" sz="1600" b="1" i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Сitу.name</a:t>
            </a:r>
            <a: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ограничением UNIQUE </a:t>
            </a:r>
            <a:b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 PRIMARY KEY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47725" y="4710113"/>
            <a:ext cx="3270250" cy="17541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Сapital по умолчанию </a:t>
            </a:r>
            <a:r>
              <a:rPr lang="ru-RU" altLang="ru-RU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будет содержать ограничение уникальности</a:t>
            </a:r>
            <a:r>
              <a:rPr lang="ru-RU" altLang="ru-RU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ru-RU" altLang="ru-RU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 что в ней могут оказаться несколько строк с одним названием</a:t>
            </a:r>
            <a:r>
              <a:rPr lang="ru-RU" altLang="ru-RU" i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altLang="ru-RU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356100" y="4710113"/>
            <a:ext cx="4030663" cy="1816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pPr algn="just"/>
            <a: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altLang="ru-RU" sz="1600" b="1" i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помешает добавить</a:t>
            </a:r>
            <a: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таблицу capitals строки с названиями городов, уже существующими в таблице Сit</a:t>
            </a:r>
            <a:r>
              <a:rPr lang="en-GB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ru-RU" altLang="ru-RU" sz="16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altLang="ru-RU"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эти дублирующие строки по умолчанию будут выводиться в результате запросов к cities. </a:t>
            </a:r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2782888" y="4265613"/>
            <a:ext cx="1978025" cy="284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5745163" y="4265613"/>
            <a:ext cx="0" cy="365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5163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Переопределение таблиц</a:t>
            </a:r>
            <a:endParaRPr lang="ru-RU" dirty="0"/>
          </a:p>
        </p:txBody>
      </p:sp>
      <p:sp>
        <p:nvSpPr>
          <p:cNvPr id="72707" name="Объект 2"/>
          <p:cNvSpPr>
            <a:spLocks noGrp="1"/>
          </p:cNvSpPr>
          <p:nvPr>
            <p:ph idx="1"/>
          </p:nvPr>
        </p:nvSpPr>
        <p:spPr>
          <a:xfrm>
            <a:off x="468313" y="3489325"/>
            <a:ext cx="7848600" cy="2027238"/>
          </a:xfrm>
        </p:spPr>
        <p:txBody>
          <a:bodyPr/>
          <a:lstStyle/>
          <a:p>
            <a:r>
              <a:rPr lang="en-GB" altLang="ru-RU" sz="1800" smtClean="0"/>
              <a:t>ALTER TABLE –</a:t>
            </a:r>
            <a:r>
              <a:rPr lang="en-US" altLang="ru-RU" sz="1800" smtClean="0"/>
              <a:t> </a:t>
            </a:r>
            <a:r>
              <a:rPr lang="ru-RU" altLang="ru-RU" sz="1800" smtClean="0"/>
              <a:t>переопределяем </a:t>
            </a:r>
            <a:r>
              <a:rPr lang="en-GB" altLang="ru-RU" sz="1800" smtClean="0"/>
              <a:t>INHERITS</a:t>
            </a:r>
            <a:endParaRPr lang="ru-RU" altLang="ru-RU" sz="1800" smtClean="0"/>
          </a:p>
          <a:p>
            <a:pPr lvl="1"/>
            <a:r>
              <a:rPr lang="ru-RU" altLang="ru-RU" sz="1600" b="1" i="1" smtClean="0"/>
              <a:t>Будущая дочерняя таблица </a:t>
            </a:r>
            <a:r>
              <a:rPr lang="ru-RU" altLang="ru-RU" sz="1600" smtClean="0"/>
              <a:t>должна уже включать те же столбцы </a:t>
            </a:r>
            <a:r>
              <a:rPr lang="en-GB" altLang="ru-RU" sz="1600" smtClean="0"/>
              <a:t/>
            </a:r>
            <a:br>
              <a:rPr lang="en-GB" altLang="ru-RU" sz="1600" smtClean="0"/>
            </a:br>
            <a:r>
              <a:rPr lang="ru-RU" altLang="ru-RU" sz="1600" smtClean="0"/>
              <a:t>(с совпадающими именами и типами), что и родительская таблица. </a:t>
            </a:r>
            <a:endParaRPr lang="en-GB" altLang="ru-RU" sz="1600" smtClean="0"/>
          </a:p>
          <a:p>
            <a:pPr lvl="1"/>
            <a:r>
              <a:rPr lang="ru-RU" altLang="ru-RU" sz="1600" smtClean="0"/>
              <a:t>Аналогичные ограничения-проверки </a:t>
            </a:r>
            <a:br>
              <a:rPr lang="ru-RU" altLang="ru-RU" sz="1600" smtClean="0"/>
            </a:br>
            <a:r>
              <a:rPr lang="ru-RU" altLang="ru-RU" sz="1600" smtClean="0"/>
              <a:t>(с теми же именами и выражениями). </a:t>
            </a:r>
          </a:p>
        </p:txBody>
      </p:sp>
      <p:sp>
        <p:nvSpPr>
          <p:cNvPr id="72708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2F21380D-5948-4F56-9132-BD6B3247A8FB}" type="slidenum">
              <a:rPr lang="ru-RU" altLang="ru-RU">
                <a:solidFill>
                  <a:schemeClr val="bg1"/>
                </a:solidFill>
              </a:rPr>
              <a:pPr/>
              <a:t>70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72709" name="TextBox 4"/>
          <p:cNvSpPr txBox="1">
            <a:spLocks noChangeArrowheads="1"/>
          </p:cNvSpPr>
          <p:nvPr/>
        </p:nvSpPr>
        <p:spPr bwMode="auto">
          <a:xfrm>
            <a:off x="7851775" y="917575"/>
            <a:ext cx="974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b="1" i="1">
                <a:solidFill>
                  <a:schemeClr val="bg1"/>
                </a:solidFill>
              </a:rPr>
              <a:t>Итог?</a:t>
            </a:r>
          </a:p>
        </p:txBody>
      </p:sp>
      <p:sp>
        <p:nvSpPr>
          <p:cNvPr id="72710" name="Объект 2"/>
          <p:cNvSpPr txBox="1">
            <a:spLocks/>
          </p:cNvSpPr>
          <p:nvPr/>
        </p:nvSpPr>
        <p:spPr bwMode="auto">
          <a:xfrm>
            <a:off x="415925" y="1428750"/>
            <a:ext cx="7900988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r>
              <a:rPr lang="ru-RU" altLang="ru-RU">
                <a:solidFill>
                  <a:srgbClr val="818180"/>
                </a:solidFill>
              </a:rPr>
              <a:t>Вставка данных – только в соответствующую таблицу</a:t>
            </a:r>
          </a:p>
        </p:txBody>
      </p:sp>
      <p:grpSp>
        <p:nvGrpSpPr>
          <p:cNvPr id="72711" name="Группа 14"/>
          <p:cNvGrpSpPr>
            <a:grpSpLocks/>
          </p:cNvGrpSpPr>
          <p:nvPr/>
        </p:nvGrpSpPr>
        <p:grpSpPr bwMode="auto">
          <a:xfrm>
            <a:off x="1692275" y="2160588"/>
            <a:ext cx="5386388" cy="1025525"/>
            <a:chOff x="834887" y="2244208"/>
            <a:chExt cx="7182678" cy="1367525"/>
          </a:xfrm>
        </p:grpSpPr>
        <p:sp>
          <p:nvSpPr>
            <p:cNvPr id="72712" name="Прямоугольник 15"/>
            <p:cNvSpPr>
              <a:spLocks noChangeArrowheads="1"/>
            </p:cNvSpPr>
            <p:nvPr/>
          </p:nvSpPr>
          <p:spPr bwMode="auto">
            <a:xfrm>
              <a:off x="834887" y="2380627"/>
              <a:ext cx="7182678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674688">
                <a:defRPr>
                  <a:solidFill>
                    <a:schemeClr val="tx1"/>
                  </a:solidFill>
                  <a:latin typeface="PT Sans" pitchFamily="34" charset="-5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T Sans" pitchFamily="34" charset="-5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T Sans" pitchFamily="34" charset="-5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T Sans" pitchFamily="34" charset="-5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T Sans" pitchFamily="34" charset="-5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T Sans" pitchFamily="34" charset="-5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T Sans" pitchFamily="34" charset="-5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T Sans" pitchFamily="34" charset="-5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T Sans" pitchFamily="34" charset="-52"/>
                </a:defRPr>
              </a:lvl9pPr>
            </a:lstStyle>
            <a:p>
              <a:pPr algn="just">
                <a:spcBef>
                  <a:spcPts val="450"/>
                </a:spcBef>
              </a:pPr>
              <a:r>
                <a:rPr lang="en-US" altLang="ru-RU">
                  <a:solidFill>
                    <a:schemeClr val="accent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INSERT INTO cities (name, population, altitude, state)</a:t>
              </a:r>
              <a:endParaRPr lang="ru-RU" altLang="ru-RU">
                <a:solidFill>
                  <a:schemeClr val="accent2"/>
                </a:solidFill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  <a:p>
              <a:pPr algn="just"/>
              <a:r>
                <a:rPr lang="en-US" altLang="ru-RU">
                  <a:solidFill>
                    <a:schemeClr val="accent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VALUES ('Albany', NULL, NULL, 'NY');</a:t>
              </a:r>
              <a:endParaRPr lang="ru-RU" altLang="ru-RU">
                <a:solidFill>
                  <a:schemeClr val="accent2"/>
                </a:solidFill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Умножение 16"/>
            <p:cNvSpPr/>
            <p:nvPr/>
          </p:nvSpPr>
          <p:spPr>
            <a:xfrm>
              <a:off x="862408" y="2244208"/>
              <a:ext cx="1007649" cy="918740"/>
            </a:xfrm>
            <a:prstGeom prst="mathMultiply">
              <a:avLst>
                <a:gd name="adj1" fmla="val 10544"/>
              </a:avLst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634272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Множественное наследование</a:t>
            </a:r>
          </a:p>
        </p:txBody>
      </p:sp>
      <p:sp>
        <p:nvSpPr>
          <p:cNvPr id="73731" name="Объект 2"/>
          <p:cNvSpPr>
            <a:spLocks noGrp="1"/>
          </p:cNvSpPr>
          <p:nvPr>
            <p:ph idx="1"/>
          </p:nvPr>
        </p:nvSpPr>
        <p:spPr>
          <a:xfrm>
            <a:off x="684213" y="1484313"/>
            <a:ext cx="7848600" cy="4752975"/>
          </a:xfrm>
        </p:spPr>
        <p:txBody>
          <a:bodyPr anchor="t"/>
          <a:lstStyle/>
          <a:p>
            <a:r>
              <a:rPr lang="ru-RU" altLang="ru-RU" smtClean="0"/>
              <a:t>Совпадающие столбцы родителей =</a:t>
            </a:r>
            <a:r>
              <a:rPr lang="en-GB" altLang="ru-RU" smtClean="0"/>
              <a:t>&gt; </a:t>
            </a:r>
            <a:r>
              <a:rPr lang="ru-RU" altLang="ru-RU" smtClean="0"/>
              <a:t>«Объединение» столбцов с одним именем</a:t>
            </a:r>
            <a:endParaRPr lang="en-GB" altLang="ru-RU" smtClean="0"/>
          </a:p>
          <a:p>
            <a:pPr lvl="1"/>
            <a:r>
              <a:rPr lang="ru-RU" altLang="ru-RU" smtClean="0"/>
              <a:t>Одно имя</a:t>
            </a:r>
          </a:p>
          <a:p>
            <a:pPr lvl="1"/>
            <a:r>
              <a:rPr lang="ru-RU" altLang="ru-RU" smtClean="0"/>
              <a:t>Один тип данных</a:t>
            </a:r>
          </a:p>
          <a:p>
            <a:r>
              <a:rPr lang="ru-RU" altLang="ru-RU" smtClean="0"/>
              <a:t>Наследование ограничений</a:t>
            </a:r>
          </a:p>
          <a:p>
            <a:pPr lvl="1"/>
            <a:r>
              <a:rPr lang="en-GB" altLang="ru-RU" smtClean="0"/>
              <a:t>Not NULL</a:t>
            </a:r>
            <a:r>
              <a:rPr lang="en-US" altLang="ru-RU" smtClean="0"/>
              <a:t> </a:t>
            </a:r>
            <a:r>
              <a:rPr lang="ru-RU" altLang="ru-RU" smtClean="0"/>
              <a:t>объединяется по принципу логического ИЛИ</a:t>
            </a:r>
          </a:p>
          <a:p>
            <a:pPr lvl="1"/>
            <a:r>
              <a:rPr lang="ru-RU" altLang="ru-RU" smtClean="0"/>
              <a:t>Ограничения – проверки объединяются, </a:t>
            </a:r>
            <a:br>
              <a:rPr lang="ru-RU" altLang="ru-RU" smtClean="0"/>
            </a:br>
            <a:r>
              <a:rPr lang="ru-RU" altLang="ru-RU" smtClean="0"/>
              <a:t>если имеют одинаковые имена.</a:t>
            </a:r>
            <a:br>
              <a:rPr lang="ru-RU" altLang="ru-RU" smtClean="0"/>
            </a:br>
            <a:r>
              <a:rPr lang="ru-RU" altLang="ru-RU" smtClean="0"/>
              <a:t>Если при этом их условия различны-ошибка</a:t>
            </a:r>
          </a:p>
          <a:p>
            <a:endParaRPr lang="ru-RU" altLang="ru-RU" smtClean="0"/>
          </a:p>
        </p:txBody>
      </p:sp>
      <p:sp>
        <p:nvSpPr>
          <p:cNvPr id="73732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A35A6D0F-D6C8-4C11-AF63-CA2127FC601C}" type="slidenum">
              <a:rPr lang="ru-RU" altLang="ru-RU">
                <a:solidFill>
                  <a:schemeClr val="bg1"/>
                </a:solidFill>
              </a:rPr>
              <a:pPr/>
              <a:t>71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787900" y="4797425"/>
            <a:ext cx="3525838" cy="12001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столбец получит свойство NOT NULL, если </a:t>
            </a:r>
            <a:r>
              <a:rPr lang="ru-RU" altLang="ru-RU" b="1" i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какое-либо</a:t>
            </a:r>
            <a:r>
              <a:rPr lang="ru-RU" altLang="ru-RU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из порождающих его определений имеет свойство NOT NULL</a:t>
            </a:r>
            <a:endParaRPr lang="ru-RU" altLang="ru-RU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124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Другие СУБД</a:t>
            </a:r>
            <a:endParaRPr lang="ru-RU" dirty="0"/>
          </a:p>
        </p:txBody>
      </p:sp>
      <p:sp>
        <p:nvSpPr>
          <p:cNvPr id="74755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8944" y="1449139"/>
            <a:ext cx="6311348" cy="482696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05289">
              <a:spcAft>
                <a:spcPts val="0"/>
              </a:spcAft>
              <a:defRPr/>
            </a:pPr>
            <a:r>
              <a:rPr lang="ru-RU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родительского типа</a:t>
            </a: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5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5323">
              <a:spcBef>
                <a:spcPts val="45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or replace </a:t>
            </a:r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itemBase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object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rgbClr val="0070C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5323">
              <a:spcAft>
                <a:spcPts val="0"/>
              </a:spcAft>
              <a:defRPr/>
            </a:pP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id number, </a:t>
            </a:r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varchar2 (16)) </a:t>
            </a:r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final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not instantiable;</a:t>
            </a:r>
            <a:endParaRPr lang="ru-RU" dirty="0">
              <a:solidFill>
                <a:srgbClr val="0070C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5289">
              <a:spcAft>
                <a:spcPts val="0"/>
              </a:spcAft>
              <a:defRPr/>
            </a:pP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дочернего типа</a:t>
            </a: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5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5323">
              <a:spcBef>
                <a:spcPts val="45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or replace </a:t>
            </a:r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dirty="0">
                <a:solidFill>
                  <a:srgbClr val="0070C0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US" dirty="0" err="1">
                <a:solidFill>
                  <a:srgbClr val="0070C0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itemBase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varchar2 (255)) </a:t>
            </a:r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rgbClr val="0070C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5289">
              <a:spcAft>
                <a:spcPts val="0"/>
              </a:spcAft>
              <a:defRPr/>
            </a:pP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отношения на базе типа и вставка данных</a:t>
            </a:r>
          </a:p>
          <a:p>
            <a:pPr marL="675323">
              <a:spcBef>
                <a:spcPts val="45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b="1" u="sng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lang="en-US" u="sng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b="1" dirty="0">
                <a:solidFill>
                  <a:srgbClr val="0070C0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rgbClr val="0070C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5323">
              <a:spcAft>
                <a:spcPts val="0"/>
              </a:spcAft>
              <a:defRPr/>
            </a:pP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u="sng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values (item (</a:t>
            </a:r>
            <a:r>
              <a:rPr lang="en-US" dirty="0">
                <a:solidFill>
                  <a:srgbClr val="59595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en-US" dirty="0" err="1">
                <a:solidFill>
                  <a:srgbClr val="59595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myname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dirty="0">
                <a:solidFill>
                  <a:srgbClr val="59595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 memo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'));</a:t>
            </a:r>
            <a:endParaRPr lang="ru-RU" dirty="0">
              <a:solidFill>
                <a:srgbClr val="0070C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5289">
              <a:spcAft>
                <a:spcPts val="0"/>
              </a:spcAft>
              <a:defRPr/>
            </a:pP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Выборка данных</a:t>
            </a: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5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5323">
              <a:spcBef>
                <a:spcPts val="45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 from </a:t>
            </a:r>
            <a:r>
              <a:rPr lang="en-US" u="sng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rgbClr val="0070C0"/>
              </a:solidFill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5289">
              <a:spcAft>
                <a:spcPts val="0"/>
              </a:spcAft>
              <a:defRPr/>
            </a:pP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5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05289">
              <a:spcAft>
                <a:spcPts val="0"/>
              </a:spcAft>
              <a:defRPr/>
            </a:pP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5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595959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ID NAME             MEMO    </a:t>
            </a:r>
            <a:endParaRPr lang="ru-RU" dirty="0">
              <a:solidFill>
                <a:srgbClr val="595959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675323">
              <a:spcAft>
                <a:spcPts val="0"/>
              </a:spcAft>
              <a:defRPr/>
            </a:pPr>
            <a:r>
              <a:rPr lang="en-US" dirty="0">
                <a:solidFill>
                  <a:srgbClr val="595959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-- ---------------- --------</a:t>
            </a:r>
            <a:endParaRPr lang="ru-RU" dirty="0">
              <a:solidFill>
                <a:srgbClr val="595959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675323">
              <a:spcAft>
                <a:spcPts val="0"/>
              </a:spcAft>
              <a:defRPr/>
            </a:pPr>
            <a:r>
              <a:rPr lang="en-US" dirty="0">
                <a:solidFill>
                  <a:srgbClr val="595959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1 </a:t>
            </a:r>
            <a:r>
              <a:rPr lang="en-US" dirty="0" err="1">
                <a:solidFill>
                  <a:srgbClr val="595959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myname</a:t>
            </a:r>
            <a:r>
              <a:rPr lang="en-US" dirty="0">
                <a:solidFill>
                  <a:srgbClr val="595959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       my memo  </a:t>
            </a:r>
            <a:endParaRPr lang="ru-RU" dirty="0">
              <a:solidFill>
                <a:srgbClr val="595959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659563" y="1484313"/>
            <a:ext cx="2160587" cy="201612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dirty="0" err="1"/>
              <a:t>Oracle</a:t>
            </a:r>
            <a:r>
              <a:rPr lang="ru-RU" dirty="0"/>
              <a:t>: Наследование ближе к стандарту SQL через объектные типы</a:t>
            </a:r>
          </a:p>
          <a:p>
            <a:pPr algn="ctr">
              <a:defRPr/>
            </a:pPr>
            <a:endParaRPr lang="ru-RU" dirty="0"/>
          </a:p>
        </p:txBody>
      </p:sp>
      <p:sp>
        <p:nvSpPr>
          <p:cNvPr id="74758" name="Номер слайда 3"/>
          <p:cNvSpPr txBox="1">
            <a:spLocks noGrp="1"/>
          </p:cNvSpPr>
          <p:nvPr/>
        </p:nvSpPr>
        <p:spPr bwMode="auto">
          <a:xfrm>
            <a:off x="8675688" y="6597650"/>
            <a:ext cx="298450" cy="2603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pPr algn="r" eaLnBrk="1" hangingPunct="1"/>
            <a:fld id="{61125D44-A04D-4D58-B79F-B96A8AE8F248}" type="slidenum">
              <a:rPr lang="ru-RU" altLang="ru-RU" sz="700" b="1">
                <a:solidFill>
                  <a:schemeClr val="bg1"/>
                </a:solidFill>
              </a:rPr>
              <a:pPr algn="r" eaLnBrk="1" hangingPunct="1"/>
              <a:t>72</a:t>
            </a:fld>
            <a:endParaRPr lang="ru-RU" altLang="ru-RU" sz="7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207020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11909</TotalTime>
  <Words>3996</Words>
  <Application>Microsoft Office PowerPoint</Application>
  <PresentationFormat>Экран (4:3)</PresentationFormat>
  <Paragraphs>702</Paragraphs>
  <Slides>72</Slides>
  <Notes>10</Notes>
  <HiddenSlides>2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72</vt:i4>
      </vt:variant>
    </vt:vector>
  </HeadingPairs>
  <TitlesOfParts>
    <vt:vector size="82" baseType="lpstr">
      <vt:lpstr>Arial</vt:lpstr>
      <vt:lpstr>Arial Narrow</vt:lpstr>
      <vt:lpstr>Calibri</vt:lpstr>
      <vt:lpstr>Cambria Math</vt:lpstr>
      <vt:lpstr>Courier New</vt:lpstr>
      <vt:lpstr>PT Sans</vt:lpstr>
      <vt:lpstr>Times New Roman</vt:lpstr>
      <vt:lpstr>Wingdings 3</vt:lpstr>
      <vt:lpstr>SCC</vt:lpstr>
      <vt:lpstr>Картинка</vt:lpstr>
      <vt:lpstr>СУБД для специалиста  по информационной безопасности</vt:lpstr>
      <vt:lpstr>Темы лекции</vt:lpstr>
      <vt:lpstr>Реляционная модель данных</vt:lpstr>
      <vt:lpstr>Реляционная модель данных</vt:lpstr>
      <vt:lpstr>РМД – структуры данных</vt:lpstr>
      <vt:lpstr>РМД – реляционное отношение</vt:lpstr>
      <vt:lpstr>РМД – характеристики реляционного отношения</vt:lpstr>
      <vt:lpstr>РМД – свойства отношений и кортежей</vt:lpstr>
      <vt:lpstr>РМД - Ключи</vt:lpstr>
      <vt:lpstr>РМД – Связи между отношениями</vt:lpstr>
      <vt:lpstr>Схемы данных в реляционной модели</vt:lpstr>
      <vt:lpstr>Связь - Ссылка по внешнему ключу</vt:lpstr>
      <vt:lpstr>Схема данных – Пример  Postgre SQL</vt:lpstr>
      <vt:lpstr>Схема данных – Пример MS SQL</vt:lpstr>
      <vt:lpstr>Схема данных – Пример Oracle DBMS Server</vt:lpstr>
      <vt:lpstr>Реализация схемы данных</vt:lpstr>
      <vt:lpstr>Реализация схемы данных на SQL – Пример схемы</vt:lpstr>
      <vt:lpstr>Реализация схемы данных на SQL – Отношения и связи</vt:lpstr>
      <vt:lpstr>Реализация схемы данных на SQL – Данные</vt:lpstr>
      <vt:lpstr>Реализация схемы данных на SQL – Генерация данных</vt:lpstr>
      <vt:lpstr>Ограничения целостности</vt:lpstr>
      <vt:lpstr>Декларативные ограничения целостности - примеры</vt:lpstr>
      <vt:lpstr>Доступ к данным в СУБД</vt:lpstr>
      <vt:lpstr>Методы доступа</vt:lpstr>
      <vt:lpstr>Архитектуры доступа – по размещению компонентов</vt:lpstr>
      <vt:lpstr>Архитектуры доступа – по организации работы</vt:lpstr>
      <vt:lpstr>Модели доступа к данным – двухзвенные архитектуры</vt:lpstr>
      <vt:lpstr>Модели доступа к данным – трехзвенная архитектура</vt:lpstr>
      <vt:lpstr>Уровневый доступ в СУБД</vt:lpstr>
      <vt:lpstr>Уровни доступа внутри СУБД</vt:lpstr>
      <vt:lpstr>Уровни пользователей в СУБД</vt:lpstr>
      <vt:lpstr>Модели доступа</vt:lpstr>
      <vt:lpstr>Грануляция доступа</vt:lpstr>
      <vt:lpstr>Column/Attribute level security</vt:lpstr>
      <vt:lpstr>Row level security</vt:lpstr>
      <vt:lpstr>Уязвимости</vt:lpstr>
      <vt:lpstr>Проектирование схемы данных</vt:lpstr>
      <vt:lpstr>Проектирование баз данных</vt:lpstr>
      <vt:lpstr>Семантическое проектирование</vt:lpstr>
      <vt:lpstr>Концептуальная модель данных - назначение</vt:lpstr>
      <vt:lpstr>Примеры сущностей в ER модели с разной степенью детализации</vt:lpstr>
      <vt:lpstr>Таблица и ее поля</vt:lpstr>
      <vt:lpstr>Связи концептуальных объектов</vt:lpstr>
      <vt:lpstr>Связи и внешние ключи Терминология и обозначения</vt:lpstr>
      <vt:lpstr>Перевод концептуальных связей</vt:lpstr>
      <vt:lpstr>Наследование  и иерархическая категоризация</vt:lpstr>
      <vt:lpstr>Пример наследования  (иерархической категоризации)</vt:lpstr>
      <vt:lpstr>Ключи</vt:lpstr>
      <vt:lpstr>Пример наследования  (иерархической категоризации)</vt:lpstr>
      <vt:lpstr>Виды наследования  (иерархической категоризации)</vt:lpstr>
      <vt:lpstr>Агрегирование (master-detail)</vt:lpstr>
      <vt:lpstr>Правила кардинальности</vt:lpstr>
      <vt:lpstr>Пример агрегирования</vt:lpstr>
      <vt:lpstr>Ассоциация (ссылка)</vt:lpstr>
      <vt:lpstr>Пример ассоциации</vt:lpstr>
      <vt:lpstr>Пример</vt:lpstr>
      <vt:lpstr>Множественная ассоциация </vt:lpstr>
      <vt:lpstr>Основные компоненты логической схемы  и их получение</vt:lpstr>
      <vt:lpstr>Множественная ассоциация (ссылка)</vt:lpstr>
      <vt:lpstr>Пример схемы</vt:lpstr>
      <vt:lpstr>«Диалекты» постреляционных СУБД</vt:lpstr>
      <vt:lpstr>Особенности СУБД как области информационных технологий</vt:lpstr>
      <vt:lpstr>Наследование на примере PosgreSQL</vt:lpstr>
      <vt:lpstr>Объявление иерархии</vt:lpstr>
      <vt:lpstr>Как рассматривать таблицы</vt:lpstr>
      <vt:lpstr>Правила выборки данных</vt:lpstr>
      <vt:lpstr>Явное указание источника данных</vt:lpstr>
      <vt:lpstr>Проверка прав доступа</vt:lpstr>
      <vt:lpstr>Индексы и ограничения</vt:lpstr>
      <vt:lpstr>Переопределение таблиц</vt:lpstr>
      <vt:lpstr>Множественное наследование</vt:lpstr>
      <vt:lpstr>Другие СУБД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598</cp:revision>
  <dcterms:created xsi:type="dcterms:W3CDTF">2018-04-03T06:05:28Z</dcterms:created>
  <dcterms:modified xsi:type="dcterms:W3CDTF">2024-02-20T10:59:25Z</dcterms:modified>
</cp:coreProperties>
</file>