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7"/>
  </p:notesMasterIdLst>
  <p:sldIdLst>
    <p:sldId id="381" r:id="rId2"/>
    <p:sldId id="387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3" r:id="rId22"/>
    <p:sldId id="411" r:id="rId23"/>
    <p:sldId id="412" r:id="rId24"/>
    <p:sldId id="415" r:id="rId25"/>
    <p:sldId id="414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6" r:id="rId36"/>
    <p:sldId id="431" r:id="rId37"/>
    <p:sldId id="432" r:id="rId38"/>
    <p:sldId id="425" r:id="rId39"/>
    <p:sldId id="427" r:id="rId40"/>
    <p:sldId id="429" r:id="rId41"/>
    <p:sldId id="430" r:id="rId42"/>
    <p:sldId id="433" r:id="rId43"/>
    <p:sldId id="434" r:id="rId44"/>
    <p:sldId id="436" r:id="rId45"/>
    <p:sldId id="435" r:id="rId46"/>
    <p:sldId id="437" r:id="rId47"/>
    <p:sldId id="438" r:id="rId48"/>
    <p:sldId id="439" r:id="rId49"/>
    <p:sldId id="440" r:id="rId50"/>
    <p:sldId id="441" r:id="rId51"/>
    <p:sldId id="442" r:id="rId52"/>
    <p:sldId id="443" r:id="rId53"/>
    <p:sldId id="444" r:id="rId54"/>
    <p:sldId id="445" r:id="rId55"/>
    <p:sldId id="447" r:id="rId5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2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FFCCCC"/>
    <a:srgbClr val="7030A0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1834" autoAdjust="0"/>
  </p:normalViewPr>
  <p:slideViewPr>
    <p:cSldViewPr snapToObjects="1">
      <p:cViewPr varScale="1">
        <p:scale>
          <a:sx n="102" d="100"/>
          <a:sy n="102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11.05.2023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154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53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939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24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://citforum.ru/database/articles/strategy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12568"/>
          </a:xfrm>
        </p:spPr>
        <p:txBody>
          <a:bodyPr anchor="t">
            <a:normAutofit/>
          </a:bodyPr>
          <a:lstStyle/>
          <a:p>
            <a:r>
              <a:rPr lang="ru-RU" dirty="0"/>
              <a:t>Сложно структурированные данные в РСУБД</a:t>
            </a:r>
          </a:p>
          <a:p>
            <a:pPr lvl="1"/>
            <a:r>
              <a:rPr lang="ru-RU" dirty="0"/>
              <a:t>Деревья</a:t>
            </a:r>
          </a:p>
          <a:p>
            <a:pPr lvl="1"/>
            <a:r>
              <a:rPr lang="ru-RU" dirty="0"/>
              <a:t>Графы</a:t>
            </a:r>
          </a:p>
          <a:p>
            <a:r>
              <a:rPr lang="ru-RU" dirty="0"/>
              <a:t>Временные данные</a:t>
            </a:r>
          </a:p>
          <a:p>
            <a:r>
              <a:rPr lang="en-US" dirty="0"/>
              <a:t>XML, JSON </a:t>
            </a:r>
            <a:r>
              <a:rPr lang="ru-RU" dirty="0"/>
              <a:t> в РСУБД</a:t>
            </a:r>
          </a:p>
          <a:p>
            <a:r>
              <a:rPr lang="ru-RU" dirty="0"/>
              <a:t>Объектные данные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Представление иерархических данных в РСУБД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E5908-3AED-01A8-05FF-A5246A6E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хранения иерархий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C3F26C-11D9-626A-BEAB-9263DF8E0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BF19EB-1917-90ED-B037-97330EAA067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68" y="1730447"/>
            <a:ext cx="2951344" cy="2079866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4DF0299-BD8C-3597-88AC-278E4C587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525097"/>
              </p:ext>
            </p:extLst>
          </p:nvPr>
        </p:nvGraphicFramePr>
        <p:xfrm>
          <a:off x="5724128" y="1930399"/>
          <a:ext cx="26990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Двойная стрелка влево/вправо 12">
            <a:extLst>
              <a:ext uri="{FF2B5EF4-FFF2-40B4-BE49-F238E27FC236}">
                <a16:creationId xmlns:a16="http://schemas.microsoft.com/office/drawing/2014/main" id="{66BEE574-2545-57CD-5580-59B523C27BE4}"/>
              </a:ext>
            </a:extLst>
          </p:cNvPr>
          <p:cNvSpPr/>
          <p:nvPr/>
        </p:nvSpPr>
        <p:spPr>
          <a:xfrm>
            <a:off x="3990372" y="2061195"/>
            <a:ext cx="1349828" cy="870857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VS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51B35-AA59-4F82-63F6-8CAF35AAA187}"/>
              </a:ext>
            </a:extLst>
          </p:cNvPr>
          <p:cNvSpPr txBox="1"/>
          <p:nvPr/>
        </p:nvSpPr>
        <p:spPr>
          <a:xfrm>
            <a:off x="317660" y="1607234"/>
            <a:ext cx="1445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Иерархия (дерево)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8E1C5-FE2B-4F69-1C46-969EF2B06C8E}"/>
              </a:ext>
            </a:extLst>
          </p:cNvPr>
          <p:cNvSpPr txBox="1"/>
          <p:nvPr/>
        </p:nvSpPr>
        <p:spPr>
          <a:xfrm>
            <a:off x="5724128" y="1449005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Реляционное отношение</a:t>
            </a:r>
          </a:p>
        </p:txBody>
      </p:sp>
      <p:sp>
        <p:nvSpPr>
          <p:cNvPr id="11" name="Двойные фигурные скобки 10">
            <a:extLst>
              <a:ext uri="{FF2B5EF4-FFF2-40B4-BE49-F238E27FC236}">
                <a16:creationId xmlns:a16="http://schemas.microsoft.com/office/drawing/2014/main" id="{A05DA396-812B-F002-0872-1C8B30208DCA}"/>
              </a:ext>
            </a:extLst>
          </p:cNvPr>
          <p:cNvSpPr/>
          <p:nvPr/>
        </p:nvSpPr>
        <p:spPr>
          <a:xfrm>
            <a:off x="317660" y="4438056"/>
            <a:ext cx="4254340" cy="175622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8">
            <a:extLst>
              <a:ext uri="{FF2B5EF4-FFF2-40B4-BE49-F238E27FC236}">
                <a16:creationId xmlns:a16="http://schemas.microsoft.com/office/drawing/2014/main" id="{3971A659-FD87-3C19-1A8E-B88A5EFE808A}"/>
              </a:ext>
            </a:extLst>
          </p:cNvPr>
          <p:cNvSpPr txBox="1">
            <a:spLocks/>
          </p:cNvSpPr>
          <p:nvPr/>
        </p:nvSpPr>
        <p:spPr>
          <a:xfrm>
            <a:off x="844527" y="4392102"/>
            <a:ext cx="3436684" cy="184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Классификаторы</a:t>
            </a:r>
          </a:p>
          <a:p>
            <a:r>
              <a:rPr lang="ru-RU" dirty="0"/>
              <a:t>Управленческие иерархии</a:t>
            </a:r>
          </a:p>
          <a:p>
            <a:r>
              <a:rPr lang="ru-RU" dirty="0"/>
              <a:t>Вложенность компонентов сложных систем</a:t>
            </a:r>
          </a:p>
          <a:p>
            <a:r>
              <a:rPr lang="ru-RU" dirty="0"/>
              <a:t>….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72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109A2-03EC-B3C1-59D2-D159C755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Подходы к представлению деревьев</a:t>
            </a:r>
            <a:br>
              <a:rPr lang="ru-RU" dirty="0"/>
            </a:br>
            <a:r>
              <a:rPr lang="ru-RU" sz="1200" i="1" dirty="0"/>
              <a:t>в разных областях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484E03-9B7C-5976-DEA5-BDEDDB585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BE2952-2804-4A29-FDEF-BA381BF23228}"/>
              </a:ext>
            </a:extLst>
          </p:cNvPr>
          <p:cNvSpPr txBox="1">
            <a:spLocks/>
          </p:cNvSpPr>
          <p:nvPr/>
        </p:nvSpPr>
        <p:spPr>
          <a:xfrm>
            <a:off x="251520" y="1340186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Рекурсивная модель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BCA0BC-F0A3-9BEC-9BBA-D66AD0DAFF81}"/>
              </a:ext>
            </a:extLst>
          </p:cNvPr>
          <p:cNvSpPr txBox="1">
            <a:spLocks/>
          </p:cNvSpPr>
          <p:nvPr/>
        </p:nvSpPr>
        <p:spPr>
          <a:xfrm>
            <a:off x="251520" y="1916449"/>
            <a:ext cx="4896152" cy="23521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ru-RU" dirty="0"/>
              <a:t>Древовидная структура с базовым типом Т – это либо:</a:t>
            </a:r>
          </a:p>
          <a:p>
            <a:r>
              <a:rPr lang="ru-RU" dirty="0"/>
              <a:t>пустая структура; </a:t>
            </a:r>
          </a:p>
          <a:p>
            <a:r>
              <a:rPr lang="ru-RU" dirty="0"/>
              <a:t>либо узел типа Т, с которым связано конечное число древовидных структур с базовым типом Т, называемых поддеревьями.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A01B3E9-5218-B223-7E4C-97917052BC75}"/>
              </a:ext>
            </a:extLst>
          </p:cNvPr>
          <p:cNvSpPr txBox="1">
            <a:spLocks/>
          </p:cNvSpPr>
          <p:nvPr/>
        </p:nvSpPr>
        <p:spPr>
          <a:xfrm>
            <a:off x="5688124" y="1444159"/>
            <a:ext cx="3240360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Множественная модель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5126F17-B1B8-E32D-CE6F-CBD3DE169DBB}"/>
              </a:ext>
            </a:extLst>
          </p:cNvPr>
          <p:cNvSpPr txBox="1">
            <a:spLocks/>
          </p:cNvSpPr>
          <p:nvPr/>
        </p:nvSpPr>
        <p:spPr>
          <a:xfrm>
            <a:off x="5940152" y="1999380"/>
            <a:ext cx="2736304" cy="218627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/>
              <a:t>Каждый узел дерева представляет собой множество, включающее все нижележащие узлы как подмножества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7F5DE-4CEB-4EA5-59D7-073F9C11BB5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36" y="4341745"/>
            <a:ext cx="7232214" cy="235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4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282CF-3B91-66D0-A1BA-FF319725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Операции над деревом</a:t>
            </a:r>
            <a:r>
              <a:rPr lang="en-GB" dirty="0"/>
              <a:t> </a:t>
            </a:r>
            <a:r>
              <a:rPr lang="ru-RU" dirty="0"/>
              <a:t/>
            </a:r>
            <a:br>
              <a:rPr lang="ru-RU" dirty="0"/>
            </a:br>
            <a:r>
              <a:rPr lang="ru-RU" sz="1200" i="1" dirty="0"/>
              <a:t>выборка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254D2F-2C06-A96C-E2DE-8409F3AE0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7" name="Объект 7">
            <a:extLst>
              <a:ext uri="{FF2B5EF4-FFF2-40B4-BE49-F238E27FC236}">
                <a16:creationId xmlns:a16="http://schemas.microsoft.com/office/drawing/2014/main" id="{1F4576EC-0624-0ECC-3450-D2FD4C98E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1199" y="1102704"/>
            <a:ext cx="4246785" cy="549464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200" dirty="0"/>
              <a:t>Q1. </a:t>
            </a:r>
            <a:r>
              <a:rPr lang="ru-RU" sz="1200" dirty="0"/>
              <a:t>Вывести список всех </a:t>
            </a:r>
            <a:r>
              <a:rPr lang="ru-RU" sz="1200" dirty="0" err="1"/>
              <a:t>листьевых</a:t>
            </a:r>
            <a:r>
              <a:rPr lang="ru-RU" sz="1200" dirty="0"/>
              <a:t> элементов;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/>
              <a:t>Q2. Найти корень дерева;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Q3. Определить длину максимального пути (глубину, (размер) дерева;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Q4. Вывести все пути по одному (двум, трем ...) уровням в дереве;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rgbClr val="0070C0"/>
                </a:solidFill>
              </a:rPr>
              <a:t>Q5. Суммирование данных узлов по поддереву от заданного корня</a:t>
            </a:r>
            <a:r>
              <a:rPr lang="ru-RU" sz="1200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4">
                    <a:lumMod val="75000"/>
                  </a:schemeClr>
                </a:solidFill>
              </a:rPr>
              <a:t>Q6. Вычислить уровень иерархии данного узла (уровень узла - число дуг между узлом и корнем т.е. какая длина пути от корня до данного элемента);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4">
                    <a:lumMod val="75000"/>
                  </a:schemeClr>
                </a:solidFill>
              </a:rPr>
              <a:t>Q7. Вычислить уровни всех узлов;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4">
                    <a:lumMod val="75000"/>
                  </a:schemeClr>
                </a:solidFill>
              </a:rPr>
              <a:t>Q8. Вычислить разность уровней двух заданных узлов (разность уровней - число дуг между двумя данными узлами);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Q9. Вывести путь между двумя узлами;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rgbClr val="0070C0"/>
                </a:solidFill>
              </a:rPr>
              <a:t>Q10.Вывести список всех потомков данного элемента. Возможные модификации: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rgbClr val="0070C0"/>
                </a:solidFill>
              </a:rPr>
              <a:t>	</a:t>
            </a:r>
            <a:r>
              <a:rPr lang="ru-RU" sz="1050" i="1" dirty="0">
                <a:solidFill>
                  <a:srgbClr val="0070C0"/>
                </a:solidFill>
              </a:rPr>
              <a:t>потомков заданного уровня (детей, внуков, правнуков ...);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050" i="1" dirty="0">
                <a:solidFill>
                  <a:srgbClr val="0070C0"/>
                </a:solidFill>
              </a:rPr>
              <a:t>	потомков до заданного уровня;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050" i="1" dirty="0">
                <a:solidFill>
                  <a:srgbClr val="0070C0"/>
                </a:solidFill>
              </a:rPr>
              <a:t>	всех терминальных потомков;</a:t>
            </a:r>
          </a:p>
        </p:txBody>
      </p:sp>
      <p:sp>
        <p:nvSpPr>
          <p:cNvPr id="8" name="Объект 8">
            <a:extLst>
              <a:ext uri="{FF2B5EF4-FFF2-40B4-BE49-F238E27FC236}">
                <a16:creationId xmlns:a16="http://schemas.microsoft.com/office/drawing/2014/main" id="{69DFAEAA-B98E-C05B-7E6B-8E7A9020FAC2}"/>
              </a:ext>
            </a:extLst>
          </p:cNvPr>
          <p:cNvSpPr txBox="1">
            <a:spLocks/>
          </p:cNvSpPr>
          <p:nvPr/>
        </p:nvSpPr>
        <p:spPr>
          <a:xfrm>
            <a:off x="4357163" y="1411129"/>
            <a:ext cx="4678146" cy="503932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rgbClr val="0070C0"/>
                </a:solidFill>
              </a:rPr>
              <a:t>Q1</a:t>
            </a:r>
            <a:r>
              <a:rPr lang="en-GB" sz="1200" dirty="0">
                <a:solidFill>
                  <a:srgbClr val="0070C0"/>
                </a:solidFill>
              </a:rPr>
              <a:t>1</a:t>
            </a:r>
            <a:r>
              <a:rPr lang="ru-RU" sz="1200" dirty="0">
                <a:solidFill>
                  <a:srgbClr val="0070C0"/>
                </a:solidFill>
              </a:rPr>
              <a:t>.Вычислить количество потомков данного элемента. Возможны аналогичные модификации.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rgbClr val="0070C0"/>
                </a:solidFill>
              </a:rPr>
              <a:t>Q12.Вывести списки всех потомков всех элементов (пара элемент – потомок).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Q13.Вывести список всех предков данного элемента. Возможные модификации: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		</a:t>
            </a: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предков заданного уровня (родитель, дед, прадед ...);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		всех предков до заданного уровня;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Q14.Вычислить количество предков данного элемента. Возможны аналогичные модификации.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Q15.Вывести список всех общих предков для (двух и более) заданных элементов, в том числе, при различных условиях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		</a:t>
            </a: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находящихся на заданном расстоянии (в том числе ближайших);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		элементы расположены на одном уровне;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		элементы расположены на разных уровнях</a:t>
            </a:r>
            <a:r>
              <a:rPr lang="ru-RU" sz="1100"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/>
              <a:t> 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Q17.Найти всех общих предков для (двух и более) заданных элементов. Возможные модификации: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		</a:t>
            </a: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начиная сверху;</a:t>
            </a:r>
          </a:p>
          <a:p>
            <a:pPr marL="719138" lvl="1" indent="-355600">
              <a:lnSpc>
                <a:spcPct val="120000"/>
              </a:lnSpc>
              <a:spcBef>
                <a:spcPts val="0"/>
              </a:spcBef>
            </a:pPr>
            <a:r>
              <a:rPr lang="ru-RU" sz="1100" i="1" dirty="0">
                <a:solidFill>
                  <a:schemeClr val="accent2">
                    <a:lumMod val="75000"/>
                  </a:schemeClr>
                </a:solidFill>
              </a:rPr>
              <a:t>		начиная снизу;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Q18.Вычислить количество общих предков у двух узлов.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29857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B4B81-FFC2-0AA4-FDEF-298661AA3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Операции над деревом</a:t>
            </a:r>
            <a:r>
              <a:rPr lang="en-GB" dirty="0"/>
              <a:t> </a:t>
            </a:r>
            <a:r>
              <a:rPr lang="ru-RU" dirty="0"/>
              <a:t/>
            </a:r>
            <a:br>
              <a:rPr lang="ru-RU" dirty="0"/>
            </a:br>
            <a:r>
              <a:rPr lang="ru-RU" sz="1200" i="1" dirty="0"/>
              <a:t>модификация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778C41-DDE7-1C87-4695-FBAE2A101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9EAC5A1-ED11-5144-C068-B244466BE1F4}"/>
              </a:ext>
            </a:extLst>
          </p:cNvPr>
          <p:cNvSpPr txBox="1">
            <a:spLocks/>
          </p:cNvSpPr>
          <p:nvPr/>
        </p:nvSpPr>
        <p:spPr>
          <a:xfrm>
            <a:off x="107504" y="1623561"/>
            <a:ext cx="4184034" cy="462483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i="1" dirty="0"/>
              <a:t>Операции выборки данных</a:t>
            </a:r>
          </a:p>
          <a:p>
            <a:pPr>
              <a:spcBef>
                <a:spcPts val="1200"/>
              </a:spcBef>
            </a:pPr>
            <a:r>
              <a:rPr lang="ru-RU" dirty="0"/>
              <a:t>Контроль целостности</a:t>
            </a:r>
          </a:p>
          <a:p>
            <a:pPr>
              <a:spcBef>
                <a:spcPts val="1200"/>
              </a:spcBef>
            </a:pPr>
            <a:r>
              <a:rPr lang="ru-RU" dirty="0"/>
              <a:t>Операции модификации данных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M1. Вставка узла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M2. Удаление узла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M3. Вставка поддерева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M4. Удаление поддерева (удаление узла и всех его потомков)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М5. Перемещение поддерева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M6. Конвертация из данного представления в другие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9BBD205-3B54-E4D3-ACE0-F307EA757340}"/>
              </a:ext>
            </a:extLst>
          </p:cNvPr>
          <p:cNvSpPr txBox="1">
            <a:spLocks/>
          </p:cNvSpPr>
          <p:nvPr/>
        </p:nvSpPr>
        <p:spPr>
          <a:xfrm>
            <a:off x="5004048" y="2351316"/>
            <a:ext cx="3672408" cy="342933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Сохранение структурной целостности данных</a:t>
            </a:r>
          </a:p>
          <a:p>
            <a:pPr lvl="1"/>
            <a:r>
              <a:rPr lang="ru-RU" dirty="0"/>
              <a:t>Единственный корень</a:t>
            </a:r>
          </a:p>
          <a:p>
            <a:pPr lvl="1"/>
            <a:r>
              <a:rPr lang="ru-RU" dirty="0"/>
              <a:t>Единственный обязательной предок</a:t>
            </a:r>
          </a:p>
          <a:p>
            <a:pPr lvl="1"/>
            <a:r>
              <a:rPr lang="ru-RU" dirty="0"/>
              <a:t>…</a:t>
            </a:r>
          </a:p>
          <a:p>
            <a:r>
              <a:rPr lang="ru-RU" dirty="0"/>
              <a:t>Эффективная реализация выборки данных</a:t>
            </a:r>
          </a:p>
          <a:p>
            <a:r>
              <a:rPr lang="ru-RU" dirty="0"/>
              <a:t>Эффективная реализация модификации данных</a:t>
            </a:r>
          </a:p>
          <a:p>
            <a:r>
              <a:rPr lang="ru-RU" dirty="0"/>
              <a:t>Минимальная избыточность</a:t>
            </a:r>
          </a:p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8B2A763-5AF3-C808-715B-4B87B7BDCFD7}"/>
              </a:ext>
            </a:extLst>
          </p:cNvPr>
          <p:cNvSpPr txBox="1">
            <a:spLocks/>
          </p:cNvSpPr>
          <p:nvPr/>
        </p:nvSpPr>
        <p:spPr>
          <a:xfrm>
            <a:off x="4492422" y="1623561"/>
            <a:ext cx="4184034" cy="7277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ru-RU" sz="2400" b="1" dirty="0"/>
              <a:t>Требования к хранению</a:t>
            </a:r>
          </a:p>
        </p:txBody>
      </p:sp>
      <p:sp>
        <p:nvSpPr>
          <p:cNvPr id="8" name="Стрелка вправо 5">
            <a:extLst>
              <a:ext uri="{FF2B5EF4-FFF2-40B4-BE49-F238E27FC236}">
                <a16:creationId xmlns:a16="http://schemas.microsoft.com/office/drawing/2014/main" id="{D13ADEDD-64C4-9581-6E15-8D7904F8B4C5}"/>
              </a:ext>
            </a:extLst>
          </p:cNvPr>
          <p:cNvSpPr/>
          <p:nvPr/>
        </p:nvSpPr>
        <p:spPr>
          <a:xfrm>
            <a:off x="4244526" y="3563946"/>
            <a:ext cx="574824" cy="435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97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DD1D45-2A96-D159-E3B5-42C40D3E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с рекурсивным указателем</a:t>
            </a:r>
            <a:br>
              <a:rPr lang="ru-RU" dirty="0"/>
            </a:br>
            <a:r>
              <a:rPr lang="ru-RU" sz="1200" i="1" dirty="0"/>
              <a:t>Структура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198D82-66EA-7655-335B-3587E3088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01CF5013-8E9B-F024-2DA1-BE6AD235C9D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82560948"/>
              </p:ext>
            </p:extLst>
          </p:nvPr>
        </p:nvGraphicFramePr>
        <p:xfrm>
          <a:off x="2491518" y="3970344"/>
          <a:ext cx="4160964" cy="2629144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330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 err="1">
                          <a:effectLst/>
                        </a:rPr>
                        <a:t>NodeId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 err="1">
                          <a:effectLst/>
                        </a:rPr>
                        <a:t>ParentId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 err="1">
                          <a:effectLst/>
                        </a:rPr>
                        <a:t>NodeData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null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*  *  *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*  *  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*  *  *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*  *  *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*  *  *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36" marR="50636" marT="50636" marB="5063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*  *  *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87" marR="54687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5BA10F-5DFA-622E-FB8E-0BB3AA2350D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48" y="1330237"/>
            <a:ext cx="7309152" cy="233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8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242E32-9743-B086-39BC-4D06BAEB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с рекурсивным указателем</a:t>
            </a:r>
            <a:br>
              <a:rPr lang="ru-RU" dirty="0"/>
            </a:br>
            <a:r>
              <a:rPr lang="ru-RU" sz="1200" i="1" dirty="0"/>
              <a:t>Операции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93C17-274C-F40E-4524-1410EADF1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49237"/>
            <a:ext cx="7992888" cy="284386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</a:pPr>
            <a:r>
              <a:rPr lang="ru-RU" dirty="0"/>
              <a:t>С помощью одного SQL запроса можно извлечь только дочерний уровень.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Для нескольких – запрос с само объединением.</a:t>
            </a:r>
          </a:p>
          <a:p>
            <a:pPr>
              <a:spcBef>
                <a:spcPts val="1200"/>
              </a:spcBef>
            </a:pPr>
            <a:r>
              <a:rPr lang="ru-RU" dirty="0"/>
              <a:t>Схема хранения не содержит информации </a:t>
            </a:r>
            <a:r>
              <a:rPr lang="ru-RU" b="1" i="1" dirty="0"/>
              <a:t>насколько глубоко дерево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необходимо продолжать расширять запрос, пока в результате не будет получено пустое множество.</a:t>
            </a:r>
          </a:p>
          <a:p>
            <a:pPr>
              <a:spcBef>
                <a:spcPts val="1200"/>
              </a:spcBef>
            </a:pPr>
            <a:r>
              <a:rPr lang="ru-RU" dirty="0"/>
              <a:t>Если необходимо извлечь </a:t>
            </a:r>
            <a:r>
              <a:rPr lang="ru-RU" b="1" i="1" dirty="0"/>
              <a:t>список узлов поддерева нескольких подуровней</a:t>
            </a: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придется использовать объединение результатов нескольких запросов, возвращающих узлы конкретного уровня.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F33435-7F5A-C462-9934-BAE48676A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191D70-E512-DFC4-94F3-C92ECA3AE611}"/>
              </a:ext>
            </a:extLst>
          </p:cNvPr>
          <p:cNvSpPr/>
          <p:nvPr/>
        </p:nvSpPr>
        <p:spPr>
          <a:xfrm>
            <a:off x="323528" y="4256871"/>
            <a:ext cx="44558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PARENT.</a:t>
            </a:r>
            <a:r>
              <a:rPr lang="en-GB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odeId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'PARENT_OF',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CHILD.NodeId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Table AS PARENT INNER JOIN Table AS CHILD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PARENT.NodeId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CHILD.ParentId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dirty="0">
              <a:solidFill>
                <a:srgbClr val="C00000"/>
              </a:solidFill>
              <a:effectLst/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F4DF38-7B35-E47B-EE43-F5D3AB029CE2}"/>
              </a:ext>
            </a:extLst>
          </p:cNvPr>
          <p:cNvSpPr/>
          <p:nvPr/>
        </p:nvSpPr>
        <p:spPr>
          <a:xfrm>
            <a:off x="3040500" y="5126859"/>
            <a:ext cx="6096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Parent.NodeId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parent_of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Grandchild.NodeId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Table AS Parent, Table AS Child, Table AS Grandchild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Parent.NodeId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Child.ParentId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Child.NodeId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Grandchild.ParentId</a:t>
            </a:r>
            <a:r>
              <a:rPr lang="en-US" sz="1400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7F7A8-3C4B-DCF0-319F-A7784AFA2C82}"/>
              </a:ext>
            </a:extLst>
          </p:cNvPr>
          <p:cNvSpPr txBox="1"/>
          <p:nvPr/>
        </p:nvSpPr>
        <p:spPr>
          <a:xfrm>
            <a:off x="7204758" y="6358344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 * *</a:t>
            </a:r>
          </a:p>
        </p:txBody>
      </p:sp>
      <p:sp>
        <p:nvSpPr>
          <p:cNvPr id="10" name="Стрелка: изогнутая 9">
            <a:extLst>
              <a:ext uri="{FF2B5EF4-FFF2-40B4-BE49-F238E27FC236}">
                <a16:creationId xmlns:a16="http://schemas.microsoft.com/office/drawing/2014/main" id="{28F4D48D-6A08-A060-523D-5AF4C5287E0E}"/>
              </a:ext>
            </a:extLst>
          </p:cNvPr>
          <p:cNvSpPr/>
          <p:nvPr/>
        </p:nvSpPr>
        <p:spPr>
          <a:xfrm flipV="1">
            <a:off x="1831390" y="5173345"/>
            <a:ext cx="720080" cy="47083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Стрелка: изогнутая 10">
            <a:extLst>
              <a:ext uri="{FF2B5EF4-FFF2-40B4-BE49-F238E27FC236}">
                <a16:creationId xmlns:a16="http://schemas.microsoft.com/office/drawing/2014/main" id="{717A9139-BAB5-E142-467E-2659255C8B41}"/>
              </a:ext>
            </a:extLst>
          </p:cNvPr>
          <p:cNvSpPr/>
          <p:nvPr/>
        </p:nvSpPr>
        <p:spPr>
          <a:xfrm flipV="1">
            <a:off x="5368420" y="6184698"/>
            <a:ext cx="720080" cy="47083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23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58298-E6ED-9589-F9BA-6EE6D009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с рекурсивным указателем</a:t>
            </a:r>
            <a:br>
              <a:rPr lang="ru-RU" dirty="0"/>
            </a:br>
            <a:r>
              <a:rPr lang="ru-RU" sz="1200" i="1" dirty="0"/>
              <a:t>Выводы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465CA5-CE2B-CA8D-20FF-FC08B82F4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B0C857DC-623E-0B41-4C7D-EBF8F19FF43B}"/>
              </a:ext>
            </a:extLst>
          </p:cNvPr>
          <p:cNvSpPr txBox="1">
            <a:spLocks/>
          </p:cNvSpPr>
          <p:nvPr/>
        </p:nvSpPr>
        <p:spPr>
          <a:xfrm>
            <a:off x="562237" y="1371810"/>
            <a:ext cx="292964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Достоинства</a:t>
            </a:r>
          </a:p>
        </p:txBody>
      </p:sp>
      <p:sp>
        <p:nvSpPr>
          <p:cNvPr id="6" name="Объект 6">
            <a:extLst>
              <a:ext uri="{FF2B5EF4-FFF2-40B4-BE49-F238E27FC236}">
                <a16:creationId xmlns:a16="http://schemas.microsoft.com/office/drawing/2014/main" id="{9C010812-21B6-A129-08B5-BCFFB146CCB6}"/>
              </a:ext>
            </a:extLst>
          </p:cNvPr>
          <p:cNvSpPr txBox="1">
            <a:spLocks/>
          </p:cNvSpPr>
          <p:nvPr/>
        </p:nvSpPr>
        <p:spPr>
          <a:xfrm>
            <a:off x="562237" y="1966408"/>
            <a:ext cx="4185623" cy="9453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Простота</a:t>
            </a:r>
          </a:p>
          <a:p>
            <a:r>
              <a:rPr lang="ru-RU" dirty="0"/>
              <a:t>Малая избыточность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E30FA457-EDB5-FAA7-DC41-0E3540DD1CC9}"/>
              </a:ext>
            </a:extLst>
          </p:cNvPr>
          <p:cNvSpPr txBox="1">
            <a:spLocks/>
          </p:cNvSpPr>
          <p:nvPr/>
        </p:nvSpPr>
        <p:spPr>
          <a:xfrm>
            <a:off x="4321537" y="1371810"/>
            <a:ext cx="4185618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Недостатки</a:t>
            </a:r>
          </a:p>
        </p:txBody>
      </p:sp>
      <p:sp>
        <p:nvSpPr>
          <p:cNvPr id="8" name="Объект 8">
            <a:extLst>
              <a:ext uri="{FF2B5EF4-FFF2-40B4-BE49-F238E27FC236}">
                <a16:creationId xmlns:a16="http://schemas.microsoft.com/office/drawing/2014/main" id="{501CFF60-A890-1A16-3C74-A4E29A7271F7}"/>
              </a:ext>
            </a:extLst>
          </p:cNvPr>
          <p:cNvSpPr txBox="1">
            <a:spLocks/>
          </p:cNvSpPr>
          <p:nvPr/>
        </p:nvSpPr>
        <p:spPr>
          <a:xfrm>
            <a:off x="4321538" y="1948072"/>
            <a:ext cx="4838956" cy="1244711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Высокие затраты по временным и техническим ресурсам при обработке больших иерархических структур (</a:t>
            </a:r>
            <a:r>
              <a:rPr lang="ru-RU" dirty="0">
                <a:solidFill>
                  <a:srgbClr val="C00000"/>
                </a:solidFill>
              </a:rPr>
              <a:t>пути, поддеревья</a:t>
            </a:r>
            <a:r>
              <a:rPr lang="ru-RU" dirty="0"/>
              <a:t>)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2F1B97E-5A90-458F-5FC2-DFC2446DB8FC}"/>
              </a:ext>
            </a:extLst>
          </p:cNvPr>
          <p:cNvSpPr txBox="1">
            <a:spLocks/>
          </p:cNvSpPr>
          <p:nvPr/>
        </p:nvSpPr>
        <p:spPr>
          <a:xfrm>
            <a:off x="-65754" y="3130963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2000" b="1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Применение</a:t>
            </a:r>
          </a:p>
        </p:txBody>
      </p:sp>
      <p:sp>
        <p:nvSpPr>
          <p:cNvPr id="10" name="Объект 6">
            <a:extLst>
              <a:ext uri="{FF2B5EF4-FFF2-40B4-BE49-F238E27FC236}">
                <a16:creationId xmlns:a16="http://schemas.microsoft.com/office/drawing/2014/main" id="{4FCB243F-E6D4-D9EE-7B9F-4925B5F25238}"/>
              </a:ext>
            </a:extLst>
          </p:cNvPr>
          <p:cNvSpPr txBox="1">
            <a:spLocks/>
          </p:cNvSpPr>
          <p:nvPr/>
        </p:nvSpPr>
        <p:spPr>
          <a:xfrm>
            <a:off x="562236" y="3786674"/>
            <a:ext cx="7914918" cy="94532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ru-RU" sz="2000" dirty="0"/>
              <a:t>Простые задачи без поиск по иерархии и работы с уровнями (работа только с ближайшим предком/потомком)</a:t>
            </a:r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60B83F23-ADB4-3DD7-B3E2-D15BFC0B06B5}"/>
              </a:ext>
            </a:extLst>
          </p:cNvPr>
          <p:cNvSpPr/>
          <p:nvPr/>
        </p:nvSpPr>
        <p:spPr>
          <a:xfrm rot="16200000">
            <a:off x="4419198" y="644585"/>
            <a:ext cx="467695" cy="8219914"/>
          </a:xfrm>
          <a:prstGeom prst="leftBrace">
            <a:avLst>
              <a:gd name="adj1" fmla="val 46022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11185335-1384-B66F-D96E-75D6C1DD1FF6}"/>
              </a:ext>
            </a:extLst>
          </p:cNvPr>
          <p:cNvSpPr txBox="1">
            <a:spLocks/>
          </p:cNvSpPr>
          <p:nvPr/>
        </p:nvSpPr>
        <p:spPr>
          <a:xfrm>
            <a:off x="1758197" y="5197628"/>
            <a:ext cx="5789695" cy="994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solidFill>
                  <a:schemeClr val="bg1"/>
                </a:solidFill>
              </a:rPr>
              <a:t>Другие подходы с избыточностью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sz="1800" b="1" dirty="0">
                <a:solidFill>
                  <a:schemeClr val="bg1"/>
                </a:solidFill>
              </a:rPr>
              <a:t>для повышения эффективности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292559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862B2-0EA7-9BF2-585B-2C31E0EA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Рекурсивная ссылка с глубиной </a:t>
            </a:r>
            <a:br>
              <a:rPr lang="ru-RU" dirty="0"/>
            </a:br>
            <a:r>
              <a:rPr lang="ru-RU" sz="1200" i="1" dirty="0"/>
              <a:t>(пара предок-потомок с глубиной)</a:t>
            </a:r>
            <a:endParaRPr lang="ru-RU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E98B4B-F48F-245B-93D9-A9F5E050A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4CFFAE-5D3B-CA19-C5CD-A8F00501F5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429000"/>
            <a:ext cx="3343123" cy="27722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7C90FE-60B9-6FAF-BDF8-7871A3B953D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56" y="1565110"/>
            <a:ext cx="4859149" cy="1755165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331CE74-CB09-CC5B-A4FB-33B115F74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22904"/>
              </p:ext>
            </p:extLst>
          </p:nvPr>
        </p:nvGraphicFramePr>
        <p:xfrm>
          <a:off x="5232400" y="1565110"/>
          <a:ext cx="3570514" cy="46482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141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N</a:t>
                      </a:r>
                      <a:r>
                        <a:rPr lang="ru-RU" sz="1800" b="1" dirty="0" err="1">
                          <a:effectLst/>
                        </a:rPr>
                        <a:t>ode</a:t>
                      </a:r>
                      <a:r>
                        <a:rPr lang="en-GB" sz="1800" b="1" dirty="0">
                          <a:effectLst/>
                        </a:rPr>
                        <a:t>I</a:t>
                      </a:r>
                      <a:r>
                        <a:rPr lang="ru-RU" sz="1800" b="1" dirty="0">
                          <a:effectLst/>
                        </a:rPr>
                        <a:t>d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b="1" dirty="0" err="1">
                          <a:effectLst/>
                        </a:rPr>
                        <a:t>Parent</a:t>
                      </a:r>
                      <a:r>
                        <a:rPr lang="en-GB" sz="1800" b="1" dirty="0">
                          <a:effectLst/>
                        </a:rPr>
                        <a:t>I</a:t>
                      </a:r>
                      <a:r>
                        <a:rPr lang="ru-RU" sz="1800" b="1" dirty="0">
                          <a:effectLst/>
                        </a:rPr>
                        <a:t>d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Distance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C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C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30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8F529-433D-F6DB-E3F8-1F4439E3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Рекурсивная ссылка с глубиной </a:t>
            </a:r>
            <a:br>
              <a:rPr lang="ru-RU" dirty="0"/>
            </a:br>
            <a:r>
              <a:rPr lang="ru-RU" sz="1200" i="1" dirty="0"/>
              <a:t>Особенности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84B318-A227-49FF-CD0E-6FD246001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9DF314AD-3C19-71DB-3C2A-2F8D26144811}"/>
              </a:ext>
            </a:extLst>
          </p:cNvPr>
          <p:cNvSpPr txBox="1">
            <a:spLocks/>
          </p:cNvSpPr>
          <p:nvPr/>
        </p:nvSpPr>
        <p:spPr>
          <a:xfrm>
            <a:off x="386377" y="1628800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400" b="1" dirty="0"/>
              <a:t>Достоинства</a:t>
            </a:r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9B43EE73-CD12-ACA8-DE1E-17F277269EFE}"/>
              </a:ext>
            </a:extLst>
          </p:cNvPr>
          <p:cNvSpPr txBox="1">
            <a:spLocks/>
          </p:cNvSpPr>
          <p:nvPr/>
        </p:nvSpPr>
        <p:spPr>
          <a:xfrm>
            <a:off x="386378" y="2205063"/>
            <a:ext cx="3753574" cy="160252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Простые запросы без рекурсии и встроенных соединений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D75CB11C-ACAB-2380-0197-3E87D133FC6E}"/>
              </a:ext>
            </a:extLst>
          </p:cNvPr>
          <p:cNvSpPr txBox="1">
            <a:spLocks/>
          </p:cNvSpPr>
          <p:nvPr/>
        </p:nvSpPr>
        <p:spPr>
          <a:xfrm>
            <a:off x="4139956" y="1649138"/>
            <a:ext cx="4185618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400" b="1" dirty="0"/>
              <a:t>Недостатки</a:t>
            </a:r>
          </a:p>
        </p:txBody>
      </p:sp>
      <p:sp>
        <p:nvSpPr>
          <p:cNvPr id="14" name="Объект 8">
            <a:extLst>
              <a:ext uri="{FF2B5EF4-FFF2-40B4-BE49-F238E27FC236}">
                <a16:creationId xmlns:a16="http://schemas.microsoft.com/office/drawing/2014/main" id="{C6CA9E6E-FCD3-F7AB-3551-AD848A800A21}"/>
              </a:ext>
            </a:extLst>
          </p:cNvPr>
          <p:cNvSpPr txBox="1">
            <a:spLocks/>
          </p:cNvSpPr>
          <p:nvPr/>
        </p:nvSpPr>
        <p:spPr>
          <a:xfrm>
            <a:off x="4139952" y="2205063"/>
            <a:ext cx="4844681" cy="188415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Комбинаторный рост избыточности </a:t>
            </a:r>
            <a:br>
              <a:rPr lang="ru-RU" dirty="0"/>
            </a:br>
            <a:r>
              <a:rPr lang="ru-RU" dirty="0"/>
              <a:t>(</a:t>
            </a:r>
            <a:r>
              <a:rPr lang="en-GB" i="1" dirty="0"/>
              <a:t>n-1</a:t>
            </a:r>
            <a:r>
              <a:rPr lang="en-US" i="1" dirty="0"/>
              <a:t> </a:t>
            </a:r>
            <a:r>
              <a:rPr lang="ru-RU" i="1" dirty="0"/>
              <a:t>строка для узла на </a:t>
            </a:r>
            <a:r>
              <a:rPr lang="en-GB" i="1" dirty="0"/>
              <a:t>n </a:t>
            </a:r>
            <a:r>
              <a:rPr lang="ru-RU" i="1" dirty="0"/>
              <a:t>уровне</a:t>
            </a:r>
            <a:r>
              <a:rPr lang="ru-RU" dirty="0"/>
              <a:t>)</a:t>
            </a:r>
          </a:p>
          <a:p>
            <a:r>
              <a:rPr lang="ru-RU" dirty="0"/>
              <a:t>Усложняется вставка узла </a:t>
            </a:r>
          </a:p>
          <a:p>
            <a:r>
              <a:rPr lang="ru-RU" dirty="0"/>
              <a:t>Усложняется перемещение узла</a:t>
            </a:r>
          </a:p>
          <a:p>
            <a:endParaRPr lang="ru-RU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530C46FC-BD01-C264-5300-AA548A0C26FF}"/>
              </a:ext>
            </a:extLst>
          </p:cNvPr>
          <p:cNvSpPr txBox="1">
            <a:spLocks/>
          </p:cNvSpPr>
          <p:nvPr/>
        </p:nvSpPr>
        <p:spPr>
          <a:xfrm>
            <a:off x="0" y="3535653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2400" b="1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Применение</a:t>
            </a:r>
          </a:p>
        </p:txBody>
      </p:sp>
      <p:sp>
        <p:nvSpPr>
          <p:cNvPr id="16" name="Объект 6">
            <a:extLst>
              <a:ext uri="{FF2B5EF4-FFF2-40B4-BE49-F238E27FC236}">
                <a16:creationId xmlns:a16="http://schemas.microsoft.com/office/drawing/2014/main" id="{361AA816-A228-9DFE-3690-FA11678F872D}"/>
              </a:ext>
            </a:extLst>
          </p:cNvPr>
          <p:cNvSpPr txBox="1">
            <a:spLocks/>
          </p:cNvSpPr>
          <p:nvPr/>
        </p:nvSpPr>
        <p:spPr>
          <a:xfrm>
            <a:off x="120159" y="4089216"/>
            <a:ext cx="4716312" cy="250813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ru-RU" sz="2000" dirty="0"/>
              <a:t>выполнение операции на поддереве, </a:t>
            </a:r>
            <a:br>
              <a:rPr lang="ru-RU" sz="2000" dirty="0"/>
            </a:br>
            <a:r>
              <a:rPr lang="ru-RU" i="1" dirty="0"/>
              <a:t>например, вычисление суммарных значений по ведомости материалов; </a:t>
            </a:r>
          </a:p>
          <a:p>
            <a:pPr lvl="1"/>
            <a:r>
              <a:rPr lang="ru-RU" sz="2000" dirty="0"/>
              <a:t>передача данных вниз от родителя детям или вверх от детей родителям. 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4F8BF7-57A2-795E-C850-DBBE08BFE19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659" y="3807588"/>
            <a:ext cx="2971096" cy="250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53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BC1FB-1923-61A3-67AC-85959C997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Материализованный путь</a:t>
            </a:r>
            <a:br>
              <a:rPr lang="ru-RU" dirty="0"/>
            </a:br>
            <a:r>
              <a:rPr lang="ru-RU" sz="1200" i="1" dirty="0"/>
              <a:t>Идея метода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5EFE7C-770D-A9FC-1DBA-1524D6A07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800200"/>
          </a:xfrm>
        </p:spPr>
        <p:txBody>
          <a:bodyPr/>
          <a:lstStyle/>
          <a:p>
            <a:r>
              <a:rPr lang="ru-RU" dirty="0"/>
              <a:t>Суть метода заключается в хранении пути от вершины до данного узла в явном виде и в качестве ключа. </a:t>
            </a:r>
          </a:p>
          <a:p>
            <a:r>
              <a:rPr lang="ru-RU" dirty="0"/>
              <a:t>Концептуально основан на подходе вложенности и множественном представлении деревьев.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6E1E05-13CD-6543-6C7A-202A9DE7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12BB0E-6C64-AAB9-DA13-95230D1F71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49" y="3404709"/>
            <a:ext cx="8418521" cy="253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57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98F0C-ECAF-6670-BAEB-E1E55CE4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Материализованный путь</a:t>
            </a:r>
            <a:br>
              <a:rPr lang="ru-RU" dirty="0"/>
            </a:br>
            <a:r>
              <a:rPr lang="ru-RU" sz="1200" i="1" dirty="0"/>
              <a:t>Схема хранения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60E08C-DE37-5BC7-35C0-5F42D4E62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8DBF13-1D09-A1D4-DD4B-F799BC86806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05" y="2508280"/>
            <a:ext cx="3139923" cy="2136291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B490853-8091-2862-6431-59A9DB768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90994"/>
              </p:ext>
            </p:extLst>
          </p:nvPr>
        </p:nvGraphicFramePr>
        <p:xfrm>
          <a:off x="3911602" y="1451427"/>
          <a:ext cx="5020731" cy="4302991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60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 err="1">
                          <a:effectLst/>
                        </a:rPr>
                        <a:t>NodeId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 err="1">
                          <a:effectLst/>
                        </a:rPr>
                        <a:t>NodePath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b="1" dirty="0" err="1">
                          <a:effectLst/>
                        </a:rPr>
                        <a:t>NodeData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“1.”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*  *  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“1.1.”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*  *  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“1.1.1.”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*  *  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“1.1.2.”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*  *  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“1.2.”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*  *  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71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“1.2.2.”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*  *  *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863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82BA5-1DFE-61FC-C3E6-9B1299E2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Материализованный путь</a:t>
            </a:r>
            <a:br>
              <a:rPr lang="ru-RU" dirty="0"/>
            </a:br>
            <a:r>
              <a:rPr lang="ru-RU" sz="1200" i="1" dirty="0"/>
              <a:t>Запросы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0E5698-560D-91C9-32C5-CA57CE15F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7ABF18B-04AB-4113-F764-EFEF15CB5F78}"/>
              </a:ext>
            </a:extLst>
          </p:cNvPr>
          <p:cNvSpPr/>
          <p:nvPr/>
        </p:nvSpPr>
        <p:spPr>
          <a:xfrm>
            <a:off x="677334" y="2121807"/>
            <a:ext cx="609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    </a:t>
            </a:r>
            <a:r>
              <a:rPr lang="en-GB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odeID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From     Table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Where     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NodePath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'1.2.%'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D1E4D-0D2D-668B-8D73-DF38E59B3D8D}"/>
              </a:ext>
            </a:extLst>
          </p:cNvPr>
          <p:cNvSpPr txBox="1"/>
          <p:nvPr/>
        </p:nvSpPr>
        <p:spPr>
          <a:xfrm>
            <a:off x="677334" y="1539843"/>
            <a:ext cx="654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Выбрать всех потомков для заданной вершины (с путем “1.2.”)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D66ECA-B04A-9CFA-FDDA-69628EB2C5DD}"/>
              </a:ext>
            </a:extLst>
          </p:cNvPr>
          <p:cNvSpPr/>
          <p:nvPr/>
        </p:nvSpPr>
        <p:spPr>
          <a:xfrm>
            <a:off x="733007" y="4154053"/>
            <a:ext cx="810380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t2.*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GB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t1, Table t2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t1.NodeId=3 AND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t2.NodePath=SUBSTRING( t1.NodePath, 1, (LENGTH(t1. 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NodePath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LOCATE('.', REVERSE(t1. 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NodePath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))));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40E11-D33F-58B0-A3A2-1034F1B82C46}"/>
              </a:ext>
            </a:extLst>
          </p:cNvPr>
          <p:cNvSpPr txBox="1"/>
          <p:nvPr/>
        </p:nvSpPr>
        <p:spPr>
          <a:xfrm>
            <a:off x="712759" y="3725612"/>
            <a:ext cx="19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Поиск родителя</a:t>
            </a:r>
          </a:p>
        </p:txBody>
      </p:sp>
    </p:spTree>
    <p:extLst>
      <p:ext uri="{BB962C8B-B14F-4D97-AF65-F5344CB8AC3E}">
        <p14:creationId xmlns:p14="http://schemas.microsoft.com/office/powerpoint/2010/main" val="1210657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42CAF-0C40-70D1-A762-A0F65477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Материализованный путь </a:t>
            </a:r>
            <a:br>
              <a:rPr lang="ru-RU" dirty="0"/>
            </a:br>
            <a:r>
              <a:rPr lang="ru-RU" sz="1200" i="1" dirty="0"/>
              <a:t>Особенности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6FA8E2-DD84-0477-ADD4-383C67D54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9D8EEA55-F352-B231-35F4-E5CA28CE0403}"/>
              </a:ext>
            </a:extLst>
          </p:cNvPr>
          <p:cNvSpPr txBox="1">
            <a:spLocks/>
          </p:cNvSpPr>
          <p:nvPr/>
        </p:nvSpPr>
        <p:spPr>
          <a:xfrm>
            <a:off x="539552" y="1700609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Достоинства</a:t>
            </a:r>
          </a:p>
        </p:txBody>
      </p:sp>
      <p:sp>
        <p:nvSpPr>
          <p:cNvPr id="6" name="Объект 6">
            <a:extLst>
              <a:ext uri="{FF2B5EF4-FFF2-40B4-BE49-F238E27FC236}">
                <a16:creationId xmlns:a16="http://schemas.microsoft.com/office/drawing/2014/main" id="{5416BAC0-3652-F7A2-B00B-CDB3429029B7}"/>
              </a:ext>
            </a:extLst>
          </p:cNvPr>
          <p:cNvSpPr txBox="1">
            <a:spLocks/>
          </p:cNvSpPr>
          <p:nvPr/>
        </p:nvSpPr>
        <p:spPr>
          <a:xfrm>
            <a:off x="539553" y="2276872"/>
            <a:ext cx="3816424" cy="160252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Простота</a:t>
            </a:r>
          </a:p>
          <a:p>
            <a:r>
              <a:rPr lang="ru-RU" dirty="0"/>
              <a:t>Небольшая избыточность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E85180F6-2EE5-4916-CDCC-CF888F37B3C5}"/>
              </a:ext>
            </a:extLst>
          </p:cNvPr>
          <p:cNvSpPr txBox="1">
            <a:spLocks/>
          </p:cNvSpPr>
          <p:nvPr/>
        </p:nvSpPr>
        <p:spPr>
          <a:xfrm>
            <a:off x="4321463" y="1759889"/>
            <a:ext cx="4185618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Недостатки</a:t>
            </a:r>
          </a:p>
        </p:txBody>
      </p:sp>
      <p:sp>
        <p:nvSpPr>
          <p:cNvPr id="8" name="Объект 8">
            <a:extLst>
              <a:ext uri="{FF2B5EF4-FFF2-40B4-BE49-F238E27FC236}">
                <a16:creationId xmlns:a16="http://schemas.microsoft.com/office/drawing/2014/main" id="{09499A95-0949-67B5-5656-ED726DC13517}"/>
              </a:ext>
            </a:extLst>
          </p:cNvPr>
          <p:cNvSpPr txBox="1">
            <a:spLocks/>
          </p:cNvSpPr>
          <p:nvPr/>
        </p:nvSpPr>
        <p:spPr>
          <a:xfrm>
            <a:off x="4427985" y="2276871"/>
            <a:ext cx="4709824" cy="1285347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Ограничение на глубину дерева</a:t>
            </a:r>
          </a:p>
          <a:p>
            <a:r>
              <a:rPr lang="ru-RU" dirty="0"/>
              <a:t>Сложность оптимизации запросов текстового поиска</a:t>
            </a:r>
          </a:p>
          <a:p>
            <a:endParaRPr lang="ru-RU" dirty="0"/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C8B7F4F-7A03-A57A-D456-AE91DF5967D7}"/>
              </a:ext>
            </a:extLst>
          </p:cNvPr>
          <p:cNvSpPr txBox="1">
            <a:spLocks/>
          </p:cNvSpPr>
          <p:nvPr/>
        </p:nvSpPr>
        <p:spPr>
          <a:xfrm>
            <a:off x="43715" y="3506307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>
                <a:solidFill>
                  <a:schemeClr val="tx1"/>
                </a:solidFill>
              </a:rPr>
              <a:t>Применение</a:t>
            </a:r>
          </a:p>
        </p:txBody>
      </p:sp>
      <p:sp>
        <p:nvSpPr>
          <p:cNvPr id="10" name="Объект 6">
            <a:extLst>
              <a:ext uri="{FF2B5EF4-FFF2-40B4-BE49-F238E27FC236}">
                <a16:creationId xmlns:a16="http://schemas.microsoft.com/office/drawing/2014/main" id="{1339652A-4464-8D8C-F182-BEB87CCA9B75}"/>
              </a:ext>
            </a:extLst>
          </p:cNvPr>
          <p:cNvSpPr txBox="1">
            <a:spLocks/>
          </p:cNvSpPr>
          <p:nvPr/>
        </p:nvSpPr>
        <p:spPr>
          <a:xfrm>
            <a:off x="374816" y="4483697"/>
            <a:ext cx="3549112" cy="16025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ru-RU" sz="2000" dirty="0"/>
              <a:t>Работа с уровнями</a:t>
            </a:r>
          </a:p>
          <a:p>
            <a:pPr lvl="1"/>
            <a:r>
              <a:rPr lang="ru-RU" sz="2000" dirty="0"/>
              <a:t>Естественная поддержка списков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A3CA37-0F0D-603E-8BB4-D368DDA9601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54"/>
          <a:stretch/>
        </p:blipFill>
        <p:spPr>
          <a:xfrm>
            <a:off x="4270709" y="3886119"/>
            <a:ext cx="4287125" cy="21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77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C79A0-4FDA-CD2F-4A81-1BBF1758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Множественная модель дерева </a:t>
            </a:r>
            <a:br>
              <a:rPr lang="ru-RU" dirty="0"/>
            </a:br>
            <a:r>
              <a:rPr lang="ru-RU" sz="1200" i="1" dirty="0"/>
              <a:t>Идея метода и схема хранения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ABF35D-9C42-444D-559F-43C4B4D8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744D1F-D390-B220-16C3-DEF82095181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772" y="1440635"/>
            <a:ext cx="5208835" cy="4553284"/>
          </a:xfrm>
          <a:prstGeom prst="rect">
            <a:avLst/>
          </a:prstGeom>
        </p:spPr>
      </p:pic>
      <p:sp>
        <p:nvSpPr>
          <p:cNvPr id="9" name="Объект 6">
            <a:extLst>
              <a:ext uri="{FF2B5EF4-FFF2-40B4-BE49-F238E27FC236}">
                <a16:creationId xmlns:a16="http://schemas.microsoft.com/office/drawing/2014/main" id="{590247DB-B622-CA46-4BBE-88A4E774B8A7}"/>
              </a:ext>
            </a:extLst>
          </p:cNvPr>
          <p:cNvSpPr txBox="1">
            <a:spLocks/>
          </p:cNvSpPr>
          <p:nvPr/>
        </p:nvSpPr>
        <p:spPr>
          <a:xfrm>
            <a:off x="386377" y="1440635"/>
            <a:ext cx="4185623" cy="21916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Joe</a:t>
            </a:r>
            <a:r>
              <a:rPr lang="ru-RU" dirty="0"/>
              <a:t> </a:t>
            </a:r>
            <a:r>
              <a:rPr lang="ru-RU" dirty="0" err="1"/>
              <a:t>Celko</a:t>
            </a:r>
            <a:endParaRPr lang="ru-RU" dirty="0"/>
          </a:p>
          <a:p>
            <a:r>
              <a:rPr lang="ru-RU" dirty="0"/>
              <a:t>два дополнительных целочисленных поля </a:t>
            </a:r>
            <a:r>
              <a:rPr lang="ru-RU" dirty="0" err="1"/>
              <a:t>Left</a:t>
            </a:r>
            <a:r>
              <a:rPr lang="ru-RU" dirty="0"/>
              <a:t> и </a:t>
            </a:r>
            <a:r>
              <a:rPr lang="ru-RU" dirty="0" err="1"/>
              <a:t>Right</a:t>
            </a:r>
            <a:r>
              <a:rPr lang="ru-RU" dirty="0"/>
              <a:t>, в которые заносятся результаты обхода дерева, начиная с корня</a:t>
            </a:r>
          </a:p>
          <a:p>
            <a:r>
              <a:rPr lang="ru-RU" dirty="0"/>
              <a:t>Размер узла = (</a:t>
            </a:r>
            <a:r>
              <a:rPr lang="ru-RU" dirty="0" err="1"/>
              <a:t>right</a:t>
            </a:r>
            <a:r>
              <a:rPr lang="ru-RU" dirty="0"/>
              <a:t> – </a:t>
            </a:r>
            <a:r>
              <a:rPr lang="ru-RU" dirty="0" err="1"/>
              <a:t>left</a:t>
            </a:r>
            <a:r>
              <a:rPr lang="ru-RU" dirty="0"/>
              <a:t>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084FFD-D9F7-313C-32F2-C46872ED665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44" y="4064266"/>
            <a:ext cx="2613660" cy="235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98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47886-B4DA-5150-8C51-2FB4F1CB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Множественная модель дерева </a:t>
            </a:r>
            <a:br>
              <a:rPr lang="ru-RU" dirty="0"/>
            </a:br>
            <a:r>
              <a:rPr lang="ru-RU" sz="1200" i="1" dirty="0"/>
              <a:t>Примеры запросов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5D1316-9ED7-891A-B970-05C1D4C4E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0ED776-8479-620F-CD5E-95339F44C56C}"/>
              </a:ext>
            </a:extLst>
          </p:cNvPr>
          <p:cNvSpPr/>
          <p:nvPr/>
        </p:nvSpPr>
        <p:spPr>
          <a:xfrm>
            <a:off x="467544" y="2063821"/>
            <a:ext cx="30238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</a:p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Personnel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b="1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b="1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= 1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2B7F2-AA53-858D-2412-DEA352161D61}"/>
              </a:ext>
            </a:extLst>
          </p:cNvPr>
          <p:cNvSpPr txBox="1"/>
          <p:nvPr/>
        </p:nvSpPr>
        <p:spPr>
          <a:xfrm>
            <a:off x="467544" y="1660183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Поиск листьев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C24D1D-88DB-91E6-8EE0-96F0C89F21BC}"/>
              </a:ext>
            </a:extLst>
          </p:cNvPr>
          <p:cNvSpPr/>
          <p:nvPr/>
        </p:nvSpPr>
        <p:spPr>
          <a:xfrm>
            <a:off x="5126315" y="2029515"/>
            <a:ext cx="30238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Personnel 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= (right - 1); </a:t>
            </a:r>
            <a:endParaRPr lang="ru-RU" b="1" dirty="0">
              <a:solidFill>
                <a:srgbClr val="C0000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 вправо 3">
            <a:extLst>
              <a:ext uri="{FF2B5EF4-FFF2-40B4-BE49-F238E27FC236}">
                <a16:creationId xmlns:a16="http://schemas.microsoft.com/office/drawing/2014/main" id="{CD130CD3-2BE4-451B-E242-3BAD3022A91E}"/>
              </a:ext>
            </a:extLst>
          </p:cNvPr>
          <p:cNvSpPr/>
          <p:nvPr/>
        </p:nvSpPr>
        <p:spPr>
          <a:xfrm>
            <a:off x="3592953" y="2311997"/>
            <a:ext cx="1059543" cy="333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CE76ACBC-0064-E382-098D-0EF0416CC87B}"/>
              </a:ext>
            </a:extLst>
          </p:cNvPr>
          <p:cNvSpPr txBox="1">
            <a:spLocks/>
          </p:cNvSpPr>
          <p:nvPr/>
        </p:nvSpPr>
        <p:spPr>
          <a:xfrm>
            <a:off x="498067" y="3429000"/>
            <a:ext cx="8237841" cy="22685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Вложенные элементы</a:t>
            </a:r>
            <a:r>
              <a:rPr lang="en-US" dirty="0"/>
              <a:t> </a:t>
            </a:r>
            <a:r>
              <a:rPr lang="ru-RU" dirty="0"/>
              <a:t>узла</a:t>
            </a:r>
            <a:r>
              <a:rPr lang="en-GB" dirty="0"/>
              <a:t/>
            </a:r>
            <a:br>
              <a:rPr lang="en-GB" dirty="0"/>
            </a:br>
            <a:r>
              <a:rPr lang="ru-RU" dirty="0"/>
              <a:t> </a:t>
            </a:r>
            <a:r>
              <a:rPr lang="ru-RU" i="1" dirty="0" err="1"/>
              <a:t>Left</a:t>
            </a:r>
            <a:r>
              <a:rPr lang="ru-RU" i="1" dirty="0"/>
              <a:t>(предка)&lt;</a:t>
            </a:r>
            <a:r>
              <a:rPr lang="ru-RU" i="1" dirty="0" err="1"/>
              <a:t>Left</a:t>
            </a:r>
            <a:r>
              <a:rPr lang="ru-RU" i="1" dirty="0"/>
              <a:t>(потомка) AND </a:t>
            </a:r>
            <a:r>
              <a:rPr lang="ru-RU" i="1" dirty="0" err="1"/>
              <a:t>Right</a:t>
            </a:r>
            <a:r>
              <a:rPr lang="ru-RU" i="1" dirty="0"/>
              <a:t>(предка)&gt;</a:t>
            </a:r>
            <a:r>
              <a:rPr lang="ru-RU" i="1" dirty="0" err="1"/>
              <a:t>Right</a:t>
            </a:r>
            <a:r>
              <a:rPr lang="ru-RU" i="1" dirty="0"/>
              <a:t>(потомка)</a:t>
            </a:r>
            <a:endParaRPr lang="ru-RU" dirty="0"/>
          </a:p>
          <a:p>
            <a:r>
              <a:rPr lang="ru-RU" dirty="0"/>
              <a:t>Уровень элемента – число (</a:t>
            </a:r>
            <a:r>
              <a:rPr lang="en-GB" dirty="0"/>
              <a:t>count) </a:t>
            </a:r>
            <a:r>
              <a:rPr lang="ru-RU" dirty="0"/>
              <a:t>его предков</a:t>
            </a:r>
            <a:r>
              <a:rPr lang="en-GB" dirty="0"/>
              <a:t> </a:t>
            </a:r>
          </a:p>
          <a:p>
            <a:r>
              <a:rPr lang="ru-RU" dirty="0"/>
              <a:t>Количество узлов в дереве (число всех потомков конкретного узла) – (</a:t>
            </a:r>
            <a:r>
              <a:rPr lang="ru-RU" dirty="0" err="1"/>
              <a:t>Root.Right</a:t>
            </a:r>
            <a:r>
              <a:rPr lang="ru-RU" dirty="0"/>
              <a:t> - </a:t>
            </a:r>
            <a:r>
              <a:rPr lang="ru-RU" dirty="0" err="1"/>
              <a:t>Root.Left</a:t>
            </a:r>
            <a:r>
              <a:rPr lang="ru-RU" dirty="0"/>
              <a:t> +1) /2</a:t>
            </a:r>
            <a:endParaRPr lang="en-GB" dirty="0"/>
          </a:p>
          <a:p>
            <a:r>
              <a:rPr lang="en-GB" dirty="0"/>
              <a:t>* * *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6317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C03DD-226E-F1AA-2E69-26FAEC91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Множественная модель дерева </a:t>
            </a:r>
            <a:br>
              <a:rPr lang="ru-RU" dirty="0"/>
            </a:br>
            <a:r>
              <a:rPr lang="ru-RU" sz="1200" i="1" dirty="0"/>
              <a:t>Особенности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A4CB2B-0BFC-6D18-B772-AD50BD306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C10584F9-1D1C-06C3-30C8-DE7C288D5742}"/>
              </a:ext>
            </a:extLst>
          </p:cNvPr>
          <p:cNvSpPr txBox="1">
            <a:spLocks/>
          </p:cNvSpPr>
          <p:nvPr/>
        </p:nvSpPr>
        <p:spPr>
          <a:xfrm>
            <a:off x="687093" y="1734294"/>
            <a:ext cx="3360706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400" b="1" dirty="0"/>
              <a:t>Достоинства</a:t>
            </a:r>
          </a:p>
        </p:txBody>
      </p:sp>
      <p:sp>
        <p:nvSpPr>
          <p:cNvPr id="6" name="Объект 6">
            <a:extLst>
              <a:ext uri="{FF2B5EF4-FFF2-40B4-BE49-F238E27FC236}">
                <a16:creationId xmlns:a16="http://schemas.microsoft.com/office/drawing/2014/main" id="{05C2BE21-7FA7-C9AE-FCDF-802EF86781B2}"/>
              </a:ext>
            </a:extLst>
          </p:cNvPr>
          <p:cNvSpPr txBox="1">
            <a:spLocks/>
          </p:cNvSpPr>
          <p:nvPr/>
        </p:nvSpPr>
        <p:spPr>
          <a:xfrm>
            <a:off x="687092" y="2310557"/>
            <a:ext cx="4185623" cy="160252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Простота</a:t>
            </a:r>
          </a:p>
          <a:p>
            <a:r>
              <a:rPr lang="ru-RU" dirty="0"/>
              <a:t>Маленькая избыточность</a:t>
            </a:r>
          </a:p>
          <a:p>
            <a:r>
              <a:rPr lang="ru-RU" dirty="0"/>
              <a:t>Простые запросы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06B04FFB-3C7E-734E-DB83-D42B68FA5B05}"/>
              </a:ext>
            </a:extLst>
          </p:cNvPr>
          <p:cNvSpPr txBox="1">
            <a:spLocks/>
          </p:cNvSpPr>
          <p:nvPr/>
        </p:nvSpPr>
        <p:spPr>
          <a:xfrm>
            <a:off x="5099730" y="1734294"/>
            <a:ext cx="3360702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400" b="1"/>
              <a:t>Недостатки</a:t>
            </a:r>
            <a:endParaRPr lang="ru-RU" sz="2400" b="1" dirty="0"/>
          </a:p>
        </p:txBody>
      </p:sp>
      <p:sp>
        <p:nvSpPr>
          <p:cNvPr id="8" name="Объект 8">
            <a:extLst>
              <a:ext uri="{FF2B5EF4-FFF2-40B4-BE49-F238E27FC236}">
                <a16:creationId xmlns:a16="http://schemas.microsoft.com/office/drawing/2014/main" id="{828A54FF-306F-E9EA-94E4-40D9B9BF616B}"/>
              </a:ext>
            </a:extLst>
          </p:cNvPr>
          <p:cNvSpPr txBox="1">
            <a:spLocks/>
          </p:cNvSpPr>
          <p:nvPr/>
        </p:nvSpPr>
        <p:spPr>
          <a:xfrm>
            <a:off x="4798703" y="2310556"/>
            <a:ext cx="4185617" cy="16025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Сложность модификации данных</a:t>
            </a:r>
          </a:p>
          <a:p>
            <a:r>
              <a:rPr lang="ru-RU" dirty="0"/>
              <a:t>Сложность поддержки целостности</a:t>
            </a:r>
          </a:p>
          <a:p>
            <a:endParaRPr lang="ru-RU" dirty="0"/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E5525059-C7D0-DAA2-4B22-75F0DED26B1E}"/>
              </a:ext>
            </a:extLst>
          </p:cNvPr>
          <p:cNvSpPr txBox="1">
            <a:spLocks/>
          </p:cNvSpPr>
          <p:nvPr/>
        </p:nvSpPr>
        <p:spPr>
          <a:xfrm>
            <a:off x="150911" y="3884034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2400" b="1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Применение</a:t>
            </a:r>
          </a:p>
        </p:txBody>
      </p:sp>
      <p:sp>
        <p:nvSpPr>
          <p:cNvPr id="10" name="Объект 6">
            <a:extLst>
              <a:ext uri="{FF2B5EF4-FFF2-40B4-BE49-F238E27FC236}">
                <a16:creationId xmlns:a16="http://schemas.microsoft.com/office/drawing/2014/main" id="{ED81FFB5-831E-FEEA-2DAB-8268D370EEC3}"/>
              </a:ext>
            </a:extLst>
          </p:cNvPr>
          <p:cNvSpPr txBox="1">
            <a:spLocks/>
          </p:cNvSpPr>
          <p:nvPr/>
        </p:nvSpPr>
        <p:spPr>
          <a:xfrm>
            <a:off x="251520" y="4601799"/>
            <a:ext cx="3456384" cy="199555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ru-RU" sz="2000" dirty="0"/>
              <a:t>Работа с мало изменяющимися (статическими) структурами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A8C11E-5627-A7EC-BABA-ED4931DF68E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637" y="4017461"/>
            <a:ext cx="2880468" cy="247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3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416B8-4B0A-B479-D5BA-3419549D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методов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8F0C9C-7210-2AA1-BEB4-5953D0798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D17ABB7-1BEE-6614-B2C7-8273D6D397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429296"/>
              </p:ext>
            </p:extLst>
          </p:nvPr>
        </p:nvGraphicFramePr>
        <p:xfrm>
          <a:off x="321138" y="1381730"/>
          <a:ext cx="8424937" cy="5437017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2221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59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Модель с рекурсивным указателем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Рекурсивная ссылка </a:t>
                      </a:r>
                      <a:b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с глубиной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</a:rPr>
                        <a:t>Материализо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-ванный путь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Множественная модель дерева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837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Простота структуры (число таблиц/ссылок/ минимальное число полей)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1/1/2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2/2/4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1/0/2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1/0/3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Выборка потомков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Выборка поддерева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рекурсия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Выборка всех предков (пути)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рекурсия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5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Подсчет количества потомков узла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рекурсия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Определение уровня узла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рекурсия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Порядок следования узлов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69461"/>
                          </a:solidFill>
                          <a:effectLst/>
                        </a:rPr>
                        <a:t>да</a:t>
                      </a:r>
                      <a:endParaRPr lang="ru-RU" sz="1400" b="1" dirty="0">
                        <a:solidFill>
                          <a:srgbClr val="36946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69461"/>
                          </a:solidFill>
                          <a:effectLst/>
                        </a:rPr>
                        <a:t>да</a:t>
                      </a:r>
                      <a:endParaRPr lang="ru-RU" sz="1400" b="1" dirty="0">
                        <a:solidFill>
                          <a:srgbClr val="36946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554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Вставка узлов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-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Перемещение поддерева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Удаление поддерева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каскадное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каскадное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59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Избыточность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69461"/>
                          </a:solidFill>
                          <a:effectLst/>
                        </a:rPr>
                        <a:t>мин</a:t>
                      </a:r>
                      <a:endParaRPr lang="ru-RU" sz="1400" b="1" dirty="0">
                        <a:solidFill>
                          <a:srgbClr val="36946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высокая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средняя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средняя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505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Ограничения </a:t>
                      </a:r>
                      <a:r>
                        <a:rPr lang="ru-RU" sz="1200" b="1" dirty="0" smtClean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ru-RU" sz="1200" b="1" dirty="0" smtClean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200" b="1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число уровней дерева)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нет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 (кроме памяти)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да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505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Дополнительная поддержка целостности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средняя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средняя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сложная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</a:rPr>
                        <a:t>сложная</a:t>
                      </a:r>
                      <a:endParaRPr lang="ru-RU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6" marR="31546" marT="31546" marB="3154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8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94629-AB28-7A05-39CB-B97B272C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Операции над графом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AD2BBC-A165-8DEF-9C42-B30E4E524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024" y="1516605"/>
            <a:ext cx="3672408" cy="4752528"/>
          </a:xfrm>
        </p:spPr>
        <p:txBody>
          <a:bodyPr anchor="t">
            <a:normAutofit/>
          </a:bodyPr>
          <a:lstStyle/>
          <a:p>
            <a:r>
              <a:rPr lang="ru-RU" dirty="0"/>
              <a:t>Добавление вершины</a:t>
            </a:r>
          </a:p>
          <a:p>
            <a:r>
              <a:rPr lang="ru-RU" dirty="0"/>
              <a:t>Удаление вершины</a:t>
            </a:r>
          </a:p>
          <a:p>
            <a:r>
              <a:rPr lang="ru-RU" dirty="0"/>
              <a:t>Добавление дуги</a:t>
            </a:r>
          </a:p>
          <a:p>
            <a:r>
              <a:rPr lang="ru-RU" dirty="0"/>
              <a:t>Удаление дуги</a:t>
            </a:r>
          </a:p>
          <a:p>
            <a:r>
              <a:rPr lang="ru-RU" dirty="0"/>
              <a:t>Удалить вершины с только входными дугами</a:t>
            </a:r>
          </a:p>
          <a:p>
            <a:r>
              <a:rPr lang="ru-RU" dirty="0"/>
              <a:t>Удалить вершины с только выходными дугами</a:t>
            </a:r>
          </a:p>
          <a:p>
            <a:r>
              <a:rPr lang="ru-RU" dirty="0"/>
              <a:t>…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F2074C-B9A6-A648-8DAD-0C254AD94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2416DBE-6082-8BEE-26F5-D2011384CEC7}"/>
              </a:ext>
            </a:extLst>
          </p:cNvPr>
          <p:cNvSpPr txBox="1">
            <a:spLocks/>
          </p:cNvSpPr>
          <p:nvPr/>
        </p:nvSpPr>
        <p:spPr>
          <a:xfrm>
            <a:off x="683568" y="1516605"/>
            <a:ext cx="3672408" cy="47525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Определить смежность вершин</a:t>
            </a:r>
          </a:p>
          <a:p>
            <a:r>
              <a:rPr lang="ru-RU" dirty="0"/>
              <a:t>Определить инцидентность узла к ребру</a:t>
            </a:r>
          </a:p>
          <a:p>
            <a:r>
              <a:rPr lang="ru-RU" dirty="0"/>
              <a:t>Найти путь между двумя вершинами</a:t>
            </a:r>
          </a:p>
          <a:p>
            <a:r>
              <a:rPr lang="ru-RU" dirty="0"/>
              <a:t>Найти подграф, обладающий заданными свойствами </a:t>
            </a:r>
            <a:br>
              <a:rPr lang="ru-RU" dirty="0"/>
            </a:br>
            <a:r>
              <a:rPr lang="ru-RU" dirty="0"/>
              <a:t>(опорное дерево, если это возможно)</a:t>
            </a:r>
          </a:p>
          <a:p>
            <a:r>
              <a:rPr lang="ru-RU" dirty="0"/>
              <a:t>Определить наличие циклов в графе и найти их</a:t>
            </a:r>
          </a:p>
          <a:p>
            <a:r>
              <a:rPr lang="ru-RU" dirty="0"/>
              <a:t>Выделить вершины с только входными дугами</a:t>
            </a:r>
          </a:p>
          <a:p>
            <a:r>
              <a:rPr lang="ru-RU" dirty="0"/>
              <a:t>Выделить вершины с только выходными дугами</a:t>
            </a:r>
          </a:p>
          <a:p>
            <a:r>
              <a:rPr lang="ru-RU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146625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19663-ECFF-EBF6-84C4-9A999CE6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графов: матрица смежности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CDFD4-7F7C-6A95-6505-34E016BC9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296144"/>
          </a:xfrm>
        </p:spPr>
        <p:txBody>
          <a:bodyPr anchor="t"/>
          <a:lstStyle/>
          <a:p>
            <a:r>
              <a:rPr lang="ru-RU" dirty="0"/>
              <a:t>Методы представления</a:t>
            </a:r>
          </a:p>
          <a:p>
            <a:pPr lvl="1"/>
            <a:r>
              <a:rPr lang="ru-RU" b="1" dirty="0"/>
              <a:t>Матрица смежности </a:t>
            </a:r>
          </a:p>
          <a:p>
            <a:pPr lvl="1"/>
            <a:r>
              <a:rPr lang="ru-RU" dirty="0"/>
              <a:t>Лес деревьев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2ECD3A-D0A5-3B4B-66AB-046DA6AE7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032F7D-54B2-E7DB-63FD-59BA8772B00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741" y="2932316"/>
            <a:ext cx="8363027" cy="3591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Объект 7">
            <a:extLst>
              <a:ext uri="{FF2B5EF4-FFF2-40B4-BE49-F238E27FC236}">
                <a16:creationId xmlns:a16="http://schemas.microsoft.com/office/drawing/2014/main" id="{1C482B3A-A184-FC8C-3BFA-7A5D73F0751A}"/>
              </a:ext>
            </a:extLst>
          </p:cNvPr>
          <p:cNvSpPr txBox="1">
            <a:spLocks/>
          </p:cNvSpPr>
          <p:nvPr/>
        </p:nvSpPr>
        <p:spPr>
          <a:xfrm>
            <a:off x="395536" y="5155627"/>
            <a:ext cx="3749523" cy="170783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Сложные операции поиска пути и связанные с ним</a:t>
            </a:r>
          </a:p>
          <a:p>
            <a:r>
              <a:rPr lang="ru-RU"/>
              <a:t>Сложное поддержание целостности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750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19663-ECFF-EBF6-84C4-9A999CE6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графов: лес деревьев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CDFD4-7F7C-6A95-6505-34E016BC9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296144"/>
          </a:xfrm>
        </p:spPr>
        <p:txBody>
          <a:bodyPr anchor="t"/>
          <a:lstStyle/>
          <a:p>
            <a:r>
              <a:rPr lang="ru-RU" dirty="0"/>
              <a:t>Методы представления</a:t>
            </a:r>
          </a:p>
          <a:p>
            <a:pPr lvl="1"/>
            <a:r>
              <a:rPr lang="ru-RU" dirty="0"/>
              <a:t>Матрица смежности </a:t>
            </a:r>
          </a:p>
          <a:p>
            <a:pPr lvl="1"/>
            <a:r>
              <a:rPr lang="ru-RU" b="1" dirty="0"/>
              <a:t>Лес деревьев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2ECD3A-D0A5-3B4B-66AB-046DA6AE7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Объект 7">
            <a:extLst>
              <a:ext uri="{FF2B5EF4-FFF2-40B4-BE49-F238E27FC236}">
                <a16:creationId xmlns:a16="http://schemas.microsoft.com/office/drawing/2014/main" id="{D542D734-0180-99E6-C87C-651E1D2A1BA5}"/>
              </a:ext>
            </a:extLst>
          </p:cNvPr>
          <p:cNvSpPr txBox="1">
            <a:spLocks/>
          </p:cNvSpPr>
          <p:nvPr/>
        </p:nvSpPr>
        <p:spPr>
          <a:xfrm>
            <a:off x="422955" y="5705989"/>
            <a:ext cx="8596668" cy="102168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Сложность эффективного разбиения графа</a:t>
            </a:r>
          </a:p>
          <a:p>
            <a:r>
              <a:rPr lang="ru-RU" dirty="0"/>
              <a:t>Характеристики итогового набора зависят от схемы хранения деревьев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FFFFB35-A23C-9DAF-2A49-D8286CF9F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518392"/>
              </p:ext>
            </p:extLst>
          </p:nvPr>
        </p:nvGraphicFramePr>
        <p:xfrm>
          <a:off x="589993" y="2536307"/>
          <a:ext cx="7883904" cy="3033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r:id="rId3" imgW="4029024" imgH="1552471" progId="Visio.Drawing.15">
                  <p:embed/>
                </p:oleObj>
              </mc:Choice>
              <mc:Fallback>
                <p:oleObj r:id="rId3" imgW="4029024" imgH="1552471" progId="Visio.Drawing.15">
                  <p:embed/>
                  <p:pic>
                    <p:nvPicPr>
                      <p:cNvPr id="4" name="Объект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93" y="2536307"/>
                        <a:ext cx="7883904" cy="30334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5738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Хронологические данные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D3727-5FCA-123C-6941-1A8399F7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7F082B-F7DE-D375-DC25-616FB5F4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200"/>
              </a:spcBef>
            </a:pPr>
            <a:r>
              <a:rPr lang="ru-RU" b="1" i="1" dirty="0">
                <a:solidFill>
                  <a:srgbClr val="369461"/>
                </a:solidFill>
              </a:rPr>
              <a:t>Изменение во времени</a:t>
            </a:r>
            <a:r>
              <a:rPr lang="ru-RU" dirty="0">
                <a:solidFill>
                  <a:srgbClr val="369461"/>
                </a:solidFill>
              </a:rPr>
              <a:t> состояния объекта</a:t>
            </a:r>
            <a:r>
              <a:rPr lang="ru-RU" b="1" i="1" dirty="0"/>
              <a:t>.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Задача хранить </a:t>
            </a:r>
            <a:r>
              <a:rPr lang="ru-RU" i="1" dirty="0"/>
              <a:t>историю изменения объекта,</a:t>
            </a:r>
            <a:r>
              <a:rPr lang="ru-RU" dirty="0"/>
              <a:t> например, документа, чтобы иметь возможность </a:t>
            </a:r>
            <a:r>
              <a:rPr lang="ru-RU" i="1" dirty="0"/>
              <a:t>восстановить его состояние в заданный момент времени.</a:t>
            </a:r>
            <a:r>
              <a:rPr lang="ru-RU" dirty="0"/>
              <a:t> </a:t>
            </a:r>
          </a:p>
          <a:p>
            <a:pPr lvl="1">
              <a:spcBef>
                <a:spcPts val="1200"/>
              </a:spcBef>
            </a:pPr>
            <a:r>
              <a:rPr lang="ru-RU" dirty="0">
                <a:solidFill>
                  <a:srgbClr val="C00000"/>
                </a:solidFill>
              </a:rPr>
              <a:t>Основное требование </a:t>
            </a:r>
            <a:r>
              <a:rPr lang="ru-RU" dirty="0"/>
              <a:t>-  приемлемое время отклика </a:t>
            </a:r>
            <a:br>
              <a:rPr lang="ru-RU" dirty="0"/>
            </a:br>
            <a:r>
              <a:rPr lang="ru-RU" dirty="0"/>
              <a:t>при восстановлении версии объекта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«</a:t>
            </a:r>
            <a:r>
              <a:rPr lang="ru-RU" b="1" i="1" dirty="0"/>
              <a:t>темпоральные базы данных</a:t>
            </a:r>
            <a:r>
              <a:rPr lang="ru-RU" dirty="0"/>
              <a:t>» (</a:t>
            </a:r>
            <a:r>
              <a:rPr lang="en-US" dirty="0"/>
              <a:t>temporal database</a:t>
            </a:r>
            <a:r>
              <a:rPr lang="ru-RU" dirty="0"/>
              <a:t>)</a:t>
            </a:r>
          </a:p>
          <a:p>
            <a:pPr lvl="0">
              <a:spcBef>
                <a:spcPts val="1200"/>
              </a:spcBef>
            </a:pPr>
            <a:r>
              <a:rPr lang="ru-RU" b="1" i="1" dirty="0">
                <a:solidFill>
                  <a:srgbClr val="369461"/>
                </a:solidFill>
              </a:rPr>
              <a:t>Регистрация событий</a:t>
            </a:r>
            <a:r>
              <a:rPr lang="ru-RU" dirty="0">
                <a:solidFill>
                  <a:srgbClr val="369461"/>
                </a:solidFill>
              </a:rPr>
              <a:t>, происходящих с объектом. 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Требуется хранить и восстанавливать историю действий, связанных с объектом.</a:t>
            </a:r>
          </a:p>
          <a:p>
            <a:pPr lvl="1">
              <a:spcBef>
                <a:spcPts val="1200"/>
              </a:spcBef>
            </a:pPr>
            <a:r>
              <a:rPr lang="ru-RU" dirty="0">
                <a:solidFill>
                  <a:srgbClr val="C00000"/>
                </a:solidFill>
              </a:rPr>
              <a:t>Основное требование </a:t>
            </a:r>
            <a:r>
              <a:rPr lang="ru-RU" dirty="0"/>
              <a:t>- скорость первичного сбора информации </a:t>
            </a:r>
            <a:br>
              <a:rPr lang="ru-RU" dirty="0"/>
            </a:br>
            <a:r>
              <a:rPr lang="ru-RU" dirty="0"/>
              <a:t>прежде всего, вставки новых записей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200B00-93BC-F587-99BE-67FC7ED15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647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2E0DB-1AB1-6B39-B5AA-03052BC1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Способы хранения хронологических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1EE056-1066-9178-419F-1D383D1C9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B6DE0B9-B2E3-5537-AABB-356A89284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934" y="4384440"/>
            <a:ext cx="6085619" cy="1564289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ru-RU" dirty="0"/>
              <a:t>Хранение даты изменения</a:t>
            </a:r>
          </a:p>
          <a:p>
            <a:r>
              <a:rPr lang="ru-RU" dirty="0"/>
              <a:t>Хранение интервала</a:t>
            </a:r>
          </a:p>
          <a:p>
            <a:r>
              <a:rPr lang="ru-RU" dirty="0"/>
              <a:t>Хранение номера периода (интервала)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4725B20-EF5F-0630-D487-983CB52FA7EF}"/>
              </a:ext>
            </a:extLst>
          </p:cNvPr>
          <p:cNvGrpSpPr/>
          <p:nvPr/>
        </p:nvGrpSpPr>
        <p:grpSpPr>
          <a:xfrm>
            <a:off x="861305" y="1563816"/>
            <a:ext cx="7405144" cy="2580817"/>
            <a:chOff x="1277257" y="1858532"/>
            <a:chExt cx="6757072" cy="21345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B8B08A-2441-51E9-BEF9-3A6CB70A1031}"/>
                </a:ext>
              </a:extLst>
            </p:cNvPr>
            <p:cNvSpPr txBox="1"/>
            <p:nvPr/>
          </p:nvSpPr>
          <p:spPr>
            <a:xfrm>
              <a:off x="1277257" y="2876258"/>
              <a:ext cx="267092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ru-RU" dirty="0"/>
                <a:t>Изменение во времени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BDA72B-F63F-8AEC-E5E7-AB4165AF10BF}"/>
                </a:ext>
              </a:extLst>
            </p:cNvPr>
            <p:cNvSpPr txBox="1"/>
            <p:nvPr/>
          </p:nvSpPr>
          <p:spPr>
            <a:xfrm>
              <a:off x="5558971" y="2885162"/>
              <a:ext cx="24753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ru-RU" dirty="0"/>
                <a:t>Регистрация событий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EE608B-6655-DFD8-935A-DDEDEBD51AA9}"/>
                </a:ext>
              </a:extLst>
            </p:cNvPr>
            <p:cNvSpPr txBox="1"/>
            <p:nvPr/>
          </p:nvSpPr>
          <p:spPr>
            <a:xfrm>
              <a:off x="3854047" y="1858532"/>
              <a:ext cx="1632484" cy="38184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Задача</a:t>
              </a:r>
            </a:p>
          </p:txBody>
        </p: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67E8EE57-DC0F-CEE1-3428-A223352E9198}"/>
                </a:ext>
              </a:extLst>
            </p:cNvPr>
            <p:cNvCxnSpPr>
              <a:cxnSpLocks/>
              <a:stCxn id="9" idx="2"/>
              <a:endCxn id="7" idx="0"/>
            </p:cNvCxnSpPr>
            <p:nvPr/>
          </p:nvCxnSpPr>
          <p:spPr>
            <a:xfrm flipH="1">
              <a:off x="2612720" y="2240372"/>
              <a:ext cx="2057569" cy="635887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39F87B7E-1CE1-2689-77D5-04462993C801}"/>
                </a:ext>
              </a:extLst>
            </p:cNvPr>
            <p:cNvCxnSpPr>
              <a:cxnSpLocks/>
              <a:stCxn id="9" idx="2"/>
              <a:endCxn id="8" idx="0"/>
            </p:cNvCxnSpPr>
            <p:nvPr/>
          </p:nvCxnSpPr>
          <p:spPr>
            <a:xfrm>
              <a:off x="4670289" y="2240372"/>
              <a:ext cx="2126361" cy="64479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Стрелка вниз 11">
              <a:extLst>
                <a:ext uri="{FF2B5EF4-FFF2-40B4-BE49-F238E27FC236}">
                  <a16:creationId xmlns:a16="http://schemas.microsoft.com/office/drawing/2014/main" id="{49494D21-F998-CEFA-7676-1471E65587C2}"/>
                </a:ext>
              </a:extLst>
            </p:cNvPr>
            <p:cNvSpPr/>
            <p:nvPr/>
          </p:nvSpPr>
          <p:spPr>
            <a:xfrm>
              <a:off x="2032000" y="3452837"/>
              <a:ext cx="827314" cy="522514"/>
            </a:xfrm>
            <a:prstGeom prst="down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Стрелка вниз 12">
              <a:extLst>
                <a:ext uri="{FF2B5EF4-FFF2-40B4-BE49-F238E27FC236}">
                  <a16:creationId xmlns:a16="http://schemas.microsoft.com/office/drawing/2014/main" id="{389E9B18-0B39-FE1C-EE11-418952B9BC9B}"/>
                </a:ext>
              </a:extLst>
            </p:cNvPr>
            <p:cNvSpPr/>
            <p:nvPr/>
          </p:nvSpPr>
          <p:spPr>
            <a:xfrm>
              <a:off x="6382993" y="3470592"/>
              <a:ext cx="827314" cy="522514"/>
            </a:xfrm>
            <a:prstGeom prst="down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Стрелка вниз 15">
              <a:extLst>
                <a:ext uri="{FF2B5EF4-FFF2-40B4-BE49-F238E27FC236}">
                  <a16:creationId xmlns:a16="http://schemas.microsoft.com/office/drawing/2014/main" id="{D99FF8B4-1BCD-0B53-2F40-1C08B1AC2978}"/>
                </a:ext>
              </a:extLst>
            </p:cNvPr>
            <p:cNvSpPr/>
            <p:nvPr/>
          </p:nvSpPr>
          <p:spPr>
            <a:xfrm>
              <a:off x="4327911" y="3470592"/>
              <a:ext cx="827314" cy="522514"/>
            </a:xfrm>
            <a:prstGeom prst="down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Двойная стрелка влево/вправо 14">
            <a:extLst>
              <a:ext uri="{FF2B5EF4-FFF2-40B4-BE49-F238E27FC236}">
                <a16:creationId xmlns:a16="http://schemas.microsoft.com/office/drawing/2014/main" id="{793CAD48-B3CD-CE90-0347-F7023E4D84CB}"/>
              </a:ext>
            </a:extLst>
          </p:cNvPr>
          <p:cNvSpPr/>
          <p:nvPr/>
        </p:nvSpPr>
        <p:spPr>
          <a:xfrm>
            <a:off x="4186379" y="2719072"/>
            <a:ext cx="880342" cy="45730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457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C0C3E-6E4B-EE4E-DCE4-A68D4378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даты изменения</a:t>
            </a:r>
            <a:br>
              <a:rPr lang="ru-RU" dirty="0"/>
            </a:br>
            <a:r>
              <a:rPr lang="ru-RU" sz="1200" i="1" dirty="0"/>
              <a:t>Схема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BDA3F4-9D25-05AA-301F-EB9D34447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E7D17BA-4E3A-82BA-0AB5-077EEF8491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799628"/>
              </p:ext>
            </p:extLst>
          </p:nvPr>
        </p:nvGraphicFramePr>
        <p:xfrm>
          <a:off x="860228" y="1372804"/>
          <a:ext cx="7546383" cy="2279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r:id="rId3" imgW="5895959" imgH="1781033" progId="Visio.Drawing.15">
                  <p:embed/>
                </p:oleObj>
              </mc:Choice>
              <mc:Fallback>
                <p:oleObj r:id="rId3" imgW="5895959" imgH="1781033" progId="Visio.Drawing.15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228" y="1372804"/>
                        <a:ext cx="7546383" cy="2279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3DD837-8737-0D99-9DF1-26D2AA8532A4}"/>
              </a:ext>
            </a:extLst>
          </p:cNvPr>
          <p:cNvSpPr/>
          <p:nvPr/>
        </p:nvSpPr>
        <p:spPr>
          <a:xfrm>
            <a:off x="1979712" y="3713006"/>
            <a:ext cx="6048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changed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(дата изменения) — обозначение момента,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когда произошло изменение состояния объекта</a:t>
            </a:r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4077E03-CDAC-D815-CF24-BFE3D6548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891108"/>
              </p:ext>
            </p:extLst>
          </p:nvPr>
        </p:nvGraphicFramePr>
        <p:xfrm>
          <a:off x="640297" y="4420532"/>
          <a:ext cx="7920880" cy="2129328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78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16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Определяемый параметр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Способ определения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33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Период актуальности состояния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Промежуток между этой датой 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и датой следующего изменения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33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Открытый интервал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Отсчитывается от максимальной даты в таблице 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и уходит в будущее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49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Период недействительности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Отражается использованием пустых (</a:t>
                      </a:r>
                      <a:r>
                        <a:rPr lang="en-US" sz="1600" dirty="0">
                          <a:effectLst/>
                        </a:rPr>
                        <a:t>NULL</a:t>
                      </a:r>
                      <a:r>
                        <a:rPr lang="ru-RU" sz="1600" dirty="0">
                          <a:effectLst/>
                        </a:rPr>
                        <a:t>) значений полей либо специальной колонкой для отражения статуса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029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3476A-A958-2A7B-AF13-97B35548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даты изменения</a:t>
            </a:r>
            <a:br>
              <a:rPr lang="ru-RU" dirty="0"/>
            </a:br>
            <a:r>
              <a:rPr lang="ru-RU" sz="1200" i="1" dirty="0"/>
              <a:t>Характеристики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170F7B-7B16-A532-B50E-E59D2F3FC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7B3598A-7278-54D3-37D9-EBEBB3A33491}"/>
              </a:ext>
            </a:extLst>
          </p:cNvPr>
          <p:cNvSpPr txBox="1">
            <a:spLocks/>
          </p:cNvSpPr>
          <p:nvPr/>
        </p:nvSpPr>
        <p:spPr>
          <a:xfrm>
            <a:off x="375623" y="1500304"/>
            <a:ext cx="3531809" cy="232954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Достоинства</a:t>
            </a:r>
          </a:p>
          <a:p>
            <a:pPr lvl="1"/>
            <a:r>
              <a:rPr lang="ru-RU" dirty="0"/>
              <a:t>Простота</a:t>
            </a:r>
          </a:p>
          <a:p>
            <a:pPr lvl="1"/>
            <a:r>
              <a:rPr lang="ru-RU" dirty="0"/>
              <a:t>Отсутствие избыточности </a:t>
            </a:r>
          </a:p>
          <a:p>
            <a:pPr lvl="1"/>
            <a:r>
              <a:rPr lang="ru-RU" dirty="0"/>
              <a:t>Отсутствие проверок на пересечения периодов</a:t>
            </a:r>
          </a:p>
          <a:p>
            <a:pPr lvl="1"/>
            <a:r>
              <a:rPr lang="ru-RU" dirty="0"/>
              <a:t>Быстрая вставка новых записей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3E9D1AA-2817-8100-296D-5AD934830135}"/>
              </a:ext>
            </a:extLst>
          </p:cNvPr>
          <p:cNvSpPr txBox="1">
            <a:spLocks/>
          </p:cNvSpPr>
          <p:nvPr/>
        </p:nvSpPr>
        <p:spPr>
          <a:xfrm>
            <a:off x="3907432" y="1494970"/>
            <a:ext cx="4553000" cy="26492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defPPr>
              <a:defRPr lang="ru-RU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2000" b="1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600"/>
              </a:spcBef>
            </a:pPr>
            <a:r>
              <a:rPr lang="ru-RU" dirty="0"/>
              <a:t>Недостатки</a:t>
            </a:r>
          </a:p>
          <a:p>
            <a:pPr lvl="1">
              <a:spcBef>
                <a:spcPts val="600"/>
              </a:spcBef>
            </a:pPr>
            <a:r>
              <a:rPr lang="ru-RU" dirty="0">
                <a:solidFill>
                  <a:srgbClr val="C00000"/>
                </a:solidFill>
              </a:rPr>
              <a:t>необходимость использования </a:t>
            </a:r>
            <a:r>
              <a:rPr lang="en-US" dirty="0">
                <a:solidFill>
                  <a:srgbClr val="C00000"/>
                </a:solidFill>
              </a:rPr>
              <a:t>NULL</a:t>
            </a:r>
            <a:r>
              <a:rPr lang="ru-RU" dirty="0">
                <a:solidFill>
                  <a:srgbClr val="C00000"/>
                </a:solidFill>
              </a:rPr>
              <a:t>-значений </a:t>
            </a:r>
            <a:r>
              <a:rPr lang="ru-RU" dirty="0" smtClean="0">
                <a:solidFill>
                  <a:srgbClr val="C00000"/>
                </a:solidFill>
              </a:rPr>
              <a:t/>
            </a:r>
            <a:br>
              <a:rPr lang="ru-RU" dirty="0" smtClean="0">
                <a:solidFill>
                  <a:srgbClr val="C00000"/>
                </a:solidFill>
              </a:rPr>
            </a:br>
            <a:r>
              <a:rPr lang="ru-RU" dirty="0" smtClean="0"/>
              <a:t>или </a:t>
            </a:r>
            <a:r>
              <a:rPr lang="ru-RU" dirty="0"/>
              <a:t>дополнительная колонка статуса для отражения «пустых» периодов;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относительно «тяжёлые» соединяющиеся на себя (</a:t>
            </a:r>
            <a:r>
              <a:rPr lang="en-US" dirty="0"/>
              <a:t>self</a:t>
            </a:r>
            <a:r>
              <a:rPr lang="ru-RU" dirty="0"/>
              <a:t>-</a:t>
            </a:r>
            <a:r>
              <a:rPr lang="en-US" dirty="0"/>
              <a:t>join</a:t>
            </a:r>
            <a:r>
              <a:rPr lang="ru-RU" dirty="0"/>
              <a:t>) или вложенные запросы.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FCE63A-FC5C-EF11-35C9-1308C728D211}"/>
              </a:ext>
            </a:extLst>
          </p:cNvPr>
          <p:cNvSpPr/>
          <p:nvPr/>
        </p:nvSpPr>
        <p:spPr>
          <a:xfrm>
            <a:off x="594914" y="4144238"/>
            <a:ext cx="562371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временные рамки периода – соединение или подзапрос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2D921E-3BC6-1533-254A-F9A166A579C0}"/>
              </a:ext>
            </a:extLst>
          </p:cNvPr>
          <p:cNvSpPr/>
          <p:nvPr/>
        </p:nvSpPr>
        <p:spPr>
          <a:xfrm>
            <a:off x="812628" y="4725144"/>
            <a:ext cx="779417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Objects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Changed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Changed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Objects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Changed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'****-**-**'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--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Дата актуальности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3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05B81-4A85-E014-ED16-C05A044E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интервала</a:t>
            </a:r>
            <a:br>
              <a:rPr lang="ru-RU" dirty="0"/>
            </a:br>
            <a:r>
              <a:rPr lang="ru-RU" sz="1200" i="1" dirty="0"/>
              <a:t>Схема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96B0FC-9245-A949-DF53-769E956F1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FF9C96-6FD8-0A6F-6FE8-6D8B9A7473C4}"/>
              </a:ext>
            </a:extLst>
          </p:cNvPr>
          <p:cNvSpPr/>
          <p:nvPr/>
        </p:nvSpPr>
        <p:spPr>
          <a:xfrm>
            <a:off x="4572001" y="1484784"/>
            <a:ext cx="42484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b="1" dirty="0"/>
              <a:t>«Дата изменения» </a:t>
            </a:r>
            <a:r>
              <a:rPr lang="ru-RU" dirty="0"/>
              <a:t> -</a:t>
            </a:r>
            <a:r>
              <a:rPr lang="en-GB" dirty="0"/>
              <a:t>&gt;</a:t>
            </a:r>
            <a:r>
              <a:rPr lang="ru-RU" dirty="0"/>
              <a:t> </a:t>
            </a:r>
            <a:br>
              <a:rPr lang="ru-RU" dirty="0"/>
            </a:br>
            <a:r>
              <a:rPr lang="ru-RU" b="1" dirty="0" err="1">
                <a:solidFill>
                  <a:schemeClr val="accent2">
                    <a:lumMod val="75000"/>
                  </a:schemeClr>
                </a:solidFill>
              </a:rPr>
              <a:t>date_from</a:t>
            </a:r>
            <a:r>
              <a:rPr lang="ru-RU" dirty="0"/>
              <a:t> (начало интервала) </a:t>
            </a:r>
          </a:p>
          <a:p>
            <a:pPr>
              <a:spcBef>
                <a:spcPts val="1200"/>
              </a:spcBef>
            </a:pPr>
            <a:r>
              <a:rPr lang="ru-RU" dirty="0"/>
              <a:t>остаётся в составе первичного ключа</a:t>
            </a:r>
            <a:br>
              <a:rPr lang="ru-RU" dirty="0"/>
            </a:br>
            <a:r>
              <a:rPr lang="ru-RU" i="1" dirty="0"/>
              <a:t>предполагается, </a:t>
            </a:r>
            <a:br>
              <a:rPr lang="ru-RU" i="1" dirty="0"/>
            </a:br>
            <a:r>
              <a:rPr lang="ru-RU" i="1" dirty="0"/>
              <a:t>что интервалы не пересекаются</a:t>
            </a:r>
            <a:r>
              <a:rPr lang="ru-RU" dirty="0"/>
              <a:t> </a:t>
            </a:r>
          </a:p>
          <a:p>
            <a:pPr>
              <a:spcBef>
                <a:spcPts val="1200"/>
              </a:spcBef>
            </a:pPr>
            <a:r>
              <a:rPr lang="ru-RU" b="1" dirty="0" err="1">
                <a:solidFill>
                  <a:schemeClr val="accent2">
                    <a:lumMod val="75000"/>
                  </a:schemeClr>
                </a:solidFill>
              </a:rPr>
              <a:t>date_to</a:t>
            </a:r>
            <a:r>
              <a:rPr lang="ru-RU" dirty="0"/>
              <a:t> (окончание интервала).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2CE7BD-13A0-79AC-3CB3-403D3AA12A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3699035" cy="302487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4845B-B8DF-DAE1-DA3F-1288AC3896A7}"/>
              </a:ext>
            </a:extLst>
          </p:cNvPr>
          <p:cNvSpPr/>
          <p:nvPr/>
        </p:nvSpPr>
        <p:spPr>
          <a:xfrm>
            <a:off x="341087" y="4750773"/>
            <a:ext cx="62750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Теперь данные извлекаются линейным (</a:t>
            </a:r>
            <a:r>
              <a:rPr lang="en-GB" b="1" dirty="0"/>
              <a:t>CQ)</a:t>
            </a:r>
            <a:r>
              <a:rPr lang="en-US" b="1" dirty="0"/>
              <a:t> </a:t>
            </a:r>
            <a:r>
              <a:rPr lang="ru-RU" b="1" dirty="0"/>
              <a:t>запросом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426D9B-1010-630C-BF45-1DFC3FE9827E}"/>
              </a:ext>
            </a:extLst>
          </p:cNvPr>
          <p:cNvSpPr/>
          <p:nvPr/>
        </p:nvSpPr>
        <p:spPr>
          <a:xfrm>
            <a:off x="1592359" y="5219787"/>
            <a:ext cx="72281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Objects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****-**-**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Date_from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Date_to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-- ****-**-** требуемая дата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8361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F98C8-F8C1-0AA8-AD84-EBCB9472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интервала</a:t>
            </a:r>
            <a:br>
              <a:rPr lang="ru-RU" dirty="0"/>
            </a:br>
            <a:r>
              <a:rPr lang="ru-RU" sz="1200" i="1" dirty="0"/>
              <a:t>Характеристики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7ED2C-B749-4CCF-BDE0-54BB46DC6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FD69955-0E88-366B-B237-EA7C74EB1BB6}"/>
              </a:ext>
            </a:extLst>
          </p:cNvPr>
          <p:cNvSpPr txBox="1">
            <a:spLocks/>
          </p:cNvSpPr>
          <p:nvPr/>
        </p:nvSpPr>
        <p:spPr>
          <a:xfrm>
            <a:off x="179512" y="1406307"/>
            <a:ext cx="2736304" cy="232954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Достоинства</a:t>
            </a:r>
          </a:p>
          <a:p>
            <a:pPr lvl="1"/>
            <a:r>
              <a:rPr lang="ru-RU" dirty="0"/>
              <a:t>Простота</a:t>
            </a:r>
          </a:p>
          <a:p>
            <a:pPr lvl="1"/>
            <a:r>
              <a:rPr lang="ru-RU" dirty="0"/>
              <a:t>Эффективность запросов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BF3C8D9-B69E-8341-CB82-F97105857991}"/>
              </a:ext>
            </a:extLst>
          </p:cNvPr>
          <p:cNvSpPr txBox="1">
            <a:spLocks/>
          </p:cNvSpPr>
          <p:nvPr/>
        </p:nvSpPr>
        <p:spPr>
          <a:xfrm>
            <a:off x="2915816" y="1406307"/>
            <a:ext cx="5760640" cy="295879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85000" lnSpcReduction="20000"/>
          </a:bodyPr>
          <a:lstStyle>
            <a:defPPr>
              <a:defRPr lang="ru-RU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2000" b="1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1200"/>
              </a:spcBef>
            </a:pPr>
            <a:r>
              <a:rPr lang="ru-RU" dirty="0"/>
              <a:t>Недостатки</a:t>
            </a:r>
          </a:p>
          <a:p>
            <a:pPr lvl="1">
              <a:spcBef>
                <a:spcPts val="1200"/>
              </a:spcBef>
            </a:pPr>
            <a:r>
              <a:rPr lang="ru-RU" dirty="0">
                <a:solidFill>
                  <a:srgbClr val="C00000"/>
                </a:solidFill>
              </a:rPr>
              <a:t>Дополнительный атрибут </a:t>
            </a:r>
            <a:r>
              <a:rPr lang="ru-RU" dirty="0"/>
              <a:t>для хранения даты окончания интервала.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Проверки непротиворечивости границ интервалов через </a:t>
            </a:r>
            <a:r>
              <a:rPr lang="ru-RU" dirty="0">
                <a:solidFill>
                  <a:srgbClr val="C00000"/>
                </a:solidFill>
              </a:rPr>
              <a:t>триггер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Снижение скорости вставки и модификации записей (</a:t>
            </a:r>
            <a:r>
              <a:rPr lang="ru-RU" dirty="0">
                <a:solidFill>
                  <a:srgbClr val="C00000"/>
                </a:solidFill>
              </a:rPr>
              <a:t>триггер</a:t>
            </a:r>
            <a:r>
              <a:rPr lang="ru-RU" dirty="0"/>
              <a:t>).</a:t>
            </a:r>
          </a:p>
          <a:p>
            <a:pPr lvl="1">
              <a:spcBef>
                <a:spcPts val="1200"/>
              </a:spcBef>
            </a:pPr>
            <a:r>
              <a:rPr lang="ru-RU" dirty="0">
                <a:solidFill>
                  <a:srgbClr val="C00000"/>
                </a:solidFill>
              </a:rPr>
              <a:t>Сложность определения открытых интервалов 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/>
              <a:t>например, когда объект действует с момента её утверждения до неизвестной пока даты установления новой</a:t>
            </a:r>
            <a:r>
              <a:rPr lang="ru-RU" dirty="0"/>
              <a:t>)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56D71D4-928F-3F3D-3970-A42038E9F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159921"/>
              </p:ext>
            </p:extLst>
          </p:nvPr>
        </p:nvGraphicFramePr>
        <p:xfrm>
          <a:off x="338528" y="4548763"/>
          <a:ext cx="8352928" cy="236632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256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Определяемый</a:t>
                      </a:r>
                      <a:r>
                        <a:rPr lang="ru-RU" sz="1400" baseline="0" dirty="0">
                          <a:effectLst/>
                        </a:rPr>
                        <a:t> п</a:t>
                      </a:r>
                      <a:r>
                        <a:rPr lang="ru-RU" sz="1400" dirty="0">
                          <a:effectLst/>
                        </a:rPr>
                        <a:t>араметр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Способ определения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Период актуальности состояния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Промежуток между датами </a:t>
                      </a:r>
                      <a:r>
                        <a:rPr lang="en-US" sz="1400" dirty="0" err="1">
                          <a:effectLst/>
                        </a:rPr>
                        <a:t>date_from</a:t>
                      </a:r>
                      <a:r>
                        <a:rPr lang="en-US" sz="1400" dirty="0">
                          <a:effectLst/>
                        </a:rPr>
                        <a:t> и </a:t>
                      </a:r>
                      <a:r>
                        <a:rPr lang="en-US" sz="1400" dirty="0" err="1">
                          <a:effectLst/>
                        </a:rPr>
                        <a:t>date_to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0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Открытый интервал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Задается с использованием фиктивных значений 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минимальной и максимальной даты, поддерживаемые конкретной СУБД или </a:t>
                      </a:r>
                      <a:r>
                        <a:rPr lang="en-US" sz="1400" dirty="0">
                          <a:effectLst/>
                        </a:rPr>
                        <a:t>NULL</a:t>
                      </a:r>
                      <a:r>
                        <a:rPr lang="ru-RU" sz="1400" dirty="0">
                          <a:effectLst/>
                        </a:rPr>
                        <a:t> – значений.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7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Период недействительности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Отражается использованием пустых (</a:t>
                      </a:r>
                      <a:r>
                        <a:rPr lang="en-US" sz="1400" dirty="0">
                          <a:effectLst/>
                        </a:rPr>
                        <a:t>NULL</a:t>
                      </a:r>
                      <a:r>
                        <a:rPr lang="ru-RU" sz="1400" dirty="0">
                          <a:effectLst/>
                        </a:rPr>
                        <a:t>) значений полей 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либо специальной колонкой для отражения статуса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080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91E73-EC7C-E86A-F318-14D25CB7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номера периода (интервала)</a:t>
            </a:r>
            <a:br>
              <a:rPr lang="ru-RU" dirty="0"/>
            </a:br>
            <a:r>
              <a:rPr lang="ru-RU" sz="1200" i="1" dirty="0"/>
              <a:t>Схема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6A8353-2569-C1ED-33A7-B3BA7460B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5054507-13F5-ACB5-4BEB-5C2074188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152664"/>
              </p:ext>
            </p:extLst>
          </p:nvPr>
        </p:nvGraphicFramePr>
        <p:xfrm>
          <a:off x="677335" y="1412776"/>
          <a:ext cx="7439610" cy="2264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r:id="rId3" imgW="5838713" imgH="1781033" progId="Visio.Drawing.15">
                  <p:embed/>
                </p:oleObj>
              </mc:Choice>
              <mc:Fallback>
                <p:oleObj r:id="rId3" imgW="5838713" imgH="1781033" progId="Visio.Drawing.15">
                  <p:embed/>
                  <p:pic>
                    <p:nvPicPr>
                      <p:cNvPr id="9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35" y="1412776"/>
                        <a:ext cx="7439610" cy="22642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3333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91E73-EC7C-E86A-F318-14D25CB7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номера периода (интервала)</a:t>
            </a:r>
            <a:br>
              <a:rPr lang="ru-RU" dirty="0"/>
            </a:br>
            <a:r>
              <a:rPr lang="ru-RU" sz="1200" i="1" dirty="0"/>
              <a:t>Схема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6A8353-2569-C1ED-33A7-B3BA7460B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5054507-13F5-ACB5-4BEB-5C20741884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335" y="1412776"/>
          <a:ext cx="7439610" cy="2264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r:id="rId3" imgW="5838713" imgH="1781033" progId="Visio.Drawing.15">
                  <p:embed/>
                </p:oleObj>
              </mc:Choice>
              <mc:Fallback>
                <p:oleObj r:id="rId3" imgW="5838713" imgH="1781033" progId="Visio.Drawing.15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D5054507-13F5-ACB5-4BEB-5C20741884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35" y="1412776"/>
                        <a:ext cx="7439610" cy="22642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8B0BC6-1E07-76E0-1C4E-399E4BA33778}"/>
              </a:ext>
            </a:extLst>
          </p:cNvPr>
          <p:cNvSpPr/>
          <p:nvPr/>
        </p:nvSpPr>
        <p:spPr>
          <a:xfrm>
            <a:off x="445105" y="3907095"/>
            <a:ext cx="7439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Дополнительное (</a:t>
            </a:r>
            <a:r>
              <a:rPr lang="ru-RU" dirty="0"/>
              <a:t>но, как правило, хорошо оптимизируемое</a:t>
            </a:r>
            <a:r>
              <a:rPr lang="ru-RU" b="1" dirty="0"/>
              <a:t>) соединение в запросах 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585C1-BCE8-F00F-18D1-56997D13453D}"/>
              </a:ext>
            </a:extLst>
          </p:cNvPr>
          <p:cNvSpPr/>
          <p:nvPr/>
        </p:nvSpPr>
        <p:spPr>
          <a:xfrm>
            <a:off x="1042343" y="4520290"/>
            <a:ext cx="8083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.*,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Date_from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Date_to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Objects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Periods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Period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PeriodID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****-**-**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Date_from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Date_to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CFCAC1-84BE-750A-D0FB-1E4C40EFCCFF}"/>
              </a:ext>
            </a:extLst>
          </p:cNvPr>
          <p:cNvSpPr/>
          <p:nvPr/>
        </p:nvSpPr>
        <p:spPr>
          <a:xfrm>
            <a:off x="445105" y="5413653"/>
            <a:ext cx="80233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Простое  (</a:t>
            </a:r>
            <a:r>
              <a:rPr lang="ru-RU" dirty="0"/>
              <a:t>эффективное</a:t>
            </a:r>
            <a:r>
              <a:rPr lang="ru-RU" b="1" dirty="0"/>
              <a:t>) определение актуального периода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04DD9F2-A3D3-BFDF-B1FD-3030B3084BA7}"/>
              </a:ext>
            </a:extLst>
          </p:cNvPr>
          <p:cNvSpPr/>
          <p:nvPr/>
        </p:nvSpPr>
        <p:spPr>
          <a:xfrm>
            <a:off x="972457" y="5715106"/>
            <a:ext cx="74960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Objects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Period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PeriodID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Periods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163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88EA5-1942-0515-308D-751E96B4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номера периода (интервала)</a:t>
            </a:r>
            <a:br>
              <a:rPr lang="ru-RU" dirty="0"/>
            </a:br>
            <a:r>
              <a:rPr lang="ru-RU" sz="1200" i="1" dirty="0"/>
              <a:t>Характеристики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858D11-8071-7B81-5150-EF2C35ADD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22388D8-2426-DBE1-5EBD-A3DB418F4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21" y="1444437"/>
            <a:ext cx="3851123" cy="2630581"/>
          </a:xfrm>
        </p:spPr>
        <p:txBody>
          <a:bodyPr anchor="t">
            <a:normAutofit lnSpcReduction="10000"/>
          </a:bodyPr>
          <a:lstStyle/>
          <a:p>
            <a:pPr marL="0" lvl="0" indent="0">
              <a:buNone/>
            </a:pPr>
            <a:r>
              <a:rPr lang="ru-RU" b="1" dirty="0"/>
              <a:t>Достоинства</a:t>
            </a:r>
          </a:p>
          <a:p>
            <a:pPr lvl="1"/>
            <a:r>
              <a:rPr lang="ru-RU" dirty="0"/>
              <a:t>меньшая избыточность </a:t>
            </a:r>
            <a:br>
              <a:rPr lang="ru-RU" dirty="0"/>
            </a:br>
            <a:r>
              <a:rPr lang="ru-RU" dirty="0"/>
              <a:t>повторное использование интервалов (периодов)</a:t>
            </a:r>
          </a:p>
          <a:p>
            <a:pPr lvl="1"/>
            <a:r>
              <a:rPr lang="ru-RU" dirty="0"/>
              <a:t>относительная простота запросов</a:t>
            </a:r>
          </a:p>
          <a:p>
            <a:pPr lvl="1"/>
            <a:r>
              <a:rPr lang="ru-RU" dirty="0"/>
              <a:t>разнесение логики хранения периодов и объектов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9627E5A-96D2-276E-C447-847604F7C96D}"/>
              </a:ext>
            </a:extLst>
          </p:cNvPr>
          <p:cNvSpPr txBox="1">
            <a:spLocks/>
          </p:cNvSpPr>
          <p:nvPr/>
        </p:nvSpPr>
        <p:spPr>
          <a:xfrm>
            <a:off x="4306799" y="1439102"/>
            <a:ext cx="4009617" cy="275202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2000" b="1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более сложная схема данных;</a:t>
            </a:r>
          </a:p>
          <a:p>
            <a:pPr lvl="1"/>
            <a:r>
              <a:rPr lang="ru-RU" dirty="0"/>
              <a:t>накладные расходы на поддержание непротиворечивости</a:t>
            </a:r>
            <a:br>
              <a:rPr lang="ru-RU" dirty="0"/>
            </a:br>
            <a:r>
              <a:rPr lang="ru-RU" dirty="0"/>
              <a:t>(но не снижающие скорость вставки</a:t>
            </a:r>
            <a:br>
              <a:rPr lang="ru-RU" dirty="0"/>
            </a:br>
            <a:r>
              <a:rPr lang="ru-RU" dirty="0"/>
              <a:t>в связные таблицы). 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D6F471B-22EB-6FED-C426-ACF9F432A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739253"/>
              </p:ext>
            </p:extLst>
          </p:nvPr>
        </p:nvGraphicFramePr>
        <p:xfrm>
          <a:off x="187622" y="4208955"/>
          <a:ext cx="8416826" cy="238818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417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8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3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Определяемый</a:t>
                      </a:r>
                      <a:r>
                        <a:rPr lang="ru-RU" sz="1600" baseline="0" dirty="0">
                          <a:effectLst/>
                        </a:rPr>
                        <a:t> п</a:t>
                      </a:r>
                      <a:r>
                        <a:rPr lang="ru-RU" sz="1600" dirty="0">
                          <a:effectLst/>
                        </a:rPr>
                        <a:t>араметр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Способ определения (аналогично </a:t>
                      </a:r>
                      <a:r>
                        <a:rPr lang="ru-RU" sz="1600" dirty="0" err="1">
                          <a:effectLst/>
                        </a:rPr>
                        <a:t>предыдщему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Период актуальности состояния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Промежуток между датами </a:t>
                      </a:r>
                      <a:r>
                        <a:rPr lang="en-US" sz="1600" dirty="0" err="1">
                          <a:effectLst/>
                        </a:rPr>
                        <a:t>date_from</a:t>
                      </a:r>
                      <a:r>
                        <a:rPr lang="en-US" sz="1600" dirty="0">
                          <a:effectLst/>
                        </a:rPr>
                        <a:t> и </a:t>
                      </a:r>
                      <a:r>
                        <a:rPr lang="en-US" sz="1600" dirty="0" err="1">
                          <a:effectLst/>
                        </a:rPr>
                        <a:t>date_to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Открытый интервал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Задается с использованием фиктивных значений минимальной и максимальной даты, поддерживаемые конкретной СУБД или </a:t>
                      </a:r>
                      <a:r>
                        <a:rPr lang="en-US" sz="1600" dirty="0">
                          <a:effectLst/>
                        </a:rPr>
                        <a:t>NULL</a:t>
                      </a:r>
                      <a:r>
                        <a:rPr lang="ru-RU" sz="1600" dirty="0">
                          <a:effectLst/>
                        </a:rPr>
                        <a:t> – значений.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2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Период недействительности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Отражается использованием пустых (</a:t>
                      </a:r>
                      <a:r>
                        <a:rPr lang="en-US" sz="1600" dirty="0">
                          <a:effectLst/>
                        </a:rPr>
                        <a:t>NULL</a:t>
                      </a:r>
                      <a:r>
                        <a:rPr lang="ru-RU" sz="1600" dirty="0">
                          <a:effectLst/>
                        </a:rPr>
                        <a:t>) значений полей либо специальной колонкой для отражения статуса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958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955BE-BD84-1D65-8BD5-9AF5E640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Сравнение способов</a:t>
            </a:r>
            <a:br>
              <a:rPr lang="ru-RU" dirty="0"/>
            </a:br>
            <a:r>
              <a:rPr lang="ru-RU" sz="1200" i="1" dirty="0"/>
              <a:t>Хранения хронологических данных</a:t>
            </a:r>
            <a:endParaRPr lang="ru-RU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FA0DC7-7B91-480C-46B4-AFC6325E8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B84CCEE-3653-FF8F-2BE6-152688636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168146"/>
              </p:ext>
            </p:extLst>
          </p:nvPr>
        </p:nvGraphicFramePr>
        <p:xfrm>
          <a:off x="359476" y="1340768"/>
          <a:ext cx="8100956" cy="384048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556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Критерий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Хранение даты изменения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Хранение интервала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Хранение номера периода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Схема данных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количество таблиц/ связей/ колонок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1/0/2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1/0/3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2/1/4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Запрос типа «состояние на заданную дату»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Подзапросы и self-join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Линейный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Линейный с соединением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Скорость вставки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Высокая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Низкая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Высокая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Избыточность хранения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Нет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Поддержка непротиворечи­вости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Не нужна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Нужна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Нужна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Объект 2">
            <a:extLst>
              <a:ext uri="{FF2B5EF4-FFF2-40B4-BE49-F238E27FC236}">
                <a16:creationId xmlns:a16="http://schemas.microsoft.com/office/drawing/2014/main" id="{5342695E-5ED9-95DC-FFC3-4B5E35397816}"/>
              </a:ext>
            </a:extLst>
          </p:cNvPr>
          <p:cNvSpPr txBox="1">
            <a:spLocks/>
          </p:cNvSpPr>
          <p:nvPr/>
        </p:nvSpPr>
        <p:spPr>
          <a:xfrm>
            <a:off x="677334" y="5297714"/>
            <a:ext cx="7783098" cy="7436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Некоторые СУБД имеют встроенную реализацию временных рядов на основе одного из подходов</a:t>
            </a:r>
          </a:p>
        </p:txBody>
      </p:sp>
    </p:spTree>
    <p:extLst>
      <p:ext uri="{BB962C8B-B14F-4D97-AF65-F5344CB8AC3E}">
        <p14:creationId xmlns:p14="http://schemas.microsoft.com/office/powerpoint/2010/main" val="834020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Слабо структурированные данные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0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D6992-42DF-095D-A4BA-A6AA97D1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Встроенная поддержка слабо структурированных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E911A0-F8AF-D076-CF18-743161476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4B6816-F613-7C50-0772-264A6BBD3B11}"/>
              </a:ext>
            </a:extLst>
          </p:cNvPr>
          <p:cNvSpPr/>
          <p:nvPr/>
        </p:nvSpPr>
        <p:spPr>
          <a:xfrm>
            <a:off x="677334" y="2996952"/>
            <a:ext cx="72070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products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spec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pk_products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spec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orders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doc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data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pk_orders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doc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423B9-C5B8-5408-D91E-D9FE9ABF0A85}"/>
              </a:ext>
            </a:extLst>
          </p:cNvPr>
          <p:cNvSpPr txBox="1"/>
          <p:nvPr/>
        </p:nvSpPr>
        <p:spPr>
          <a:xfrm>
            <a:off x="677334" y="1556792"/>
            <a:ext cx="4572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Поддержка </a:t>
            </a:r>
            <a:r>
              <a:rPr lang="en-US" dirty="0"/>
              <a:t>XML</a:t>
            </a:r>
            <a:r>
              <a:rPr lang="ru-RU" dirty="0"/>
              <a:t/>
            </a:r>
            <a:br>
              <a:rPr lang="ru-RU" dirty="0"/>
            </a:br>
            <a:r>
              <a:rPr lang="ru-RU" sz="1800" b="1" i="1" dirty="0"/>
              <a:t> </a:t>
            </a:r>
            <a:r>
              <a:rPr lang="ru-RU" sz="1800" i="1" dirty="0"/>
              <a:t>EDI — Electronic Data </a:t>
            </a:r>
            <a:r>
              <a:rPr lang="ru-RU" sz="1800" i="1" dirty="0" err="1"/>
              <a:t>Interchange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676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2FF0D-E034-62D4-2747-6F33BF05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Поддержка </a:t>
            </a:r>
            <a:r>
              <a:rPr lang="en-US" dirty="0"/>
              <a:t>XML</a:t>
            </a:r>
            <a:r>
              <a:rPr lang="ru-RU" dirty="0"/>
              <a:t>: Индексы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975744-ABB7-4C5B-D4C1-6A91075D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121E32-5016-B7EE-0641-F6A77F6F90E3}"/>
              </a:ext>
            </a:extLst>
          </p:cNvPr>
          <p:cNvSpPr/>
          <p:nvPr/>
        </p:nvSpPr>
        <p:spPr>
          <a:xfrm>
            <a:off x="1588330" y="2007624"/>
            <a:ext cx="7088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ix1 orders id prod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btree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(((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xpath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endParaRPr lang="ru-RU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doc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data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[1]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75AF8F-3716-829B-9CF4-0B4996336309}"/>
              </a:ext>
            </a:extLst>
          </p:cNvPr>
          <p:cNvSpPr txBox="1">
            <a:spLocks/>
          </p:cNvSpPr>
          <p:nvPr/>
        </p:nvSpPr>
        <p:spPr>
          <a:xfrm>
            <a:off x="1043608" y="1462150"/>
            <a:ext cx="5704416" cy="90077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 b="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dirty="0"/>
              <a:t>Возможно создание специфических индексов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00ABA493-31B6-F475-D370-406D9F845B89}"/>
              </a:ext>
            </a:extLst>
          </p:cNvPr>
          <p:cNvSpPr txBox="1">
            <a:spLocks/>
          </p:cNvSpPr>
          <p:nvPr/>
        </p:nvSpPr>
        <p:spPr>
          <a:xfrm>
            <a:off x="899999" y="3623145"/>
            <a:ext cx="7344002" cy="269780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 b="1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b="0" dirty="0">
                <a:solidFill>
                  <a:srgbClr val="C00000"/>
                </a:solidFill>
              </a:rPr>
              <a:t>Может использоваться только для указанного в нем выражения</a:t>
            </a:r>
          </a:p>
          <a:p>
            <a:endParaRPr lang="ru-RU" b="0" dirty="0"/>
          </a:p>
          <a:p>
            <a:endParaRPr lang="ru-RU" b="0" dirty="0"/>
          </a:p>
          <a:p>
            <a:endParaRPr lang="ru-RU" b="0" dirty="0"/>
          </a:p>
          <a:p>
            <a:endParaRPr lang="ru-RU" b="0" dirty="0"/>
          </a:p>
          <a:p>
            <a:r>
              <a:rPr lang="ru-RU" b="0" dirty="0"/>
              <a:t>Для каждого выражения в поисковом запросе нужен отдельный индекс</a:t>
            </a:r>
          </a:p>
        </p:txBody>
      </p:sp>
      <p:sp>
        <p:nvSpPr>
          <p:cNvPr id="8" name="Стрелка вниз 7">
            <a:extLst>
              <a:ext uri="{FF2B5EF4-FFF2-40B4-BE49-F238E27FC236}">
                <a16:creationId xmlns:a16="http://schemas.microsoft.com/office/drawing/2014/main" id="{D30D60A1-BEF7-2659-5079-7BEB83255A58}"/>
              </a:ext>
            </a:extLst>
          </p:cNvPr>
          <p:cNvSpPr/>
          <p:nvPr/>
        </p:nvSpPr>
        <p:spPr>
          <a:xfrm>
            <a:off x="4558263" y="4965050"/>
            <a:ext cx="769407" cy="5733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4E2AA6-5C78-AB6E-F08C-DBA1F50DF965}"/>
              </a:ext>
            </a:extLst>
          </p:cNvPr>
          <p:cNvSpPr/>
          <p:nvPr/>
        </p:nvSpPr>
        <p:spPr>
          <a:xfrm>
            <a:off x="931424" y="4434289"/>
            <a:ext cx="84019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xpath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doc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data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[1]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0464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6DAF8-B16B-0D0D-EE2B-9223A7F1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Неполно структурированные данные</a:t>
            </a:r>
            <a:br>
              <a:rPr lang="ru-RU" dirty="0"/>
            </a:br>
            <a:r>
              <a:rPr lang="ru-RU" sz="1200" b="1" i="1" dirty="0"/>
              <a:t> (слабо структурированные данные)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29317-9C22-8FDF-42B4-A95DD55C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736304"/>
          </a:xfrm>
        </p:spPr>
        <p:txBody>
          <a:bodyPr anchor="t"/>
          <a:lstStyle/>
          <a:p>
            <a:r>
              <a:rPr lang="ru-RU" b="1" dirty="0"/>
              <a:t>СУБД имеет поддержку </a:t>
            </a:r>
            <a:r>
              <a:rPr lang="en-GB" b="1" dirty="0"/>
              <a:t>XML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GB" b="1" dirty="0"/>
              <a:t>JSON) </a:t>
            </a:r>
            <a:r>
              <a:rPr lang="en-US" dirty="0"/>
              <a:t>– </a:t>
            </a:r>
            <a:r>
              <a:rPr lang="ru-RU" dirty="0"/>
              <a:t>проблема решена?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B325D9-E9CB-DE05-FB12-0795234F5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617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6DAF8-B16B-0D0D-EE2B-9223A7F1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Неполно структурированные данные</a:t>
            </a:r>
            <a:br>
              <a:rPr lang="ru-RU" dirty="0"/>
            </a:br>
            <a:r>
              <a:rPr lang="ru-RU" sz="1200" b="1" i="1" dirty="0"/>
              <a:t> (слабо структурированные данные)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29317-9C22-8FDF-42B4-A95DD55C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736304"/>
          </a:xfrm>
        </p:spPr>
        <p:txBody>
          <a:bodyPr anchor="t"/>
          <a:lstStyle/>
          <a:p>
            <a:r>
              <a:rPr lang="ru-RU" b="1" dirty="0"/>
              <a:t>СУБД имеет поддержку </a:t>
            </a:r>
            <a:r>
              <a:rPr lang="en-GB" b="1" dirty="0"/>
              <a:t>XML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GB" b="1" dirty="0"/>
              <a:t>JSON) </a:t>
            </a:r>
            <a:r>
              <a:rPr lang="en-US" dirty="0"/>
              <a:t>– </a:t>
            </a:r>
            <a:r>
              <a:rPr lang="ru-RU" dirty="0"/>
              <a:t>проблема решена?</a:t>
            </a:r>
          </a:p>
          <a:p>
            <a:pPr lvl="1"/>
            <a:r>
              <a:rPr lang="ru-RU" dirty="0">
                <a:solidFill>
                  <a:srgbClr val="C00000"/>
                </a:solidFill>
              </a:rPr>
              <a:t>Низкая производительность поиска по </a:t>
            </a:r>
            <a:r>
              <a:rPr lang="en-GB" dirty="0">
                <a:solidFill>
                  <a:srgbClr val="C00000"/>
                </a:solidFill>
              </a:rPr>
              <a:t>XML</a:t>
            </a:r>
            <a:r>
              <a:rPr lang="en-US" dirty="0">
                <a:solidFill>
                  <a:srgbClr val="C00000"/>
                </a:solidFill>
              </a:rPr>
              <a:t> – </a:t>
            </a:r>
            <a:r>
              <a:rPr lang="ru-RU" dirty="0">
                <a:solidFill>
                  <a:srgbClr val="C00000"/>
                </a:solidFill>
              </a:rPr>
              <a:t>данным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ru-RU" dirty="0"/>
              <a:t>Почему?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B325D9-E9CB-DE05-FB12-0795234F5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454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6DAF8-B16B-0D0D-EE2B-9223A7F1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Неполно структурированные данные</a:t>
            </a:r>
            <a:br>
              <a:rPr lang="ru-RU" dirty="0"/>
            </a:br>
            <a:r>
              <a:rPr lang="ru-RU" sz="1200" b="1" i="1" dirty="0"/>
              <a:t> (слабо структурированные данные)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29317-9C22-8FDF-42B4-A95DD55C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736304"/>
          </a:xfrm>
        </p:spPr>
        <p:txBody>
          <a:bodyPr anchor="t"/>
          <a:lstStyle/>
          <a:p>
            <a:r>
              <a:rPr lang="ru-RU" b="1" dirty="0"/>
              <a:t>СУБД имеет поддержку </a:t>
            </a:r>
            <a:r>
              <a:rPr lang="en-GB" b="1" dirty="0"/>
              <a:t>XML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GB" b="1" dirty="0"/>
              <a:t>JSON) </a:t>
            </a:r>
            <a:r>
              <a:rPr lang="en-US" dirty="0"/>
              <a:t>– </a:t>
            </a:r>
            <a:r>
              <a:rPr lang="ru-RU" dirty="0"/>
              <a:t>проблема решена?</a:t>
            </a:r>
          </a:p>
          <a:p>
            <a:pPr lvl="1"/>
            <a:r>
              <a:rPr lang="ru-RU" dirty="0">
                <a:solidFill>
                  <a:srgbClr val="C00000"/>
                </a:solidFill>
              </a:rPr>
              <a:t>Низкая производительность поиска по </a:t>
            </a:r>
            <a:r>
              <a:rPr lang="en-GB" dirty="0">
                <a:solidFill>
                  <a:srgbClr val="C00000"/>
                </a:solidFill>
              </a:rPr>
              <a:t>XML</a:t>
            </a:r>
            <a:r>
              <a:rPr lang="en-US" dirty="0">
                <a:solidFill>
                  <a:srgbClr val="C00000"/>
                </a:solidFill>
              </a:rPr>
              <a:t> – </a:t>
            </a:r>
            <a:r>
              <a:rPr lang="ru-RU" dirty="0">
                <a:solidFill>
                  <a:srgbClr val="C00000"/>
                </a:solidFill>
              </a:rPr>
              <a:t>данным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ru-RU" dirty="0"/>
              <a:t>Почему?</a:t>
            </a:r>
          </a:p>
          <a:p>
            <a:pPr lvl="1"/>
            <a:r>
              <a:rPr lang="ru-RU" dirty="0"/>
              <a:t>Сложность создания и поддержки эффективных индексов</a:t>
            </a:r>
          </a:p>
          <a:p>
            <a:pPr lvl="1"/>
            <a:r>
              <a:rPr lang="ru-RU" dirty="0"/>
              <a:t>Отсутствие поддержки на уровне физического хранения</a:t>
            </a:r>
          </a:p>
          <a:p>
            <a:pPr lvl="1"/>
            <a:r>
              <a:rPr lang="ru-RU" dirty="0"/>
              <a:t>Отсутствие оптимизации операций</a:t>
            </a:r>
          </a:p>
          <a:p>
            <a:r>
              <a:rPr lang="ru-RU" dirty="0"/>
              <a:t>Что делать?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B325D9-E9CB-DE05-FB12-0795234F5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221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6DAF8-B16B-0D0D-EE2B-9223A7F1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Неполно структурированные данные</a:t>
            </a:r>
            <a:br>
              <a:rPr lang="ru-RU" dirty="0"/>
            </a:br>
            <a:r>
              <a:rPr lang="ru-RU" sz="1200" b="1" i="1" dirty="0"/>
              <a:t> (слабо структурированные данные)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29317-9C22-8FDF-42B4-A95DD55C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736304"/>
          </a:xfrm>
        </p:spPr>
        <p:txBody>
          <a:bodyPr anchor="t"/>
          <a:lstStyle/>
          <a:p>
            <a:r>
              <a:rPr lang="ru-RU" b="1" dirty="0"/>
              <a:t>СУБД имеет поддержку </a:t>
            </a:r>
            <a:r>
              <a:rPr lang="en-GB" b="1" dirty="0"/>
              <a:t>XML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GB" b="1" dirty="0"/>
              <a:t>JSON) </a:t>
            </a:r>
            <a:r>
              <a:rPr lang="en-US" dirty="0"/>
              <a:t>– </a:t>
            </a:r>
            <a:r>
              <a:rPr lang="ru-RU" dirty="0"/>
              <a:t>проблема решена?</a:t>
            </a:r>
          </a:p>
          <a:p>
            <a:pPr lvl="1"/>
            <a:r>
              <a:rPr lang="ru-RU" dirty="0">
                <a:solidFill>
                  <a:srgbClr val="C00000"/>
                </a:solidFill>
              </a:rPr>
              <a:t>Низкая производительность поиска по </a:t>
            </a:r>
            <a:r>
              <a:rPr lang="en-GB" dirty="0">
                <a:solidFill>
                  <a:srgbClr val="C00000"/>
                </a:solidFill>
              </a:rPr>
              <a:t>XML</a:t>
            </a:r>
            <a:r>
              <a:rPr lang="en-US" dirty="0">
                <a:solidFill>
                  <a:srgbClr val="C00000"/>
                </a:solidFill>
              </a:rPr>
              <a:t> – </a:t>
            </a:r>
            <a:r>
              <a:rPr lang="ru-RU" dirty="0">
                <a:solidFill>
                  <a:srgbClr val="C00000"/>
                </a:solidFill>
              </a:rPr>
              <a:t>данным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ru-RU" dirty="0"/>
              <a:t>Почему?</a:t>
            </a:r>
          </a:p>
          <a:p>
            <a:pPr lvl="1"/>
            <a:r>
              <a:rPr lang="ru-RU" dirty="0"/>
              <a:t>Сложность создания и поддержки эффективных индексов</a:t>
            </a:r>
          </a:p>
          <a:p>
            <a:pPr lvl="1"/>
            <a:r>
              <a:rPr lang="ru-RU" dirty="0"/>
              <a:t>Отсутствие поддержки на уровне физического хранения</a:t>
            </a:r>
          </a:p>
          <a:p>
            <a:pPr lvl="1"/>
            <a:r>
              <a:rPr lang="ru-RU" dirty="0"/>
              <a:t>Отсутствие оптимизации операций</a:t>
            </a:r>
          </a:p>
          <a:p>
            <a:r>
              <a:rPr lang="ru-RU" dirty="0"/>
              <a:t>Что делать?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B325D9-E9CB-DE05-FB12-0795234F5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254A45D-C4A5-A562-5523-F5F1E5EE0B1E}"/>
              </a:ext>
            </a:extLst>
          </p:cNvPr>
          <p:cNvSpPr txBox="1">
            <a:spLocks/>
          </p:cNvSpPr>
          <p:nvPr/>
        </p:nvSpPr>
        <p:spPr>
          <a:xfrm>
            <a:off x="611560" y="4846359"/>
            <a:ext cx="7351050" cy="17637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10000"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 b="1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Гибридная схема хранения </a:t>
            </a:r>
          </a:p>
          <a:p>
            <a:pPr lvl="1"/>
            <a:r>
              <a:rPr lang="ru-RU" dirty="0"/>
              <a:t>Из хранимых объектов выделяются атрибуты, являющихся ключевыми для поиска. </a:t>
            </a:r>
          </a:p>
          <a:p>
            <a:pPr lvl="1"/>
            <a:r>
              <a:rPr lang="ru-RU" dirty="0"/>
              <a:t>Эти атрибуты сохраняются в отдельных колонках таблицы. </a:t>
            </a:r>
          </a:p>
          <a:p>
            <a:pPr lvl="1"/>
            <a:r>
              <a:rPr lang="ru-RU" dirty="0"/>
              <a:t>Остальная часть документа заносится в колонку типа XML (</a:t>
            </a:r>
            <a:r>
              <a:rPr lang="en-GB" dirty="0"/>
              <a:t>JSON</a:t>
            </a:r>
            <a:r>
              <a:rPr lang="ru-RU" dirty="0"/>
              <a:t>…</a:t>
            </a:r>
            <a:r>
              <a:rPr lang="en-GB" dirty="0"/>
              <a:t>) </a:t>
            </a:r>
            <a:endParaRPr lang="ru-RU" dirty="0"/>
          </a:p>
        </p:txBody>
      </p:sp>
      <p:sp>
        <p:nvSpPr>
          <p:cNvPr id="6" name="Стрелка вниз 5">
            <a:extLst>
              <a:ext uri="{FF2B5EF4-FFF2-40B4-BE49-F238E27FC236}">
                <a16:creationId xmlns:a16="http://schemas.microsoft.com/office/drawing/2014/main" id="{22FF552D-26C7-1F5E-BA4C-87C2CC5600CF}"/>
              </a:ext>
            </a:extLst>
          </p:cNvPr>
          <p:cNvSpPr/>
          <p:nvPr/>
        </p:nvSpPr>
        <p:spPr>
          <a:xfrm>
            <a:off x="4089844" y="3916504"/>
            <a:ext cx="1036319" cy="8953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8982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27879-E222-EA47-6B1F-FB68B19C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Гибридное хранение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4A339B-9D94-2D2A-C072-608FB79BE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C1ADDF-E33F-746F-C17B-46F771EBA4D1}"/>
              </a:ext>
            </a:extLst>
          </p:cNvPr>
          <p:cNvSpPr/>
          <p:nvPr/>
        </p:nvSpPr>
        <p:spPr>
          <a:xfrm>
            <a:off x="323528" y="1456638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products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id prod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integer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NOTNULL,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code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)NOTNULL,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)NOTNULL,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spec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pk_products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id_prod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orders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id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integer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created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doc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data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pk_orders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id_order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A84881-F97A-6829-3F75-22F22A707BE9}"/>
              </a:ext>
            </a:extLst>
          </p:cNvPr>
          <p:cNvSpPr/>
          <p:nvPr/>
        </p:nvSpPr>
        <p:spPr>
          <a:xfrm>
            <a:off x="5235584" y="1432187"/>
            <a:ext cx="3296537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/>
              <a:t>Отношения</a:t>
            </a:r>
          </a:p>
          <a:p>
            <a:pPr marL="285750" indent="-285750">
              <a:buFontTx/>
              <a:buChar char="-"/>
            </a:pPr>
            <a:r>
              <a:rPr lang="ru-RU" sz="1600" b="1" dirty="0"/>
              <a:t>заказы (</a:t>
            </a:r>
            <a:r>
              <a:rPr lang="ru-RU" sz="1600" b="1" dirty="0" err="1"/>
              <a:t>orders</a:t>
            </a:r>
            <a:r>
              <a:rPr lang="ru-RU" sz="1600" b="1" dirty="0"/>
              <a:t>)</a:t>
            </a:r>
          </a:p>
          <a:p>
            <a:pPr marL="285750" indent="-285750">
              <a:buFontTx/>
              <a:buChar char="-"/>
            </a:pPr>
            <a:r>
              <a:rPr lang="ru-RU" sz="1600" b="1" dirty="0"/>
              <a:t>продукты (</a:t>
            </a:r>
            <a:r>
              <a:rPr lang="ru-RU" sz="1600" b="1" dirty="0" err="1"/>
              <a:t>products</a:t>
            </a:r>
            <a:r>
              <a:rPr lang="ru-RU" sz="1600" b="1" dirty="0"/>
              <a:t>)</a:t>
            </a:r>
          </a:p>
          <a:p>
            <a:r>
              <a:rPr lang="ru-RU" sz="1600" b="1" dirty="0">
                <a:solidFill>
                  <a:schemeClr val="accent1"/>
                </a:solidFill>
              </a:rPr>
              <a:t>часть </a:t>
            </a:r>
            <a:r>
              <a:rPr lang="ru-RU" sz="1600" b="1" dirty="0"/>
              <a:t>атрибутов в виде XML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DCF457-FA78-7C94-2C9E-DCB7D07D973A}"/>
              </a:ext>
            </a:extLst>
          </p:cNvPr>
          <p:cNvSpPr/>
          <p:nvPr/>
        </p:nvSpPr>
        <p:spPr>
          <a:xfrm>
            <a:off x="3651428" y="3506515"/>
            <a:ext cx="4880693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/>
              <a:t>Внешние ключи отсутствуют </a:t>
            </a:r>
            <a:br>
              <a:rPr lang="ru-RU" sz="1600" dirty="0"/>
            </a:br>
            <a:r>
              <a:rPr lang="ru-RU" sz="1600" dirty="0"/>
              <a:t>	– нет гарантий целостности</a:t>
            </a:r>
          </a:p>
          <a:p>
            <a:r>
              <a:rPr lang="ru-RU" sz="1600" dirty="0"/>
              <a:t>	(</a:t>
            </a:r>
            <a:r>
              <a:rPr lang="ru-RU" sz="1600" i="1" dirty="0"/>
              <a:t>в заказах ссылки </a:t>
            </a:r>
            <a:br>
              <a:rPr lang="ru-RU" sz="1600" i="1" dirty="0"/>
            </a:br>
            <a:r>
              <a:rPr lang="ru-RU" sz="1600" i="1" dirty="0"/>
              <a:t>	на несуществующие продукты</a:t>
            </a:r>
            <a:r>
              <a:rPr lang="ru-RU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6953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51BF0-D398-C99A-8357-209F6A63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Поддержка </a:t>
            </a:r>
            <a:r>
              <a:rPr lang="en-US" dirty="0"/>
              <a:t>JSON</a:t>
            </a:r>
            <a:r>
              <a:rPr lang="ru-RU" dirty="0"/>
              <a:t/>
            </a:r>
            <a:br>
              <a:rPr lang="ru-RU" dirty="0"/>
            </a:br>
            <a:r>
              <a:rPr lang="ru-RU" sz="1200" b="1" i="1" dirty="0"/>
              <a:t>Аналогично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3269E9-DE0C-14B9-C7DB-250392D98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057B0D4-E5DE-0CED-6204-A05DB34D7BDB}"/>
              </a:ext>
            </a:extLst>
          </p:cNvPr>
          <p:cNvSpPr txBox="1">
            <a:spLocks/>
          </p:cNvSpPr>
          <p:nvPr/>
        </p:nvSpPr>
        <p:spPr>
          <a:xfrm>
            <a:off x="560248" y="1463073"/>
            <a:ext cx="7897013" cy="90077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 b="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dirty="0"/>
              <a:t>Вводится встроенный тип данных в сервер СУБД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9C24CBE-B789-E146-092D-20CE1D827ECC}"/>
              </a:ext>
            </a:extLst>
          </p:cNvPr>
          <p:cNvSpPr txBox="1">
            <a:spLocks/>
          </p:cNvSpPr>
          <p:nvPr/>
        </p:nvSpPr>
        <p:spPr>
          <a:xfrm>
            <a:off x="560248" y="4537293"/>
            <a:ext cx="7897013" cy="45355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ru-RU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2000" b="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Индексы и запросы: аналогично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FC2394-DCB5-46C4-5A23-8B3435F8ABA2}"/>
              </a:ext>
            </a:extLst>
          </p:cNvPr>
          <p:cNvSpPr/>
          <p:nvPr/>
        </p:nvSpPr>
        <p:spPr>
          <a:xfrm>
            <a:off x="1409700" y="204703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products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id prod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integer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code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)NOTNULL,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)NOTNULL,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spec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products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id prod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dirty="0"/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72C4B47F-B0DD-A8C9-F080-A2F700BF3DC6}"/>
              </a:ext>
            </a:extLst>
          </p:cNvPr>
          <p:cNvSpPr txBox="1">
            <a:spLocks/>
          </p:cNvSpPr>
          <p:nvPr/>
        </p:nvSpPr>
        <p:spPr>
          <a:xfrm>
            <a:off x="458139" y="5157192"/>
            <a:ext cx="7999122" cy="13068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solidFill>
                  <a:schemeClr val="tx1"/>
                </a:solidFill>
              </a:rPr>
              <a:t>Для использования в условиях, приближенных к </a:t>
            </a:r>
            <a:r>
              <a:rPr lang="ru-RU" b="1" i="1" dirty="0">
                <a:solidFill>
                  <a:srgbClr val="C00000"/>
                </a:solidFill>
              </a:rPr>
              <a:t>высокой нагрузке</a:t>
            </a:r>
            <a:r>
              <a:rPr lang="ru-RU" dirty="0">
                <a:solidFill>
                  <a:schemeClr val="tx1"/>
                </a:solidFill>
              </a:rPr>
              <a:t>,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необходимо </a:t>
            </a:r>
            <a:r>
              <a:rPr lang="ru-RU" b="1" i="1" dirty="0">
                <a:solidFill>
                  <a:schemeClr val="tx1"/>
                </a:solidFill>
              </a:rPr>
              <a:t>выносить в основную таблицу </a:t>
            </a:r>
            <a:br>
              <a:rPr lang="ru-RU" b="1" i="1" dirty="0">
                <a:solidFill>
                  <a:schemeClr val="tx1"/>
                </a:solidFill>
              </a:rPr>
            </a:br>
            <a:r>
              <a:rPr lang="ru-RU" b="1" i="1" dirty="0">
                <a:solidFill>
                  <a:srgbClr val="369461"/>
                </a:solidFill>
              </a:rPr>
              <a:t>все значимые атрибуты,</a:t>
            </a:r>
            <a:br>
              <a:rPr lang="ru-RU" b="1" i="1" dirty="0">
                <a:solidFill>
                  <a:srgbClr val="369461"/>
                </a:solidFill>
              </a:rPr>
            </a:br>
            <a:r>
              <a:rPr lang="ru-RU" b="1" i="1" dirty="0">
                <a:solidFill>
                  <a:srgbClr val="369461"/>
                </a:solidFill>
              </a:rPr>
              <a:t>по которым ведётся поиск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4646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Объектные данные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7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11CE5-EE4C-CBB6-CC95-A798A1D62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объектных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0EA2DC-4323-F833-8EA8-839F52902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68760"/>
            <a:ext cx="8748464" cy="5330357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Объектно-Реляционная </a:t>
            </a:r>
            <a:r>
              <a:rPr lang="ru-RU" dirty="0" err="1"/>
              <a:t>Проекциея</a:t>
            </a:r>
            <a:r>
              <a:rPr lang="ru-RU" dirty="0"/>
              <a:t> (ОРП) -</a:t>
            </a:r>
            <a:r>
              <a:rPr lang="en-GB" dirty="0"/>
              <a:t>&gt; </a:t>
            </a:r>
            <a:r>
              <a:rPr lang="ru-RU" dirty="0"/>
              <a:t>Object </a:t>
            </a:r>
            <a:r>
              <a:rPr lang="ru-RU" dirty="0" err="1"/>
              <a:t>Relational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</a:t>
            </a:r>
            <a:r>
              <a:rPr lang="ru-RU" b="1" dirty="0"/>
              <a:t>(ORM)</a:t>
            </a:r>
            <a:endParaRPr lang="en-GB" b="1" dirty="0"/>
          </a:p>
          <a:p>
            <a:pPr>
              <a:spcBef>
                <a:spcPts val="600"/>
              </a:spcBef>
            </a:pPr>
            <a:r>
              <a:rPr lang="ru-RU" b="1" dirty="0">
                <a:solidFill>
                  <a:schemeClr val="accent1"/>
                </a:solidFill>
              </a:rPr>
              <a:t>Требуется </a:t>
            </a:r>
            <a:r>
              <a:rPr lang="ru-RU" b="1" dirty="0"/>
              <a:t>обеспечить отображение 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элементарных базовых типов;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перечислимых типов;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ассоциативных связей между объектами;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селективных типов (тип, определяемый указанием одного из типов-компонентов);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агрегатных типов;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вложенных структур данных, основанных на различных типах данных;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простых и сложных объектных типов в рамках модели множественного наследования;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информационных схем.</a:t>
            </a:r>
          </a:p>
          <a:p>
            <a:pPr>
              <a:spcBef>
                <a:spcPts val="600"/>
              </a:spcBef>
            </a:pPr>
            <a:r>
              <a:rPr lang="ru-RU" b="1" dirty="0">
                <a:solidFill>
                  <a:srgbClr val="C00000"/>
                </a:solidFill>
              </a:rPr>
              <a:t>Проблемы отображения</a:t>
            </a:r>
          </a:p>
          <a:p>
            <a:pPr lvl="1">
              <a:spcBef>
                <a:spcPts val="600"/>
              </a:spcBef>
            </a:pPr>
            <a:r>
              <a:rPr lang="ru-RU" dirty="0" smtClean="0"/>
              <a:t>выбор </a:t>
            </a:r>
            <a:r>
              <a:rPr lang="ru-RU" dirty="0"/>
              <a:t>стратегии отображения;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поддержка метаданных;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эффективность реализации объектных запросов и </a:t>
            </a:r>
            <a:r>
              <a:rPr lang="ru-RU" dirty="0" smtClean="0"/>
              <a:t>манипулирования </a:t>
            </a:r>
            <a:r>
              <a:rPr lang="ru-RU" dirty="0"/>
              <a:t>объектами;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оптимизация используемых ресурсов, включая затраты памяти;</a:t>
            </a:r>
          </a:p>
          <a:p>
            <a:pPr lvl="1">
              <a:spcBef>
                <a:spcPts val="600"/>
              </a:spcBef>
            </a:pPr>
            <a:r>
              <a:rPr lang="ru-RU" dirty="0" err="1"/>
              <a:t>сопровождаемость</a:t>
            </a:r>
            <a:r>
              <a:rPr lang="ru-RU" dirty="0"/>
              <a:t> и гибкость решений.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F9FB4-0504-2DE2-EE1D-EE7684B05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382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66EA4-C274-B15E-F648-9A276F6B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паттернов </a:t>
            </a:r>
            <a:r>
              <a:rPr lang="en-GB" dirty="0"/>
              <a:t>ORM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AD5985-8F69-4069-EED2-2E7C8B773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D08C99E6-C5BC-BED1-CA00-B3762BA1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55" y="1589428"/>
            <a:ext cx="8604448" cy="42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38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A3B3C-5B80-7310-B92C-8EE43565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Отображение схем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D7679-2961-1F5D-52F0-69AA383A0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FF7E04-506A-055C-7B93-CC9FFE370AAF}"/>
              </a:ext>
            </a:extLst>
          </p:cNvPr>
          <p:cNvSpPr txBox="1">
            <a:spLocks/>
          </p:cNvSpPr>
          <p:nvPr/>
        </p:nvSpPr>
        <p:spPr>
          <a:xfrm>
            <a:off x="274554" y="1538672"/>
            <a:ext cx="4185623" cy="66482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/>
              <a:t>Схемо-независимая стратегия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0C2B43-08DB-D572-E8C5-92569F3B679F}"/>
              </a:ext>
            </a:extLst>
          </p:cNvPr>
          <p:cNvSpPr txBox="1">
            <a:spLocks/>
          </p:cNvSpPr>
          <p:nvPr/>
        </p:nvSpPr>
        <p:spPr>
          <a:xfrm>
            <a:off x="218198" y="2203492"/>
            <a:ext cx="4185623" cy="416804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ориентирована на использование </a:t>
            </a:r>
            <a:r>
              <a:rPr lang="ru-RU" b="1" dirty="0"/>
              <a:t>единой реляционной схемы </a:t>
            </a:r>
            <a:r>
              <a:rPr lang="ru-RU" dirty="0"/>
              <a:t>для представления произвольных прикладных данных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РБД с фиксированной системой таблиц, состав и структура которой не меняется</a:t>
            </a:r>
          </a:p>
          <a:p>
            <a:pPr lvl="1"/>
            <a:r>
              <a:rPr lang="ru-RU" dirty="0"/>
              <a:t>Требует ведения метаданных</a:t>
            </a:r>
          </a:p>
          <a:p>
            <a:pPr lvl="1"/>
            <a:r>
              <a:rPr lang="ru-RU" dirty="0"/>
              <a:t>Низкая эффективность манипулирования объектами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3B03772-D18E-06C0-B348-AB371B9F1EF9}"/>
              </a:ext>
            </a:extLst>
          </p:cNvPr>
          <p:cNvSpPr txBox="1">
            <a:spLocks/>
          </p:cNvSpPr>
          <p:nvPr/>
        </p:nvSpPr>
        <p:spPr>
          <a:xfrm>
            <a:off x="4516532" y="1573498"/>
            <a:ext cx="4185618" cy="66482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 err="1"/>
              <a:t>Схемо</a:t>
            </a:r>
            <a:r>
              <a:rPr lang="ru-RU" b="1" dirty="0"/>
              <a:t>-зависимая стратегия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3993D1B-1B27-EDBA-5749-882C67D3034B}"/>
              </a:ext>
            </a:extLst>
          </p:cNvPr>
          <p:cNvSpPr txBox="1">
            <a:spLocks/>
          </p:cNvSpPr>
          <p:nvPr/>
        </p:nvSpPr>
        <p:spPr>
          <a:xfrm>
            <a:off x="4629248" y="2110755"/>
            <a:ext cx="4185617" cy="4168048"/>
          </a:xfrm>
          <a:prstGeom prst="rect">
            <a:avLst/>
          </a:prstGeom>
        </p:spPr>
        <p:txBody>
          <a:bodyPr>
            <a:normAutofit fontScale="92500"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ориентирована на приложения, оперирующие с единственной моделью данных</a:t>
            </a:r>
          </a:p>
          <a:p>
            <a:r>
              <a:rPr lang="ru-RU" dirty="0"/>
              <a:t>Отражаются и учитываются особенности конкретной прикладной модели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Схема данных меняется с эволюцией приложения</a:t>
            </a:r>
          </a:p>
          <a:p>
            <a:pPr lvl="1"/>
            <a:r>
              <a:rPr lang="ru-RU" dirty="0"/>
              <a:t>Одно приложение и паттерн использования</a:t>
            </a:r>
          </a:p>
          <a:p>
            <a:pPr lvl="1"/>
            <a:r>
              <a:rPr lang="ru-RU" dirty="0"/>
              <a:t>Более эффективные запросы</a:t>
            </a:r>
          </a:p>
        </p:txBody>
      </p:sp>
      <p:sp>
        <p:nvSpPr>
          <p:cNvPr id="9" name="Стрелка вниз 8">
            <a:extLst>
              <a:ext uri="{FF2B5EF4-FFF2-40B4-BE49-F238E27FC236}">
                <a16:creationId xmlns:a16="http://schemas.microsoft.com/office/drawing/2014/main" id="{320FFF5A-5FE9-FDAF-8A41-82A3FB136DAC}"/>
              </a:ext>
            </a:extLst>
          </p:cNvPr>
          <p:cNvSpPr/>
          <p:nvPr/>
        </p:nvSpPr>
        <p:spPr>
          <a:xfrm>
            <a:off x="1962918" y="3855716"/>
            <a:ext cx="952500" cy="431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>
            <a:extLst>
              <a:ext uri="{FF2B5EF4-FFF2-40B4-BE49-F238E27FC236}">
                <a16:creationId xmlns:a16="http://schemas.microsoft.com/office/drawing/2014/main" id="{8F1C54CA-157A-2060-8044-14F4FAE9FDFF}"/>
              </a:ext>
            </a:extLst>
          </p:cNvPr>
          <p:cNvSpPr/>
          <p:nvPr/>
        </p:nvSpPr>
        <p:spPr>
          <a:xfrm>
            <a:off x="6245806" y="4072840"/>
            <a:ext cx="952500" cy="431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627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5D295-B396-DE55-BF95-93ED3429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Отображение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91408C-48C2-099B-ACA2-2F5AF50EC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A4BAE4-C21A-53D9-A03A-29EC575E7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698541"/>
            <a:ext cx="7067055" cy="3837943"/>
          </a:xfrm>
          <a:prstGeom prst="rect">
            <a:avLst/>
          </a:prstGeom>
        </p:spPr>
      </p:pic>
      <p:sp>
        <p:nvSpPr>
          <p:cNvPr id="6" name="Объект 7">
            <a:extLst>
              <a:ext uri="{FF2B5EF4-FFF2-40B4-BE49-F238E27FC236}">
                <a16:creationId xmlns:a16="http://schemas.microsoft.com/office/drawing/2014/main" id="{853DE293-8AD3-3450-A93F-B5E38004864F}"/>
              </a:ext>
            </a:extLst>
          </p:cNvPr>
          <p:cNvSpPr txBox="1">
            <a:spLocks/>
          </p:cNvSpPr>
          <p:nvPr/>
        </p:nvSpPr>
        <p:spPr>
          <a:xfrm>
            <a:off x="3419872" y="1435038"/>
            <a:ext cx="5554887" cy="213797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dirty="0"/>
              <a:t>Паттерн </a:t>
            </a:r>
            <a:r>
              <a:rPr lang="en-US" dirty="0" err="1"/>
              <a:t>OneInheritanceHierarchy</a:t>
            </a:r>
            <a:r>
              <a:rPr lang="en-US" dirty="0"/>
              <a:t>–</a:t>
            </a:r>
            <a:r>
              <a:rPr lang="en-US" dirty="0" err="1"/>
              <a:t>OneTable</a:t>
            </a: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Паттерн </a:t>
            </a:r>
            <a:r>
              <a:rPr lang="en-US" dirty="0" err="1"/>
              <a:t>OneClass</a:t>
            </a:r>
            <a:r>
              <a:rPr lang="en-US" dirty="0"/>
              <a:t>–</a:t>
            </a:r>
            <a:r>
              <a:rPr lang="en-US" dirty="0" err="1"/>
              <a:t>OneTable</a:t>
            </a: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Паттерн </a:t>
            </a:r>
            <a:r>
              <a:rPr lang="en-US" dirty="0" err="1"/>
              <a:t>OneInheritancePath</a:t>
            </a:r>
            <a:r>
              <a:rPr lang="en-US" dirty="0"/>
              <a:t>–</a:t>
            </a:r>
            <a:r>
              <a:rPr lang="en-US" dirty="0" err="1"/>
              <a:t>OneTable</a:t>
            </a: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Паттерн </a:t>
            </a:r>
            <a:r>
              <a:rPr lang="en-US" dirty="0" err="1"/>
              <a:t>AllClasses</a:t>
            </a:r>
            <a:r>
              <a:rPr lang="en-US" dirty="0"/>
              <a:t>–</a:t>
            </a:r>
            <a:r>
              <a:rPr lang="en-US" dirty="0" err="1"/>
              <a:t>OneTable</a:t>
            </a: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Паттерн </a:t>
            </a:r>
            <a:r>
              <a:rPr lang="en-US" dirty="0"/>
              <a:t>BLOB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0489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8D3BC-D17A-0E36-0F49-5BA7CBDF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Отображение атрибутов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C7DB48-C09B-E165-0DAC-F900790A9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8" name="Объект 10">
            <a:extLst>
              <a:ext uri="{FF2B5EF4-FFF2-40B4-BE49-F238E27FC236}">
                <a16:creationId xmlns:a16="http://schemas.microsoft.com/office/drawing/2014/main" id="{6668D6FD-9723-4624-9EDA-1113E1025331}"/>
              </a:ext>
            </a:extLst>
          </p:cNvPr>
          <p:cNvSpPr txBox="1">
            <a:spLocks/>
          </p:cNvSpPr>
          <p:nvPr/>
        </p:nvSpPr>
        <p:spPr>
          <a:xfrm>
            <a:off x="179512" y="1562370"/>
            <a:ext cx="3888432" cy="48895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 marL="342900" indent="-342900">
              <a:spcBef>
                <a:spcPts val="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1200"/>
              </a:spcBef>
            </a:pPr>
            <a:r>
              <a:rPr lang="ru-RU" sz="1800" dirty="0"/>
              <a:t>Представление </a:t>
            </a:r>
            <a:r>
              <a:rPr lang="ru-RU" sz="1800" b="1" dirty="0"/>
              <a:t>простых типов</a:t>
            </a:r>
          </a:p>
          <a:p>
            <a:pPr>
              <a:spcBef>
                <a:spcPts val="1200"/>
              </a:spcBef>
            </a:pPr>
            <a:r>
              <a:rPr lang="ru-RU" sz="1800" dirty="0"/>
              <a:t>Отображение атрибутов простых типов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/>
              <a:t>Attribute–Column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/>
              <a:t>Attribute–Table</a:t>
            </a:r>
            <a:endParaRPr lang="ru-RU" sz="1600" dirty="0"/>
          </a:p>
          <a:p>
            <a:pPr>
              <a:spcBef>
                <a:spcPts val="1200"/>
              </a:spcBef>
            </a:pPr>
            <a:r>
              <a:rPr lang="ru-RU" sz="1800" dirty="0"/>
              <a:t>Отображение ассоциаций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ForeignKeyAssociation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ClassAssociation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GenericAssociation</a:t>
            </a:r>
            <a:endParaRPr lang="ru-RU" sz="1600" dirty="0"/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6DCD564C-0CCB-3F52-2296-B7F9E1E6C4F1}"/>
              </a:ext>
            </a:extLst>
          </p:cNvPr>
          <p:cNvSpPr txBox="1">
            <a:spLocks/>
          </p:cNvSpPr>
          <p:nvPr/>
        </p:nvSpPr>
        <p:spPr>
          <a:xfrm>
            <a:off x="4793159" y="1534816"/>
            <a:ext cx="4032448" cy="420264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 marL="342900" indent="-342900">
              <a:spcBef>
                <a:spcPts val="0"/>
              </a:spcBef>
              <a:buFont typeface="Arial" pitchFamily="34" charset="0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1200"/>
              </a:spcBef>
            </a:pPr>
            <a:r>
              <a:rPr lang="ru-RU" sz="1800" dirty="0"/>
              <a:t>Отображение </a:t>
            </a:r>
            <a:r>
              <a:rPr lang="ru-RU" sz="1800" b="1" dirty="0"/>
              <a:t>селективных типов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/>
              <a:t>Select–Columns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ClassSelect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HierarchySelect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GenericSelect</a:t>
            </a:r>
            <a:endParaRPr lang="ru-RU" sz="1600" dirty="0"/>
          </a:p>
          <a:p>
            <a:pPr>
              <a:spcBef>
                <a:spcPts val="1200"/>
              </a:spcBef>
            </a:pPr>
            <a:r>
              <a:rPr lang="ru-RU" sz="1800" dirty="0"/>
              <a:t>Отображение </a:t>
            </a:r>
            <a:r>
              <a:rPr lang="ru-RU" sz="1800" b="1" dirty="0"/>
              <a:t>агрегатов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ClassAggregate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HierarchyAggregate</a:t>
            </a:r>
            <a:endParaRPr lang="ru-RU" sz="1600" dirty="0"/>
          </a:p>
          <a:p>
            <a:pPr lvl="1">
              <a:spcBef>
                <a:spcPts val="1200"/>
              </a:spcBef>
            </a:pPr>
            <a:r>
              <a:rPr lang="ru-RU" sz="1600" dirty="0"/>
              <a:t>Паттерн </a:t>
            </a:r>
            <a:r>
              <a:rPr lang="en-US" sz="1600" dirty="0" err="1"/>
              <a:t>HierarchyAggregate</a:t>
            </a:r>
            <a:endParaRPr lang="ru-RU" sz="1600" dirty="0"/>
          </a:p>
          <a:p>
            <a:pPr>
              <a:spcBef>
                <a:spcPts val="1200"/>
              </a:spcBef>
            </a:pPr>
            <a:endParaRPr lang="ru-RU" sz="18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8DEEDB-CE2A-877B-CCEE-C6B664255968}"/>
              </a:ext>
            </a:extLst>
          </p:cNvPr>
          <p:cNvSpPr/>
          <p:nvPr/>
        </p:nvSpPr>
        <p:spPr>
          <a:xfrm>
            <a:off x="488256" y="6383460"/>
            <a:ext cx="4624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http://citforum.ru/database/articles/strategy/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0633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62ED5-0871-693A-A838-7DF3610B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Обобщение подходов к </a:t>
            </a:r>
            <a:r>
              <a:rPr lang="en-GB" dirty="0"/>
              <a:t>ORM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1A279E-84B7-BF9E-94BD-02465A009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5E9754C-1E72-71E8-F0B1-F09D5A25D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427305"/>
              </p:ext>
            </p:extLst>
          </p:nvPr>
        </p:nvGraphicFramePr>
        <p:xfrm>
          <a:off x="323528" y="1362750"/>
          <a:ext cx="8352928" cy="494657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893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2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Метод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Прочие названия/реализации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Особенности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Применение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7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Хранение всех атрибутов (полей) в одной таблице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«плоское отображение» </a:t>
                      </a:r>
                      <a:br>
                        <a:rPr lang="ru-RU" sz="1200">
                          <a:effectLst/>
                        </a:rPr>
                      </a:br>
                      <a:r>
                        <a:rPr lang="ru-RU" sz="1200">
                          <a:effectLst/>
                        </a:rPr>
                        <a:t>(flat mapping)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+ простота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- полная денормализация: большой объем дублирования и самих данных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Временное решение или средство оптимизации в частном случае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Группировка общих атрибутов в одной таблице и разнесение уникальных атрибутов подклассов по связанным таблицам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Полный подтип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complete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sub-typing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«вертикальное отображение»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(vertical mapping),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«</a:t>
                      </a:r>
                      <a:r>
                        <a:rPr lang="ru-RU" sz="1200" dirty="0">
                          <a:effectLst/>
                        </a:rPr>
                        <a:t>атрибуты подкласса в новой таблице</a:t>
                      </a:r>
                      <a:r>
                        <a:rPr lang="en-US" sz="1200" dirty="0">
                          <a:effectLst/>
                        </a:rPr>
                        <a:t>»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(inherit only primary attributes)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+ Единственный приводящий к нормализованной схеме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- если иерархия классов глубока, то каждый запрос будет сопровождаться соответствующим числом соединений таблиц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Автоматизирован-</a:t>
                      </a:r>
                      <a:r>
                        <a:rPr lang="ru-RU" sz="1200" dirty="0" err="1">
                          <a:effectLst/>
                        </a:rPr>
                        <a:t>ные</a:t>
                      </a:r>
                      <a:r>
                        <a:rPr lang="ru-RU" sz="1200" dirty="0">
                          <a:effectLst/>
                        </a:rPr>
                        <a:t> инструменты проектирования базы данных (</a:t>
                      </a:r>
                      <a:r>
                        <a:rPr lang="ru-RU" sz="1200" dirty="0" err="1">
                          <a:effectLst/>
                        </a:rPr>
                        <a:t>ErWin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PowerDesigner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11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Представление каждого класса в виде отдельной таблицы с дублированием общих атрибутов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Неполный подтип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incomplete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sub-typing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«смешанное отображение» (</a:t>
                      </a:r>
                      <a:r>
                        <a:rPr lang="ru-RU" sz="1200" dirty="0" err="1">
                          <a:effectLst/>
                        </a:rPr>
                        <a:t>mixed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mapping</a:t>
                      </a:r>
                      <a:r>
                        <a:rPr lang="ru-RU" sz="1200" dirty="0">
                          <a:effectLst/>
                        </a:rPr>
                        <a:t>)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«наследуемые атрибуты добавляются к таблице подкласса» (</a:t>
                      </a:r>
                      <a:r>
                        <a:rPr lang="ru-RU" sz="1200" dirty="0" err="1">
                          <a:effectLst/>
                        </a:rPr>
                        <a:t>inherit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all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attributes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+ простота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+ минимизация соединений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- </a:t>
                      </a:r>
                      <a:r>
                        <a:rPr lang="ru-RU" sz="1200" dirty="0" err="1">
                          <a:effectLst/>
                        </a:rPr>
                        <a:t>денормализованная</a:t>
                      </a:r>
                      <a:r>
                        <a:rPr lang="ru-RU" sz="1200" dirty="0">
                          <a:effectLst/>
                        </a:rPr>
                        <a:t> схема с </a:t>
                      </a:r>
                      <a:r>
                        <a:rPr lang="ru-RU" sz="1200" dirty="0" err="1">
                          <a:effectLst/>
                        </a:rPr>
                        <a:t>изыточностью</a:t>
                      </a:r>
                      <a:r>
                        <a:rPr lang="ru-RU" sz="1200" dirty="0">
                          <a:effectLst/>
                        </a:rPr>
                        <a:t> в зависимости от степени дублирования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409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51C65-A400-DCC9-5148-C221F288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реализация </a:t>
            </a:r>
            <a:r>
              <a:rPr lang="en-GB" dirty="0"/>
              <a:t>ORM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38D2D-9E20-77B3-D454-D56D9985C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lvl="0">
              <a:spcBef>
                <a:spcPts val="1200"/>
              </a:spcBef>
            </a:pPr>
            <a:r>
              <a:rPr lang="ru-RU" sz="1800" b="1" dirty="0"/>
              <a:t>Использование отдельного слоя ОРП</a:t>
            </a:r>
            <a:r>
              <a:rPr lang="ru-RU" sz="1800" dirty="0"/>
              <a:t>, представляемого СУБД и экосистемой разработки (автоматизация)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Несовершенство генерируемого кода (Объектные команды → </a:t>
            </a:r>
            <a:r>
              <a:rPr lang="en-US" sz="1600" dirty="0"/>
              <a:t>SQL</a:t>
            </a:r>
            <a:r>
              <a:rPr lang="ru-RU" sz="1600" dirty="0"/>
              <a:t>)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Потери скорости</a:t>
            </a:r>
            <a:br>
              <a:rPr lang="ru-RU" sz="1600" dirty="0"/>
            </a:br>
            <a:r>
              <a:rPr lang="ru-RU" sz="1600" dirty="0"/>
              <a:t>приходится извлекать списки объектов и обрабатывать их средствами приложения, в СУБД аналогичная обработка выполнялась бы на порядок быстрее</a:t>
            </a:r>
          </a:p>
          <a:p>
            <a:pPr lvl="0">
              <a:spcBef>
                <a:spcPts val="1200"/>
              </a:spcBef>
            </a:pPr>
            <a:r>
              <a:rPr lang="ru-RU" sz="1800" b="1" dirty="0"/>
              <a:t>Использование </a:t>
            </a:r>
            <a:r>
              <a:rPr lang="en-US" sz="1800" b="1" dirty="0"/>
              <a:t>SQL</a:t>
            </a:r>
            <a:r>
              <a:rPr lang="ru-RU" sz="1800" b="1" dirty="0"/>
              <a:t> напрямую </a:t>
            </a:r>
          </a:p>
          <a:p>
            <a:pPr lvl="1">
              <a:spcBef>
                <a:spcPts val="1200"/>
              </a:spcBef>
            </a:pPr>
            <a:r>
              <a:rPr lang="ru-RU" sz="1600" dirty="0"/>
              <a:t>Требует задания и поддержки собственного объектно-реляционного отображения на базе одного из подходов</a:t>
            </a:r>
          </a:p>
          <a:p>
            <a:pPr>
              <a:spcBef>
                <a:spcPts val="1200"/>
              </a:spcBef>
            </a:pP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9F44C-71E2-92E8-9D3F-18D57721A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107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35E19-4C5D-0BFD-F4C4-61F1E24E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26FA04-02D8-F05D-D0CF-1BB989E3E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lvl="0">
              <a:spcBef>
                <a:spcPts val="1200"/>
              </a:spcBef>
            </a:pPr>
            <a:r>
              <a:rPr lang="ru-RU" sz="2400" dirty="0"/>
              <a:t>Современные реализации ОРП - </a:t>
            </a:r>
            <a:r>
              <a:rPr lang="ru-RU" sz="2400" b="1" dirty="0">
                <a:solidFill>
                  <a:schemeClr val="accent2"/>
                </a:solidFill>
              </a:rPr>
              <a:t>«вещь в себе»</a:t>
            </a:r>
            <a:r>
              <a:rPr lang="ru-RU" sz="2400" dirty="0"/>
              <a:t>: </a:t>
            </a:r>
          </a:p>
          <a:p>
            <a:pPr lvl="1">
              <a:spcBef>
                <a:spcPts val="1200"/>
              </a:spcBef>
            </a:pPr>
            <a:r>
              <a:rPr lang="ru-RU" sz="2000" dirty="0"/>
              <a:t>не поддерживают стандартов </a:t>
            </a:r>
          </a:p>
          <a:p>
            <a:pPr lvl="1">
              <a:spcBef>
                <a:spcPts val="1200"/>
              </a:spcBef>
            </a:pPr>
            <a:r>
              <a:rPr lang="ru-RU" sz="2000" dirty="0"/>
              <a:t>привязаны к средам и фреймворкам</a:t>
            </a:r>
          </a:p>
          <a:p>
            <a:pPr lvl="1">
              <a:spcBef>
                <a:spcPts val="1200"/>
              </a:spcBef>
            </a:pPr>
            <a:r>
              <a:rPr lang="ru-RU" sz="2000" dirty="0"/>
              <a:t>имеют изъяны в дизайне </a:t>
            </a:r>
            <a:r>
              <a:rPr lang="ru-RU" sz="1600" i="1" dirty="0">
                <a:solidFill>
                  <a:schemeClr val="accent2"/>
                </a:solidFill>
              </a:rPr>
              <a:t>ставшие особенностями (</a:t>
            </a:r>
            <a:r>
              <a:rPr lang="en-US" sz="1600" i="1" dirty="0">
                <a:solidFill>
                  <a:schemeClr val="accent2"/>
                </a:solidFill>
              </a:rPr>
              <a:t>feature</a:t>
            </a:r>
            <a:r>
              <a:rPr lang="ru-RU" sz="1600" i="1" dirty="0">
                <a:solidFill>
                  <a:schemeClr val="accent2"/>
                </a:solidFill>
              </a:rPr>
              <a:t>)</a:t>
            </a:r>
          </a:p>
          <a:p>
            <a:pPr lvl="0">
              <a:spcBef>
                <a:spcPts val="1200"/>
              </a:spcBef>
            </a:pPr>
            <a:r>
              <a:rPr lang="ru-RU" sz="2400" dirty="0"/>
              <a:t>сложность наиболее развитых ОРП стала сравнима с СУБД;</a:t>
            </a:r>
          </a:p>
          <a:p>
            <a:pPr lvl="0">
              <a:spcBef>
                <a:spcPts val="1200"/>
              </a:spcBef>
            </a:pPr>
            <a:r>
              <a:rPr lang="ru-RU" sz="2400" dirty="0"/>
              <a:t>использование слоя домена затруднено или даже невозможно из приложений других сред </a:t>
            </a:r>
            <a:br>
              <a:rPr lang="ru-RU" sz="2400" dirty="0"/>
            </a:br>
            <a:r>
              <a:rPr lang="ru-RU" sz="2400" dirty="0"/>
              <a:t>(</a:t>
            </a:r>
            <a:r>
              <a:rPr lang="ru-RU" sz="1700" i="1" dirty="0">
                <a:solidFill>
                  <a:schemeClr val="accent2"/>
                </a:solidFill>
              </a:rPr>
              <a:t>например, домен-сборка </a:t>
            </a:r>
            <a:r>
              <a:rPr lang="en-US" sz="1700" i="1" dirty="0">
                <a:solidFill>
                  <a:schemeClr val="accent2"/>
                </a:solidFill>
              </a:rPr>
              <a:t>C</a:t>
            </a:r>
            <a:r>
              <a:rPr lang="ru-RU" sz="1700" i="1" dirty="0">
                <a:solidFill>
                  <a:schemeClr val="accent2"/>
                </a:solidFill>
              </a:rPr>
              <a:t>#.</a:t>
            </a:r>
            <a:r>
              <a:rPr lang="en-US" sz="1700" i="1" dirty="0">
                <a:solidFill>
                  <a:schemeClr val="accent2"/>
                </a:solidFill>
              </a:rPr>
              <a:t>NET </a:t>
            </a:r>
            <a:r>
              <a:rPr lang="ru-RU" sz="1700" i="1" dirty="0">
                <a:solidFill>
                  <a:schemeClr val="accent2"/>
                </a:solidFill>
              </a:rPr>
              <a:t>из </a:t>
            </a:r>
            <a:r>
              <a:rPr lang="en-US" sz="1700" i="1" dirty="0">
                <a:solidFill>
                  <a:schemeClr val="accent2"/>
                </a:solidFill>
              </a:rPr>
              <a:t>PHP</a:t>
            </a:r>
            <a:r>
              <a:rPr lang="ru-RU" sz="1700" i="1" dirty="0">
                <a:solidFill>
                  <a:schemeClr val="accent2"/>
                </a:solidFill>
              </a:rPr>
              <a:t>- или C++-приложения</a:t>
            </a:r>
            <a:r>
              <a:rPr lang="ru-RU" sz="2400" dirty="0"/>
              <a:t>)</a:t>
            </a:r>
          </a:p>
          <a:p>
            <a:pPr lvl="0">
              <a:spcBef>
                <a:spcPts val="1200"/>
              </a:spcBef>
            </a:pPr>
            <a:r>
              <a:rPr lang="ru-RU" sz="2400" dirty="0"/>
              <a:t>создать систему с высокой производительностью, используя ОРП -</a:t>
            </a:r>
            <a:r>
              <a:rPr lang="en-GB" sz="2400" dirty="0"/>
              <a:t>&gt;</a:t>
            </a:r>
            <a:r>
              <a:rPr lang="ru-RU" sz="2400" dirty="0"/>
              <a:t> </a:t>
            </a:r>
            <a:br>
              <a:rPr lang="ru-RU" sz="2400" dirty="0"/>
            </a:br>
            <a:r>
              <a:rPr lang="ru-RU" sz="2400" dirty="0"/>
              <a:t>невозможно без привязки к реляционным СУБД и их специфики</a:t>
            </a:r>
          </a:p>
          <a:p>
            <a:pPr>
              <a:spcBef>
                <a:spcPts val="1200"/>
              </a:spcBef>
            </a:pPr>
            <a:endParaRPr lang="ru-RU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867C01-20E6-579D-FD05-95DD844AD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6003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8432D-0AB9-DD22-2A08-FA25DA8B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Автоматизация </a:t>
            </a:r>
            <a:r>
              <a:rPr lang="en-GB" dirty="0"/>
              <a:t>ORM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3362E-346B-D31E-B054-FA3ACF8B9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040C1AEE-FDF1-D2C4-7CC2-5C7AB6557331}"/>
              </a:ext>
            </a:extLst>
          </p:cNvPr>
          <p:cNvSpPr txBox="1">
            <a:spLocks/>
          </p:cNvSpPr>
          <p:nvPr/>
        </p:nvSpPr>
        <p:spPr>
          <a:xfrm>
            <a:off x="542864" y="1451421"/>
            <a:ext cx="2407317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CRUD</a:t>
            </a:r>
            <a:r>
              <a:rPr lang="ru-RU" b="1" dirty="0"/>
              <a:t>- логика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3DF5BBD4-2457-6CF9-9CF3-65C9562EB197}"/>
              </a:ext>
            </a:extLst>
          </p:cNvPr>
          <p:cNvSpPr txBox="1">
            <a:spLocks/>
          </p:cNvSpPr>
          <p:nvPr/>
        </p:nvSpPr>
        <p:spPr>
          <a:xfrm>
            <a:off x="486694" y="2033983"/>
            <a:ext cx="2873462" cy="183098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лучшая типизация, </a:t>
            </a:r>
          </a:p>
          <a:p>
            <a:r>
              <a:rPr lang="ru-RU" sz="1800" dirty="0"/>
              <a:t>более простой код, </a:t>
            </a:r>
          </a:p>
          <a:p>
            <a:r>
              <a:rPr lang="ru-RU" sz="1800" dirty="0"/>
              <a:t>лучшая переносимость между СУБД. </a:t>
            </a:r>
          </a:p>
          <a:p>
            <a:endParaRPr lang="ru-RU" sz="1800" dirty="0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B5C0D916-DCB2-9316-95FD-CBEEE4F891CF}"/>
              </a:ext>
            </a:extLst>
          </p:cNvPr>
          <p:cNvSpPr txBox="1">
            <a:spLocks/>
          </p:cNvSpPr>
          <p:nvPr/>
        </p:nvSpPr>
        <p:spPr>
          <a:xfrm>
            <a:off x="4703091" y="1469430"/>
            <a:ext cx="3707979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Выходы за рамки </a:t>
            </a:r>
            <a:r>
              <a:rPr lang="en-US" b="1" dirty="0" smtClean="0"/>
              <a:t>CRUD</a:t>
            </a:r>
            <a:r>
              <a:rPr lang="ru-RU" b="1" dirty="0" smtClean="0"/>
              <a:t>?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34129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46C9B2A-DF9E-8CB1-5ECE-F740C9100555}"/>
              </a:ext>
            </a:extLst>
          </p:cNvPr>
          <p:cNvSpPr/>
          <p:nvPr/>
        </p:nvSpPr>
        <p:spPr>
          <a:xfrm>
            <a:off x="215885" y="1413858"/>
            <a:ext cx="3029552" cy="2375182"/>
          </a:xfrm>
          <a:prstGeom prst="rect">
            <a:avLst/>
          </a:prstGeom>
          <a:solidFill>
            <a:srgbClr val="90C226">
              <a:alpha val="1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8432D-0AB9-DD22-2A08-FA25DA8B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Автоматизация </a:t>
            </a:r>
            <a:r>
              <a:rPr lang="en-GB" dirty="0"/>
              <a:t>ORM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3362E-346B-D31E-B054-FA3ACF8B9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040C1AEE-FDF1-D2C4-7CC2-5C7AB6557331}"/>
              </a:ext>
            </a:extLst>
          </p:cNvPr>
          <p:cNvSpPr txBox="1">
            <a:spLocks/>
          </p:cNvSpPr>
          <p:nvPr/>
        </p:nvSpPr>
        <p:spPr>
          <a:xfrm>
            <a:off x="542864" y="1451421"/>
            <a:ext cx="2407317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CRUD</a:t>
            </a:r>
            <a:r>
              <a:rPr lang="ru-RU" b="1" dirty="0"/>
              <a:t>- логика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3DF5BBD4-2457-6CF9-9CF3-65C9562EB197}"/>
              </a:ext>
            </a:extLst>
          </p:cNvPr>
          <p:cNvSpPr txBox="1">
            <a:spLocks/>
          </p:cNvSpPr>
          <p:nvPr/>
        </p:nvSpPr>
        <p:spPr>
          <a:xfrm>
            <a:off x="486694" y="2033983"/>
            <a:ext cx="2873462" cy="183098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лучшая типизация, </a:t>
            </a:r>
          </a:p>
          <a:p>
            <a:r>
              <a:rPr lang="ru-RU" sz="1800" dirty="0"/>
              <a:t>более простой код, </a:t>
            </a:r>
          </a:p>
          <a:p>
            <a:r>
              <a:rPr lang="ru-RU" sz="1800" dirty="0"/>
              <a:t>лучшая переносимость между СУБД. </a:t>
            </a:r>
          </a:p>
          <a:p>
            <a:endParaRPr lang="ru-RU" sz="1800" dirty="0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B5C0D916-DCB2-9316-95FD-CBEEE4F891CF}"/>
              </a:ext>
            </a:extLst>
          </p:cNvPr>
          <p:cNvSpPr txBox="1">
            <a:spLocks/>
          </p:cNvSpPr>
          <p:nvPr/>
        </p:nvSpPr>
        <p:spPr>
          <a:xfrm>
            <a:off x="4703091" y="1469430"/>
            <a:ext cx="3707979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Выходы за рамки </a:t>
            </a:r>
            <a:r>
              <a:rPr lang="en-US" b="1" dirty="0"/>
              <a:t>CRUD</a:t>
            </a:r>
            <a:endParaRPr lang="ru-RU" b="1" dirty="0"/>
          </a:p>
        </p:txBody>
      </p:sp>
      <p:sp>
        <p:nvSpPr>
          <p:cNvPr id="15" name="Объект 8">
            <a:extLst>
              <a:ext uri="{FF2B5EF4-FFF2-40B4-BE49-F238E27FC236}">
                <a16:creationId xmlns:a16="http://schemas.microsoft.com/office/drawing/2014/main" id="{9EB39E3C-BC1D-4DF9-7BDF-F3172FFE0E12}"/>
              </a:ext>
            </a:extLst>
          </p:cNvPr>
          <p:cNvSpPr txBox="1">
            <a:spLocks/>
          </p:cNvSpPr>
          <p:nvPr/>
        </p:nvSpPr>
        <p:spPr>
          <a:xfrm>
            <a:off x="3723438" y="2045691"/>
            <a:ext cx="4953018" cy="44486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1800"/>
              </a:spcBef>
            </a:pPr>
            <a:r>
              <a:rPr lang="ru-RU" sz="1600" dirty="0">
                <a:solidFill>
                  <a:srgbClr val="C00000"/>
                </a:solidFill>
              </a:rPr>
              <a:t>Выбор 1: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продолжать использовать нестандартный и весьма ограниченный собственный язык запросов ОРП типа </a:t>
            </a:r>
            <a:r>
              <a:rPr lang="en-US" sz="1600" dirty="0"/>
              <a:t>HQL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(</a:t>
            </a:r>
            <a:r>
              <a:rPr lang="en-US" sz="1600" i="1" dirty="0"/>
              <a:t>HQL </a:t>
            </a:r>
            <a:r>
              <a:rPr lang="ru-RU" sz="1600" i="1" dirty="0"/>
              <a:t>мало пригоден для запросов аналитического характера и отчётности</a:t>
            </a:r>
            <a:r>
              <a:rPr lang="ru-RU" sz="1600" dirty="0"/>
              <a:t>);</a:t>
            </a:r>
          </a:p>
          <a:p>
            <a:pPr>
              <a:spcBef>
                <a:spcPts val="1800"/>
              </a:spcBef>
            </a:pPr>
            <a:r>
              <a:rPr lang="ru-RU" sz="1600" dirty="0">
                <a:solidFill>
                  <a:srgbClr val="C00000"/>
                </a:solidFill>
              </a:rPr>
              <a:t>Выбор 2: 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использовать </a:t>
            </a:r>
            <a:r>
              <a:rPr lang="en-US" sz="1600" dirty="0"/>
              <a:t>SQL</a:t>
            </a:r>
            <a:r>
              <a:rPr lang="ru-RU" sz="1600" dirty="0"/>
              <a:t>, динамически отображая результат запросов на специально создаваемые для этих целей классы (поддержка ОРП вручную);</a:t>
            </a:r>
          </a:p>
          <a:p>
            <a:pPr>
              <a:spcBef>
                <a:spcPts val="1800"/>
              </a:spcBef>
            </a:pPr>
            <a:r>
              <a:rPr lang="ru-RU" sz="1600" dirty="0">
                <a:solidFill>
                  <a:srgbClr val="C00000"/>
                </a:solidFill>
              </a:rPr>
              <a:t>Выбор 3: 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извлекать списки объектов более простыми запросами и обрабатывать их в приложении </a:t>
            </a:r>
            <a:br>
              <a:rPr lang="ru-RU" sz="1600" dirty="0"/>
            </a:br>
            <a:r>
              <a:rPr lang="ru-RU" sz="1600" dirty="0"/>
              <a:t>(</a:t>
            </a:r>
            <a:r>
              <a:rPr lang="ru-RU" sz="1600" i="1" dirty="0"/>
              <a:t>что более медленно и требует высокой квалификации программистов</a:t>
            </a:r>
            <a:r>
              <a:rPr lang="ru-RU" sz="1600" dirty="0"/>
              <a:t>).</a:t>
            </a:r>
          </a:p>
          <a:p>
            <a:pPr>
              <a:spcBef>
                <a:spcPts val="1800"/>
              </a:spcBef>
            </a:pPr>
            <a:endParaRPr lang="ru-RU" sz="1600" dirty="0"/>
          </a:p>
        </p:txBody>
      </p:sp>
      <p:sp>
        <p:nvSpPr>
          <p:cNvPr id="17" name="Левая фигурная скобка 16">
            <a:extLst>
              <a:ext uri="{FF2B5EF4-FFF2-40B4-BE49-F238E27FC236}">
                <a16:creationId xmlns:a16="http://schemas.microsoft.com/office/drawing/2014/main" id="{DA1ED309-ABBE-89F4-5A11-57F2310089B3}"/>
              </a:ext>
            </a:extLst>
          </p:cNvPr>
          <p:cNvSpPr/>
          <p:nvPr/>
        </p:nvSpPr>
        <p:spPr>
          <a:xfrm>
            <a:off x="3418678" y="1942633"/>
            <a:ext cx="542925" cy="4654719"/>
          </a:xfrm>
          <a:prstGeom prst="leftBrace">
            <a:avLst>
              <a:gd name="adj1" fmla="val 55117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350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46C9B2A-DF9E-8CB1-5ECE-F740C9100555}"/>
              </a:ext>
            </a:extLst>
          </p:cNvPr>
          <p:cNvSpPr/>
          <p:nvPr/>
        </p:nvSpPr>
        <p:spPr>
          <a:xfrm>
            <a:off x="215885" y="1413858"/>
            <a:ext cx="3029552" cy="2317438"/>
          </a:xfrm>
          <a:prstGeom prst="rect">
            <a:avLst/>
          </a:prstGeom>
          <a:solidFill>
            <a:srgbClr val="90C226">
              <a:alpha val="1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8432D-0AB9-DD22-2A08-FA25DA8B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Автоматизация </a:t>
            </a:r>
            <a:r>
              <a:rPr lang="en-GB" dirty="0"/>
              <a:t>ORM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3362E-346B-D31E-B054-FA3ACF8B9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040C1AEE-FDF1-D2C4-7CC2-5C7AB6557331}"/>
              </a:ext>
            </a:extLst>
          </p:cNvPr>
          <p:cNvSpPr txBox="1">
            <a:spLocks/>
          </p:cNvSpPr>
          <p:nvPr/>
        </p:nvSpPr>
        <p:spPr>
          <a:xfrm>
            <a:off x="542864" y="1451421"/>
            <a:ext cx="2407317" cy="576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CRUD</a:t>
            </a:r>
            <a:r>
              <a:rPr lang="ru-RU" b="1" dirty="0"/>
              <a:t>- логика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3DF5BBD4-2457-6CF9-9CF3-65C9562EB197}"/>
              </a:ext>
            </a:extLst>
          </p:cNvPr>
          <p:cNvSpPr txBox="1">
            <a:spLocks/>
          </p:cNvSpPr>
          <p:nvPr/>
        </p:nvSpPr>
        <p:spPr>
          <a:xfrm>
            <a:off x="486694" y="2033983"/>
            <a:ext cx="2873462" cy="183098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лучшая типизация, </a:t>
            </a:r>
          </a:p>
          <a:p>
            <a:r>
              <a:rPr lang="ru-RU" sz="1800" dirty="0"/>
              <a:t>более простой код, </a:t>
            </a:r>
          </a:p>
          <a:p>
            <a:r>
              <a:rPr lang="ru-RU" sz="1800" dirty="0"/>
              <a:t>лучшая переносимость между СУБД. </a:t>
            </a:r>
          </a:p>
          <a:p>
            <a:endParaRPr lang="ru-RU" sz="1800" dirty="0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B5C0D916-DCB2-9316-95FD-CBEEE4F891CF}"/>
              </a:ext>
            </a:extLst>
          </p:cNvPr>
          <p:cNvSpPr txBox="1">
            <a:spLocks/>
          </p:cNvSpPr>
          <p:nvPr/>
        </p:nvSpPr>
        <p:spPr>
          <a:xfrm>
            <a:off x="4703091" y="1469430"/>
            <a:ext cx="3707979" cy="5762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Выходы за рамки </a:t>
            </a:r>
            <a:r>
              <a:rPr lang="en-US" b="1" dirty="0"/>
              <a:t>CRUD</a:t>
            </a:r>
            <a:endParaRPr lang="ru-RU" b="1" dirty="0"/>
          </a:p>
        </p:txBody>
      </p:sp>
      <p:sp>
        <p:nvSpPr>
          <p:cNvPr id="13" name="Объект 8">
            <a:extLst>
              <a:ext uri="{FF2B5EF4-FFF2-40B4-BE49-F238E27FC236}">
                <a16:creationId xmlns:a16="http://schemas.microsoft.com/office/drawing/2014/main" id="{9EB39E3C-BC1D-4DF9-7BDF-F3172FFE0E12}"/>
              </a:ext>
            </a:extLst>
          </p:cNvPr>
          <p:cNvSpPr txBox="1">
            <a:spLocks/>
          </p:cNvSpPr>
          <p:nvPr/>
        </p:nvSpPr>
        <p:spPr>
          <a:xfrm>
            <a:off x="3723438" y="2045691"/>
            <a:ext cx="4953018" cy="44486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1800"/>
              </a:spcBef>
            </a:pPr>
            <a:r>
              <a:rPr lang="ru-RU" sz="1600" dirty="0">
                <a:solidFill>
                  <a:srgbClr val="C00000"/>
                </a:solidFill>
              </a:rPr>
              <a:t>Выбор 1: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продолжать использовать нестандартный и весьма ограниченный собственный язык запросов ОРП типа </a:t>
            </a:r>
            <a:r>
              <a:rPr lang="en-US" sz="1600" dirty="0"/>
              <a:t>HQL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(</a:t>
            </a:r>
            <a:r>
              <a:rPr lang="en-US" sz="1600" i="1" dirty="0">
                <a:solidFill>
                  <a:srgbClr val="C00000"/>
                </a:solidFill>
              </a:rPr>
              <a:t>HQL </a:t>
            </a:r>
            <a:r>
              <a:rPr lang="ru-RU" sz="1600" i="1" dirty="0">
                <a:solidFill>
                  <a:srgbClr val="C00000"/>
                </a:solidFill>
              </a:rPr>
              <a:t>мало пригоден для запросов аналитического характера и отчётности</a:t>
            </a:r>
            <a:r>
              <a:rPr lang="ru-RU" sz="1600" dirty="0"/>
              <a:t>);</a:t>
            </a:r>
          </a:p>
          <a:p>
            <a:pPr>
              <a:spcBef>
                <a:spcPts val="1800"/>
              </a:spcBef>
            </a:pPr>
            <a:r>
              <a:rPr lang="ru-RU" sz="1600" dirty="0">
                <a:solidFill>
                  <a:srgbClr val="C00000"/>
                </a:solidFill>
              </a:rPr>
              <a:t>Выбор 2: 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использовать </a:t>
            </a:r>
            <a:r>
              <a:rPr lang="en-US" sz="1600" dirty="0"/>
              <a:t>SQL</a:t>
            </a:r>
            <a:r>
              <a:rPr lang="ru-RU" sz="1600" dirty="0"/>
              <a:t>, динамически отображая результат запросов на специально создаваемые для этих целей классы (</a:t>
            </a:r>
            <a:r>
              <a:rPr lang="ru-RU" sz="1600" i="1" dirty="0">
                <a:solidFill>
                  <a:srgbClr val="C00000"/>
                </a:solidFill>
              </a:rPr>
              <a:t>поддержка ОРП вручную</a:t>
            </a:r>
            <a:r>
              <a:rPr lang="ru-RU" sz="1600" dirty="0"/>
              <a:t>);</a:t>
            </a:r>
          </a:p>
          <a:p>
            <a:pPr>
              <a:spcBef>
                <a:spcPts val="1800"/>
              </a:spcBef>
            </a:pPr>
            <a:r>
              <a:rPr lang="ru-RU" sz="1600" dirty="0">
                <a:solidFill>
                  <a:srgbClr val="C00000"/>
                </a:solidFill>
              </a:rPr>
              <a:t>Выбор 3: 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извлекать списки объектов более простыми запросами и обрабатывать их в приложении </a:t>
            </a:r>
            <a:br>
              <a:rPr lang="ru-RU" sz="1600" dirty="0"/>
            </a:br>
            <a:r>
              <a:rPr lang="ru-RU" sz="1600" dirty="0" smtClean="0"/>
              <a:t>(</a:t>
            </a:r>
            <a:r>
              <a:rPr lang="ru-RU" sz="1600" i="1" dirty="0" smtClean="0">
                <a:solidFill>
                  <a:srgbClr val="C00000"/>
                </a:solidFill>
              </a:rPr>
              <a:t>более </a:t>
            </a:r>
            <a:r>
              <a:rPr lang="ru-RU" sz="1600" i="1" dirty="0">
                <a:solidFill>
                  <a:srgbClr val="C00000"/>
                </a:solidFill>
              </a:rPr>
              <a:t>медленно и требует </a:t>
            </a:r>
            <a:r>
              <a:rPr lang="ru-RU" sz="1600" i="1" dirty="0" smtClean="0">
                <a:solidFill>
                  <a:srgbClr val="C00000"/>
                </a:solidFill>
              </a:rPr>
              <a:t>квалификации </a:t>
            </a:r>
            <a:r>
              <a:rPr lang="ru-RU" sz="1600" i="1" dirty="0">
                <a:solidFill>
                  <a:srgbClr val="C00000"/>
                </a:solidFill>
              </a:rPr>
              <a:t>программистов</a:t>
            </a:r>
            <a:r>
              <a:rPr lang="ru-RU" sz="1600" dirty="0"/>
              <a:t>).</a:t>
            </a:r>
          </a:p>
          <a:p>
            <a:pPr>
              <a:spcBef>
                <a:spcPts val="1800"/>
              </a:spcBef>
            </a:pPr>
            <a:endParaRPr lang="ru-RU" sz="1600" dirty="0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DA1ED309-ABBE-89F4-5A11-57F2310089B3}"/>
              </a:ext>
            </a:extLst>
          </p:cNvPr>
          <p:cNvSpPr/>
          <p:nvPr/>
        </p:nvSpPr>
        <p:spPr>
          <a:xfrm>
            <a:off x="3418678" y="1942633"/>
            <a:ext cx="542925" cy="4654719"/>
          </a:xfrm>
          <a:prstGeom prst="leftBrace">
            <a:avLst>
              <a:gd name="adj1" fmla="val 55117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DA9F5F-AE38-C861-5962-C1D241D8AB81}"/>
              </a:ext>
            </a:extLst>
          </p:cNvPr>
          <p:cNvSpPr/>
          <p:nvPr/>
        </p:nvSpPr>
        <p:spPr>
          <a:xfrm>
            <a:off x="353843" y="3987708"/>
            <a:ext cx="28734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Какой выбор лучше?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Стрелка вниз 2">
            <a:extLst>
              <a:ext uri="{FF2B5EF4-FFF2-40B4-BE49-F238E27FC236}">
                <a16:creationId xmlns:a16="http://schemas.microsoft.com/office/drawing/2014/main" id="{22BC3610-49B4-8D22-0228-CEF62AA24B7F}"/>
              </a:ext>
            </a:extLst>
          </p:cNvPr>
          <p:cNvSpPr/>
          <p:nvPr/>
        </p:nvSpPr>
        <p:spPr>
          <a:xfrm>
            <a:off x="1184545" y="4613452"/>
            <a:ext cx="897467" cy="643467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1712A6-FB15-465E-4848-06C9F01F9223}"/>
              </a:ext>
            </a:extLst>
          </p:cNvPr>
          <p:cNvSpPr/>
          <p:nvPr/>
        </p:nvSpPr>
        <p:spPr>
          <a:xfrm>
            <a:off x="681665" y="5400412"/>
            <a:ext cx="2014624" cy="453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Никакой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6DEBCC-5FEE-D2BA-1E60-864F6F799CB3}"/>
              </a:ext>
            </a:extLst>
          </p:cNvPr>
          <p:cNvSpPr txBox="1">
            <a:spLocks/>
          </p:cNvSpPr>
          <p:nvPr/>
        </p:nvSpPr>
        <p:spPr>
          <a:xfrm>
            <a:off x="-21845" y="5988605"/>
            <a:ext cx="3238135" cy="733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ru-RU" sz="1600" b="1" dirty="0">
                <a:solidFill>
                  <a:srgbClr val="C00000"/>
                </a:solidFill>
              </a:rPr>
              <a:t>Хуже производительность</a:t>
            </a:r>
          </a:p>
          <a:p>
            <a:pPr marL="0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ru-RU" sz="1600" b="1" dirty="0" smtClean="0">
                <a:solidFill>
                  <a:srgbClr val="C00000"/>
                </a:solidFill>
              </a:rPr>
              <a:t>или </a:t>
            </a:r>
            <a:r>
              <a:rPr lang="ru-RU" sz="1600" b="1" dirty="0">
                <a:solidFill>
                  <a:srgbClr val="C00000"/>
                </a:solidFill>
              </a:rPr>
              <a:t>в</a:t>
            </a:r>
            <a:r>
              <a:rPr lang="ru-RU" sz="1600" b="1" dirty="0" smtClean="0">
                <a:solidFill>
                  <a:srgbClr val="C00000"/>
                </a:solidFill>
              </a:rPr>
              <a:t>ыше </a:t>
            </a:r>
            <a:r>
              <a:rPr lang="ru-RU" sz="1600" b="1" dirty="0">
                <a:solidFill>
                  <a:srgbClr val="C00000"/>
                </a:solidFill>
              </a:rPr>
              <a:t>сложность</a:t>
            </a:r>
          </a:p>
        </p:txBody>
      </p:sp>
    </p:spTree>
    <p:extLst>
      <p:ext uri="{BB962C8B-B14F-4D97-AF65-F5344CB8AC3E}">
        <p14:creationId xmlns:p14="http://schemas.microsoft.com/office/powerpoint/2010/main" val="1572684718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29437</TotalTime>
  <Words>3354</Words>
  <Application>Microsoft Office PowerPoint</Application>
  <PresentationFormat>Экран (4:3)</PresentationFormat>
  <Paragraphs>732</Paragraphs>
  <Slides>55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4" baseType="lpstr">
      <vt:lpstr>Arial</vt:lpstr>
      <vt:lpstr>Calibri</vt:lpstr>
      <vt:lpstr>Cambria Math</vt:lpstr>
      <vt:lpstr>Consolas</vt:lpstr>
      <vt:lpstr>PT Sans</vt:lpstr>
      <vt:lpstr>Times New Roman</vt:lpstr>
      <vt:lpstr>Wingdings 3</vt:lpstr>
      <vt:lpstr>SCC</vt:lpstr>
      <vt:lpstr>Microsoft Visio Drawing</vt:lpstr>
      <vt:lpstr>СУБД для специалиста  по информационной безопасности</vt:lpstr>
      <vt:lpstr>Темы лекции</vt:lpstr>
      <vt:lpstr>Представление иерархических данных в РСУБД</vt:lpstr>
      <vt:lpstr>Проблема хранения иерархий</vt:lpstr>
      <vt:lpstr>Подходы к представлению деревьев в разных областях </vt:lpstr>
      <vt:lpstr>Операции над деревом  выборка данных</vt:lpstr>
      <vt:lpstr>Операции над деревом  модификация данных</vt:lpstr>
      <vt:lpstr>Модель с рекурсивным указателем Структура</vt:lpstr>
      <vt:lpstr>Модель с рекурсивным указателем Операции</vt:lpstr>
      <vt:lpstr>Модель с рекурсивным указателем Выводы</vt:lpstr>
      <vt:lpstr>Рекурсивная ссылка с глубиной  (пара предок-потомок с глубиной)</vt:lpstr>
      <vt:lpstr>Рекурсивная ссылка с глубиной  Особенности</vt:lpstr>
      <vt:lpstr>Материализованный путь Идея метода</vt:lpstr>
      <vt:lpstr>Материализованный путь Схема хранения</vt:lpstr>
      <vt:lpstr>Материализованный путь Запросы</vt:lpstr>
      <vt:lpstr>Материализованный путь  Особенности</vt:lpstr>
      <vt:lpstr>Множественная модель дерева  Идея метода и схема хранения</vt:lpstr>
      <vt:lpstr>Множественная модель дерева  Примеры запросов</vt:lpstr>
      <vt:lpstr>Множественная модель дерева  Особенности</vt:lpstr>
      <vt:lpstr>Сравнение методов</vt:lpstr>
      <vt:lpstr>Операции над графом</vt:lpstr>
      <vt:lpstr>Хранение графов: матрица смежности</vt:lpstr>
      <vt:lpstr>Хранение графов: лес деревьев</vt:lpstr>
      <vt:lpstr>Хронологические данные  в РСУБД</vt:lpstr>
      <vt:lpstr>Постановка задачи</vt:lpstr>
      <vt:lpstr>Способы хранения хронологических данных</vt:lpstr>
      <vt:lpstr>Хранение даты изменения Схема данных</vt:lpstr>
      <vt:lpstr>Хранение даты изменения Характеристики</vt:lpstr>
      <vt:lpstr>Хранение интервала Схема данных</vt:lpstr>
      <vt:lpstr>Хранение интервала Характеристики</vt:lpstr>
      <vt:lpstr>Хранение номера периода (интервала) Схема данных</vt:lpstr>
      <vt:lpstr>Хранение номера периода (интервала) Схема данных</vt:lpstr>
      <vt:lpstr>Хранение номера периода (интервала) Характеристики</vt:lpstr>
      <vt:lpstr>Сравнение способов Хранения хронологических данных</vt:lpstr>
      <vt:lpstr>Слабо структурированные данные  в РСУБД</vt:lpstr>
      <vt:lpstr>Встроенная поддержка слабо структурированных данных</vt:lpstr>
      <vt:lpstr>Поддержка XML: Индексы</vt:lpstr>
      <vt:lpstr>Неполно структурированные данные  (слабо структурированные данные)</vt:lpstr>
      <vt:lpstr>Неполно структурированные данные  (слабо структурированные данные)</vt:lpstr>
      <vt:lpstr>Неполно структурированные данные  (слабо структурированные данные)</vt:lpstr>
      <vt:lpstr>Неполно структурированные данные  (слабо структурированные данные)</vt:lpstr>
      <vt:lpstr>Гибридное хранение</vt:lpstr>
      <vt:lpstr>Поддержка JSON Аналогично</vt:lpstr>
      <vt:lpstr>Объектные данные  в РСУБД</vt:lpstr>
      <vt:lpstr>Хранение объектных данных</vt:lpstr>
      <vt:lpstr>Классификация паттернов ORM</vt:lpstr>
      <vt:lpstr>Отображение схем</vt:lpstr>
      <vt:lpstr>Отображение классов</vt:lpstr>
      <vt:lpstr>Отображение атрибутов</vt:lpstr>
      <vt:lpstr>Обобщение подходов к ORM</vt:lpstr>
      <vt:lpstr>Практическая реализация ORM</vt:lpstr>
      <vt:lpstr>Особенности</vt:lpstr>
      <vt:lpstr>Автоматизация ORM</vt:lpstr>
      <vt:lpstr>Автоматизация ORM</vt:lpstr>
      <vt:lpstr>Автоматизация 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1701</cp:revision>
  <dcterms:created xsi:type="dcterms:W3CDTF">2018-04-03T06:05:28Z</dcterms:created>
  <dcterms:modified xsi:type="dcterms:W3CDTF">2023-05-11T06:54:58Z</dcterms:modified>
</cp:coreProperties>
</file>