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2"/>
  </p:notesMasterIdLst>
  <p:sldIdLst>
    <p:sldId id="381" r:id="rId2"/>
    <p:sldId id="38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20" r:id="rId15"/>
    <p:sldId id="422" r:id="rId16"/>
    <p:sldId id="423" r:id="rId17"/>
    <p:sldId id="424" r:id="rId18"/>
    <p:sldId id="425" r:id="rId19"/>
    <p:sldId id="426" r:id="rId20"/>
    <p:sldId id="427" r:id="rId21"/>
    <p:sldId id="428" r:id="rId22"/>
    <p:sldId id="429" r:id="rId23"/>
    <p:sldId id="430" r:id="rId24"/>
    <p:sldId id="431" r:id="rId25"/>
    <p:sldId id="432" r:id="rId26"/>
    <p:sldId id="433" r:id="rId27"/>
    <p:sldId id="434" r:id="rId28"/>
    <p:sldId id="435" r:id="rId29"/>
    <p:sldId id="436" r:id="rId30"/>
    <p:sldId id="437" r:id="rId31"/>
    <p:sldId id="438" r:id="rId32"/>
    <p:sldId id="439" r:id="rId33"/>
    <p:sldId id="440" r:id="rId34"/>
    <p:sldId id="441" r:id="rId35"/>
    <p:sldId id="442" r:id="rId36"/>
    <p:sldId id="443" r:id="rId37"/>
    <p:sldId id="444" r:id="rId38"/>
    <p:sldId id="445" r:id="rId39"/>
    <p:sldId id="446" r:id="rId40"/>
    <p:sldId id="447" r:id="rId41"/>
    <p:sldId id="448" r:id="rId42"/>
    <p:sldId id="449" r:id="rId43"/>
    <p:sldId id="450" r:id="rId44"/>
    <p:sldId id="451" r:id="rId45"/>
    <p:sldId id="452" r:id="rId46"/>
    <p:sldId id="453" r:id="rId47"/>
    <p:sldId id="454" r:id="rId48"/>
    <p:sldId id="455" r:id="rId49"/>
    <p:sldId id="456" r:id="rId50"/>
    <p:sldId id="457" r:id="rId51"/>
    <p:sldId id="458" r:id="rId52"/>
    <p:sldId id="459" r:id="rId53"/>
    <p:sldId id="460" r:id="rId54"/>
    <p:sldId id="461" r:id="rId55"/>
    <p:sldId id="462" r:id="rId56"/>
    <p:sldId id="463" r:id="rId57"/>
    <p:sldId id="464" r:id="rId58"/>
    <p:sldId id="465" r:id="rId59"/>
    <p:sldId id="466" r:id="rId60"/>
    <p:sldId id="467" r:id="rId6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1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461"/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89692" autoAdjust="0"/>
  </p:normalViewPr>
  <p:slideViewPr>
    <p:cSldViewPr snapToObjects="1">
      <p:cViewPr varScale="1">
        <p:scale>
          <a:sx n="100" d="100"/>
          <a:sy n="100" d="100"/>
        </p:scale>
        <p:origin x="20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4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384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COUNT(*) </a:t>
            </a:r>
            <a:r>
              <a:rPr lang="ru-RU" sz="1200" b="1" dirty="0">
                <a:latin typeface="Times New Roman" panose="02020603050405020304" pitchFamily="18" charset="0"/>
                <a:ea typeface="Calibri" panose="020F0502020204030204" pitchFamily="34" charset="0"/>
              </a:rPr>
              <a:t>не допускает использования ключевого слова</a:t>
            </a: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 DISTINCT и предназначена для подсчета всех строк в таблице </a:t>
            </a:r>
            <a:r>
              <a:rPr lang="ru-RU" sz="1200" b="1" dirty="0">
                <a:latin typeface="Times New Roman" panose="02020603050405020304" pitchFamily="18" charset="0"/>
                <a:ea typeface="Calibri" panose="020F0502020204030204" pitchFamily="34" charset="0"/>
              </a:rPr>
              <a:t>без предварительного удаления</a:t>
            </a: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дублирующихся</a:t>
            </a: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</a:rPr>
              <a:t> строк</a:t>
            </a:r>
            <a:endParaRPr lang="ru-RU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554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424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5e1eae99-639858a2-5dc5ad99-74722d776562/https/en.wikipedia.org/wiki/JSON" TargetMode="External"/><Relationship Id="rId3" Type="http://schemas.openxmlformats.org/officeDocument/2006/relationships/hyperlink" Target="https://translated.turbopages.org/proxy_u/en-ru.ru.5e1eae99-639858a2-5dc5ad99-74722d776562/https/en.wikipedia.org/wiki/SQL/XML" TargetMode="External"/><Relationship Id="rId7" Type="http://schemas.openxmlformats.org/officeDocument/2006/relationships/hyperlink" Target="https://translated.turbopages.org/proxy_u/en-ru.ru.5e1eae99-639858a2-5dc5ad99-74722d776562/https/en.wikipedia.org/wiki/SQL:2016" TargetMode="External"/><Relationship Id="rId2" Type="http://schemas.openxmlformats.org/officeDocument/2006/relationships/hyperlink" Target="https://translated.turbopages.org/proxy_u/en-ru.ru.5e1eae99-639858a2-5dc5ad99-74722d776562/https/en.wikipedia.org/wiki/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anslated.turbopages.org/proxy_u/en-ru.ru.5e1eae99-639858a2-5dc5ad99-74722d776562/https/en.wikipedia.org/wiki/SQL:2011" TargetMode="External"/><Relationship Id="rId5" Type="http://schemas.openxmlformats.org/officeDocument/2006/relationships/hyperlink" Target="https://translated.turbopages.org/proxy_u/en-ru.ru.5e1eae99-639858a2-5dc5ad99-74722d776562/https/en.wikipedia.org/wiki/SQL:2008" TargetMode="External"/><Relationship Id="rId4" Type="http://schemas.openxmlformats.org/officeDocument/2006/relationships/hyperlink" Target="https://translated.turbopages.org/proxy_u/en-ru.ru.5e1eae99-639858a2-5dc5ad99-74722d776562/https/en.wikipedia.org/wiki/SQL_window_function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Манипулирование </a:t>
            </a:r>
            <a:r>
              <a:rPr lang="ru-RU" dirty="0"/>
              <a:t>данными в реляционной модели</a:t>
            </a:r>
          </a:p>
          <a:p>
            <a:pPr marL="857250" lvl="1" indent="-457200"/>
            <a:r>
              <a:rPr lang="ru-RU" dirty="0"/>
              <a:t>Реляционная алгебра (РА)</a:t>
            </a:r>
          </a:p>
          <a:p>
            <a:pPr marL="857250" lvl="1" indent="-457200"/>
            <a:r>
              <a:rPr lang="ru-RU" dirty="0"/>
              <a:t>Связь РА и SQL через реляционное </a:t>
            </a:r>
            <a:r>
              <a:rPr lang="ru-RU" dirty="0" smtClean="0"/>
              <a:t>исчисление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Основы построения SQL – запросов</a:t>
            </a:r>
          </a:p>
          <a:p>
            <a:pPr marL="857250" lvl="1" indent="-457200"/>
            <a:r>
              <a:rPr lang="ru-RU" dirty="0"/>
              <a:t>Особенности SQL</a:t>
            </a:r>
          </a:p>
          <a:p>
            <a:pPr marL="857250" lvl="1" indent="-457200"/>
            <a:r>
              <a:rPr lang="ru-RU" dirty="0"/>
              <a:t>Трехзначная логика и NULL - значения	</a:t>
            </a:r>
          </a:p>
          <a:p>
            <a:pPr marL="857250" lvl="1" indent="-457200"/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Манипулирование данными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реляционном сервере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2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9D6AD-781D-1636-44D5-573039611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основы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7135D6-EF5B-E41B-1D6B-4EDC7D572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736" y="1608573"/>
            <a:ext cx="5904656" cy="2952328"/>
          </a:xfrm>
        </p:spPr>
        <p:txBody>
          <a:bodyPr anchor="t"/>
          <a:lstStyle/>
          <a:p>
            <a:r>
              <a:rPr lang="ru-RU" b="1" i="1" dirty="0"/>
              <a:t>Реляционная алгебра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Процедурная</a:t>
            </a:r>
          </a:p>
          <a:p>
            <a:pPr lvl="1"/>
            <a:r>
              <a:rPr lang="ru-RU" dirty="0"/>
              <a:t>Алгебраическая интерпретация</a:t>
            </a:r>
          </a:p>
          <a:p>
            <a:r>
              <a:rPr lang="ru-RU" b="1" i="1" dirty="0"/>
              <a:t>Реляционное исчисление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Декаларативная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Исчисление кортежей (строк) и </a:t>
            </a:r>
            <a:r>
              <a:rPr lang="ru-RU" i="1" dirty="0"/>
              <a:t>доменов</a:t>
            </a:r>
            <a:r>
              <a:rPr lang="ru-RU" dirty="0"/>
              <a:t> (атрибутов или столбцов)</a:t>
            </a:r>
          </a:p>
          <a:p>
            <a:r>
              <a:rPr lang="en-GB" b="1" dirty="0"/>
              <a:t>SQL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46B232-7331-C2A7-95CE-D61A27D4D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Стрелка: вверх-вниз 4">
            <a:extLst>
              <a:ext uri="{FF2B5EF4-FFF2-40B4-BE49-F238E27FC236}">
                <a16:creationId xmlns:a16="http://schemas.microsoft.com/office/drawing/2014/main" id="{B0E93DED-81B1-B496-B54C-BC6E3BA2164F}"/>
              </a:ext>
            </a:extLst>
          </p:cNvPr>
          <p:cNvSpPr/>
          <p:nvPr/>
        </p:nvSpPr>
        <p:spPr>
          <a:xfrm>
            <a:off x="611560" y="1716585"/>
            <a:ext cx="1512168" cy="273630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EAEAC8-E176-3045-00FD-A2657692514D}"/>
              </a:ext>
            </a:extLst>
          </p:cNvPr>
          <p:cNvSpPr/>
          <p:nvPr/>
        </p:nvSpPr>
        <p:spPr>
          <a:xfrm>
            <a:off x="1367644" y="5066770"/>
            <a:ext cx="5688632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ru-RU" sz="1600" dirty="0"/>
              <a:t>Для каждой формулы реляционного исчисления существует </a:t>
            </a:r>
            <a:r>
              <a:rPr lang="ru-RU" sz="1600" dirty="0">
                <a:solidFill>
                  <a:srgbClr val="C00000"/>
                </a:solidFill>
              </a:rPr>
              <a:t>однозначная </a:t>
            </a:r>
          </a:p>
          <a:p>
            <a:pPr marL="0" lvl="1" algn="ctr"/>
            <a:r>
              <a:rPr lang="ru-RU" sz="1600" dirty="0"/>
              <a:t>вычислительная интерпретация </a:t>
            </a:r>
          </a:p>
          <a:p>
            <a:pPr marL="0" lvl="1" algn="ctr"/>
            <a:r>
              <a:rPr lang="ru-RU" sz="1600" dirty="0"/>
              <a:t>(</a:t>
            </a:r>
            <a:r>
              <a:rPr lang="ru-RU" sz="1600" i="1" dirty="0"/>
              <a:t>выражение реляционной алгебры</a:t>
            </a:r>
            <a:r>
              <a:rPr lang="ru-RU" sz="16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6227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0CA67-1E25-8112-8CB9-24CF7511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реляционной алгебры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0E9605-EAD8-1B13-BE03-8892D0058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904" y="1453133"/>
            <a:ext cx="4865237" cy="3344019"/>
          </a:xfrm>
        </p:spPr>
        <p:txBody>
          <a:bodyPr>
            <a:normAutofit/>
          </a:bodyPr>
          <a:lstStyle/>
          <a:p>
            <a:pPr lvl="0"/>
            <a:r>
              <a:rPr lang="ru-RU" sz="1600" dirty="0"/>
              <a:t>Теоретико-множественные операции.</a:t>
            </a:r>
          </a:p>
          <a:p>
            <a:pPr lvl="1"/>
            <a:r>
              <a:rPr lang="ru-RU" sz="1600" dirty="0"/>
              <a:t>объединение; (UNION)</a:t>
            </a:r>
          </a:p>
          <a:p>
            <a:pPr lvl="1"/>
            <a:r>
              <a:rPr lang="ru-RU" sz="1600" dirty="0"/>
              <a:t>пересечение; (INTERSECT)</a:t>
            </a:r>
          </a:p>
          <a:p>
            <a:pPr lvl="1"/>
            <a:r>
              <a:rPr lang="ru-RU" sz="1600" dirty="0"/>
              <a:t>разность; (MINUS)</a:t>
            </a:r>
          </a:p>
          <a:p>
            <a:pPr lvl="1"/>
            <a:r>
              <a:rPr lang="ru-RU" sz="1600" dirty="0"/>
              <a:t>декартово произведение. (TIMES)</a:t>
            </a:r>
          </a:p>
          <a:p>
            <a:pPr lvl="0"/>
            <a:r>
              <a:rPr lang="ru-RU" sz="1600" dirty="0"/>
              <a:t>Специальные реляционные операции. </a:t>
            </a:r>
          </a:p>
          <a:p>
            <a:pPr lvl="1"/>
            <a:r>
              <a:rPr lang="ru-RU" sz="1600" dirty="0"/>
              <a:t>выборку (ограничение); (WHERE)</a:t>
            </a:r>
          </a:p>
          <a:p>
            <a:pPr lvl="1"/>
            <a:r>
              <a:rPr lang="ru-RU" sz="1600" dirty="0"/>
              <a:t>проекцию; (PROJECT)</a:t>
            </a:r>
          </a:p>
          <a:p>
            <a:pPr lvl="1"/>
            <a:r>
              <a:rPr lang="ru-RU" sz="1600" dirty="0"/>
              <a:t>соединение; (JOIN)</a:t>
            </a:r>
          </a:p>
          <a:p>
            <a:pPr lvl="1"/>
            <a:r>
              <a:rPr lang="ru-RU" sz="1600" dirty="0"/>
              <a:t>деление. (DIVIDE BY)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CAE8C5-A36D-1790-AC77-85DCC70AF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E8D577-909A-6CBC-0637-B680F2AB708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00" y="1387165"/>
            <a:ext cx="3093264" cy="3475953"/>
          </a:xfrm>
          <a:prstGeom prst="rect">
            <a:avLst/>
          </a:prstGeom>
          <a:noFill/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F2B7E387-8C68-D8EF-B1A4-C9A292DB7664}"/>
              </a:ext>
            </a:extLst>
          </p:cNvPr>
          <p:cNvSpPr txBox="1">
            <a:spLocks/>
          </p:cNvSpPr>
          <p:nvPr/>
        </p:nvSpPr>
        <p:spPr>
          <a:xfrm>
            <a:off x="755576" y="5077735"/>
            <a:ext cx="7416824" cy="15933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РА замкнута</a:t>
            </a:r>
          </a:p>
          <a:p>
            <a:r>
              <a:rPr lang="ru-RU" sz="1600" dirty="0"/>
              <a:t>Совместимость по типу –  </a:t>
            </a:r>
            <a:r>
              <a:rPr lang="ru-RU" sz="1600" i="1" dirty="0"/>
              <a:t>объединение, пересечение, разность</a:t>
            </a:r>
          </a:p>
          <a:p>
            <a:r>
              <a:rPr lang="ru-RU" sz="1600" dirty="0"/>
              <a:t>Два отношения совместимы по типу, если:</a:t>
            </a:r>
          </a:p>
          <a:p>
            <a:pPr lvl="1"/>
            <a:r>
              <a:rPr lang="ru-RU" sz="1400" dirty="0"/>
              <a:t>Их заголовки имеют одинаковое множество атрибутов.</a:t>
            </a:r>
          </a:p>
          <a:p>
            <a:pPr lvl="1"/>
            <a:r>
              <a:rPr lang="ru-RU" sz="1400" dirty="0"/>
              <a:t>Одинаковые атрибуты имеют одинаковые домены.</a:t>
            </a:r>
          </a:p>
          <a:p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3750337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46BD1-BEC0-CF11-3864-B10E60B1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 (UNION)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43EC88-725E-C989-73DE-5281DD03F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Результатом соединения отношения А и В является отношение С </a:t>
            </a:r>
            <a:r>
              <a:rPr lang="ru-RU" dirty="0" err="1"/>
              <a:t>с</a:t>
            </a:r>
            <a:r>
              <a:rPr lang="ru-RU" dirty="0"/>
              <a:t> тем же заголовком, что и у операндов, и телом из кортежей, принадлежащим А или В или обоим.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A UNION B 	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		</a:t>
            </a:r>
            <a:r>
              <a:rPr lang="en-US" dirty="0"/>
              <a:t>R=R1⋃R2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Повторяющиеся кортежи удаляются по определению отношения </a:t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/>
              <a:t>в </a:t>
            </a:r>
            <a:r>
              <a:rPr lang="en-US" i="1" dirty="0"/>
              <a:t>SQL</a:t>
            </a:r>
            <a:r>
              <a:rPr lang="ru-RU" i="1" dirty="0"/>
              <a:t> это не так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4BB96F-6799-C533-5339-6853254FB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2E12DD-6682-CF3B-7C6C-6CD5568C39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74464" y="3730072"/>
            <a:ext cx="3060384" cy="13173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9BBFC4-CCE8-E22A-E286-D20E66EC01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00192" y="3152938"/>
            <a:ext cx="1906906" cy="2220278"/>
          </a:xfrm>
          <a:prstGeom prst="rect">
            <a:avLst/>
          </a:prstGeom>
        </p:spPr>
      </p:pic>
      <p:sp>
        <p:nvSpPr>
          <p:cNvPr id="7" name="Стрелка вправо 11">
            <a:extLst>
              <a:ext uri="{FF2B5EF4-FFF2-40B4-BE49-F238E27FC236}">
                <a16:creationId xmlns:a16="http://schemas.microsoft.com/office/drawing/2014/main" id="{081EE627-34D4-052B-DB7B-70CFE90D2C3F}"/>
              </a:ext>
            </a:extLst>
          </p:cNvPr>
          <p:cNvSpPr/>
          <p:nvPr/>
        </p:nvSpPr>
        <p:spPr>
          <a:xfrm>
            <a:off x="5061350" y="3766173"/>
            <a:ext cx="985837" cy="671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798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417B2-0866-06DE-3848-30AF2D80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Пересечение (</a:t>
            </a:r>
            <a:r>
              <a:rPr lang="en-US" dirty="0"/>
              <a:t>INTERSECT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34DB8A-0B27-1FFE-4B92-5633E9626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ru-RU" dirty="0"/>
              <a:t>Результатом соединения отношения А и В является отношение С </a:t>
            </a:r>
            <a:r>
              <a:rPr lang="ru-RU" dirty="0" err="1"/>
              <a:t>с</a:t>
            </a:r>
            <a:r>
              <a:rPr lang="ru-RU" dirty="0"/>
              <a:t> тем же заголовком, что и у операндов, и телом из кортежей, принадлежащим А и В одновременно.</a:t>
            </a:r>
          </a:p>
          <a:p>
            <a:endParaRPr lang="ru-RU" dirty="0"/>
          </a:p>
          <a:p>
            <a:pPr marL="0" indent="0">
              <a:buNone/>
            </a:pPr>
            <a:r>
              <a:rPr lang="en-US" dirty="0"/>
              <a:t>A INTERSECT B 		R=R1⋂R2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DF7CC6-E34D-D193-7D36-250C889A5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039F41-0859-8296-2BF1-286562EC4F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7201" y="3918081"/>
            <a:ext cx="3261361" cy="1371138"/>
          </a:xfrm>
          <a:prstGeom prst="rect">
            <a:avLst/>
          </a:prstGeom>
        </p:spPr>
      </p:pic>
      <p:sp>
        <p:nvSpPr>
          <p:cNvPr id="7" name="Стрелка вправо 6">
            <a:extLst>
              <a:ext uri="{FF2B5EF4-FFF2-40B4-BE49-F238E27FC236}">
                <a16:creationId xmlns:a16="http://schemas.microsoft.com/office/drawing/2014/main" id="{CE1CB8C8-B658-0139-320E-A87042797558}"/>
              </a:ext>
            </a:extLst>
          </p:cNvPr>
          <p:cNvSpPr/>
          <p:nvPr/>
        </p:nvSpPr>
        <p:spPr>
          <a:xfrm>
            <a:off x="4583120" y="4267893"/>
            <a:ext cx="985837" cy="671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A50989-6CF7-C835-B5A4-A238FB7F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3979761"/>
            <a:ext cx="20669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83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C5D62-62CD-2E2D-A71C-785D5608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Разность (</a:t>
            </a:r>
            <a:r>
              <a:rPr lang="en-US" dirty="0"/>
              <a:t>MINUS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14E8AD-1D68-B0EA-3C99-FEDA15F19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ru-RU" dirty="0"/>
              <a:t>Результатом соединения отношения А и В является отношение С </a:t>
            </a:r>
            <a:r>
              <a:rPr lang="ru-RU" dirty="0" err="1"/>
              <a:t>с</a:t>
            </a:r>
            <a:r>
              <a:rPr lang="ru-RU" dirty="0"/>
              <a:t> тем же заголовком, что и у операндов, и телом из кортежей, принадлежащим А и не принадлежащим 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A MINUS B 	 R=R1</a:t>
            </a:r>
            <a:r>
              <a:rPr lang="ru-RU" dirty="0">
                <a:sym typeface="Symbol" panose="05050102010706020507" pitchFamily="18" charset="2"/>
              </a:rPr>
              <a:t></a:t>
            </a:r>
            <a:r>
              <a:rPr lang="en-US" dirty="0"/>
              <a:t>R2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52F6FD-5D07-9E69-11B7-5FF1E5AC8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EB987F-955C-7161-3E3D-3945A9934CE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683568" y="3394122"/>
            <a:ext cx="7565792" cy="3103133"/>
          </a:xfrm>
          <a:prstGeom prst="rect">
            <a:avLst/>
          </a:prstGeom>
        </p:spPr>
      </p:pic>
      <p:sp>
        <p:nvSpPr>
          <p:cNvPr id="6" name="Скругленный прямоугольник 76">
            <a:extLst>
              <a:ext uri="{FF2B5EF4-FFF2-40B4-BE49-F238E27FC236}">
                <a16:creationId xmlns:a16="http://schemas.microsoft.com/office/drawing/2014/main" id="{80945AB9-357D-D645-863A-5270E0FDF270}"/>
              </a:ext>
            </a:extLst>
          </p:cNvPr>
          <p:cNvSpPr/>
          <p:nvPr/>
        </p:nvSpPr>
        <p:spPr>
          <a:xfrm>
            <a:off x="428841" y="5220203"/>
            <a:ext cx="5439303" cy="1399190"/>
          </a:xfrm>
          <a:prstGeom prst="roundRect">
            <a:avLst>
              <a:gd name="adj" fmla="val 1275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738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7212B-DED9-2297-44E4-E8C62A134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Декартово произведение в теории множеств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D1396D-0990-BEE3-F0CB-F5DD29B7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08012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600" dirty="0"/>
              <a:t>Декартовым произведением </a:t>
            </a:r>
            <a:r>
              <a:rPr lang="ru-RU" sz="1600" b="1" dirty="0">
                <a:solidFill>
                  <a:srgbClr val="C00000"/>
                </a:solidFill>
              </a:rPr>
              <a:t>множеств</a:t>
            </a:r>
            <a:r>
              <a:rPr lang="ru-RU" sz="1600" dirty="0">
                <a:solidFill>
                  <a:srgbClr val="C00000"/>
                </a:solidFill>
              </a:rPr>
              <a:t> </a:t>
            </a:r>
            <a:r>
              <a:rPr lang="ru-RU" sz="1600" dirty="0"/>
              <a:t>A{a} и B{b} является такое </a:t>
            </a:r>
            <a:r>
              <a:rPr lang="ru-RU" sz="1600" dirty="0">
                <a:solidFill>
                  <a:srgbClr val="C00000"/>
                </a:solidFill>
              </a:rPr>
              <a:t>множество пар </a:t>
            </a:r>
            <a:r>
              <a:rPr lang="ru-RU" sz="1600" dirty="0"/>
              <a:t>C{&lt;c1, 2&gt;}, что для каждого элемента &lt;c1, c2&gt; множества C существуют такой элемент a множества A, что c1=a, и такой элемент b множества B, что c2=b.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94A73C-08B8-2AD6-2FFC-FB1B65241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CB87DE-4A2F-4C8C-60CE-7E39696CB5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522601"/>
            <a:ext cx="3744416" cy="2846341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D7B250A5-9E27-3E2F-DD18-2EE22FD45DDF}"/>
              </a:ext>
            </a:extLst>
          </p:cNvPr>
          <p:cNvSpPr txBox="1">
            <a:spLocks/>
          </p:cNvSpPr>
          <p:nvPr/>
        </p:nvSpPr>
        <p:spPr>
          <a:xfrm>
            <a:off x="647564" y="5775437"/>
            <a:ext cx="7848872" cy="95223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Поскольку отношения являются множествами,  для любых двух отношений возможно получение прямого произведения. </a:t>
            </a:r>
          </a:p>
          <a:p>
            <a:pPr marL="0" indent="0">
              <a:buFont typeface="Arial" pitchFamily="34" charset="0"/>
              <a:buNone/>
            </a:pPr>
            <a:r>
              <a:rPr lang="ru-RU" sz="1600" u="sng" dirty="0"/>
              <a:t>Но результат не будет отношением</a:t>
            </a:r>
            <a:endParaRPr lang="ru-RU" sz="1600" dirty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7370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C7586-93B6-5347-9281-C724A8FC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Расширенное декартово произведение (</a:t>
            </a:r>
            <a:r>
              <a:rPr lang="en-US" dirty="0"/>
              <a:t>TIMES</a:t>
            </a:r>
            <a:r>
              <a:rPr lang="ru-RU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0E4377-25D5-2DE8-6E00-E93D7235AF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19" y="1340768"/>
                <a:ext cx="8723239" cy="4752528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ru-RU" sz="1600" dirty="0"/>
                  <a:t>Результат </a:t>
                </a:r>
                <a:r>
                  <a:rPr lang="ru-RU" sz="1600" b="1" dirty="0"/>
                  <a:t>декартова произведения отношения</a:t>
                </a:r>
                <a:r>
                  <a:rPr lang="ru-RU" sz="1600" dirty="0"/>
                  <a:t> А с заголовком А(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ru-RU" sz="1600" dirty="0"/>
                  <a:t>) и отношения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sz="1600" i="1" dirty="0"/>
                  <a:t>)</a:t>
                </a:r>
                <a:r>
                  <a:rPr lang="ru-RU" sz="1600" dirty="0"/>
                  <a:t> является отношение С=A TIMES B, заголовок которого является конкатенацией заголовков операндов С(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sz="1600" dirty="0"/>
                  <a:t>), а тело состоит из кортежей вида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sz="1600" dirty="0"/>
                  <a:t>), где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ru-RU" sz="1600" dirty="0"/>
                  <a:t>) ϵ A,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sz="1600" dirty="0"/>
                  <a:t>) ϵ B.</a:t>
                </a:r>
              </a:p>
              <a:p>
                <a:pPr marL="0" indent="0">
                  <a:buNone/>
                </a:pPr>
                <a:endParaRPr lang="ru-RU" sz="1600" dirty="0"/>
              </a:p>
              <a:p>
                <a:pPr marL="0" indent="0">
                  <a:buNone/>
                </a:pPr>
                <a:r>
                  <a:rPr lang="ru-RU" sz="1600" dirty="0"/>
                  <a:t>t=R×S = R</a:t>
                </a:r>
                <a:r>
                  <a:rPr lang="ru-RU" sz="1600" dirty="0">
                    <a:sym typeface="Symbol" panose="05050102010706020507" pitchFamily="18" charset="2"/>
                  </a:rPr>
                  <a:t></a:t>
                </a:r>
                <a:r>
                  <a:rPr lang="ru-RU" sz="1600" dirty="0"/>
                  <a:t>S</a:t>
                </a:r>
              </a:p>
              <a:p>
                <a:endParaRPr lang="ru-RU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0E4377-25D5-2DE8-6E00-E93D7235A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19" y="1340768"/>
                <a:ext cx="8723239" cy="4752528"/>
              </a:xfrm>
              <a:blipFill>
                <a:blip r:embed="rId2"/>
                <a:stretch>
                  <a:fillRect l="-349" t="-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8DBA91-764F-FC03-66C9-32F7CFD1D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06A58409-09EB-1C40-F55A-5145BF938B8C}"/>
              </a:ext>
            </a:extLst>
          </p:cNvPr>
          <p:cNvSpPr/>
          <p:nvPr/>
        </p:nvSpPr>
        <p:spPr>
          <a:xfrm rot="16200000">
            <a:off x="3707904" y="3691405"/>
            <a:ext cx="864096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376A07-A201-D381-A38C-335C155DC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2564904"/>
            <a:ext cx="1676400" cy="30670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02550CD-0857-E764-387B-B0D51D090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271" y="2917329"/>
            <a:ext cx="3343275" cy="2362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D0E28F-E9B1-6C30-2289-CD964CEA990C}"/>
              </a:ext>
            </a:extLst>
          </p:cNvPr>
          <p:cNvSpPr txBox="1"/>
          <p:nvPr/>
        </p:nvSpPr>
        <p:spPr>
          <a:xfrm>
            <a:off x="238011" y="5958226"/>
            <a:ext cx="8892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применимо к отношениям, заголовки которых </a:t>
            </a:r>
            <a:r>
              <a:rPr lang="ru-RU" i="1" dirty="0">
                <a:solidFill>
                  <a:srgbClr val="C00000"/>
                </a:solidFill>
              </a:rPr>
              <a:t>не содержат одноименных атрибутов одного домена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93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D9BBE-4A58-4220-BCBB-AEEB600C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Эквивалентность отношений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728B60-368A-9A4E-171F-66A95891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324036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600" dirty="0"/>
              <a:t>В общем виде декартово произведение некоммутативно. </a:t>
            </a:r>
          </a:p>
          <a:p>
            <a:pPr lvl="1"/>
            <a:r>
              <a:rPr lang="ru-RU" sz="1600" b="1" i="1" dirty="0"/>
              <a:t>Коммутативным</a:t>
            </a:r>
            <a:r>
              <a:rPr lang="ru-RU" sz="1600" dirty="0"/>
              <a:t> является декартово произведение, определенное на </a:t>
            </a:r>
            <a:r>
              <a:rPr lang="ru-RU" sz="1600" i="1" dirty="0">
                <a:solidFill>
                  <a:srgbClr val="C00000"/>
                </a:solidFill>
              </a:rPr>
              <a:t>классах эквивалентности </a:t>
            </a:r>
            <a:r>
              <a:rPr lang="ru-RU" sz="1600" i="1" dirty="0"/>
              <a:t>по заданному отношению</a:t>
            </a:r>
            <a:r>
              <a:rPr lang="ru-RU" sz="1600" dirty="0"/>
              <a:t>.</a:t>
            </a:r>
          </a:p>
          <a:p>
            <a:pPr marL="0" indent="0">
              <a:buNone/>
            </a:pPr>
            <a:r>
              <a:rPr lang="ru-RU" sz="1600" dirty="0"/>
              <a:t>Реляционные отношения А и В </a:t>
            </a:r>
            <a:r>
              <a:rPr lang="ru-RU" sz="1600" b="1" i="1" dirty="0"/>
              <a:t>эквивалентны</a:t>
            </a:r>
            <a:r>
              <a:rPr lang="ru-RU" sz="1600" dirty="0"/>
              <a:t>, если: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Их заголовки совпадают.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Для каждого кортежа, принадлежащего А, найдется равный ему кортеж отношения В, и наоборот.</a:t>
            </a:r>
          </a:p>
          <a:p>
            <a:pPr marL="800100" lvl="1" indent="-342900">
              <a:buFont typeface="+mj-lt"/>
              <a:buAutoNum type="arabicPeriod"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Для достижения совместимости в РА используется специально введенная операция </a:t>
            </a:r>
            <a:r>
              <a:rPr lang="ru-RU" sz="1600" b="1" i="1" dirty="0">
                <a:solidFill>
                  <a:schemeClr val="accent1"/>
                </a:solidFill>
              </a:rPr>
              <a:t>переименования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493712-5FF1-5232-F7A3-BE9E7C2C6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12F0A5-AE84-3D4F-4701-A9808C31C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9" y="4644211"/>
            <a:ext cx="2808312" cy="1984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1D500A-92EF-261D-D836-12E0FA9CD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877" y="4640284"/>
            <a:ext cx="2808312" cy="1957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9C789F-48A3-6ADD-CF81-C2554D5A17E6}"/>
              </a:ext>
            </a:extLst>
          </p:cNvPr>
          <p:cNvSpPr txBox="1"/>
          <p:nvPr/>
        </p:nvSpPr>
        <p:spPr>
          <a:xfrm flipH="1">
            <a:off x="4211962" y="4690968"/>
            <a:ext cx="6286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?</a:t>
            </a:r>
            <a:endParaRPr lang="ru-RU" sz="24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138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1CD3E-3029-CF5D-0B70-51D4861B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Выборка (</a:t>
            </a:r>
            <a:r>
              <a:rPr lang="en-US" dirty="0"/>
              <a:t>WHERE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0FB77A-4DE7-769C-038C-57859D255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952" y="1484784"/>
            <a:ext cx="8055504" cy="475252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600" dirty="0"/>
              <a:t>Также называется операцией </a:t>
            </a:r>
            <a:r>
              <a:rPr lang="ru-RU" sz="1600" i="1" dirty="0"/>
              <a:t>ограничения</a:t>
            </a:r>
            <a:r>
              <a:rPr lang="ru-RU" sz="1600" dirty="0"/>
              <a:t> или операцией </a:t>
            </a:r>
            <a:r>
              <a:rPr lang="ru-RU" sz="1600" i="1" dirty="0"/>
              <a:t>селекции</a:t>
            </a:r>
            <a:r>
              <a:rPr lang="ru-RU" sz="1600" dirty="0"/>
              <a:t>. </a:t>
            </a:r>
          </a:p>
          <a:p>
            <a:pPr marL="0" indent="0">
              <a:buNone/>
            </a:pPr>
            <a:r>
              <a:rPr lang="ru-RU" sz="1600" b="1" dirty="0"/>
              <a:t>Унарная операция</a:t>
            </a:r>
            <a:r>
              <a:rPr lang="ru-RU" sz="1600" dirty="0"/>
              <a:t>, результатом применения которой к отношению А является отношение с тем же заголовком, что и А, тело которого состоит из кортежей, в которые входят атрибуты А, удовлетворяющие условию p.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en-US" sz="1600" dirty="0"/>
              <a:t>A WHERE p</a:t>
            </a:r>
            <a:r>
              <a:rPr lang="ru-RU" sz="1600" dirty="0"/>
              <a:t>. </a:t>
            </a:r>
          </a:p>
          <a:p>
            <a:pPr marL="0" indent="0">
              <a:buNone/>
            </a:pPr>
            <a:r>
              <a:rPr lang="en-US" sz="1600" dirty="0"/>
              <a:t>t</a:t>
            </a:r>
            <a:r>
              <a:rPr lang="ru-RU" sz="1600" dirty="0"/>
              <a:t>=σ</a:t>
            </a:r>
            <a:r>
              <a:rPr lang="en-US" sz="1600" baseline="-25000" dirty="0"/>
              <a:t>p</a:t>
            </a:r>
            <a:r>
              <a:rPr lang="ru-RU" sz="1600" dirty="0"/>
              <a:t>(</a:t>
            </a:r>
            <a:r>
              <a:rPr lang="en-US" sz="1600" dirty="0"/>
              <a:t>A</a:t>
            </a:r>
            <a:r>
              <a:rPr lang="ru-RU" sz="1600" dirty="0"/>
              <a:t>) 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Выражение вычислимо </a:t>
            </a:r>
            <a:r>
              <a:rPr lang="ru-RU" sz="1600" b="1" i="1" dirty="0"/>
              <a:t>в трехзначной логике</a:t>
            </a:r>
            <a:r>
              <a:rPr lang="ru-RU" sz="1600" dirty="0"/>
              <a:t>: </a:t>
            </a:r>
            <a:r>
              <a:rPr lang="en-US" sz="1600" dirty="0"/>
              <a:t>true</a:t>
            </a:r>
            <a:r>
              <a:rPr lang="ru-RU" sz="1600" dirty="0"/>
              <a:t>, </a:t>
            </a:r>
            <a:r>
              <a:rPr lang="en-US" sz="1600" dirty="0"/>
              <a:t>false</a:t>
            </a:r>
            <a:r>
              <a:rPr lang="ru-RU" sz="1600" dirty="0"/>
              <a:t>, </a:t>
            </a:r>
            <a:r>
              <a:rPr lang="en-US" sz="1600" dirty="0"/>
              <a:t>unknown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A6290-8B2D-C015-4562-2818AF453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F13594-2166-1481-A0D1-549BD432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3645024"/>
            <a:ext cx="3519000" cy="14401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91E863-D040-9708-631D-4E501FFBA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420627"/>
            <a:ext cx="1512168" cy="1664557"/>
          </a:xfrm>
          <a:prstGeom prst="rect">
            <a:avLst/>
          </a:prstGeom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B48E0186-F722-0E37-0D97-311718FAF1AE}"/>
              </a:ext>
            </a:extLst>
          </p:cNvPr>
          <p:cNvSpPr/>
          <p:nvPr/>
        </p:nvSpPr>
        <p:spPr>
          <a:xfrm rot="16200000">
            <a:off x="3671900" y="3845622"/>
            <a:ext cx="864096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2703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E3D1D-5BA8-D996-2C2D-D2F91FD2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Проекция</a:t>
            </a:r>
            <a:r>
              <a:rPr lang="en-US" dirty="0"/>
              <a:t> (PROJECT)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F823A0-50F4-04B0-7BAE-701536A1C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ru-RU" sz="1600" b="1" dirty="0"/>
                  <a:t>Унарная операция.</a:t>
                </a:r>
              </a:p>
              <a:p>
                <a:pPr marL="0" indent="0">
                  <a:buNone/>
                </a:pPr>
                <a:r>
                  <a:rPr lang="ru-RU" sz="1600" dirty="0"/>
                  <a:t>Результатом проекции отношения А по заданному набору атрибутов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1600" dirty="0"/>
                  <a:t>)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1600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∈(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 является отношение с заголовком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 и телом из соответствующих фрагментов кортежей отношения </a:t>
                </a:r>
                <a:r>
                  <a:rPr lang="en-US" sz="1600" dirty="0"/>
                  <a:t>A</a:t>
                </a:r>
                <a:r>
                  <a:rPr lang="ru-RU" sz="1600" dirty="0"/>
                  <a:t>.</a:t>
                </a:r>
              </a:p>
              <a:p>
                <a:pPr marL="0" indent="0">
                  <a:buNone/>
                </a:pPr>
                <a:endParaRPr lang="ru-RU" sz="1600" dirty="0"/>
              </a:p>
              <a:p>
                <a:pPr marL="0" indent="0">
                  <a:buNone/>
                </a:pPr>
                <a:r>
                  <a:rPr lang="en-US" sz="1600" dirty="0"/>
                  <a:t>PROJECT (A(a</a:t>
                </a:r>
                <a:r>
                  <a:rPr lang="en-US" sz="1600" baseline="-25000" dirty="0"/>
                  <a:t>l</a:t>
                </a:r>
                <a:r>
                  <a:rPr lang="en-US" sz="1600" dirty="0"/>
                  <a:t>,…,a</a:t>
                </a:r>
                <a:r>
                  <a:rPr lang="en-US" sz="1600" baseline="-25000" dirty="0"/>
                  <a:t>m</a:t>
                </a:r>
                <a:r>
                  <a:rPr lang="en-US" sz="1600" dirty="0"/>
                  <a:t>))</a:t>
                </a:r>
                <a:endParaRPr lang="ru-RU" sz="1600" dirty="0"/>
              </a:p>
              <a:p>
                <a:endParaRPr lang="ru-RU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F823A0-50F4-04B0-7BAE-701536A1C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88" t="-513" r="-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A499D8-81CE-58CB-9A7A-10EFA43DC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6DAA2B0-ED33-40D7-6443-F4DD7161EB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934196"/>
              </p:ext>
            </p:extLst>
          </p:nvPr>
        </p:nvGraphicFramePr>
        <p:xfrm>
          <a:off x="827584" y="3015653"/>
          <a:ext cx="1360828" cy="538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4" imgW="457200" imgH="190500" progId="Equation.DSMT4">
                  <p:embed/>
                </p:oleObj>
              </mc:Choice>
              <mc:Fallback>
                <p:oleObj r:id="rId4" imgW="457200" imgH="190500" progId="Equation.DSMT4">
                  <p:embed/>
                  <p:pic>
                    <p:nvPicPr>
                      <p:cNvPr id="15" name="Объект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015653"/>
                        <a:ext cx="1360828" cy="5386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F30A3E-EFCA-AF38-4149-1D579C200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672" y="4024275"/>
            <a:ext cx="2266950" cy="17430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655A3D-4A7E-3D3F-9FC9-A51ECE596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380" y="4135752"/>
            <a:ext cx="2971800" cy="1533525"/>
          </a:xfrm>
          <a:prstGeom prst="rect">
            <a:avLst/>
          </a:prstGeom>
        </p:spPr>
      </p:pic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D792D0EE-A0DA-DA74-9501-3E57E939637F}"/>
              </a:ext>
            </a:extLst>
          </p:cNvPr>
          <p:cNvSpPr/>
          <p:nvPr/>
        </p:nvSpPr>
        <p:spPr>
          <a:xfrm rot="16200000">
            <a:off x="4175956" y="4463764"/>
            <a:ext cx="864096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990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85303-71C0-983D-2EE6-99C8229D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Соединени</a:t>
            </a:r>
            <a:r>
              <a:rPr lang="en-US" dirty="0"/>
              <a:t>e</a:t>
            </a:r>
            <a:r>
              <a:rPr lang="ru-RU" dirty="0"/>
              <a:t> (</a:t>
            </a:r>
            <a:r>
              <a:rPr lang="en-US" dirty="0"/>
              <a:t>JOIN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AC1E2-D63C-C324-D119-BFDE9BB3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2322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dirty="0"/>
              <a:t>Операция формирует отношение из объединения кортежей своих операндов. </a:t>
            </a:r>
          </a:p>
          <a:p>
            <a:pPr marL="0" indent="0">
              <a:buNone/>
            </a:pPr>
            <a:endParaRPr lang="ru-RU" b="1" dirty="0"/>
          </a:p>
          <a:p>
            <a:pPr marL="57150" indent="0">
              <a:buNone/>
            </a:pPr>
            <a:r>
              <a:rPr lang="ru-RU" b="1" dirty="0"/>
              <a:t>Соединение по условию</a:t>
            </a:r>
          </a:p>
          <a:p>
            <a:pPr marL="57150" indent="0">
              <a:buNone/>
            </a:pPr>
            <a:r>
              <a:rPr lang="ru-RU" dirty="0"/>
              <a:t>t=</a:t>
            </a:r>
            <a:r>
              <a:rPr lang="ru-RU" dirty="0">
                <a:sym typeface="Symbol" panose="05050102010706020507" pitchFamily="18" charset="2"/>
              </a:rPr>
              <a:t></a:t>
            </a:r>
            <a:r>
              <a:rPr lang="ru-RU" dirty="0"/>
              <a:t>p(R</a:t>
            </a:r>
            <a:r>
              <a:rPr lang="ru-RU" dirty="0">
                <a:sym typeface="Symbol" panose="05050102010706020507" pitchFamily="18" charset="2"/>
              </a:rPr>
              <a:t></a:t>
            </a:r>
            <a:r>
              <a:rPr lang="ru-RU" dirty="0"/>
              <a:t>S)= </a:t>
            </a:r>
            <a:r>
              <a:rPr lang="ru-RU" dirty="0" err="1"/>
              <a:t>R⋈pS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84043B-1E01-3559-98BF-5136B7E09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85F049-2FF4-072F-A5F6-48B50DBFE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61" y="3717032"/>
            <a:ext cx="8023031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95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14095-3580-FAD5-F502-AAC8B972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Естественное соединение (</a:t>
            </a:r>
            <a:r>
              <a:rPr lang="en-US" dirty="0"/>
              <a:t>NATURAL JOIN)</a:t>
            </a:r>
            <a:endParaRPr lang="ru-RU" dirty="0"/>
          </a:p>
        </p:txBody>
      </p:sp>
      <p:pic>
        <p:nvPicPr>
          <p:cNvPr id="24" name="Объект 23">
            <a:extLst>
              <a:ext uri="{FF2B5EF4-FFF2-40B4-BE49-F238E27FC236}">
                <a16:creationId xmlns:a16="http://schemas.microsoft.com/office/drawing/2014/main" id="{494277A4-3F9C-4F75-E03C-1727C0CD8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82" y="1484784"/>
            <a:ext cx="8609425" cy="423477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2C24A8-FE9C-0300-6EAA-D3580D0A1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395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7F38D-6CDF-8F70-9A8D-A4D91FE1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виды соединений – </a:t>
            </a:r>
            <a:r>
              <a:rPr lang="en-US" dirty="0"/>
              <a:t>LEFT JOIN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C21B54-E0F8-8D4C-8AD0-3AD95D11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4B04B3-386B-42EB-2697-344612D80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9" y="1333103"/>
            <a:ext cx="4100969" cy="2936756"/>
          </a:xfrm>
          <a:prstGeom prst="rect">
            <a:avLst/>
          </a:prstGeom>
        </p:spPr>
      </p:pic>
      <p:sp>
        <p:nvSpPr>
          <p:cNvPr id="8" name="Стрелка: изогнутая 7">
            <a:extLst>
              <a:ext uri="{FF2B5EF4-FFF2-40B4-BE49-F238E27FC236}">
                <a16:creationId xmlns:a16="http://schemas.microsoft.com/office/drawing/2014/main" id="{95D7C0A6-62EE-C365-1F50-4690620111E6}"/>
              </a:ext>
            </a:extLst>
          </p:cNvPr>
          <p:cNvSpPr/>
          <p:nvPr/>
        </p:nvSpPr>
        <p:spPr>
          <a:xfrm rot="5400000">
            <a:off x="5826081" y="2467238"/>
            <a:ext cx="1512168" cy="171607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D9E5B3-9EF9-5ED9-E498-B072DDA578D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35896" y="4372578"/>
            <a:ext cx="4853930" cy="2296782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89225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7F38D-6CDF-8F70-9A8D-A4D91FE1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виды соединений – </a:t>
            </a:r>
            <a:r>
              <a:rPr lang="en-US" dirty="0"/>
              <a:t>RIGHT JOIN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C21B54-E0F8-8D4C-8AD0-3AD95D11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4B04B3-386B-42EB-2697-344612D80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9" y="1333103"/>
            <a:ext cx="4100969" cy="29367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8D1CC0-8AB3-74A2-86E8-7883D7E5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742" y="4392046"/>
            <a:ext cx="5638921" cy="2265702"/>
          </a:xfrm>
          <a:prstGeom prst="rect">
            <a:avLst/>
          </a:prstGeom>
        </p:spPr>
      </p:pic>
      <p:sp>
        <p:nvSpPr>
          <p:cNvPr id="8" name="Стрелка: изогнутая 7">
            <a:extLst>
              <a:ext uri="{FF2B5EF4-FFF2-40B4-BE49-F238E27FC236}">
                <a16:creationId xmlns:a16="http://schemas.microsoft.com/office/drawing/2014/main" id="{95D7C0A6-62EE-C365-1F50-4690620111E6}"/>
              </a:ext>
            </a:extLst>
          </p:cNvPr>
          <p:cNvSpPr/>
          <p:nvPr/>
        </p:nvSpPr>
        <p:spPr>
          <a:xfrm rot="5400000">
            <a:off x="5826081" y="2467238"/>
            <a:ext cx="1512168" cy="171607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730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E388E-2FE0-67FC-6748-41B26200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Деление (</a:t>
            </a:r>
            <a:r>
              <a:rPr lang="en-US" dirty="0"/>
              <a:t>DIVIDE BY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A49F49-0CC0-334B-4382-AC0CCE24D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1600" dirty="0"/>
              <a:t>В операции участвуют два отношения </a:t>
            </a:r>
            <a:endParaRPr lang="en-US" sz="16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1600" dirty="0"/>
              <a:t>A(</a:t>
            </a:r>
            <a:r>
              <a:rPr lang="ru-RU" sz="1600" b="1" dirty="0">
                <a:solidFill>
                  <a:schemeClr val="accent1"/>
                </a:solidFill>
              </a:rPr>
              <a:t>a</a:t>
            </a:r>
            <a:r>
              <a:rPr lang="ru-RU" sz="1600" b="1" baseline="-25000" dirty="0">
                <a:solidFill>
                  <a:schemeClr val="accent1"/>
                </a:solidFill>
              </a:rPr>
              <a:t>1</a:t>
            </a:r>
            <a:r>
              <a:rPr lang="ru-RU" sz="1600" b="1" dirty="0">
                <a:solidFill>
                  <a:schemeClr val="accent1"/>
                </a:solidFill>
              </a:rPr>
              <a:t>,…,a</a:t>
            </a:r>
            <a:r>
              <a:rPr lang="ru-RU" sz="1600" b="1" baseline="-25000" dirty="0">
                <a:solidFill>
                  <a:schemeClr val="accent1"/>
                </a:solidFill>
              </a:rPr>
              <a:t>n</a:t>
            </a:r>
            <a:r>
              <a:rPr lang="ru-RU" sz="1600" dirty="0"/>
              <a:t>,</a:t>
            </a:r>
            <a:r>
              <a:rPr lang="ru-RU" sz="1600" dirty="0">
                <a:solidFill>
                  <a:srgbClr val="C00000"/>
                </a:solidFill>
              </a:rPr>
              <a:t>b</a:t>
            </a:r>
            <a:r>
              <a:rPr lang="ru-RU" sz="1600" baseline="-25000" dirty="0">
                <a:solidFill>
                  <a:srgbClr val="C00000"/>
                </a:solidFill>
              </a:rPr>
              <a:t>1</a:t>
            </a:r>
            <a:r>
              <a:rPr lang="ru-RU" sz="1600" dirty="0">
                <a:solidFill>
                  <a:srgbClr val="C00000"/>
                </a:solidFill>
              </a:rPr>
              <a:t>,…,</a:t>
            </a:r>
            <a:r>
              <a:rPr lang="ru-RU" sz="1600" dirty="0" err="1">
                <a:solidFill>
                  <a:srgbClr val="C00000"/>
                </a:solidFill>
              </a:rPr>
              <a:t>b</a:t>
            </a:r>
            <a:r>
              <a:rPr lang="ru-RU" sz="1600" baseline="-25000" dirty="0" err="1">
                <a:solidFill>
                  <a:srgbClr val="C00000"/>
                </a:solidFill>
              </a:rPr>
              <a:t>m</a:t>
            </a:r>
            <a:r>
              <a:rPr lang="ru-RU" sz="1600" dirty="0"/>
              <a:t>)</a:t>
            </a:r>
            <a:endParaRPr lang="en-US" sz="16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1600" dirty="0"/>
              <a:t>B(</a:t>
            </a:r>
            <a:r>
              <a:rPr lang="ru-RU" sz="1600" dirty="0">
                <a:solidFill>
                  <a:srgbClr val="C00000"/>
                </a:solidFill>
              </a:rPr>
              <a:t>b</a:t>
            </a:r>
            <a:r>
              <a:rPr lang="ru-RU" sz="1600" baseline="-25000" dirty="0">
                <a:solidFill>
                  <a:srgbClr val="C00000"/>
                </a:solidFill>
              </a:rPr>
              <a:t>1</a:t>
            </a:r>
            <a:r>
              <a:rPr lang="ru-RU" sz="1600" dirty="0">
                <a:solidFill>
                  <a:srgbClr val="C00000"/>
                </a:solidFill>
              </a:rPr>
              <a:t>,…,</a:t>
            </a:r>
            <a:r>
              <a:rPr lang="ru-RU" sz="1600" dirty="0" err="1">
                <a:solidFill>
                  <a:srgbClr val="C00000"/>
                </a:solidFill>
              </a:rPr>
              <a:t>b</a:t>
            </a:r>
            <a:r>
              <a:rPr lang="ru-RU" sz="1600" baseline="-25000" dirty="0" err="1">
                <a:solidFill>
                  <a:srgbClr val="C00000"/>
                </a:solidFill>
              </a:rPr>
              <a:t>m</a:t>
            </a:r>
            <a:r>
              <a:rPr lang="ru-RU" sz="1600" dirty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600" dirty="0"/>
              <a:t>где </a:t>
            </a:r>
            <a:r>
              <a:rPr lang="ru-RU" sz="1600" dirty="0" err="1"/>
              <a:t>b</a:t>
            </a:r>
            <a:r>
              <a:rPr lang="ru-RU" sz="1600" baseline="-25000" dirty="0" err="1"/>
              <a:t>i</a:t>
            </a:r>
            <a:r>
              <a:rPr lang="ru-RU" sz="1600" dirty="0" err="1"/>
              <a:t>∈H</a:t>
            </a:r>
            <a:r>
              <a:rPr lang="ru-RU" sz="1600" baseline="-25000" dirty="0" err="1"/>
              <a:t>A</a:t>
            </a:r>
            <a:r>
              <a:rPr lang="ru-RU" sz="1600" dirty="0"/>
              <a:t> и </a:t>
            </a:r>
            <a:r>
              <a:rPr lang="ru-RU" sz="1600" dirty="0" err="1"/>
              <a:t>b</a:t>
            </a:r>
            <a:r>
              <a:rPr lang="ru-RU" sz="1600" baseline="-25000" dirty="0" err="1"/>
              <a:t>i</a:t>
            </a:r>
            <a:r>
              <a:rPr lang="ru-RU" sz="1600" dirty="0" err="1"/>
              <a:t>∈H</a:t>
            </a:r>
            <a:r>
              <a:rPr lang="ru-RU" sz="1600" baseline="-25000" dirty="0" err="1"/>
              <a:t>B</a:t>
            </a:r>
            <a:r>
              <a:rPr lang="ru-RU" sz="1600" dirty="0"/>
              <a:t> </a:t>
            </a:r>
            <a:r>
              <a:rPr lang="ru-RU" sz="1600" dirty="0">
                <a:sym typeface="Symbol" panose="05050102010706020507" pitchFamily="18" charset="2"/>
              </a:rPr>
              <a:t></a:t>
            </a:r>
            <a:r>
              <a:rPr lang="ru-RU" sz="1600" dirty="0"/>
              <a:t> </a:t>
            </a:r>
            <a:r>
              <a:rPr lang="ru-RU" sz="1600" b="1" dirty="0"/>
              <a:t>определены на одном домене</a:t>
            </a:r>
            <a:r>
              <a:rPr lang="ru-RU" sz="1600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ru-RU" sz="16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1600" dirty="0"/>
              <a:t>Результатом деления является отношение C(</a:t>
            </a:r>
            <a:r>
              <a:rPr lang="ru-RU" sz="1600" b="1" dirty="0">
                <a:solidFill>
                  <a:schemeClr val="accent1"/>
                </a:solidFill>
              </a:rPr>
              <a:t>a</a:t>
            </a:r>
            <a:r>
              <a:rPr lang="ru-RU" sz="1600" b="1" baseline="-25000" dirty="0">
                <a:solidFill>
                  <a:schemeClr val="accent1"/>
                </a:solidFill>
              </a:rPr>
              <a:t>1</a:t>
            </a:r>
            <a:r>
              <a:rPr lang="ru-RU" sz="1600" b="1" dirty="0">
                <a:solidFill>
                  <a:schemeClr val="accent1"/>
                </a:solidFill>
              </a:rPr>
              <a:t>,…,</a:t>
            </a:r>
            <a:r>
              <a:rPr lang="ru-RU" sz="1600" b="1" dirty="0" err="1">
                <a:solidFill>
                  <a:schemeClr val="accent1"/>
                </a:solidFill>
              </a:rPr>
              <a:t>a</a:t>
            </a:r>
            <a:r>
              <a:rPr lang="ru-RU" sz="1600" b="1" baseline="-25000" dirty="0" err="1">
                <a:solidFill>
                  <a:schemeClr val="accent1"/>
                </a:solidFill>
              </a:rPr>
              <a:t>n</a:t>
            </a:r>
            <a:r>
              <a:rPr lang="ru-RU" sz="1600" dirty="0"/>
              <a:t> ), </a:t>
            </a:r>
            <a:br>
              <a:rPr lang="ru-RU" sz="1600" dirty="0"/>
            </a:br>
            <a:r>
              <a:rPr lang="ru-RU" sz="1600" dirty="0"/>
              <a:t>тело которого состоит из множества кортежей (a</a:t>
            </a:r>
            <a:r>
              <a:rPr lang="ru-RU" sz="1600" baseline="-25000" dirty="0"/>
              <a:t>1k</a:t>
            </a:r>
            <a:r>
              <a:rPr lang="ru-RU" sz="1600" dirty="0"/>
              <a:t>, a</a:t>
            </a:r>
            <a:r>
              <a:rPr lang="ru-RU" sz="1600" baseline="-25000" dirty="0"/>
              <a:t>2k</a:t>
            </a:r>
            <a:r>
              <a:rPr lang="ru-RU" sz="1600" dirty="0"/>
              <a:t>…, </a:t>
            </a:r>
            <a:r>
              <a:rPr lang="ru-RU" sz="1600" dirty="0" err="1"/>
              <a:t>a</a:t>
            </a:r>
            <a:r>
              <a:rPr lang="ru-RU" sz="1600" baseline="-25000" dirty="0" err="1"/>
              <a:t>nk</a:t>
            </a:r>
            <a:r>
              <a:rPr lang="ru-RU" sz="1600" dirty="0"/>
              <a:t> ), таких, что для </a:t>
            </a:r>
            <a:r>
              <a:rPr lang="ru-RU" sz="1600" b="1" i="1" dirty="0"/>
              <a:t>всех </a:t>
            </a:r>
            <a:r>
              <a:rPr lang="ru-RU" sz="1600" dirty="0"/>
              <a:t>кортежей (b</a:t>
            </a:r>
            <a:r>
              <a:rPr lang="ru-RU" sz="1600" baseline="-25000" dirty="0"/>
              <a:t>1k</a:t>
            </a:r>
            <a:r>
              <a:rPr lang="ru-RU" sz="1600" dirty="0"/>
              <a:t>,b</a:t>
            </a:r>
            <a:r>
              <a:rPr lang="ru-RU" sz="1600" baseline="-25000" dirty="0"/>
              <a:t>2k</a:t>
            </a:r>
            <a:r>
              <a:rPr lang="ru-RU" sz="1600" dirty="0"/>
              <a:t>, …, </a:t>
            </a:r>
            <a:r>
              <a:rPr lang="ru-RU" sz="1600" dirty="0" err="1"/>
              <a:t>b</a:t>
            </a:r>
            <a:r>
              <a:rPr lang="ru-RU" sz="1600" baseline="-25000" dirty="0" err="1"/>
              <a:t>mk</a:t>
            </a:r>
            <a:r>
              <a:rPr lang="ru-RU" sz="1600" dirty="0"/>
              <a:t> ) из B в отношении А найдется кортеж (a</a:t>
            </a:r>
            <a:r>
              <a:rPr lang="ru-RU" sz="1600" baseline="-25000" dirty="0"/>
              <a:t>1k</a:t>
            </a:r>
            <a:r>
              <a:rPr lang="ru-RU" sz="1600" dirty="0"/>
              <a:t>,a</a:t>
            </a:r>
            <a:r>
              <a:rPr lang="ru-RU" sz="1600" baseline="-25000" dirty="0"/>
              <a:t>2k</a:t>
            </a:r>
            <a:r>
              <a:rPr lang="ru-RU" sz="1600" dirty="0"/>
              <a:t>…,a</a:t>
            </a:r>
            <a:r>
              <a:rPr lang="ru-RU" sz="1600" baseline="-25000" dirty="0"/>
              <a:t>nk</a:t>
            </a:r>
            <a:r>
              <a:rPr lang="ru-RU" sz="1600" dirty="0"/>
              <a:t>,b</a:t>
            </a:r>
            <a:r>
              <a:rPr lang="ru-RU" sz="1600" baseline="-25000" dirty="0"/>
              <a:t>1k</a:t>
            </a:r>
            <a:r>
              <a:rPr lang="ru-RU" sz="1600" dirty="0"/>
              <a:t>,b</a:t>
            </a:r>
            <a:r>
              <a:rPr lang="ru-RU" sz="1600" baseline="-25000" dirty="0"/>
              <a:t>2k</a:t>
            </a:r>
            <a:r>
              <a:rPr lang="ru-RU" sz="1600" dirty="0"/>
              <a:t>…,</a:t>
            </a:r>
            <a:r>
              <a:rPr lang="ru-RU" sz="1600" dirty="0" err="1"/>
              <a:t>b</a:t>
            </a:r>
            <a:r>
              <a:rPr lang="ru-RU" sz="1600" baseline="-25000" dirty="0" err="1"/>
              <a:t>mk</a:t>
            </a:r>
            <a:r>
              <a:rPr lang="ru-RU" sz="1600" dirty="0"/>
              <a:t>).</a:t>
            </a:r>
          </a:p>
          <a:p>
            <a:pPr lvl="1">
              <a:spcBef>
                <a:spcPts val="600"/>
              </a:spcBef>
            </a:pPr>
            <a:endParaRPr lang="ru-RU" sz="1600" dirty="0"/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/>
              <a:t>M DIVIDE BY D</a:t>
            </a:r>
            <a:endParaRPr lang="ru-RU" sz="1600" dirty="0"/>
          </a:p>
          <a:p>
            <a:pPr marL="457200" lvl="1" indent="0">
              <a:spcBef>
                <a:spcPts val="600"/>
              </a:spcBef>
              <a:buNone/>
            </a:pPr>
            <a:endParaRPr lang="ru-RU" sz="1600" dirty="0"/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600" dirty="0"/>
              <a:t>M/D</a:t>
            </a:r>
            <a:endParaRPr lang="ru-RU" sz="1600" dirty="0"/>
          </a:p>
          <a:p>
            <a:pPr>
              <a:spcBef>
                <a:spcPts val="600"/>
              </a:spcBef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539119-8B9B-77A0-4A34-FEE6F8EBF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3BB056-5538-2D8C-4FA1-809BA272403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957638" y="4017485"/>
            <a:ext cx="3280304" cy="240263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97FBD0-2445-6769-1B96-1690FFEC8FF0}"/>
              </a:ext>
            </a:extLst>
          </p:cNvPr>
          <p:cNvSpPr/>
          <p:nvPr/>
        </p:nvSpPr>
        <p:spPr>
          <a:xfrm>
            <a:off x="4010554" y="5398943"/>
            <a:ext cx="1333500" cy="230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C644E2-5911-DFEC-F60B-B210E27E83D7}"/>
              </a:ext>
            </a:extLst>
          </p:cNvPr>
          <p:cNvSpPr/>
          <p:nvPr/>
        </p:nvSpPr>
        <p:spPr>
          <a:xfrm>
            <a:off x="4010554" y="4492863"/>
            <a:ext cx="1333500" cy="230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628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7755C-2BEB-5E1C-3587-96791A29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Деление (</a:t>
            </a:r>
            <a:r>
              <a:rPr lang="en-US" dirty="0"/>
              <a:t>DIVIDE BY</a:t>
            </a:r>
            <a:r>
              <a:rPr lang="ru-RU" dirty="0"/>
              <a:t>) – Пример 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CC8557-DA71-FE73-8582-FDA63D4D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51BC718D-743B-DAEF-F876-F8D48872D278}"/>
              </a:ext>
            </a:extLst>
          </p:cNvPr>
          <p:cNvGrpSpPr/>
          <p:nvPr/>
        </p:nvGrpSpPr>
        <p:grpSpPr>
          <a:xfrm>
            <a:off x="1220954" y="1417023"/>
            <a:ext cx="6702092" cy="4754559"/>
            <a:chOff x="246172" y="1410745"/>
            <a:chExt cx="3405205" cy="275477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CA8A9BEB-829A-6337-9B16-90DFFC9A7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566164" y="1615874"/>
              <a:ext cx="2933700" cy="2076450"/>
            </a:xfrm>
            <a:prstGeom prst="rect">
              <a:avLst/>
            </a:prstGeom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B9B606C6-0907-8846-2A58-029D4114D38A}"/>
                </a:ext>
              </a:extLst>
            </p:cNvPr>
            <p:cNvSpPr/>
            <p:nvPr/>
          </p:nvSpPr>
          <p:spPr>
            <a:xfrm>
              <a:off x="246172" y="1410745"/>
              <a:ext cx="3405205" cy="2754775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Скругленный прямоугольник 8">
              <a:extLst>
                <a:ext uri="{FF2B5EF4-FFF2-40B4-BE49-F238E27FC236}">
                  <a16:creationId xmlns:a16="http://schemas.microsoft.com/office/drawing/2014/main" id="{D61F9A4E-D7A6-C3F2-06EB-9CD277D34A47}"/>
                </a:ext>
              </a:extLst>
            </p:cNvPr>
            <p:cNvSpPr/>
            <p:nvPr/>
          </p:nvSpPr>
          <p:spPr>
            <a:xfrm>
              <a:off x="1944188" y="3061077"/>
              <a:ext cx="1555676" cy="10159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658287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7755C-2BEB-5E1C-3587-96791A29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Деление (</a:t>
            </a:r>
            <a:r>
              <a:rPr lang="en-US" dirty="0"/>
              <a:t>DIVIDE BY</a:t>
            </a:r>
            <a:r>
              <a:rPr lang="ru-RU" dirty="0"/>
              <a:t>) – Пример 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CC8557-DA71-FE73-8582-FDA63D4D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10B61CC-4DB1-584A-293D-0CF3BA1ED9CA}"/>
              </a:ext>
            </a:extLst>
          </p:cNvPr>
          <p:cNvGrpSpPr/>
          <p:nvPr/>
        </p:nvGrpSpPr>
        <p:grpSpPr>
          <a:xfrm>
            <a:off x="1547664" y="1539719"/>
            <a:ext cx="7206148" cy="5186607"/>
            <a:chOff x="246172" y="1410745"/>
            <a:chExt cx="3405205" cy="275477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B9B606C6-0907-8846-2A58-029D4114D38A}"/>
                </a:ext>
              </a:extLst>
            </p:cNvPr>
            <p:cNvSpPr/>
            <p:nvPr/>
          </p:nvSpPr>
          <p:spPr>
            <a:xfrm>
              <a:off x="246172" y="1410745"/>
              <a:ext cx="3405205" cy="2754775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78290F8-3231-B51B-397D-F93B4A41F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246172" y="1439820"/>
              <a:ext cx="2933700" cy="2076450"/>
            </a:xfrm>
            <a:prstGeom prst="rect">
              <a:avLst/>
            </a:prstGeom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70CFE40-0046-31B6-FA17-DD507343FCB8}"/>
                </a:ext>
              </a:extLst>
            </p:cNvPr>
            <p:cNvSpPr/>
            <p:nvPr/>
          </p:nvSpPr>
          <p:spPr>
            <a:xfrm>
              <a:off x="246172" y="1842078"/>
              <a:ext cx="1219200" cy="4067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6BAFAD9-E8DA-4E97-2926-6FB72E68E439}"/>
                </a:ext>
              </a:extLst>
            </p:cNvPr>
            <p:cNvSpPr/>
            <p:nvPr/>
          </p:nvSpPr>
          <p:spPr>
            <a:xfrm>
              <a:off x="246172" y="3046991"/>
              <a:ext cx="1219200" cy="4067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686832-5CA9-72B2-7441-07B9E033F30B}"/>
                </a:ext>
              </a:extLst>
            </p:cNvPr>
            <p:cNvSpPr txBox="1"/>
            <p:nvPr/>
          </p:nvSpPr>
          <p:spPr>
            <a:xfrm>
              <a:off x="1634281" y="2478045"/>
              <a:ext cx="14189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>
                  <a:solidFill>
                    <a:srgbClr val="FF0000"/>
                  </a:solidFill>
                </a:rPr>
                <a:t>Нет кортежа с </a:t>
              </a:r>
              <a:r>
                <a:rPr lang="en-GB" sz="1200" dirty="0">
                  <a:solidFill>
                    <a:srgbClr val="FF0000"/>
                  </a:solidFill>
                </a:rPr>
                <a:t>p2</a:t>
              </a:r>
              <a:endParaRPr lang="ru-RU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E63EDF7A-D4AE-4698-9BF5-2F3A64485B14}"/>
                </a:ext>
              </a:extLst>
            </p:cNvPr>
            <p:cNvCxnSpPr>
              <a:stCxn id="7" idx="1"/>
            </p:cNvCxnSpPr>
            <p:nvPr/>
          </p:nvCxnSpPr>
          <p:spPr>
            <a:xfrm flipH="1">
              <a:off x="1276141" y="2616545"/>
              <a:ext cx="358140" cy="146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6AFE5856-7F26-C45C-1611-AE7AF9B100EC}"/>
                </a:ext>
              </a:extLst>
            </p:cNvPr>
            <p:cNvCxnSpPr>
              <a:stCxn id="7" idx="1"/>
            </p:cNvCxnSpPr>
            <p:nvPr/>
          </p:nvCxnSpPr>
          <p:spPr>
            <a:xfrm flipH="1">
              <a:off x="1329481" y="2616545"/>
              <a:ext cx="304800" cy="3646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0642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7755C-2BEB-5E1C-3587-96791A29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Деление (</a:t>
            </a:r>
            <a:r>
              <a:rPr lang="en-US" dirty="0"/>
              <a:t>DIVIDE BY</a:t>
            </a:r>
            <a:r>
              <a:rPr lang="ru-RU" dirty="0"/>
              <a:t>) – Пример 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CC8557-DA71-FE73-8582-FDA63D4D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9B606C6-0907-8846-2A58-029D4114D38A}"/>
              </a:ext>
            </a:extLst>
          </p:cNvPr>
          <p:cNvSpPr/>
          <p:nvPr/>
        </p:nvSpPr>
        <p:spPr>
          <a:xfrm>
            <a:off x="246172" y="1410745"/>
            <a:ext cx="3405205" cy="27547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C3D364-DFB9-5E86-3C48-5E4DBB9BE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r="29317"/>
          <a:stretch/>
        </p:blipFill>
        <p:spPr>
          <a:xfrm>
            <a:off x="827584" y="1805727"/>
            <a:ext cx="5472608" cy="364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12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7755C-2BEB-5E1C-3587-96791A29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Деление (</a:t>
            </a:r>
            <a:r>
              <a:rPr lang="en-US" dirty="0"/>
              <a:t>DIVIDE BY</a:t>
            </a:r>
            <a:r>
              <a:rPr lang="ru-RU" dirty="0"/>
              <a:t>) – Пример 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CC8557-DA71-FE73-8582-FDA63D4D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9B606C6-0907-8846-2A58-029D4114D38A}"/>
              </a:ext>
            </a:extLst>
          </p:cNvPr>
          <p:cNvSpPr/>
          <p:nvPr/>
        </p:nvSpPr>
        <p:spPr>
          <a:xfrm>
            <a:off x="246172" y="1410745"/>
            <a:ext cx="3405205" cy="27547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C3D364-DFB9-5E86-3C48-5E4DBB9BE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r="3276"/>
          <a:stretch/>
        </p:blipFill>
        <p:spPr>
          <a:xfrm>
            <a:off x="827584" y="1805727"/>
            <a:ext cx="7488832" cy="3641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15E4DE-F59A-A911-6892-A1FDEED762B6}"/>
              </a:ext>
            </a:extLst>
          </p:cNvPr>
          <p:cNvSpPr txBox="1"/>
          <p:nvPr/>
        </p:nvSpPr>
        <p:spPr>
          <a:xfrm>
            <a:off x="3573581" y="3726994"/>
            <a:ext cx="2259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Нет кортежа с </a:t>
            </a:r>
            <a:r>
              <a:rPr lang="en-GB" dirty="0">
                <a:solidFill>
                  <a:srgbClr val="FF0000"/>
                </a:solidFill>
              </a:rPr>
              <a:t>p2</a:t>
            </a:r>
            <a:endParaRPr lang="ru-RU" dirty="0">
              <a:solidFill>
                <a:srgbClr val="FF0000"/>
              </a:solidFill>
            </a:endParaRP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74836785-3652-4958-69EC-3A9DF58D9C4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699792" y="3911660"/>
            <a:ext cx="873789" cy="128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A64E46D5-F279-DEFB-FB1D-2B2A120DC09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621996" y="3911660"/>
            <a:ext cx="951585" cy="579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9AB3D2E-E084-B327-A7D8-859906D9A8FA}"/>
              </a:ext>
            </a:extLst>
          </p:cNvPr>
          <p:cNvSpPr/>
          <p:nvPr/>
        </p:nvSpPr>
        <p:spPr>
          <a:xfrm>
            <a:off x="899592" y="2397567"/>
            <a:ext cx="2112764" cy="11189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47A34-5A48-8274-73AE-F9CA0BBEA71B}"/>
              </a:ext>
            </a:extLst>
          </p:cNvPr>
          <p:cNvSpPr txBox="1"/>
          <p:nvPr/>
        </p:nvSpPr>
        <p:spPr>
          <a:xfrm>
            <a:off x="3613263" y="4477848"/>
            <a:ext cx="2259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Нет кортежа с </a:t>
            </a:r>
            <a:r>
              <a:rPr lang="en-GB" dirty="0">
                <a:solidFill>
                  <a:srgbClr val="FF0000"/>
                </a:solidFill>
              </a:rPr>
              <a:t>p1</a:t>
            </a:r>
            <a:endParaRPr lang="ru-RU" dirty="0">
              <a:solidFill>
                <a:srgbClr val="FF0000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BF54562-1F36-8D39-972D-37038D8E1E87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699792" y="4662514"/>
            <a:ext cx="913471" cy="80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5817A18-9E4D-D55F-7205-10783ED4D2F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699792" y="4662514"/>
            <a:ext cx="913471" cy="531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087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B8FFC5-F744-15A8-DF08-2C61374A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 - Дополнительные операции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43CC1-F83A-FC29-BD9B-7939E295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i="1" dirty="0"/>
              <a:t>Операция переименования атрибутов</a:t>
            </a:r>
            <a:endParaRPr lang="en-GB" dirty="0"/>
          </a:p>
          <a:p>
            <a:pPr lvl="1"/>
            <a:r>
              <a:rPr lang="ru-RU" dirty="0"/>
              <a:t>дающая возможность корректно сформировать заголовок (схему) результирующего отношения </a:t>
            </a:r>
            <a:r>
              <a:rPr lang="en-GB" dirty="0"/>
              <a:t/>
            </a:r>
            <a:br>
              <a:rPr lang="en-GB" dirty="0"/>
            </a:br>
            <a:r>
              <a:rPr lang="ru-RU" dirty="0"/>
              <a:t>(A RENAME X AS Y)</a:t>
            </a:r>
          </a:p>
          <a:p>
            <a:r>
              <a:rPr lang="ru-RU" b="1" i="1" dirty="0"/>
              <a:t>Операция присваивания</a:t>
            </a:r>
            <a:endParaRPr lang="en-GB" b="1" i="1" dirty="0"/>
          </a:p>
          <a:p>
            <a:pPr lvl="1"/>
            <a:r>
              <a:rPr lang="ru-RU" dirty="0"/>
              <a:t>позволяющая сохранить в базе данных результаты вычисления алгебраических выражений </a:t>
            </a:r>
            <a:r>
              <a:rPr lang="en-GB" dirty="0"/>
              <a:t/>
            </a:r>
            <a:br>
              <a:rPr lang="en-GB" dirty="0"/>
            </a:br>
            <a:r>
              <a:rPr lang="ru-RU" dirty="0"/>
              <a:t>(A:= B)</a:t>
            </a:r>
          </a:p>
          <a:p>
            <a:r>
              <a:rPr lang="ru-RU" b="1" i="1" dirty="0"/>
              <a:t>Операция расширения</a:t>
            </a:r>
            <a:endParaRPr lang="en-GB" dirty="0"/>
          </a:p>
          <a:p>
            <a:pPr lvl="1"/>
            <a:r>
              <a:rPr lang="ru-RU" dirty="0"/>
              <a:t>позволяющая создавать новое отношение, дополненное атрибутом, значения которого получены посредством некоторых скалярных вычислений </a:t>
            </a:r>
            <a:r>
              <a:rPr lang="en-GB" dirty="0"/>
              <a:t/>
            </a:r>
            <a:br>
              <a:rPr lang="en-GB" dirty="0"/>
            </a:br>
            <a:r>
              <a:rPr lang="ru-RU" dirty="0"/>
              <a:t>(EXTEND &lt;имя отношения&gt; AS &lt;скалярное выражение&gt;),</a:t>
            </a:r>
          </a:p>
          <a:p>
            <a:r>
              <a:rPr lang="ru-RU" b="1" i="1" dirty="0"/>
              <a:t>Операция подведения итогов</a:t>
            </a:r>
            <a:endParaRPr lang="en-GB" b="1" i="1" dirty="0"/>
          </a:p>
          <a:p>
            <a:pPr lvl="1"/>
            <a:r>
              <a:rPr lang="ru-RU" dirty="0"/>
              <a:t>дающая возможность разбивать множество кортежей отношения на группы в соответствии с содержимым одного или нескольких атрибутов, и внутри каждой группы применять определенный оператор агрегирования </a:t>
            </a:r>
            <a:r>
              <a:rPr lang="en-GB" dirty="0"/>
              <a:t>- </a:t>
            </a:r>
            <a:r>
              <a:rPr lang="ru-RU" dirty="0"/>
              <a:t>SUM, AVG, MIN, MAX, COUNT</a:t>
            </a:r>
            <a:r>
              <a:rPr lang="en-GB" dirty="0"/>
              <a:t>…</a:t>
            </a:r>
            <a:br>
              <a:rPr lang="en-GB" dirty="0"/>
            </a:br>
            <a:r>
              <a:rPr lang="ru-RU" dirty="0"/>
              <a:t>(аналог операции GROUP BY в языке SQL). </a:t>
            </a:r>
          </a:p>
          <a:p>
            <a:pPr lvl="1"/>
            <a:r>
              <a:rPr lang="ru-RU" dirty="0"/>
              <a:t>SUM(QTY) AS </a:t>
            </a:r>
            <a:r>
              <a:rPr lang="ru-RU" i="1" dirty="0"/>
              <a:t>TOTAL_QTY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B05A62-F12F-EB48-C258-C8A00D692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786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727CF-29DE-41D7-7FA9-CC3ACA9B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 - Свойства операций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014CD0-5EFD-189F-3E85-5D168408F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Часть операций реляционной алгебры </a:t>
            </a:r>
            <a:r>
              <a:rPr lang="ru-RU" b="1" dirty="0">
                <a:solidFill>
                  <a:schemeClr val="accent1"/>
                </a:solidFill>
              </a:rPr>
              <a:t>может </a:t>
            </a:r>
            <a:r>
              <a:rPr lang="ru-RU" dirty="0">
                <a:solidFill>
                  <a:schemeClr val="accent1"/>
                </a:solidFill>
              </a:rPr>
              <a:t>быть выражена через другие операции.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Это операции </a:t>
            </a:r>
            <a:r>
              <a:rPr lang="en-US" dirty="0"/>
              <a:t>INTERSECT</a:t>
            </a:r>
            <a:r>
              <a:rPr lang="ru-RU" dirty="0"/>
              <a:t>, </a:t>
            </a:r>
            <a:r>
              <a:rPr lang="en-US" dirty="0"/>
              <a:t>JOIN</a:t>
            </a:r>
            <a:r>
              <a:rPr lang="ru-RU" dirty="0"/>
              <a:t>, </a:t>
            </a:r>
            <a:r>
              <a:rPr lang="en-US" dirty="0"/>
              <a:t>DIVIDE BY</a:t>
            </a:r>
            <a:r>
              <a:rPr lang="ru-RU" dirty="0"/>
              <a:t>. </a:t>
            </a:r>
          </a:p>
          <a:p>
            <a:pPr lvl="1"/>
            <a:endParaRPr lang="ru-RU" dirty="0"/>
          </a:p>
          <a:p>
            <a:r>
              <a:rPr lang="ru-RU" b="1" i="1" dirty="0">
                <a:solidFill>
                  <a:schemeClr val="accent1"/>
                </a:solidFill>
              </a:rPr>
              <a:t>Примитивными</a:t>
            </a:r>
            <a:r>
              <a:rPr lang="ru-RU" b="1" i="1" dirty="0">
                <a:solidFill>
                  <a:schemeClr val="accent5"/>
                </a:solidFill>
              </a:rPr>
              <a:t> </a:t>
            </a:r>
            <a:r>
              <a:rPr lang="ru-RU" dirty="0"/>
              <a:t>являются операции </a:t>
            </a:r>
            <a:br>
              <a:rPr lang="ru-RU" dirty="0"/>
            </a:br>
            <a:r>
              <a:rPr lang="en-US" dirty="0"/>
              <a:t>WHERE</a:t>
            </a:r>
            <a:r>
              <a:rPr lang="ru-RU" dirty="0"/>
              <a:t>, </a:t>
            </a:r>
            <a:r>
              <a:rPr lang="en-US" dirty="0"/>
              <a:t>PROJECT</a:t>
            </a:r>
            <a:r>
              <a:rPr lang="ru-RU" dirty="0"/>
              <a:t>, </a:t>
            </a:r>
            <a:r>
              <a:rPr lang="en-US" dirty="0"/>
              <a:t>TIMES</a:t>
            </a:r>
            <a:r>
              <a:rPr lang="ru-RU" dirty="0"/>
              <a:t>, </a:t>
            </a:r>
            <a:r>
              <a:rPr lang="en-US" dirty="0"/>
              <a:t>UNION</a:t>
            </a:r>
            <a:r>
              <a:rPr lang="ru-RU" dirty="0"/>
              <a:t>, </a:t>
            </a:r>
            <a:r>
              <a:rPr lang="en-US" dirty="0"/>
              <a:t>MINUS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– они не выражаются через другие операции.</a:t>
            </a:r>
            <a:endParaRPr lang="en-GB" dirty="0"/>
          </a:p>
          <a:p>
            <a:endParaRPr lang="ru-RU" dirty="0"/>
          </a:p>
          <a:p>
            <a:r>
              <a:rPr lang="ru-RU" dirty="0"/>
              <a:t>Операции UNION, INTERSECT, TIMES и JOIN </a:t>
            </a:r>
            <a:r>
              <a:rPr lang="ru-RU" b="1" dirty="0"/>
              <a:t>в общем случае</a:t>
            </a:r>
            <a:r>
              <a:rPr lang="ru-RU" dirty="0"/>
              <a:t> </a:t>
            </a:r>
            <a:r>
              <a:rPr lang="ru-RU" b="1" i="1" dirty="0">
                <a:solidFill>
                  <a:srgbClr val="C00000"/>
                </a:solidFill>
              </a:rPr>
              <a:t>ассоциативны</a:t>
            </a:r>
            <a:r>
              <a:rPr lang="ru-RU" dirty="0"/>
              <a:t> и </a:t>
            </a:r>
            <a:r>
              <a:rPr lang="ru-RU" b="1" i="1" dirty="0">
                <a:solidFill>
                  <a:srgbClr val="C00000"/>
                </a:solidFill>
              </a:rPr>
              <a:t>коммутативны</a:t>
            </a:r>
            <a:r>
              <a:rPr lang="ru-RU" dirty="0"/>
              <a:t>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Версия декартова произведения, которая определена </a:t>
            </a:r>
            <a:r>
              <a:rPr lang="ru-RU" i="1" dirty="0"/>
              <a:t>в теории множеств</a:t>
            </a:r>
            <a:r>
              <a:rPr lang="ru-RU" dirty="0"/>
              <a:t>, не является ни ассоциативной, ни коммутативной (</a:t>
            </a:r>
            <a:r>
              <a:rPr lang="ru-RU" i="1" dirty="0"/>
              <a:t>в отличии от реляционной версии расширенного декартова произведения</a:t>
            </a:r>
            <a:r>
              <a:rPr lang="ru-RU" dirty="0"/>
              <a:t>), как и левое и правое соединения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C9139B-0551-97A1-7BFB-24EC860F9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463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375B5-5085-2C17-9B4C-FF15B018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 – практическое использование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5E7786-2C5D-7B63-5824-F60B07D0B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lvl="0" indent="0">
              <a:buNone/>
            </a:pPr>
            <a:r>
              <a:rPr lang="ru-RU" b="1" dirty="0"/>
              <a:t>Математическое представление и оптимизация запросов</a:t>
            </a:r>
            <a:r>
              <a:rPr lang="ru-RU" dirty="0"/>
              <a:t> над данными в реляционных и пост-реляционных СУБД</a:t>
            </a:r>
          </a:p>
          <a:p>
            <a:pPr lvl="0"/>
            <a:endParaRPr lang="ru-RU" dirty="0"/>
          </a:p>
          <a:p>
            <a:pPr lvl="0">
              <a:buFont typeface="+mj-lt"/>
              <a:buAutoNum type="arabicPeriod"/>
            </a:pPr>
            <a:r>
              <a:rPr lang="ru-RU" dirty="0"/>
              <a:t>Определение области для выборки, изменения или удаления данных.</a:t>
            </a:r>
          </a:p>
          <a:p>
            <a:pPr lvl="0">
              <a:buFont typeface="+mj-lt"/>
              <a:buAutoNum type="arabicPeriod"/>
            </a:pPr>
            <a:r>
              <a:rPr lang="ru-RU" dirty="0"/>
              <a:t>Определение правил поддержки целостности</a:t>
            </a:r>
          </a:p>
          <a:p>
            <a:pPr lvl="0">
              <a:buFont typeface="+mj-lt"/>
              <a:buAutoNum type="arabicPeriod"/>
            </a:pPr>
            <a:r>
              <a:rPr lang="ru-RU" dirty="0"/>
              <a:t>Определение производных переменных-отношений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9F76C1-1ADA-76FE-90A6-D8853C56B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FC1980-2267-0113-2107-E668A68B968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0978" y="4365104"/>
            <a:ext cx="5620207" cy="1701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594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69491-7C7F-0D87-7378-2A93B32D0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Реляционное исчисление – исчисление кортежей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F9C52-0FB6-3EC7-29EA-3131F0CB0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936104"/>
          </a:xfrm>
        </p:spPr>
        <p:txBody>
          <a:bodyPr anchor="t"/>
          <a:lstStyle/>
          <a:p>
            <a:pPr marL="0" indent="0">
              <a:buNone/>
            </a:pPr>
            <a:r>
              <a:rPr lang="ru-RU" b="1" dirty="0"/>
              <a:t>Правильно построенная формула</a:t>
            </a:r>
            <a:r>
              <a:rPr lang="ru-RU" dirty="0"/>
              <a:t> (</a:t>
            </a:r>
            <a:r>
              <a:rPr lang="ru-RU" dirty="0" err="1"/>
              <a:t>well-formed</a:t>
            </a:r>
            <a:r>
              <a:rPr lang="ru-RU" dirty="0"/>
              <a:t> </a:t>
            </a:r>
            <a:r>
              <a:rPr lang="ru-RU" dirty="0" err="1"/>
              <a:t>formula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b="1" dirty="0"/>
              <a:t>WFF</a:t>
            </a:r>
            <a:r>
              <a:rPr lang="ru-RU" dirty="0"/>
              <a:t>)</a:t>
            </a:r>
            <a:r>
              <a:rPr lang="en-US" dirty="0"/>
              <a:t> - </a:t>
            </a:r>
            <a:r>
              <a:rPr lang="ru-RU" dirty="0"/>
              <a:t>условия, накладываемые на переменные отношения.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7DA72F-EEB8-8E3C-2620-E54AEFE04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6694C41-1C57-03E4-2F38-EF6A68275978}"/>
              </a:ext>
            </a:extLst>
          </p:cNvPr>
          <p:cNvSpPr txBox="1">
            <a:spLocks/>
          </p:cNvSpPr>
          <p:nvPr/>
        </p:nvSpPr>
        <p:spPr>
          <a:xfrm>
            <a:off x="683568" y="5484012"/>
            <a:ext cx="7848872" cy="9361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Кванторы </a:t>
            </a:r>
            <a:r>
              <a:rPr lang="ru-RU" sz="1600" dirty="0">
                <a:sym typeface="Symbol" panose="05050102010706020507" pitchFamily="18" charset="2"/>
              </a:rPr>
              <a:t></a:t>
            </a:r>
            <a:r>
              <a:rPr lang="ru-RU" sz="1600" dirty="0"/>
              <a:t> и </a:t>
            </a:r>
            <a:r>
              <a:rPr lang="ru-RU" sz="1600" dirty="0">
                <a:sym typeface="Symbol" panose="05050102010706020507" pitchFamily="18" charset="2"/>
              </a:rPr>
              <a:t></a:t>
            </a:r>
            <a:r>
              <a:rPr lang="ru-RU" sz="1600" dirty="0"/>
              <a:t>. </a:t>
            </a:r>
          </a:p>
          <a:p>
            <a:pPr lvl="1"/>
            <a:r>
              <a:rPr lang="ru-RU" sz="1400" dirty="0"/>
              <a:t>Переменные </a:t>
            </a:r>
            <a:r>
              <a:rPr lang="ru-RU" sz="1400" i="1" dirty="0"/>
              <a:t>связываются </a:t>
            </a:r>
            <a:r>
              <a:rPr lang="ru-RU" sz="1400" dirty="0"/>
              <a:t>кванторами.</a:t>
            </a:r>
          </a:p>
          <a:p>
            <a:pPr lvl="1"/>
            <a:r>
              <a:rPr lang="ru-RU" sz="1400" dirty="0"/>
              <a:t>Переменные, которые не связаны каким либо квантором, называются </a:t>
            </a:r>
            <a:r>
              <a:rPr lang="ru-RU" sz="1400" b="1" i="1" dirty="0"/>
              <a:t>свободными</a:t>
            </a:r>
            <a:r>
              <a:rPr lang="ru-RU" sz="1400" dirty="0"/>
              <a:t>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1ABAD15-C1B4-54DF-3A31-9FB3CC248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00353"/>
              </p:ext>
            </p:extLst>
          </p:nvPr>
        </p:nvGraphicFramePr>
        <p:xfrm>
          <a:off x="395536" y="3129508"/>
          <a:ext cx="8568952" cy="207264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465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Примеры</a:t>
                      </a:r>
                      <a:r>
                        <a:rPr lang="en-US" sz="1600" dirty="0">
                          <a:effectLst/>
                        </a:rPr>
                        <a:t> с </a:t>
                      </a:r>
                      <a:r>
                        <a:rPr lang="en-US" sz="1600" dirty="0" err="1">
                          <a:effectLst/>
                        </a:rPr>
                        <a:t>условиями</a:t>
                      </a:r>
                      <a:endParaRPr lang="ru-RU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Примеры</a:t>
                      </a:r>
                      <a:r>
                        <a:rPr lang="en-US" sz="1600" dirty="0">
                          <a:effectLst/>
                        </a:rPr>
                        <a:t> с </a:t>
                      </a:r>
                      <a:r>
                        <a:rPr lang="en-US" sz="1600" dirty="0" err="1">
                          <a:effectLst/>
                        </a:rPr>
                        <a:t>кванторами</a:t>
                      </a:r>
                      <a:endParaRPr lang="ru-RU" sz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Groups where </a:t>
                      </a:r>
                      <a:endParaRPr lang="ru-RU" sz="1600" b="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(Name = 'M3437' ∨ Name = 'M3438')</a:t>
                      </a:r>
                      <a:endParaRPr lang="ru-RU" sz="16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G where ∃S </a:t>
                      </a:r>
                      <a:endParaRPr lang="ru-RU" sz="1600" b="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(</a:t>
                      </a:r>
                      <a:r>
                        <a:rPr lang="en-US" sz="1600" b="0" dirty="0" err="1">
                          <a:effectLst/>
                        </a:rPr>
                        <a:t>S.FirstName</a:t>
                      </a:r>
                      <a:r>
                        <a:rPr lang="en-US" sz="1600" b="0" dirty="0">
                          <a:effectLst/>
                        </a:rPr>
                        <a:t> = '</a:t>
                      </a:r>
                      <a:r>
                        <a:rPr lang="en-US" sz="1600" b="0" dirty="0" err="1">
                          <a:effectLst/>
                        </a:rPr>
                        <a:t>Иван</a:t>
                      </a:r>
                      <a:r>
                        <a:rPr lang="en-US" sz="1600" b="0" dirty="0">
                          <a:effectLst/>
                        </a:rPr>
                        <a:t>' ∧ </a:t>
                      </a:r>
                      <a:r>
                        <a:rPr lang="en-US" sz="1600" b="0" dirty="0" err="1">
                          <a:effectLst/>
                        </a:rPr>
                        <a:t>S.GId</a:t>
                      </a:r>
                      <a:r>
                        <a:rPr lang="en-US" sz="1600" b="0" dirty="0">
                          <a:effectLst/>
                        </a:rPr>
                        <a:t> = </a:t>
                      </a:r>
                      <a:r>
                        <a:rPr lang="en-US" sz="1600" b="0" dirty="0" err="1">
                          <a:effectLst/>
                        </a:rPr>
                        <a:t>G.GId</a:t>
                      </a:r>
                      <a:r>
                        <a:rPr lang="en-US" sz="1600" b="0" dirty="0">
                          <a:effectLst/>
                        </a:rPr>
                        <a:t>)</a:t>
                      </a:r>
                      <a:endParaRPr lang="ru-RU" sz="16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</a:rPr>
                        <a:t>Students.Name</a:t>
                      </a:r>
                      <a:r>
                        <a:rPr lang="en-US" sz="1600" b="0" dirty="0">
                          <a:effectLst/>
                        </a:rPr>
                        <a:t> where </a:t>
                      </a:r>
                      <a:endParaRPr lang="ru-RU" sz="1600" b="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(length(</a:t>
                      </a:r>
                      <a:r>
                        <a:rPr lang="en-US" sz="1600" b="0" dirty="0" err="1">
                          <a:effectLst/>
                        </a:rPr>
                        <a:t>S.FirstName</a:t>
                      </a:r>
                      <a:r>
                        <a:rPr lang="en-US" sz="1600" b="0" dirty="0">
                          <a:effectLst/>
                        </a:rPr>
                        <a:t>) = length(</a:t>
                      </a:r>
                      <a:r>
                        <a:rPr lang="en-US" sz="1600" b="0" dirty="0" err="1">
                          <a:effectLst/>
                        </a:rPr>
                        <a:t>S.LastName</a:t>
                      </a:r>
                      <a:r>
                        <a:rPr lang="en-US" sz="1600" b="0" dirty="0">
                          <a:effectLst/>
                        </a:rPr>
                        <a:t>) + 3)</a:t>
                      </a:r>
                      <a:endParaRPr lang="ru-RU" sz="16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G where ∀S </a:t>
                      </a:r>
                      <a:endParaRPr lang="ru-RU" sz="1600" b="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(</a:t>
                      </a:r>
                      <a:r>
                        <a:rPr lang="en-US" sz="1600" b="0" dirty="0" err="1">
                          <a:effectLst/>
                        </a:rPr>
                        <a:t>S.FirstName</a:t>
                      </a:r>
                      <a:r>
                        <a:rPr lang="en-US" sz="1600" b="0" dirty="0">
                          <a:effectLst/>
                        </a:rPr>
                        <a:t> = '</a:t>
                      </a:r>
                      <a:r>
                        <a:rPr lang="en-US" sz="1600" b="0" dirty="0" err="1">
                          <a:effectLst/>
                        </a:rPr>
                        <a:t>Иван</a:t>
                      </a:r>
                      <a:r>
                        <a:rPr lang="en-US" sz="1600" b="0" dirty="0">
                          <a:effectLst/>
                        </a:rPr>
                        <a:t>' ∨ </a:t>
                      </a:r>
                      <a:r>
                        <a:rPr lang="en-US" sz="1600" b="0" dirty="0" err="1">
                          <a:effectLst/>
                        </a:rPr>
                        <a:t>S.GId</a:t>
                      </a:r>
                      <a:r>
                        <a:rPr lang="en-US" sz="1600" b="0" dirty="0">
                          <a:effectLst/>
                        </a:rPr>
                        <a:t> &lt;&gt; </a:t>
                      </a:r>
                      <a:r>
                        <a:rPr lang="en-US" sz="1600" b="0" dirty="0" err="1">
                          <a:effectLst/>
                        </a:rPr>
                        <a:t>G.GId</a:t>
                      </a:r>
                      <a:r>
                        <a:rPr lang="en-US" sz="1600" b="0" dirty="0">
                          <a:effectLst/>
                        </a:rPr>
                        <a:t>)</a:t>
                      </a:r>
                      <a:endParaRPr lang="ru-RU" sz="16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S where </a:t>
                      </a:r>
                      <a:endParaRPr lang="ru-RU" sz="1600" b="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(</a:t>
                      </a:r>
                      <a:r>
                        <a:rPr lang="en-US" sz="1600" b="0" dirty="0" err="1">
                          <a:effectLst/>
                        </a:rPr>
                        <a:t>FirstName</a:t>
                      </a:r>
                      <a:r>
                        <a:rPr lang="en-US" sz="1600" b="0" dirty="0">
                          <a:effectLst/>
                        </a:rPr>
                        <a:t> = '</a:t>
                      </a:r>
                      <a:r>
                        <a:rPr lang="en-US" sz="1600" b="0" dirty="0" err="1">
                          <a:effectLst/>
                        </a:rPr>
                        <a:t>Иван</a:t>
                      </a:r>
                      <a:r>
                        <a:rPr lang="en-US" sz="1600" b="0" dirty="0">
                          <a:effectLst/>
                        </a:rPr>
                        <a:t>' ∧ </a:t>
                      </a:r>
                      <a:r>
                        <a:rPr lang="en-US" sz="1600" b="0" dirty="0" err="1">
                          <a:effectLst/>
                        </a:rPr>
                        <a:t>LastName</a:t>
                      </a:r>
                      <a:r>
                        <a:rPr lang="en-US" sz="1600" b="0" dirty="0">
                          <a:effectLst/>
                        </a:rPr>
                        <a:t> &lt;&gt; '</a:t>
                      </a:r>
                      <a:r>
                        <a:rPr lang="en-US" sz="1600" b="0" dirty="0" err="1">
                          <a:effectLst/>
                        </a:rPr>
                        <a:t>Иванов</a:t>
                      </a:r>
                      <a:r>
                        <a:rPr lang="en-US" sz="1600" b="0" dirty="0">
                          <a:effectLst/>
                        </a:rPr>
                        <a:t>')</a:t>
                      </a:r>
                      <a:endParaRPr lang="ru-RU" sz="16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 </a:t>
                      </a:r>
                      <a:endParaRPr lang="ru-RU" sz="16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46C7B2-D0D2-C1F6-CACE-7AE242F4C93E}"/>
              </a:ext>
            </a:extLst>
          </p:cNvPr>
          <p:cNvSpPr txBox="1"/>
          <p:nvPr/>
        </p:nvSpPr>
        <p:spPr>
          <a:xfrm>
            <a:off x="3994596" y="2128176"/>
            <a:ext cx="49698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Оператор сравнения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И/ИЛИ/НЕ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Кванторы (существования и всеобщности)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8C280D-6DED-3589-1C9A-193D8EF14854}"/>
              </a:ext>
            </a:extLst>
          </p:cNvPr>
          <p:cNvSpPr txBox="1"/>
          <p:nvPr/>
        </p:nvSpPr>
        <p:spPr>
          <a:xfrm>
            <a:off x="395536" y="243363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ru-RU" b="1" dirty="0" err="1">
                <a:solidFill>
                  <a:schemeClr val="accent1"/>
                </a:solidFill>
              </a:rPr>
              <a:t>target</a:t>
            </a:r>
            <a:r>
              <a:rPr lang="ru-RU" b="1" dirty="0">
                <a:solidFill>
                  <a:schemeClr val="accent1"/>
                </a:solidFill>
              </a:rPr>
              <a:t> </a:t>
            </a:r>
            <a:r>
              <a:rPr lang="ru-RU" b="1" dirty="0" err="1">
                <a:solidFill>
                  <a:schemeClr val="accent1"/>
                </a:solidFill>
              </a:rPr>
              <a:t>list</a:t>
            </a:r>
            <a:r>
              <a:rPr lang="ru-RU" b="1" dirty="0"/>
              <a:t> WHERE </a:t>
            </a:r>
            <a:r>
              <a:rPr lang="ru-RU" b="1" dirty="0">
                <a:solidFill>
                  <a:schemeClr val="accent1"/>
                </a:solidFill>
              </a:rPr>
              <a:t>WFF</a:t>
            </a:r>
          </a:p>
        </p:txBody>
      </p:sp>
    </p:spTree>
    <p:extLst>
      <p:ext uri="{BB962C8B-B14F-4D97-AF65-F5344CB8AC3E}">
        <p14:creationId xmlns:p14="http://schemas.microsoft.com/office/powerpoint/2010/main" val="2344700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FBB74-D0B5-A2EC-85A3-12153D89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математика в СУБД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99EC0E-D385-EE48-F2BE-F94017F3A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3B2FBE5-C478-708C-6268-0EEB42440E07}"/>
              </a:ext>
            </a:extLst>
          </p:cNvPr>
          <p:cNvSpPr/>
          <p:nvPr/>
        </p:nvSpPr>
        <p:spPr>
          <a:xfrm>
            <a:off x="2627784" y="1663416"/>
            <a:ext cx="2808312" cy="5760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Запрос на </a:t>
            </a:r>
            <a:r>
              <a:rPr lang="en-US" dirty="0"/>
              <a:t>SQL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166440D-E028-633A-380A-0A9BD296E47B}"/>
              </a:ext>
            </a:extLst>
          </p:cNvPr>
          <p:cNvSpPr/>
          <p:nvPr/>
        </p:nvSpPr>
        <p:spPr>
          <a:xfrm>
            <a:off x="2627784" y="2852936"/>
            <a:ext cx="2808312" cy="79208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Форма реляционного исчисления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3364D98-0BEE-2D2E-A7DB-AB599884115C}"/>
              </a:ext>
            </a:extLst>
          </p:cNvPr>
          <p:cNvSpPr/>
          <p:nvPr/>
        </p:nvSpPr>
        <p:spPr>
          <a:xfrm>
            <a:off x="2663137" y="4027104"/>
            <a:ext cx="2808312" cy="792088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Операции реляционной алгебры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88E9F3-4DBC-86A4-B047-5B3373ACBBEF}"/>
              </a:ext>
            </a:extLst>
          </p:cNvPr>
          <p:cNvSpPr/>
          <p:nvPr/>
        </p:nvSpPr>
        <p:spPr>
          <a:xfrm>
            <a:off x="2627784" y="5694308"/>
            <a:ext cx="2808312" cy="659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Операции подсистемы хранения данных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2E468EB-61B0-76C5-C333-023CC057CD64}"/>
              </a:ext>
            </a:extLst>
          </p:cNvPr>
          <p:cNvSpPr/>
          <p:nvPr/>
        </p:nvSpPr>
        <p:spPr>
          <a:xfrm>
            <a:off x="2280196" y="2492896"/>
            <a:ext cx="6396260" cy="295232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A1DA5-E5F9-5557-9400-4D81A04C655E}"/>
              </a:ext>
            </a:extLst>
          </p:cNvPr>
          <p:cNvSpPr txBox="1"/>
          <p:nvPr/>
        </p:nvSpPr>
        <p:spPr>
          <a:xfrm>
            <a:off x="5200784" y="4994566"/>
            <a:ext cx="337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rgbClr val="C00000"/>
                </a:solidFill>
              </a:rPr>
              <a:t>Внутренняя обработка запроса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D6940C9-80CB-290D-EA29-DB2DF89F2C18}"/>
              </a:ext>
            </a:extLst>
          </p:cNvPr>
          <p:cNvCxnSpPr/>
          <p:nvPr/>
        </p:nvCxnSpPr>
        <p:spPr>
          <a:xfrm>
            <a:off x="3491880" y="2239480"/>
            <a:ext cx="0" cy="5607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045E104-4D53-7B51-8C5C-C0C4A64BB8BB}"/>
              </a:ext>
            </a:extLst>
          </p:cNvPr>
          <p:cNvCxnSpPr>
            <a:cxnSpLocks/>
          </p:cNvCxnSpPr>
          <p:nvPr/>
        </p:nvCxnSpPr>
        <p:spPr>
          <a:xfrm>
            <a:off x="3491880" y="3645024"/>
            <a:ext cx="0" cy="382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EACA033-A766-2D2C-BBAF-734AAA10AC49}"/>
              </a:ext>
            </a:extLst>
          </p:cNvPr>
          <p:cNvCxnSpPr>
            <a:cxnSpLocks/>
          </p:cNvCxnSpPr>
          <p:nvPr/>
        </p:nvCxnSpPr>
        <p:spPr>
          <a:xfrm>
            <a:off x="3491880" y="4819192"/>
            <a:ext cx="0" cy="875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171EDE9A-2BF0-DDCC-869D-5ADF01E54602}"/>
              </a:ext>
            </a:extLst>
          </p:cNvPr>
          <p:cNvCxnSpPr>
            <a:cxnSpLocks/>
          </p:cNvCxnSpPr>
          <p:nvPr/>
        </p:nvCxnSpPr>
        <p:spPr>
          <a:xfrm flipV="1">
            <a:off x="4572000" y="2239480"/>
            <a:ext cx="0" cy="5607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63A05EFB-A4AB-323A-925D-57354C46EA37}"/>
              </a:ext>
            </a:extLst>
          </p:cNvPr>
          <p:cNvCxnSpPr>
            <a:cxnSpLocks/>
          </p:cNvCxnSpPr>
          <p:nvPr/>
        </p:nvCxnSpPr>
        <p:spPr>
          <a:xfrm flipV="1">
            <a:off x="4572000" y="3645024"/>
            <a:ext cx="0" cy="3240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BCB86018-565A-7ECF-537C-A0F22D0E2A19}"/>
              </a:ext>
            </a:extLst>
          </p:cNvPr>
          <p:cNvCxnSpPr>
            <a:cxnSpLocks/>
          </p:cNvCxnSpPr>
          <p:nvPr/>
        </p:nvCxnSpPr>
        <p:spPr>
          <a:xfrm flipV="1">
            <a:off x="4572000" y="4788702"/>
            <a:ext cx="0" cy="9056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FD06B1-D476-B7AA-F1AD-3E06DF28E64D}"/>
              </a:ext>
            </a:extLst>
          </p:cNvPr>
          <p:cNvSpPr txBox="1"/>
          <p:nvPr/>
        </p:nvSpPr>
        <p:spPr>
          <a:xfrm>
            <a:off x="250125" y="2999240"/>
            <a:ext cx="2030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i="1" dirty="0">
                <a:solidFill>
                  <a:srgbClr val="C00000"/>
                </a:solidFill>
              </a:rPr>
              <a:t>Что</a:t>
            </a:r>
            <a:r>
              <a:rPr lang="ru-RU" i="1" dirty="0"/>
              <a:t> представить в результате?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D72F44-C3EF-6D1F-079E-CCFCB2467C74}"/>
              </a:ext>
            </a:extLst>
          </p:cNvPr>
          <p:cNvSpPr txBox="1"/>
          <p:nvPr/>
        </p:nvSpPr>
        <p:spPr>
          <a:xfrm>
            <a:off x="216567" y="4099982"/>
            <a:ext cx="2030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i="1" dirty="0">
                <a:solidFill>
                  <a:srgbClr val="C00000"/>
                </a:solidFill>
              </a:rPr>
              <a:t>Как </a:t>
            </a:r>
            <a:r>
              <a:rPr lang="ru-RU" i="1" dirty="0"/>
              <a:t>получить результат?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293E0A-F694-4835-7400-0DEE2AFF522A}"/>
              </a:ext>
            </a:extLst>
          </p:cNvPr>
          <p:cNvSpPr txBox="1"/>
          <p:nvPr/>
        </p:nvSpPr>
        <p:spPr>
          <a:xfrm>
            <a:off x="5527756" y="2526588"/>
            <a:ext cx="3033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/>
              <a:t>Представление запроса во внутренней форме, </a:t>
            </a:r>
          </a:p>
          <a:p>
            <a:r>
              <a:rPr lang="ru-RU" sz="1600" i="1" dirty="0"/>
              <a:t>выделение условий и диапазонов</a:t>
            </a:r>
          </a:p>
          <a:p>
            <a:r>
              <a:rPr lang="ru-RU" sz="1600" i="1" dirty="0"/>
              <a:t>для разграничения доступа и блокировок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4D4A8D-6084-A156-1CA1-6DD8028F2250}"/>
              </a:ext>
            </a:extLst>
          </p:cNvPr>
          <p:cNvSpPr txBox="1"/>
          <p:nvPr/>
        </p:nvSpPr>
        <p:spPr>
          <a:xfrm>
            <a:off x="5556960" y="4058233"/>
            <a:ext cx="3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/>
              <a:t>Автоматическая оптимизация,</a:t>
            </a:r>
          </a:p>
          <a:p>
            <a:r>
              <a:rPr lang="ru-RU" sz="1600" i="1" dirty="0"/>
              <a:t>выбор  «плана»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537872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Основы построения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- 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47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7D2C7-8C22-AD03-5424-F20B6420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</a:t>
            </a:r>
            <a:r>
              <a:rPr lang="en-US" dirty="0"/>
              <a:t>SQL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5FF8BE6-31F4-086B-08F7-D4F4FE4C7115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23528" y="1290051"/>
          <a:ext cx="8640960" cy="532395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695121">
                  <a:extLst>
                    <a:ext uri="{9D8B030D-6E8A-4147-A177-3AD203B41FA5}">
                      <a16:colId xmlns:a16="http://schemas.microsoft.com/office/drawing/2014/main" val="3825414612"/>
                    </a:ext>
                  </a:extLst>
                </a:gridCol>
                <a:gridCol w="1467892">
                  <a:extLst>
                    <a:ext uri="{9D8B030D-6E8A-4147-A177-3AD203B41FA5}">
                      <a16:colId xmlns:a16="http://schemas.microsoft.com/office/drawing/2014/main" val="3631749751"/>
                    </a:ext>
                  </a:extLst>
                </a:gridCol>
                <a:gridCol w="6477947">
                  <a:extLst>
                    <a:ext uri="{9D8B030D-6E8A-4147-A177-3AD203B41FA5}">
                      <a16:colId xmlns:a16="http://schemas.microsoft.com/office/drawing/2014/main" val="385462390"/>
                    </a:ext>
                  </a:extLst>
                </a:gridCol>
              </a:tblGrid>
              <a:tr h="28669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dirty="0">
                          <a:effectLst/>
                        </a:rPr>
                        <a:t>Год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Имя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Комментарии и нововведения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1592201941"/>
                  </a:ext>
                </a:extLst>
              </a:tr>
              <a:tr h="41997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1986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SQL-86 </a:t>
                      </a: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SQL-87</a:t>
                      </a: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>
                          <a:solidFill>
                            <a:schemeClr val="tx1"/>
                          </a:solidFill>
                          <a:effectLst/>
                        </a:rPr>
                        <a:t>Впервые формализован ANSI</a:t>
                      </a:r>
                      <a:r>
                        <a:rPr lang="en-US" sz="1400" u="none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400" u="non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281653599"/>
                  </a:ext>
                </a:extLst>
              </a:tr>
              <a:tr h="55325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1989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SQL-89</a:t>
                      </a:r>
                      <a:b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(FIPS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 127-1</a:t>
                      </a: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Небольшая редакция, которая добавила ограничения целостности, принятые в качестве FIPS 127-1.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2218013795"/>
                  </a:ext>
                </a:extLst>
              </a:tr>
              <a:tr h="68846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1992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SQL-92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(SQL2, </a:t>
                      </a:r>
                      <a:b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FIPS 127-2)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Основная редакция (ISO 9075), 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SQL-92 начального уровня, принятая как FIPS 127-2.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1759826720"/>
                  </a:ext>
                </a:extLst>
              </a:tr>
              <a:tr h="68653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1999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SQL:1999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SQL3</a:t>
                      </a: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Добавлено сопоставление регулярных выражений, рекурсивные запросы, триггеры, поддержка процедурных операторов и операторов управления потоком, не скалярные типы (массивы) и некоторые объектно-ориентированные функции.</a:t>
                      </a: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2085985790"/>
                  </a:ext>
                </a:extLst>
              </a:tr>
              <a:tr h="55325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2003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SQL: 2003</a:t>
                      </a: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Введены функции, связанные с 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 tooltip="XM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XML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QL/XM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SQL</a:t>
                      </a:r>
                      <a:r>
                        <a:rPr lang="en-US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QL/XM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 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QL/XM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/</a:t>
                      </a:r>
                      <a:r>
                        <a:rPr lang="en-US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QL/XM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 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QL/XM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XML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 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tooltip="Функция окна SQ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оконные функции</a:t>
                      </a:r>
                      <a:r>
                        <a:rPr lang="ru-RU" sz="14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стандартизированные последовательности и столбцы с автоматически генерируемыми значениями.</a:t>
                      </a: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4008730477"/>
                  </a:ext>
                </a:extLst>
              </a:tr>
              <a:tr h="553253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2006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en-US" sz="1400" u="none" dirty="0">
                          <a:solidFill>
                            <a:schemeClr val="tx1"/>
                          </a:solidFill>
                          <a:effectLst/>
                        </a:rPr>
                        <a:t>SQL:2006</a:t>
                      </a: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ISO / IEC 9075-14: 2006 определял способы, которыми SQL может использоваться с XML. Позволяет приложениям интегрировать запросы в свой код SQL с помощью </a:t>
                      </a:r>
                      <a:r>
                        <a:rPr lang="ru-RU" sz="1400" u="none" dirty="0" err="1">
                          <a:solidFill>
                            <a:schemeClr val="tx1"/>
                          </a:solidFill>
                          <a:effectLst/>
                        </a:rPr>
                        <a:t>XQuery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1173422443"/>
                  </a:ext>
                </a:extLst>
              </a:tr>
              <a:tr h="28669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2008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  <a:hlinkClick r:id="rId5" tooltip="SQL: 2008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SQL: 2008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Определение внешних курсоров. Оператор TRUNCATE.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3694742955"/>
                  </a:ext>
                </a:extLst>
              </a:tr>
              <a:tr h="28669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2011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  <a:hlinkClick r:id="rId6" tooltip="SQL: 2011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SQL: 2011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Временные данные. Улучшения для 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  <a:hlinkClick r:id="rId4" tooltip="Функция окна SQL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оконных функций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3004185659"/>
                  </a:ext>
                </a:extLst>
              </a:tr>
              <a:tr h="28669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2016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  <a:hlinkClick r:id="rId7" tooltip="SQL: 2016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SQL: 2016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Сопоставление шаблонов строк, полиморфные табличные функции, </a:t>
                      </a: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  <a:hlinkClick r:id="rId8" tooltip="JSON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JSON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2672254296"/>
                  </a:ext>
                </a:extLst>
              </a:tr>
              <a:tr h="28669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>
                          <a:effectLst/>
                        </a:rPr>
                        <a:t>2019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>
                          <a:solidFill>
                            <a:schemeClr val="tx1"/>
                          </a:solidFill>
                          <a:effectLst/>
                        </a:rPr>
                        <a:t>SQL: 2019</a:t>
                      </a:r>
                      <a:endParaRPr lang="ru-RU" sz="1400" u="non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ru-RU" sz="1400" u="none" dirty="0">
                          <a:solidFill>
                            <a:schemeClr val="tx1"/>
                          </a:solidFill>
                          <a:effectLst/>
                        </a:rPr>
                        <a:t>Многомерные массивы</a:t>
                      </a:r>
                      <a:endParaRPr lang="ru-RU" sz="1400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733" marR="31733" marT="15867" marB="15867" anchor="ctr"/>
                </a:tc>
                <a:extLst>
                  <a:ext uri="{0D108BD9-81ED-4DB2-BD59-A6C34878D82A}">
                    <a16:rowId xmlns:a16="http://schemas.microsoft.com/office/drawing/2014/main" val="370506562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52629-3662-63ED-52CB-282927E69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BCA405A-DFB5-5088-AF19-B438D9D1C5A2}"/>
              </a:ext>
            </a:extLst>
          </p:cNvPr>
          <p:cNvCxnSpPr/>
          <p:nvPr/>
        </p:nvCxnSpPr>
        <p:spPr>
          <a:xfrm>
            <a:off x="107504" y="2542602"/>
            <a:ext cx="9036496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C102DCE-004C-EA83-A755-22A83C0B8A96}"/>
              </a:ext>
            </a:extLst>
          </p:cNvPr>
          <p:cNvCxnSpPr/>
          <p:nvPr/>
        </p:nvCxnSpPr>
        <p:spPr>
          <a:xfrm>
            <a:off x="107504" y="4110525"/>
            <a:ext cx="9036496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E7847F9-9A8B-4946-9927-4E12BA4CD83B}"/>
              </a:ext>
            </a:extLst>
          </p:cNvPr>
          <p:cNvCxnSpPr/>
          <p:nvPr/>
        </p:nvCxnSpPr>
        <p:spPr>
          <a:xfrm>
            <a:off x="53752" y="5456375"/>
            <a:ext cx="9036496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505ED40D-B564-ADD9-B73A-0317C34BB6E2}"/>
              </a:ext>
            </a:extLst>
          </p:cNvPr>
          <p:cNvSpPr/>
          <p:nvPr/>
        </p:nvSpPr>
        <p:spPr>
          <a:xfrm>
            <a:off x="2123728" y="5567949"/>
            <a:ext cx="288032" cy="952753"/>
          </a:xfrm>
          <a:prstGeom prst="downArrow">
            <a:avLst>
              <a:gd name="adj1" fmla="val 29423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841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36513-F9BE-77AA-AF96-F4E80ED8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 </a:t>
            </a:r>
            <a:r>
              <a:rPr lang="en-US" dirty="0"/>
              <a:t>Select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C73C8F-CC54-5CA7-C9FB-A65E060B8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268760"/>
            <a:ext cx="4680520" cy="216024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SELECT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список выбора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[INTO новая таблица]</a:t>
            </a:r>
          </a:p>
          <a:p>
            <a:pPr marL="0" indent="0">
              <a:buNone/>
            </a:pPr>
            <a:r>
              <a:rPr lang="ru-RU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FROM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исходная таблица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[WHERE условие поиска]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[GROUP BY выражение группировки]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[HAVING условие поиска при группировке]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[ORDER BY условие сортировки [ASC | DESC]];</a:t>
            </a:r>
          </a:p>
          <a:p>
            <a:pPr marL="0" indent="0">
              <a:buNone/>
            </a:pP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B30552-5D97-DCB5-5F7D-34C1FECE1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2F515E-1ADD-577D-FB01-471C1FC075F9}"/>
              </a:ext>
            </a:extLst>
          </p:cNvPr>
          <p:cNvSpPr/>
          <p:nvPr/>
        </p:nvSpPr>
        <p:spPr>
          <a:xfrm>
            <a:off x="4211959" y="5113048"/>
            <a:ext cx="4762799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0.87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40000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and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N'%</a:t>
            </a:r>
            <a:r>
              <a:rPr lang="ru-RU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нженер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F0BA9A-CB94-0016-5990-9075D63056EA}"/>
              </a:ext>
            </a:extLst>
          </p:cNvPr>
          <p:cNvSpPr txBox="1"/>
          <p:nvPr/>
        </p:nvSpPr>
        <p:spPr>
          <a:xfrm>
            <a:off x="192914" y="3905797"/>
            <a:ext cx="5891254" cy="269155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16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IN и BETWEEN – определяют, принадлежит ли элемент множеству, которое может быть задано другим запросом;</a:t>
            </a:r>
          </a:p>
          <a:p>
            <a:r>
              <a:rPr lang="en-US" dirty="0"/>
              <a:t>Like</a:t>
            </a:r>
            <a:r>
              <a:rPr lang="ru-RU" dirty="0"/>
              <a:t> – определяет схожесть строк, с учетом </a:t>
            </a:r>
            <a:r>
              <a:rPr lang="en-US" dirty="0"/>
              <a:t>N</a:t>
            </a:r>
            <a:r>
              <a:rPr lang="ru-RU" dirty="0"/>
              <a:t>-грамм;</a:t>
            </a:r>
          </a:p>
          <a:p>
            <a:r>
              <a:rPr lang="en-US" dirty="0"/>
              <a:t>AND</a:t>
            </a:r>
            <a:r>
              <a:rPr lang="ru-RU" dirty="0"/>
              <a:t> – и, логическая конъюнкция;</a:t>
            </a:r>
          </a:p>
          <a:p>
            <a:r>
              <a:rPr lang="en-US" dirty="0"/>
              <a:t>NOT</a:t>
            </a:r>
            <a:r>
              <a:rPr lang="ru-RU" dirty="0"/>
              <a:t> – не, логическое отрицание;</a:t>
            </a:r>
          </a:p>
          <a:p>
            <a:r>
              <a:rPr lang="en-US" dirty="0"/>
              <a:t>OR</a:t>
            </a:r>
            <a:r>
              <a:rPr lang="ru-RU" dirty="0"/>
              <a:t> - или, логическая дизъюнкция;</a:t>
            </a:r>
          </a:p>
          <a:p>
            <a:r>
              <a:rPr lang="ru-RU" dirty="0"/>
              <a:t>[NOT] EXISTS – существование;</a:t>
            </a:r>
          </a:p>
          <a:p>
            <a:r>
              <a:rPr lang="en-US" dirty="0"/>
              <a:t>IS [NOT] NULL – </a:t>
            </a:r>
            <a:r>
              <a:rPr lang="ru-RU" dirty="0"/>
              <a:t>имеет значение</a:t>
            </a:r>
            <a:r>
              <a:rPr lang="en-US" dirty="0"/>
              <a:t> null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39FB6-4B98-F179-7921-DE19C0061AF9}"/>
              </a:ext>
            </a:extLst>
          </p:cNvPr>
          <p:cNvSpPr txBox="1"/>
          <p:nvPr/>
        </p:nvSpPr>
        <p:spPr>
          <a:xfrm>
            <a:off x="548087" y="3482732"/>
            <a:ext cx="99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Условия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2382881-6565-8843-542E-0D0E2936FF14}"/>
              </a:ext>
            </a:extLst>
          </p:cNvPr>
          <p:cNvSpPr/>
          <p:nvPr/>
        </p:nvSpPr>
        <p:spPr>
          <a:xfrm>
            <a:off x="5711095" y="2889955"/>
            <a:ext cx="324684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* </a:t>
            </a:r>
            <a:endParaRPr lang="ru-RU" dirty="0">
              <a:solidFill>
                <a:schemeClr val="tx1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446CCD-E35A-9645-2C58-4C61228B3CB8}"/>
              </a:ext>
            </a:extLst>
          </p:cNvPr>
          <p:cNvSpPr/>
          <p:nvPr/>
        </p:nvSpPr>
        <p:spPr>
          <a:xfrm>
            <a:off x="5711095" y="4001585"/>
            <a:ext cx="322572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solidFill>
                <a:schemeClr val="tx1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730CCFA-BC78-1FCA-9AAE-D088F7C1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73" y="1271137"/>
            <a:ext cx="3276485" cy="115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55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01168-D050-22A9-D3ED-834336E1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Дубликаты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2C1C52-AFA5-F7A6-C943-330D703FA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7183DA-937F-A548-9A70-3A44FB841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13" y="1348929"/>
            <a:ext cx="5123646" cy="18002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6B40535-A60C-C613-B947-2D4CBF6AF6C5}"/>
              </a:ext>
            </a:extLst>
          </p:cNvPr>
          <p:cNvSpPr/>
          <p:nvPr/>
        </p:nvSpPr>
        <p:spPr>
          <a:xfrm>
            <a:off x="1157368" y="4343063"/>
            <a:ext cx="304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Должность</a:t>
            </a:r>
          </a:p>
          <a:p>
            <a:r>
              <a:rPr lang="ru-RU" dirty="0"/>
              <a:t>------------------------------</a:t>
            </a:r>
          </a:p>
          <a:p>
            <a:r>
              <a:rPr lang="ru-RU" dirty="0">
                <a:solidFill>
                  <a:srgbClr val="0070C0"/>
                </a:solidFill>
              </a:rPr>
              <a:t>Специалист</a:t>
            </a:r>
          </a:p>
          <a:p>
            <a:r>
              <a:rPr lang="ru-RU" dirty="0">
                <a:solidFill>
                  <a:srgbClr val="FF0000"/>
                </a:solidFill>
              </a:rPr>
              <a:t>Инженер</a:t>
            </a:r>
          </a:p>
          <a:p>
            <a:r>
              <a:rPr lang="ru-RU" dirty="0"/>
              <a:t>Главный инженер</a:t>
            </a:r>
          </a:p>
          <a:p>
            <a:r>
              <a:rPr lang="ru-RU" dirty="0">
                <a:solidFill>
                  <a:srgbClr val="0070C0"/>
                </a:solidFill>
              </a:rPr>
              <a:t>Специалист</a:t>
            </a:r>
          </a:p>
          <a:p>
            <a:r>
              <a:rPr lang="ru-RU" dirty="0"/>
              <a:t>Ведущий инженер</a:t>
            </a:r>
          </a:p>
          <a:p>
            <a:r>
              <a:rPr lang="ru-RU" dirty="0">
                <a:solidFill>
                  <a:srgbClr val="FF0000"/>
                </a:solidFill>
              </a:rPr>
              <a:t>Инженер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B2CA444-E690-8DAB-1021-4D1C0B327DCA}"/>
              </a:ext>
            </a:extLst>
          </p:cNvPr>
          <p:cNvSpPr/>
          <p:nvPr/>
        </p:nvSpPr>
        <p:spPr>
          <a:xfrm>
            <a:off x="681561" y="3398431"/>
            <a:ext cx="3492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38915463-D57C-1F05-CB89-C300ED2CC148}"/>
              </a:ext>
            </a:extLst>
          </p:cNvPr>
          <p:cNvSpPr/>
          <p:nvPr/>
        </p:nvSpPr>
        <p:spPr>
          <a:xfrm rot="5400000">
            <a:off x="2907870" y="3963465"/>
            <a:ext cx="646331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CBAC494-A919-B916-89A1-E5839E4FAFA2}"/>
              </a:ext>
            </a:extLst>
          </p:cNvPr>
          <p:cNvSpPr/>
          <p:nvPr/>
        </p:nvSpPr>
        <p:spPr>
          <a:xfrm>
            <a:off x="4773206" y="3381979"/>
            <a:ext cx="41840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distinct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F8E9E3-66CF-5EA6-134B-2CB7CE6CDF7A}"/>
              </a:ext>
            </a:extLst>
          </p:cNvPr>
          <p:cNvSpPr/>
          <p:nvPr/>
        </p:nvSpPr>
        <p:spPr>
          <a:xfrm>
            <a:off x="5458281" y="4389211"/>
            <a:ext cx="285813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Специалист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Инженер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Главный инженер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Ведущий инженер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9FE29906-382D-8CBA-E537-0974EC734C9D}"/>
              </a:ext>
            </a:extLst>
          </p:cNvPr>
          <p:cNvSpPr/>
          <p:nvPr/>
        </p:nvSpPr>
        <p:spPr>
          <a:xfrm rot="5400000">
            <a:off x="7093151" y="3964309"/>
            <a:ext cx="646331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369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B7E7F-B9F6-0453-DFB3-27F8CBB6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Группировки и группировки с условием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E14AED-39B6-482C-EFD8-9108ED7C6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376FA00-A507-284D-A902-6CEE18A53899}"/>
              </a:ext>
            </a:extLst>
          </p:cNvPr>
          <p:cNvSpPr/>
          <p:nvPr/>
        </p:nvSpPr>
        <p:spPr>
          <a:xfrm>
            <a:off x="677334" y="1583829"/>
            <a:ext cx="36880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0DA77F-201D-0D2F-8BE4-DBA68A36A467}"/>
              </a:ext>
            </a:extLst>
          </p:cNvPr>
          <p:cNvSpPr/>
          <p:nvPr/>
        </p:nvSpPr>
        <p:spPr>
          <a:xfrm>
            <a:off x="625419" y="3750677"/>
            <a:ext cx="4312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'Должность'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having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N'%</a:t>
            </a:r>
            <a:r>
              <a:rPr lang="ru-RU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нженер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2834303-47DC-E34A-A7FC-4CD05575B0DE}"/>
              </a:ext>
            </a:extLst>
          </p:cNvPr>
          <p:cNvSpPr/>
          <p:nvPr/>
        </p:nvSpPr>
        <p:spPr>
          <a:xfrm>
            <a:off x="5652120" y="1583829"/>
            <a:ext cx="26060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Ведущий инженер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Главный инженер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Инженер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Специалист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6E762EF-E7BF-7317-1026-10FF07D907CB}"/>
              </a:ext>
            </a:extLst>
          </p:cNvPr>
          <p:cNvSpPr/>
          <p:nvPr/>
        </p:nvSpPr>
        <p:spPr>
          <a:xfrm>
            <a:off x="5492946" y="4899259"/>
            <a:ext cx="29243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Ведущий инженер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Главный инженер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Инженер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A02B9F16-2E4B-E851-FE52-911321C3A14A}"/>
              </a:ext>
            </a:extLst>
          </p:cNvPr>
          <p:cNvSpPr/>
          <p:nvPr/>
        </p:nvSpPr>
        <p:spPr>
          <a:xfrm>
            <a:off x="3491880" y="2460992"/>
            <a:ext cx="1584176" cy="5272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771219CA-9177-6D6F-5961-B89972C50EE7}"/>
              </a:ext>
            </a:extLst>
          </p:cNvPr>
          <p:cNvSpPr/>
          <p:nvPr/>
        </p:nvSpPr>
        <p:spPr>
          <a:xfrm>
            <a:off x="3491880" y="5434008"/>
            <a:ext cx="1584176" cy="5272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997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27247-20A5-10E3-9EDD-C5A02DD9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с агрегированием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4EDAD-7915-03E8-5B99-46A157EA5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584176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MIN –наименьшее значение из заданного множества;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MAX - определяет наибольшее из заданного множества;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SUM – определяет сумма значений из заданного множества;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AVG – определяет среднее значение по заданному множеству;</a:t>
            </a:r>
          </a:p>
          <a:p>
            <a:pPr marL="0" indent="0">
              <a:buNone/>
            </a:pP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COUNT (COUNT_BIG) – количество значений в заданном множестве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EBADE8-C19D-BBE0-B63A-95AD29729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FE8AAA3-184C-9A63-C506-015FAE01DD41}"/>
              </a:ext>
            </a:extLst>
          </p:cNvPr>
          <p:cNvSpPr/>
          <p:nvPr/>
        </p:nvSpPr>
        <p:spPr>
          <a:xfrm>
            <a:off x="1336247" y="3249863"/>
            <a:ext cx="464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8945" algn="just">
              <a:spcAft>
                <a:spcPts val="0"/>
              </a:spcAft>
            </a:pP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(*)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Число сотрудников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3317914-92CC-9500-58EC-3E68B5FB39C5}"/>
              </a:ext>
            </a:extLst>
          </p:cNvPr>
          <p:cNvSpPr/>
          <p:nvPr/>
        </p:nvSpPr>
        <p:spPr>
          <a:xfrm>
            <a:off x="1331640" y="4942788"/>
            <a:ext cx="43112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SocialNumber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Наименьший </a:t>
            </a:r>
            <a:r>
              <a:rPr lang="ru-RU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соц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номер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557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44F7CB-459F-0331-E00B-0D53B173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с соединением</a:t>
            </a:r>
            <a:r>
              <a:rPr lang="en-US" dirty="0"/>
              <a:t> – </a:t>
            </a:r>
            <a:r>
              <a:rPr lang="ru-RU" dirty="0"/>
              <a:t>Естественное соединение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BD380-B920-5559-EF83-54D7283DA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US" i="1" dirty="0"/>
              <a:t>JOIN</a:t>
            </a:r>
            <a:endParaRPr lang="ru-RU" i="1" dirty="0"/>
          </a:p>
          <a:p>
            <a:pPr lvl="1"/>
            <a:r>
              <a:rPr lang="en-US" dirty="0"/>
              <a:t>NATURAL JOIN</a:t>
            </a:r>
            <a:r>
              <a:rPr lang="ru-RU" dirty="0"/>
              <a:t>, INNER JOIN </a:t>
            </a:r>
          </a:p>
          <a:p>
            <a:pPr lvl="1"/>
            <a:r>
              <a:rPr lang="ru-RU" dirty="0"/>
              <a:t>FULL JOIN,</a:t>
            </a:r>
            <a:r>
              <a:rPr lang="en-US" dirty="0"/>
              <a:t>CROSS JOIN</a:t>
            </a:r>
            <a:endParaRPr lang="ru-RU" dirty="0"/>
          </a:p>
          <a:p>
            <a:pPr lvl="1"/>
            <a:r>
              <a:rPr lang="ru-RU" dirty="0"/>
              <a:t>LEFT JOIN </a:t>
            </a:r>
          </a:p>
          <a:p>
            <a:pPr lvl="1"/>
            <a:r>
              <a:rPr lang="ru-RU" dirty="0"/>
              <a:t>RIGHT JOIN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91D164-53E6-662B-C6B6-3287D178D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5F8685-7AB2-598F-FA32-2BCE7F30241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6712" y="1459519"/>
            <a:ext cx="4266248" cy="5215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7D8C733-0B41-0A53-BD89-1C15D43CDAC6}"/>
              </a:ext>
            </a:extLst>
          </p:cNvPr>
          <p:cNvSpPr/>
          <p:nvPr/>
        </p:nvSpPr>
        <p:spPr>
          <a:xfrm>
            <a:off x="621059" y="3603337"/>
            <a:ext cx="30259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inner join</a:t>
            </a:r>
            <a:endParaRPr lang="ru-RU" dirty="0">
              <a:solidFill>
                <a:schemeClr val="accent1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922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44F7CB-459F-0331-E00B-0D53B173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с соединением</a:t>
            </a:r>
            <a:r>
              <a:rPr lang="en-US" dirty="0"/>
              <a:t> – </a:t>
            </a:r>
            <a:r>
              <a:rPr lang="ru-RU" dirty="0"/>
              <a:t>Естественное соединение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BD380-B920-5559-EF83-54D7283DA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ru-RU" i="1" dirty="0"/>
              <a:t>Соединение </a:t>
            </a:r>
            <a:r>
              <a:rPr lang="en-US" i="1" dirty="0"/>
              <a:t>JOIN</a:t>
            </a:r>
            <a:endParaRPr lang="ru-RU" i="1" dirty="0"/>
          </a:p>
          <a:p>
            <a:pPr lvl="1"/>
            <a:r>
              <a:rPr lang="en-US" dirty="0"/>
              <a:t>NATURAL JOIN</a:t>
            </a:r>
            <a:r>
              <a:rPr lang="ru-RU" dirty="0"/>
              <a:t>, INNER JOIN </a:t>
            </a:r>
          </a:p>
          <a:p>
            <a:pPr lvl="1"/>
            <a:r>
              <a:rPr lang="ru-RU" dirty="0"/>
              <a:t>FULL JOIN,</a:t>
            </a:r>
            <a:r>
              <a:rPr lang="en-US" dirty="0"/>
              <a:t>CROSS JOIN</a:t>
            </a:r>
            <a:endParaRPr lang="ru-RU" dirty="0"/>
          </a:p>
          <a:p>
            <a:pPr lvl="1"/>
            <a:r>
              <a:rPr lang="ru-RU" dirty="0"/>
              <a:t>LEFT JOIN </a:t>
            </a:r>
          </a:p>
          <a:p>
            <a:pPr lvl="1"/>
            <a:r>
              <a:rPr lang="ru-RU" dirty="0"/>
              <a:t>RIGHT JOIN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91D164-53E6-662B-C6B6-3287D178D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5F8685-7AB2-598F-FA32-2BCE7F30241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6712" y="1459519"/>
            <a:ext cx="4266248" cy="5215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7D8C733-0B41-0A53-BD89-1C15D43CDAC6}"/>
              </a:ext>
            </a:extLst>
          </p:cNvPr>
          <p:cNvSpPr/>
          <p:nvPr/>
        </p:nvSpPr>
        <p:spPr>
          <a:xfrm>
            <a:off x="658663" y="4012029"/>
            <a:ext cx="30259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inner join</a:t>
            </a:r>
            <a:endParaRPr lang="ru-RU" dirty="0">
              <a:solidFill>
                <a:schemeClr val="accent1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450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3DDAC-8BA9-3A14-B7DE-2C37A24C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с соединением - семантика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DC01C9-0479-0AD5-D55B-572C61644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DE49EE-404C-2FF7-EF46-6DDE14D0B243}"/>
              </a:ext>
            </a:extLst>
          </p:cNvPr>
          <p:cNvSpPr/>
          <p:nvPr/>
        </p:nvSpPr>
        <p:spPr>
          <a:xfrm>
            <a:off x="664882" y="1593122"/>
            <a:ext cx="6096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inner join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 </a:t>
            </a:r>
            <a:endParaRPr lang="ru-RU" dirty="0">
              <a:solidFill>
                <a:srgbClr val="00B050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TEmployers.Doljnost</a:t>
            </a:r>
            <a:r>
              <a:rPr lang="ru-RU" dirty="0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ru-RU" dirty="0" err="1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TDoljnost.Doljnost</a:t>
            </a:r>
            <a:endParaRPr lang="ru-RU" dirty="0">
              <a:solidFill>
                <a:srgbClr val="00B050"/>
              </a:solidFill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26F78C-BAE2-D2AA-A6F3-7A789A66539A}"/>
              </a:ext>
            </a:extLst>
          </p:cNvPr>
          <p:cNvSpPr/>
          <p:nvPr/>
        </p:nvSpPr>
        <p:spPr>
          <a:xfrm>
            <a:off x="2547354" y="3375157"/>
            <a:ext cx="6096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solidFill>
                  <a:srgbClr val="C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rgbClr val="C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>
                <a:solidFill>
                  <a:srgbClr val="C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TEmployers.Doljnost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00B05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TDoljnost.Doljnost</a:t>
            </a:r>
            <a:endParaRPr lang="ru-RU" dirty="0">
              <a:solidFill>
                <a:srgbClr val="00B050"/>
              </a:solidFill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DEE396-A115-6DD6-D963-8ED4F4D10B2F}"/>
              </a:ext>
            </a:extLst>
          </p:cNvPr>
          <p:cNvSpPr/>
          <p:nvPr/>
        </p:nvSpPr>
        <p:spPr>
          <a:xfrm>
            <a:off x="1835696" y="5157192"/>
            <a:ext cx="60960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rgbClr val="C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>
                <a:solidFill>
                  <a:srgbClr val="C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Крест 7">
            <a:extLst>
              <a:ext uri="{FF2B5EF4-FFF2-40B4-BE49-F238E27FC236}">
                <a16:creationId xmlns:a16="http://schemas.microsoft.com/office/drawing/2014/main" id="{FB54C36D-EFC5-2DD3-CF36-AAA839C644A0}"/>
              </a:ext>
            </a:extLst>
          </p:cNvPr>
          <p:cNvSpPr/>
          <p:nvPr/>
        </p:nvSpPr>
        <p:spPr>
          <a:xfrm rot="2480998">
            <a:off x="783238" y="5018433"/>
            <a:ext cx="1227282" cy="1200847"/>
          </a:xfrm>
          <a:prstGeom prst="plus">
            <a:avLst>
              <a:gd name="adj" fmla="val 4530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194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24D67D-5FA4-267F-B6F8-4F73FEE2917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552" y="1327029"/>
            <a:ext cx="4927773" cy="5400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247A2-DD9D-6E89-BF14-B9177B6F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с соединением</a:t>
            </a:r>
            <a:r>
              <a:rPr lang="en-US" dirty="0"/>
              <a:t> – </a:t>
            </a:r>
            <a:r>
              <a:rPr lang="ru-RU" dirty="0"/>
              <a:t>Полное соединение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31C981-7A64-775E-8F2D-DFD45137F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F559D3-1AF9-C1D8-A3BF-412DB8EAD368}"/>
              </a:ext>
            </a:extLst>
          </p:cNvPr>
          <p:cNvSpPr/>
          <p:nvPr/>
        </p:nvSpPr>
        <p:spPr>
          <a:xfrm>
            <a:off x="5339773" y="1700808"/>
            <a:ext cx="36688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dirty="0">
              <a:solidFill>
                <a:srgbClr val="808080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join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endParaRPr lang="ru-RU" dirty="0">
              <a:solidFill>
                <a:srgbClr val="808080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6611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247A2-DD9D-6E89-BF14-B9177B6F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с соединением</a:t>
            </a:r>
            <a:r>
              <a:rPr lang="en-US" dirty="0"/>
              <a:t> – </a:t>
            </a:r>
            <a:r>
              <a:rPr lang="ru-RU" dirty="0"/>
              <a:t>Левое соединение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31C981-7A64-775E-8F2D-DFD45137F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C4F6A2-92C0-BFC7-CE84-10F0511C64F3}"/>
              </a:ext>
            </a:extLst>
          </p:cNvPr>
          <p:cNvSpPr/>
          <p:nvPr/>
        </p:nvSpPr>
        <p:spPr>
          <a:xfrm>
            <a:off x="5004048" y="1475867"/>
            <a:ext cx="307848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dirty="0">
              <a:solidFill>
                <a:srgbClr val="808080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TEmployers.Doljnost</a:t>
            </a:r>
            <a:r>
              <a:rPr lang="en-US" dirty="0">
                <a:solidFill>
                  <a:schemeClr val="accent5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ru-RU" dirty="0">
              <a:solidFill>
                <a:schemeClr val="accent5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Left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accent1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GB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mployers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B0FEBA0-EBE5-B9F9-79C0-555AA34A0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5" y="1340768"/>
            <a:ext cx="4190299" cy="3000726"/>
          </a:xfrm>
          <a:prstGeom prst="rect">
            <a:avLst/>
          </a:prstGeom>
        </p:spPr>
      </p:pic>
      <p:sp>
        <p:nvSpPr>
          <p:cNvPr id="11" name="Стрелка вниз 8">
            <a:extLst>
              <a:ext uri="{FF2B5EF4-FFF2-40B4-BE49-F238E27FC236}">
                <a16:creationId xmlns:a16="http://schemas.microsoft.com/office/drawing/2014/main" id="{2815D2AD-AFB7-2773-8BF2-91895FD51D01}"/>
              </a:ext>
            </a:extLst>
          </p:cNvPr>
          <p:cNvSpPr/>
          <p:nvPr/>
        </p:nvSpPr>
        <p:spPr>
          <a:xfrm>
            <a:off x="4427984" y="4061190"/>
            <a:ext cx="670560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CFAFBC4-AF27-E24A-7946-75491E16C4E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9590" y="4512405"/>
            <a:ext cx="4305300" cy="2209800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3123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247A2-DD9D-6E89-BF14-B9177B6F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с соединением</a:t>
            </a:r>
            <a:r>
              <a:rPr lang="en-US" dirty="0"/>
              <a:t> – </a:t>
            </a:r>
            <a:r>
              <a:rPr lang="ru-RU" dirty="0"/>
              <a:t>Правое соединение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31C981-7A64-775E-8F2D-DFD45137F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FEBD0F-E512-CFF4-99E2-AF0A41902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93388"/>
            <a:ext cx="4248472" cy="304238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981EB7-1FE3-9D64-B460-E4236EAE33D1}"/>
              </a:ext>
            </a:extLst>
          </p:cNvPr>
          <p:cNvSpPr/>
          <p:nvPr/>
        </p:nvSpPr>
        <p:spPr>
          <a:xfrm>
            <a:off x="5339328" y="1509803"/>
            <a:ext cx="307848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dirty="0">
              <a:solidFill>
                <a:srgbClr val="808080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right join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chemeClr val="accent1"/>
              </a:solidFill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GB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mployers</a:t>
            </a:r>
            <a:endParaRPr lang="ru-RU" dirty="0">
              <a:highlight>
                <a:srgbClr val="FFFFFF"/>
              </a:highlight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ru-RU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55DF52-881A-3E91-9A51-7A89A8B10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69" y="4751304"/>
            <a:ext cx="4749196" cy="1908213"/>
          </a:xfrm>
          <a:prstGeom prst="rect">
            <a:avLst/>
          </a:prstGeom>
        </p:spPr>
      </p:pic>
      <p:sp>
        <p:nvSpPr>
          <p:cNvPr id="8" name="Стрелка вниз 8">
            <a:extLst>
              <a:ext uri="{FF2B5EF4-FFF2-40B4-BE49-F238E27FC236}">
                <a16:creationId xmlns:a16="http://schemas.microsoft.com/office/drawing/2014/main" id="{356819CF-C2B7-4311-29C0-C2D5EF1D29C5}"/>
              </a:ext>
            </a:extLst>
          </p:cNvPr>
          <p:cNvSpPr/>
          <p:nvPr/>
        </p:nvSpPr>
        <p:spPr>
          <a:xfrm>
            <a:off x="4668768" y="4252892"/>
            <a:ext cx="670560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2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7176C-C50C-D9A6-325F-25C4FB79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Вложенные подзапросы и </a:t>
            </a:r>
            <a:r>
              <a:rPr lang="en-GB" dirty="0"/>
              <a:t>UNION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885918-CA33-6E7C-3151-D9A5C1D7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671A7D-5304-333B-AFFF-E2B3D0EE7F94}"/>
              </a:ext>
            </a:extLst>
          </p:cNvPr>
          <p:cNvSpPr/>
          <p:nvPr/>
        </p:nvSpPr>
        <p:spPr>
          <a:xfrm>
            <a:off x="1040654" y="1438798"/>
            <a:ext cx="7498080" cy="120032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EventID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EDescription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TEvent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EventID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795" indent="448945" algn="just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EventID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EventStruct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where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ELevel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694DE5-9364-9B0D-1F63-C5C0F677595A}"/>
              </a:ext>
            </a:extLst>
          </p:cNvPr>
          <p:cNvSpPr/>
          <p:nvPr/>
        </p:nvSpPr>
        <p:spPr>
          <a:xfrm>
            <a:off x="1043608" y="3140968"/>
            <a:ext cx="7498080" cy="293926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b="1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b="1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b="1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b="1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b="1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fm</a:t>
            </a:r>
            <a:endParaRPr lang="ru-RU" b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8945"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8945"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N'%</a:t>
            </a:r>
            <a:r>
              <a:rPr lang="ru-RU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нженер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%'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b="1" dirty="0">
                <a:solidFill>
                  <a:schemeClr val="accent1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union</a:t>
            </a:r>
            <a:endParaRPr lang="ru-RU" dirty="0">
              <a:solidFill>
                <a:schemeClr val="accent1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b="1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b="1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b="1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b="1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b="1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fm</a:t>
            </a:r>
            <a:endParaRPr lang="ru-RU" b="1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8945"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99160" algn="just">
              <a:spcAft>
                <a:spcPts val="0"/>
              </a:spcAft>
            </a:pP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N'm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Менеджер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47900" indent="449580" algn="just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Администратор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47900" indent="449580" algn="just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Специалист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1211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F8BB4-31A6-6636-2509-EC98373E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Вычитание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8FA840-B55E-F2B7-B21E-A2F1CE452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F73B154-E8DA-B2E8-8FE6-FD22A6B23B64}"/>
              </a:ext>
            </a:extLst>
          </p:cNvPr>
          <p:cNvSpPr/>
          <p:nvPr/>
        </p:nvSpPr>
        <p:spPr>
          <a:xfrm>
            <a:off x="556247" y="161483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SELECT </a:t>
            </a:r>
            <a:r>
              <a:rPr lang="ru-RU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FROM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r>
              <a:rPr lang="ru-RU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EXCEPT</a:t>
            </a:r>
            <a:endParaRPr lang="ru-RU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SELECT </a:t>
            </a:r>
            <a:r>
              <a:rPr lang="ru-RU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FROM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_Out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 WHERE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_Out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.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‘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ООО Восток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A9F4C3-4D2E-95CC-7CE0-90D18E521268}"/>
              </a:ext>
            </a:extLst>
          </p:cNvPr>
          <p:cNvSpPr/>
          <p:nvPr/>
        </p:nvSpPr>
        <p:spPr>
          <a:xfrm>
            <a:off x="683568" y="476442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SELECT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FROM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MINUS</a:t>
            </a:r>
            <a:endParaRPr lang="ru-RU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SELECT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type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FROM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_Out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 WHERE 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Product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_Out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.</a:t>
            </a:r>
            <a:r>
              <a:rPr lang="ru-RU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maker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‘</a:t>
            </a:r>
            <a:r>
              <a:rPr lang="ru-RU" dirty="0">
                <a:latin typeface="Courier New" panose="02070309020205020404" pitchFamily="49" charset="0"/>
                <a:ea typeface="Times New Roman" panose="02020603050405020304" pitchFamily="18" charset="0"/>
              </a:rPr>
              <a:t>ООО Восток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Двойная стрелка вверх/вниз 4">
            <a:extLst>
              <a:ext uri="{FF2B5EF4-FFF2-40B4-BE49-F238E27FC236}">
                <a16:creationId xmlns:a16="http://schemas.microsoft.com/office/drawing/2014/main" id="{377EDAC8-4B92-68A2-F938-8C9705900E6C}"/>
              </a:ext>
            </a:extLst>
          </p:cNvPr>
          <p:cNvSpPr/>
          <p:nvPr/>
        </p:nvSpPr>
        <p:spPr>
          <a:xfrm>
            <a:off x="2195736" y="3215806"/>
            <a:ext cx="821803" cy="126844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FCF8EB2-9865-D8CF-F2D3-820B066DE0D7}"/>
              </a:ext>
            </a:extLst>
          </p:cNvPr>
          <p:cNvSpPr/>
          <p:nvPr/>
        </p:nvSpPr>
        <p:spPr>
          <a:xfrm>
            <a:off x="395536" y="1412776"/>
            <a:ext cx="6256711" cy="152285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1926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B45B33-2998-4808-7C55-CBDD0676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 SELECT - кавычки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650D63-F4F0-DD0C-103F-39488A471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  <p:graphicFrame>
        <p:nvGraphicFramePr>
          <p:cNvPr id="7" name="Объект 4">
            <a:extLst>
              <a:ext uri="{FF2B5EF4-FFF2-40B4-BE49-F238E27FC236}">
                <a16:creationId xmlns:a16="http://schemas.microsoft.com/office/drawing/2014/main" id="{1100C075-295B-6D41-1D89-CEF2AA2B06A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28960" y="1475305"/>
          <a:ext cx="7686080" cy="367284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3699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Двойные кавычки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450215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Одинарные кавычки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SELECT name "</a:t>
                      </a:r>
                      <a:r>
                        <a:rPr lang="ru-RU" sz="1800" dirty="0">
                          <a:solidFill>
                            <a:srgbClr val="C00000"/>
                          </a:solidFill>
                          <a:effectLst/>
                        </a:rPr>
                        <a:t>Имя товара</a:t>
                      </a:r>
                      <a:r>
                        <a:rPr lang="en-US" sz="1800" dirty="0">
                          <a:effectLst/>
                        </a:rPr>
                        <a:t>" </a:t>
                      </a:r>
                      <a:endParaRPr lang="ru-RU" sz="18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FROM goods</a:t>
                      </a:r>
                      <a:endParaRPr lang="ru-RU" sz="18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SELECT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r>
                        <a:rPr lang="en-US" sz="1800" dirty="0">
                          <a:solidFill>
                            <a:schemeClr val="accent1"/>
                          </a:solidFill>
                          <a:effectLst/>
                        </a:rPr>
                        <a:t> '</a:t>
                      </a:r>
                      <a:r>
                        <a:rPr lang="ru-RU" sz="1800" dirty="0">
                          <a:solidFill>
                            <a:schemeClr val="accent1"/>
                          </a:solidFill>
                          <a:effectLst/>
                        </a:rPr>
                        <a:t>Это данные</a:t>
                      </a:r>
                      <a:r>
                        <a:rPr lang="en-US" sz="1800" dirty="0">
                          <a:solidFill>
                            <a:schemeClr val="accent1"/>
                          </a:solidFill>
                          <a:effectLst/>
                        </a:rPr>
                        <a:t>' </a:t>
                      </a:r>
                      <a:endParaRPr lang="ru-RU" sz="18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FROM goods WHERE id = 1</a:t>
                      </a:r>
                      <a:endParaRPr lang="ru-RU" sz="18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C00000"/>
                          </a:solidFill>
                          <a:effectLst/>
                        </a:rPr>
                        <a:t>Имя товара</a:t>
                      </a:r>
                    </a:p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Тапочки</a:t>
                      </a:r>
                    </a:p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Подушка</a:t>
                      </a:r>
                    </a:p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Одеяло</a:t>
                      </a:r>
                    </a:p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Наволочка</a:t>
                      </a:r>
                    </a:p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Простынка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450215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accent1"/>
                          </a:solidFill>
                          <a:effectLst/>
                        </a:rPr>
                        <a:t>Это</a:t>
                      </a:r>
                      <a:r>
                        <a:rPr lang="en-US" sz="180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accent1"/>
                          </a:solidFill>
                          <a:effectLst/>
                        </a:rPr>
                        <a:t>данные</a:t>
                      </a:r>
                      <a:endParaRPr lang="ru-RU" sz="18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5342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B45B33-2998-4808-7C55-CBDD0676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 SELECT - множества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650D63-F4F0-DD0C-103F-39488A471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graphicFrame>
        <p:nvGraphicFramePr>
          <p:cNvPr id="3" name="Объект 9">
            <a:extLst>
              <a:ext uri="{FF2B5EF4-FFF2-40B4-BE49-F238E27FC236}">
                <a16:creationId xmlns:a16="http://schemas.microsoft.com/office/drawing/2014/main" id="{E03E4C6B-58EF-628F-EF4A-D48CF46B4D6A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67544" y="4768151"/>
          <a:ext cx="8352928" cy="152400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532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id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name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price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articul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act_time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availability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Наволочка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Серая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400.00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AR-75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2017-01-04 04:04:04.04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false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8704B5-FD25-B6C5-5BCF-C2791986221E}"/>
              </a:ext>
            </a:extLst>
          </p:cNvPr>
          <p:cNvSpPr/>
          <p:nvPr/>
        </p:nvSpPr>
        <p:spPr>
          <a:xfrm>
            <a:off x="633840" y="1370651"/>
            <a:ext cx="6972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*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goods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(name, price, availability) = ('</a:t>
            </a:r>
            <a:r>
              <a:rPr lang="ru-RU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Наволочка</a:t>
            </a:r>
            <a:r>
              <a:rPr lang="en-US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', 400.00, FALSE)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837794-0049-9D94-4E3C-68E5177E5AF7}"/>
              </a:ext>
            </a:extLst>
          </p:cNvPr>
          <p:cNvSpPr/>
          <p:nvPr/>
        </p:nvSpPr>
        <p:spPr>
          <a:xfrm>
            <a:off x="619944" y="3312889"/>
            <a:ext cx="7785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*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goods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name = '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Наволочка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 AND price = 400.00 AND availability = FALSE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Двойная стрелка вверх/вниз 6">
            <a:extLst>
              <a:ext uri="{FF2B5EF4-FFF2-40B4-BE49-F238E27FC236}">
                <a16:creationId xmlns:a16="http://schemas.microsoft.com/office/drawing/2014/main" id="{7E4A9D1E-FCDA-9603-AA60-3BF554854F41}"/>
              </a:ext>
            </a:extLst>
          </p:cNvPr>
          <p:cNvSpPr/>
          <p:nvPr/>
        </p:nvSpPr>
        <p:spPr>
          <a:xfrm>
            <a:off x="3304806" y="2529787"/>
            <a:ext cx="726632" cy="97024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668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1141B-E15D-C387-4844-76A938B8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Реляционные переменные («псевдо</a:t>
            </a:r>
            <a:r>
              <a:rPr lang="ru-RU"/>
              <a:t>»-таблицы) в СУБД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D0B94B-8795-89E4-3C5B-80E2F448B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C9B73D6-A050-76BA-937B-B93DE5FF1C51}"/>
              </a:ext>
            </a:extLst>
          </p:cNvPr>
          <p:cNvSpPr/>
          <p:nvPr/>
        </p:nvSpPr>
        <p:spPr>
          <a:xfrm>
            <a:off x="406648" y="1393953"/>
            <a:ext cx="919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	</a:t>
            </a:r>
            <a:r>
              <a:rPr lang="en-US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mock</a:t>
            </a:r>
            <a:r>
              <a:rPr lang="en-US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.nickname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Прозвище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449580"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(CASE WHEN </a:t>
            </a:r>
            <a:r>
              <a:rPr lang="en-US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mock</a:t>
            </a:r>
            <a:r>
              <a:rPr lang="en-US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.huff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THEN '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 ELSE '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 END) "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Есть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?" </a:t>
            </a:r>
            <a:endParaRPr lang="ru-RU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  (SELECT name AS nickname, availability AS huff FROM goods) 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mock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37935A0-52B3-A0D7-E6F4-A4458B166CA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28761" y="2504399"/>
          <a:ext cx="3147695" cy="146304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61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Прозвище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Есть?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Тапочки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Подушка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Одеяло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Наволочка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Нет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</a:rPr>
                        <a:t>Простынка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Нет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DA81206-F9F4-3725-3A50-0898B3E67B0A}"/>
              </a:ext>
            </a:extLst>
          </p:cNvPr>
          <p:cNvSpPr/>
          <p:nvPr/>
        </p:nvSpPr>
        <p:spPr>
          <a:xfrm>
            <a:off x="383643" y="4127332"/>
            <a:ext cx="812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ru-RU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"Имя товара", </a:t>
            </a:r>
            <a:r>
              <a:rPr lang="ru-RU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</a:t>
            </a: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"Цена" </a:t>
            </a:r>
          </a:p>
          <a:p>
            <a:pPr algn="just">
              <a:spcAft>
                <a:spcPts val="0"/>
              </a:spcAft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(</a:t>
            </a:r>
            <a:r>
              <a:rPr lang="en-US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VALUES ('</a:t>
            </a:r>
            <a:r>
              <a:rPr lang="ru-RU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Тапочки</a:t>
            </a:r>
            <a:r>
              <a:rPr lang="en-US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', 100.00), ('</a:t>
            </a:r>
            <a:r>
              <a:rPr lang="ru-RU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Подушка</a:t>
            </a:r>
            <a:r>
              <a:rPr lang="en-US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', 200.00)</a:t>
            </a: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goods(name, price)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Объект 5">
            <a:extLst>
              <a:ext uri="{FF2B5EF4-FFF2-40B4-BE49-F238E27FC236}">
                <a16:creationId xmlns:a16="http://schemas.microsoft.com/office/drawing/2014/main" id="{30364066-4FEB-4ACB-B174-3756705B7D7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480046" y="4962674"/>
          <a:ext cx="6097429" cy="1645920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132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Имя товара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Цена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Тапочки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100.00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</a:rPr>
                        <a:t>Подушка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200.00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1460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Трехзначная логика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СУБД</a:t>
            </a:r>
            <a:endParaRPr lang="ru-RU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7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7C697-D063-7227-2643-8DE64B87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– </a:t>
            </a:r>
            <a:r>
              <a:rPr lang="ru-RU" dirty="0"/>
              <a:t>значения в </a:t>
            </a:r>
            <a:r>
              <a:rPr lang="en-US" dirty="0"/>
              <a:t>SQL</a:t>
            </a:r>
            <a:r>
              <a:rPr lang="ru-RU" dirty="0"/>
              <a:t>: использование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0A4D5B-C592-7012-FE58-7B3D612A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152128"/>
          </a:xfrm>
        </p:spPr>
        <p:txBody>
          <a:bodyPr anchor="t">
            <a:normAutofit/>
          </a:bodyPr>
          <a:lstStyle/>
          <a:p>
            <a:pPr lvl="0"/>
            <a:r>
              <a:rPr lang="ru-RU" sz="1800" dirty="0"/>
              <a:t>Отсутствующее (не заданное) значение.</a:t>
            </a:r>
          </a:p>
          <a:p>
            <a:pPr lvl="0"/>
            <a:r>
              <a:rPr lang="ru-RU" sz="1800" dirty="0" err="1"/>
              <a:t>Not</a:t>
            </a:r>
            <a:r>
              <a:rPr lang="ru-RU" sz="1800" dirty="0"/>
              <a:t> </a:t>
            </a:r>
            <a:r>
              <a:rPr lang="ru-RU" sz="1800" dirty="0" err="1"/>
              <a:t>Applicable</a:t>
            </a:r>
            <a:r>
              <a:rPr lang="ru-RU" sz="1800" dirty="0"/>
              <a:t> (N/A). </a:t>
            </a:r>
          </a:p>
          <a:p>
            <a:pPr lvl="0"/>
            <a:r>
              <a:rPr lang="ru-RU" sz="1800" dirty="0"/>
              <a:t>Отсутствует не только значение атрибута, но и сам атрибут.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2BE951-2D1D-4C13-DB3D-57D867388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46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74950-069E-A044-2176-54DF4DC370AE}"/>
              </a:ext>
            </a:extLst>
          </p:cNvPr>
          <p:cNvSpPr txBox="1"/>
          <p:nvPr/>
        </p:nvSpPr>
        <p:spPr>
          <a:xfrm>
            <a:off x="661864" y="2926698"/>
            <a:ext cx="748883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SELECT * FROM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</a:rPr>
              <a:t>SomeTable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 WHERE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</a:rPr>
              <a:t>SomeColumn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 = 2;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UNION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SELECT * FROM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SomeTable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WHERE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SomeColumn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&lt;&gt; 2;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EBA75-03AC-4A75-2FC8-36849D5286AD}"/>
              </a:ext>
            </a:extLst>
          </p:cNvPr>
          <p:cNvSpPr txBox="1"/>
          <p:nvPr/>
        </p:nvSpPr>
        <p:spPr>
          <a:xfrm>
            <a:off x="661864" y="5421902"/>
            <a:ext cx="748883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</a:rPr>
              <a:t>SELECT * FROM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</a:rPr>
              <a:t>SomeTable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Стрелка: вверх-вниз 11">
            <a:extLst>
              <a:ext uri="{FF2B5EF4-FFF2-40B4-BE49-F238E27FC236}">
                <a16:creationId xmlns:a16="http://schemas.microsoft.com/office/drawing/2014/main" id="{E7588BB0-311A-317A-5EAD-6EA2682C19E9}"/>
              </a:ext>
            </a:extLst>
          </p:cNvPr>
          <p:cNvSpPr/>
          <p:nvPr/>
        </p:nvSpPr>
        <p:spPr>
          <a:xfrm>
            <a:off x="2699792" y="3975434"/>
            <a:ext cx="720080" cy="115504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D57BB7-6D9C-65FB-9AB8-379CF6064FB4}"/>
              </a:ext>
            </a:extLst>
          </p:cNvPr>
          <p:cNvSpPr txBox="1"/>
          <p:nvPr/>
        </p:nvSpPr>
        <p:spPr>
          <a:xfrm>
            <a:off x="3624745" y="3768127"/>
            <a:ext cx="721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450215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7C697-D063-7227-2643-8DE64B87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– </a:t>
            </a:r>
            <a:r>
              <a:rPr lang="ru-RU" dirty="0"/>
              <a:t>значения в </a:t>
            </a:r>
            <a:r>
              <a:rPr lang="en-US" dirty="0"/>
              <a:t>SQL</a:t>
            </a:r>
            <a:r>
              <a:rPr lang="ru-RU" dirty="0"/>
              <a:t>: основы логики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0A4D5B-C592-7012-FE58-7B3D612A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152128"/>
          </a:xfrm>
        </p:spPr>
        <p:txBody>
          <a:bodyPr anchor="t">
            <a:normAutofit/>
          </a:bodyPr>
          <a:lstStyle/>
          <a:p>
            <a:pPr lvl="0"/>
            <a:r>
              <a:rPr lang="ru-RU" sz="1800" dirty="0"/>
              <a:t>Отсутствующее (не заданное) значение.</a:t>
            </a:r>
          </a:p>
          <a:p>
            <a:pPr lvl="0"/>
            <a:r>
              <a:rPr lang="ru-RU" sz="1800" dirty="0" err="1"/>
              <a:t>Not</a:t>
            </a:r>
            <a:r>
              <a:rPr lang="ru-RU" sz="1800" dirty="0"/>
              <a:t> </a:t>
            </a:r>
            <a:r>
              <a:rPr lang="ru-RU" sz="1800" dirty="0" err="1"/>
              <a:t>Applicable</a:t>
            </a:r>
            <a:r>
              <a:rPr lang="ru-RU" sz="1800" dirty="0"/>
              <a:t> (N/A). </a:t>
            </a:r>
          </a:p>
          <a:p>
            <a:pPr lvl="0"/>
            <a:r>
              <a:rPr lang="ru-RU" sz="1800" dirty="0"/>
              <a:t>Отсутствует не только значение атрибута, но и сам атрибут.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2BE951-2D1D-4C13-DB3D-57D867388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47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4F2C81-ED02-2BF6-EAA3-AA186268290A}"/>
              </a:ext>
            </a:extLst>
          </p:cNvPr>
          <p:cNvGraphicFramePr>
            <a:graphicFrameLocks/>
          </p:cNvGraphicFramePr>
          <p:nvPr/>
        </p:nvGraphicFramePr>
        <p:xfrm>
          <a:off x="539552" y="2777503"/>
          <a:ext cx="2304256" cy="1539748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</a:rPr>
                        <a:t>Not A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</a:rPr>
                        <a:t>TRUE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</a:rPr>
                        <a:t>FALSE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solidFill>
                            <a:srgbClr val="C00000"/>
                          </a:solidFill>
                          <a:effectLst/>
                        </a:rPr>
                        <a:t>Null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Объект 4">
            <a:extLst>
              <a:ext uri="{FF2B5EF4-FFF2-40B4-BE49-F238E27FC236}">
                <a16:creationId xmlns:a16="http://schemas.microsoft.com/office/drawing/2014/main" id="{26D57308-39A8-4779-0CE8-6F97E8E3ABF9}"/>
              </a:ext>
            </a:extLst>
          </p:cNvPr>
          <p:cNvGraphicFramePr>
            <a:graphicFrameLocks/>
          </p:cNvGraphicFramePr>
          <p:nvPr/>
        </p:nvGraphicFramePr>
        <p:xfrm>
          <a:off x="3131840" y="2777503"/>
          <a:ext cx="3672408" cy="384937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</a:rPr>
                        <a:t>A and 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</a:rPr>
                        <a:t>TRUE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>
                          <a:effectLst/>
                        </a:rPr>
                        <a:t>TRUE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</a:rPr>
                        <a:t>TRUE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>
                          <a:effectLst/>
                        </a:rPr>
                        <a:t>FALSE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solidFill>
                            <a:srgbClr val="C00000"/>
                          </a:solidFill>
                          <a:effectLst/>
                        </a:rPr>
                        <a:t>TRUE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ru-RU" sz="1800" dirty="0">
                        <a:solidFill>
                          <a:schemeClr val="accent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</a:rPr>
                        <a:t>FALSE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</a:rPr>
                        <a:t>FALSE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solidFill>
                            <a:srgbClr val="C00000"/>
                          </a:solidFill>
                          <a:effectLst/>
                        </a:rPr>
                        <a:t>FALSE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effectLst/>
                        </a:rPr>
                        <a:t>Null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effectLst/>
                        </a:rPr>
                        <a:t>Null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effectLst/>
                        </a:rPr>
                        <a:t>Null</a:t>
                      </a:r>
                      <a:endParaRPr lang="ru-RU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solidFill>
                            <a:srgbClr val="C00000"/>
                          </a:solidFill>
                          <a:effectLst/>
                        </a:rPr>
                        <a:t>Null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ru-RU" sz="1800" dirty="0">
                        <a:solidFill>
                          <a:schemeClr val="accent5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7391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7C697-D063-7227-2643-8DE64B87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– </a:t>
            </a:r>
            <a:r>
              <a:rPr lang="ru-RU" dirty="0"/>
              <a:t>значения в </a:t>
            </a:r>
            <a:r>
              <a:rPr lang="en-US" dirty="0"/>
              <a:t>SQL</a:t>
            </a:r>
            <a:r>
              <a:rPr lang="ru-RU" dirty="0"/>
              <a:t>: «НЕ», «И»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0A4D5B-C592-7012-FE58-7B3D612A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152128"/>
          </a:xfrm>
        </p:spPr>
        <p:txBody>
          <a:bodyPr anchor="t">
            <a:normAutofit/>
          </a:bodyPr>
          <a:lstStyle/>
          <a:p>
            <a:pPr lvl="0"/>
            <a:r>
              <a:rPr lang="ru-RU" sz="1800" dirty="0"/>
              <a:t>Отсутствующее (не заданное) значение.</a:t>
            </a:r>
          </a:p>
          <a:p>
            <a:pPr lvl="0"/>
            <a:r>
              <a:rPr lang="ru-RU" sz="1800" dirty="0" err="1"/>
              <a:t>Not</a:t>
            </a:r>
            <a:r>
              <a:rPr lang="ru-RU" sz="1800" dirty="0"/>
              <a:t> </a:t>
            </a:r>
            <a:r>
              <a:rPr lang="ru-RU" sz="1800" dirty="0" err="1"/>
              <a:t>Applicable</a:t>
            </a:r>
            <a:r>
              <a:rPr lang="ru-RU" sz="1800" dirty="0"/>
              <a:t> (N/A). </a:t>
            </a:r>
          </a:p>
          <a:p>
            <a:pPr lvl="0"/>
            <a:r>
              <a:rPr lang="ru-RU" sz="1800" dirty="0"/>
              <a:t>Отсутствует не только значение атрибута, но и сам атрибут.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2BE951-2D1D-4C13-DB3D-57D867388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48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4F2C81-ED02-2BF6-EAA3-AA186268290A}"/>
              </a:ext>
            </a:extLst>
          </p:cNvPr>
          <p:cNvGraphicFramePr>
            <a:graphicFrameLocks/>
          </p:cNvGraphicFramePr>
          <p:nvPr/>
        </p:nvGraphicFramePr>
        <p:xfrm>
          <a:off x="539552" y="2777503"/>
          <a:ext cx="2304256" cy="1539748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А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Not A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Объект 4">
            <a:extLst>
              <a:ext uri="{FF2B5EF4-FFF2-40B4-BE49-F238E27FC236}">
                <a16:creationId xmlns:a16="http://schemas.microsoft.com/office/drawing/2014/main" id="{26D57308-39A8-4779-0CE8-6F97E8E3ABF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144540" y="2777503"/>
          <a:ext cx="4752529" cy="384937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170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790">
                  <a:extLst>
                    <a:ext uri="{9D8B030D-6E8A-4147-A177-3AD203B41FA5}">
                      <a16:colId xmlns:a16="http://schemas.microsoft.com/office/drawing/2014/main" val="3924535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</a:rPr>
                        <a:t>A and 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</a:rPr>
                        <a:t>A or 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TRUE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FALSE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ru-RU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ru-RU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effectLst/>
                        </a:rPr>
                        <a:t>Null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ru-RU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3309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7C697-D063-7227-2643-8DE64B87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– </a:t>
            </a:r>
            <a:r>
              <a:rPr lang="ru-RU" dirty="0"/>
              <a:t>значения в </a:t>
            </a:r>
            <a:r>
              <a:rPr lang="en-US" dirty="0"/>
              <a:t>SQL</a:t>
            </a:r>
            <a:r>
              <a:rPr lang="ru-RU" dirty="0"/>
              <a:t>: «НЕ», «И», «ИЛИ»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0A4D5B-C592-7012-FE58-7B3D612A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152128"/>
          </a:xfrm>
        </p:spPr>
        <p:txBody>
          <a:bodyPr anchor="t">
            <a:normAutofit/>
          </a:bodyPr>
          <a:lstStyle/>
          <a:p>
            <a:pPr lvl="0"/>
            <a:r>
              <a:rPr lang="ru-RU" sz="1800" dirty="0"/>
              <a:t>Отсутствующее (не заданное) значение.</a:t>
            </a:r>
          </a:p>
          <a:p>
            <a:pPr lvl="0"/>
            <a:r>
              <a:rPr lang="ru-RU" sz="1800" dirty="0" err="1"/>
              <a:t>Not</a:t>
            </a:r>
            <a:r>
              <a:rPr lang="ru-RU" sz="1800" dirty="0"/>
              <a:t> </a:t>
            </a:r>
            <a:r>
              <a:rPr lang="ru-RU" sz="1800" dirty="0" err="1"/>
              <a:t>Applicable</a:t>
            </a:r>
            <a:r>
              <a:rPr lang="ru-RU" sz="1800" dirty="0"/>
              <a:t> (N/A). </a:t>
            </a:r>
          </a:p>
          <a:p>
            <a:pPr lvl="0"/>
            <a:r>
              <a:rPr lang="ru-RU" sz="1800" dirty="0"/>
              <a:t>Отсутствует не только значение атрибута, но и сам атрибут.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2BE951-2D1D-4C13-DB3D-57D867388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49</a:t>
            </a:fld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4F2C81-ED02-2BF6-EAA3-AA186268290A}"/>
              </a:ext>
            </a:extLst>
          </p:cNvPr>
          <p:cNvGraphicFramePr>
            <a:graphicFrameLocks/>
          </p:cNvGraphicFramePr>
          <p:nvPr/>
        </p:nvGraphicFramePr>
        <p:xfrm>
          <a:off x="539552" y="2777503"/>
          <a:ext cx="2304256" cy="1539748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А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Not A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Объект 4">
            <a:extLst>
              <a:ext uri="{FF2B5EF4-FFF2-40B4-BE49-F238E27FC236}">
                <a16:creationId xmlns:a16="http://schemas.microsoft.com/office/drawing/2014/main" id="{26D57308-39A8-4779-0CE8-6F97E8E3ABF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144540" y="2777503"/>
          <a:ext cx="4752529" cy="3849370"/>
        </p:xfrm>
        <a:graphic>
          <a:graphicData uri="http://schemas.openxmlformats.org/drawingml/2006/table">
            <a:tbl>
              <a:tblPr firstRow="1" firstCol="1" bandRow="1" bandCol="1">
                <a:tableStyleId>{7E9639D4-E3E2-4D34-9284-5A2195B3D0D7}</a:tableStyleId>
              </a:tblPr>
              <a:tblGrid>
                <a:gridCol w="1170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790">
                  <a:extLst>
                    <a:ext uri="{9D8B030D-6E8A-4147-A177-3AD203B41FA5}">
                      <a16:colId xmlns:a16="http://schemas.microsoft.com/office/drawing/2014/main" val="3924535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>
                          <a:effectLst/>
                        </a:rPr>
                        <a:t>B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</a:rPr>
                        <a:t>A and 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effectLst/>
                        </a:rPr>
                        <a:t>A or B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TRUE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FALSE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TRUE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</a:rPr>
                        <a:t>FALSE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FALSE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TRUE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FALSE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b="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b="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ru-RU" sz="1800" dirty="0" err="1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7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ru-RU" sz="1800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770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B7126-5BA8-C90A-2E82-5DE9DA45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NULL на результат запроса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7F3EA5-A70C-0B46-E2CC-A5355EE73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50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E8F1D7-3FF2-32AA-1CDE-FAA417AB26A5}"/>
              </a:ext>
            </a:extLst>
          </p:cNvPr>
          <p:cNvPicPr/>
          <p:nvPr/>
        </p:nvPicPr>
        <p:blipFill rotWithShape="1">
          <a:blip r:embed="rId2"/>
          <a:srcRect b="41885"/>
          <a:stretch/>
        </p:blipFill>
        <p:spPr bwMode="auto">
          <a:xfrm>
            <a:off x="4788024" y="1412776"/>
            <a:ext cx="4104456" cy="274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D85562-3B35-115A-3C1E-EE1036CAF805}"/>
              </a:ext>
            </a:extLst>
          </p:cNvPr>
          <p:cNvSpPr txBox="1"/>
          <p:nvPr/>
        </p:nvSpPr>
        <p:spPr>
          <a:xfrm>
            <a:off x="392998" y="1628800"/>
            <a:ext cx="61024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 окладов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full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8945"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90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B7126-5BA8-C90A-2E82-5DE9DA45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NULL на результат запроса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7F3EA5-A70C-0B46-E2CC-A5355EE73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51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3685DE-2B41-9CCC-D594-E1210E6DC2C6}"/>
              </a:ext>
            </a:extLst>
          </p:cNvPr>
          <p:cNvSpPr/>
          <p:nvPr/>
        </p:nvSpPr>
        <p:spPr>
          <a:xfrm>
            <a:off x="899592" y="2884914"/>
            <a:ext cx="29548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 окладов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315000,00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E8F1D7-3FF2-32AA-1CDE-FAA417AB26A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8024" y="1400275"/>
            <a:ext cx="4104456" cy="4729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D85562-3B35-115A-3C1E-EE1036CAF805}"/>
              </a:ext>
            </a:extLst>
          </p:cNvPr>
          <p:cNvSpPr txBox="1"/>
          <p:nvPr/>
        </p:nvSpPr>
        <p:spPr>
          <a:xfrm>
            <a:off x="392998" y="1628800"/>
            <a:ext cx="61024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 окладов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full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8945"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061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EE6D13-B805-2078-1744-73DD681D029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8026" y="1400275"/>
            <a:ext cx="4104453" cy="4729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B7126-5BA8-C90A-2E82-5DE9DA45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NULL на результат запроса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7F3EA5-A70C-0B46-E2CC-A5355EE73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3685DE-2B41-9CCC-D594-E1210E6DC2C6}"/>
              </a:ext>
            </a:extLst>
          </p:cNvPr>
          <p:cNvSpPr/>
          <p:nvPr/>
        </p:nvSpPr>
        <p:spPr>
          <a:xfrm>
            <a:off x="899592" y="2555005"/>
            <a:ext cx="29548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 окладов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315000,00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85562-3B35-115A-3C1E-EE1036CAF805}"/>
              </a:ext>
            </a:extLst>
          </p:cNvPr>
          <p:cNvSpPr txBox="1"/>
          <p:nvPr/>
        </p:nvSpPr>
        <p:spPr>
          <a:xfrm>
            <a:off x="392998" y="1628800"/>
            <a:ext cx="61024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 окладов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full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8945"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26A18C-395E-8A19-1B11-FA986C65980F}"/>
              </a:ext>
            </a:extLst>
          </p:cNvPr>
          <p:cNvSpPr/>
          <p:nvPr/>
        </p:nvSpPr>
        <p:spPr>
          <a:xfrm>
            <a:off x="339778" y="3947817"/>
            <a:ext cx="460186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 окладов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учет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NULL)'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full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on</a:t>
            </a: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solidFill>
                  <a:schemeClr val="tx1">
                    <a:lumMod val="50000"/>
                  </a:schemeClr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TEmployers.Employer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not null;</a:t>
            </a:r>
            <a:endParaRPr lang="ru-RU" sz="1600" dirty="0">
              <a:solidFill>
                <a:schemeClr val="tx1">
                  <a:lumMod val="50000"/>
                </a:schemeClr>
              </a:solidFill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ACB58C-8C83-E84A-FBED-00F124A8D061}"/>
              </a:ext>
            </a:extLst>
          </p:cNvPr>
          <p:cNvSpPr/>
          <p:nvPr/>
        </p:nvSpPr>
        <p:spPr>
          <a:xfrm>
            <a:off x="829558" y="5515714"/>
            <a:ext cx="35264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Сумма окладов (учет NULL)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</a:t>
            </a:r>
          </a:p>
          <a:p>
            <a:pPr algn="just">
              <a:spcAft>
                <a:spcPts val="0"/>
              </a:spcAft>
            </a:pPr>
            <a:r>
              <a:rPr lang="ru-RU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249000,00</a:t>
            </a:r>
            <a:endParaRPr lang="ru-RU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1C963F6-00F6-FF90-9F09-03F6EBDB9C0C}"/>
              </a:ext>
            </a:extLst>
          </p:cNvPr>
          <p:cNvSpPr/>
          <p:nvPr/>
        </p:nvSpPr>
        <p:spPr>
          <a:xfrm>
            <a:off x="282724" y="4979311"/>
            <a:ext cx="3960440" cy="291946"/>
          </a:xfrm>
          <a:prstGeom prst="roundRect">
            <a:avLst/>
          </a:prstGeom>
          <a:solidFill>
            <a:srgbClr val="FFCCCC">
              <a:alpha val="20000"/>
            </a:srgbClr>
          </a:solidFill>
          <a:ln>
            <a:noFill/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7590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C8D7B-7F02-E565-9F98-F8E43E99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</a:t>
            </a:r>
            <a:r>
              <a:rPr lang="en-US" dirty="0"/>
              <a:t>NULL </a:t>
            </a:r>
            <a:r>
              <a:rPr lang="ru-RU" dirty="0"/>
              <a:t>на вычисление выражений - сравнение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1F16F-295D-69CA-68E6-8FE80208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2CF3A-7F41-33CB-469A-88B76397410D}"/>
              </a:ext>
            </a:extLst>
          </p:cNvPr>
          <p:cNvSpPr txBox="1"/>
          <p:nvPr/>
        </p:nvSpPr>
        <p:spPr>
          <a:xfrm>
            <a:off x="683568" y="1306136"/>
            <a:ext cx="8136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NULL встречается в арифметических выражениях (+, -, *, /) и </a:t>
            </a:r>
            <a:r>
              <a:rPr lang="ru-RU" i="1" dirty="0"/>
              <a:t>большинстве </a:t>
            </a:r>
            <a:r>
              <a:rPr lang="ru-RU" dirty="0"/>
              <a:t>функций, </a:t>
            </a:r>
            <a:r>
              <a:rPr lang="ru-RU" dirty="0">
                <a:solidFill>
                  <a:srgbClr val="C00000"/>
                </a:solidFill>
              </a:rPr>
              <a:t>то они дают в результате также NULL. 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B9C4BD20-441F-8142-2227-D27A5FC94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6071654"/>
              </p:ext>
            </p:extLst>
          </p:nvPr>
        </p:nvGraphicFramePr>
        <p:xfrm>
          <a:off x="323529" y="2168124"/>
          <a:ext cx="8640960" cy="3916680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368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Область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Пример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Результат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Сравнение с </a:t>
                      </a:r>
                      <a:r>
                        <a:rPr lang="en-GB" sz="1400" dirty="0">
                          <a:effectLst/>
                        </a:rPr>
                        <a:t>NULL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select case when null is null then 'YES' else 'NO’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ru-RU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-- YES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IS NULL вернёт истину, если операнд имеет значение NULL и ложь, если он им не является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select case when 'a'  is NOT null then 'YES' else 'NO’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-- YES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IS NOT NULL действует наоборот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Null=null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Oracle</a:t>
                      </a:r>
                      <a:r>
                        <a:rPr lang="ru-RU" sz="1600" dirty="0">
                          <a:effectLst/>
                        </a:rPr>
                        <a:t>: считает два </a:t>
                      </a:r>
                      <a:r>
                        <a:rPr lang="ru-RU" sz="1600" dirty="0" err="1">
                          <a:effectLst/>
                        </a:rPr>
                        <a:t>NULLа</a:t>
                      </a:r>
                      <a:r>
                        <a:rPr lang="ru-RU" sz="1600" dirty="0">
                          <a:effectLst/>
                        </a:rPr>
                        <a:t> эквивалентными друг другу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8115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C8D7B-7F02-E565-9F98-F8E43E99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</a:t>
            </a:r>
            <a:r>
              <a:rPr lang="en-US" dirty="0"/>
              <a:t>NULL </a:t>
            </a:r>
            <a:r>
              <a:rPr lang="ru-RU" dirty="0"/>
              <a:t>на вычисление выражений - </a:t>
            </a:r>
            <a:r>
              <a:rPr lang="ru-RU" dirty="0" err="1"/>
              <a:t>сравнеение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1F16F-295D-69CA-68E6-8FE80208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2CF3A-7F41-33CB-469A-88B76397410D}"/>
              </a:ext>
            </a:extLst>
          </p:cNvPr>
          <p:cNvSpPr txBox="1"/>
          <p:nvPr/>
        </p:nvSpPr>
        <p:spPr>
          <a:xfrm>
            <a:off x="683568" y="1306136"/>
            <a:ext cx="8136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NULL встречается в арифметических выражениях (+, -, *, /) и </a:t>
            </a:r>
            <a:r>
              <a:rPr lang="ru-RU" i="1" dirty="0"/>
              <a:t>большинстве </a:t>
            </a:r>
            <a:r>
              <a:rPr lang="ru-RU" dirty="0"/>
              <a:t>функций, </a:t>
            </a:r>
            <a:r>
              <a:rPr lang="ru-RU" dirty="0">
                <a:solidFill>
                  <a:srgbClr val="C00000"/>
                </a:solidFill>
              </a:rPr>
              <a:t>то они дают в результате также NULL. </a:t>
            </a:r>
          </a:p>
        </p:txBody>
      </p:sp>
      <p:graphicFrame>
        <p:nvGraphicFramePr>
          <p:cNvPr id="8" name="Объект 10">
            <a:extLst>
              <a:ext uri="{FF2B5EF4-FFF2-40B4-BE49-F238E27FC236}">
                <a16:creationId xmlns:a16="http://schemas.microsoft.com/office/drawing/2014/main" id="{BBC86143-09D1-392E-6A45-93C5DB60A8A8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23528" y="2155899"/>
          <a:ext cx="8640959" cy="352153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201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1214">
                  <a:extLst>
                    <a:ext uri="{9D8B030D-6E8A-4147-A177-3AD203B41FA5}">
                      <a16:colId xmlns:a16="http://schemas.microsoft.com/office/drawing/2014/main" val="3197756745"/>
                    </a:ext>
                  </a:extLst>
                </a:gridCol>
              </a:tblGrid>
              <a:tr h="299291">
                <a:tc rowSpan="4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bg1"/>
                          </a:solidFill>
                          <a:effectLst/>
                        </a:rPr>
                        <a:t>Операторы IN и NOT IN</a:t>
                      </a:r>
                      <a:endParaRPr lang="ru-RU" sz="16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b="0" kern="1200" dirty="0">
                          <a:solidFill>
                            <a:schemeClr val="bg1"/>
                          </a:solidFill>
                          <a:effectLst/>
                        </a:rPr>
                        <a:t>Запрос</a:t>
                      </a:r>
                      <a:endParaRPr lang="ru-RU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b="0" kern="1200">
                          <a:solidFill>
                            <a:schemeClr val="bg1"/>
                          </a:solidFill>
                          <a:effectLst/>
                        </a:rPr>
                        <a:t>Результат</a:t>
                      </a:r>
                      <a:endParaRPr lang="ru-RU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4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</a:rPr>
                        <a:t>select * from t where a in(1,2,null); 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94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</a:rPr>
                        <a:t>select * from t where a in(1,2) or a is null; 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2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</a:rPr>
                        <a:t>select * from t where a not in(1,2,null);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49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</a:rPr>
                        <a:t>NULL и </a:t>
                      </a:r>
                      <a:r>
                        <a:rPr lang="en-US" sz="1600" kern="1200" dirty="0" err="1">
                          <a:solidFill>
                            <a:schemeClr val="bg1"/>
                          </a:solidFill>
                          <a:effectLst/>
                        </a:rPr>
                        <a:t>пустая</a:t>
                      </a: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bg1"/>
                          </a:solidFill>
                          <a:effectLst/>
                        </a:rPr>
                        <a:t>строка</a:t>
                      </a:r>
                      <a:endParaRPr lang="ru-RU" sz="16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 gridSpan="2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600" i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924">
                <a:tc rowSpan="2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bg1"/>
                          </a:solidFill>
                          <a:effectLst/>
                        </a:rPr>
                        <a:t>Математика </a:t>
                      </a:r>
                      <a:r>
                        <a:rPr lang="ru-RU" sz="1600" kern="1200" dirty="0" err="1">
                          <a:solidFill>
                            <a:schemeClr val="bg1"/>
                          </a:solidFill>
                          <a:effectLst/>
                        </a:rPr>
                        <a:t>NULLа</a:t>
                      </a:r>
                      <a:endParaRPr lang="ru-RU" sz="16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ru-RU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6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ru-RU" sz="160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ADC9D7C-EEFB-5933-35ED-0FB8105EBDF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720756" y="1952467"/>
          <a:ext cx="888238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88238">
                  <a:extLst>
                    <a:ext uri="{9D8B030D-6E8A-4147-A177-3AD203B41FA5}">
                      <a16:colId xmlns:a16="http://schemas.microsoft.com/office/drawing/2014/main" val="227747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2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64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3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04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853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E53E8E6-A32E-6A87-D208-BD84EA00DCD7}"/>
              </a:ext>
            </a:extLst>
          </p:cNvPr>
          <p:cNvSpPr txBox="1"/>
          <p:nvPr/>
        </p:nvSpPr>
        <p:spPr>
          <a:xfrm rot="16200000">
            <a:off x="7886418" y="2703518"/>
            <a:ext cx="1825724" cy="3805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Таблица </a:t>
            </a:r>
            <a:r>
              <a:rPr lang="en-US" b="1" dirty="0"/>
              <a:t>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60851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C8D7B-7F02-E565-9F98-F8E43E99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</a:t>
            </a:r>
            <a:r>
              <a:rPr lang="en-US" dirty="0"/>
              <a:t>NULL </a:t>
            </a:r>
            <a:r>
              <a:rPr lang="ru-RU" dirty="0"/>
              <a:t>на вычисление выражений - </a:t>
            </a:r>
            <a:r>
              <a:rPr lang="ru-RU" dirty="0" err="1"/>
              <a:t>сравнеение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1F16F-295D-69CA-68E6-8FE80208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2CF3A-7F41-33CB-469A-88B76397410D}"/>
              </a:ext>
            </a:extLst>
          </p:cNvPr>
          <p:cNvSpPr txBox="1"/>
          <p:nvPr/>
        </p:nvSpPr>
        <p:spPr>
          <a:xfrm>
            <a:off x="683568" y="1306136"/>
            <a:ext cx="8136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NULL встречается в арифметических выражениях (+, -, *, /) и </a:t>
            </a:r>
            <a:r>
              <a:rPr lang="ru-RU" i="1" dirty="0"/>
              <a:t>большинстве </a:t>
            </a:r>
            <a:r>
              <a:rPr lang="ru-RU" dirty="0"/>
              <a:t>функций, </a:t>
            </a:r>
            <a:r>
              <a:rPr lang="ru-RU" dirty="0">
                <a:solidFill>
                  <a:srgbClr val="C00000"/>
                </a:solidFill>
              </a:rPr>
              <a:t>то они дают в результате также NULL. </a:t>
            </a:r>
          </a:p>
        </p:txBody>
      </p:sp>
      <p:graphicFrame>
        <p:nvGraphicFramePr>
          <p:cNvPr id="8" name="Объект 10">
            <a:extLst>
              <a:ext uri="{FF2B5EF4-FFF2-40B4-BE49-F238E27FC236}">
                <a16:creationId xmlns:a16="http://schemas.microsoft.com/office/drawing/2014/main" id="{BBC86143-09D1-392E-6A45-93C5DB60A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420846"/>
              </p:ext>
            </p:extLst>
          </p:nvPr>
        </p:nvGraphicFramePr>
        <p:xfrm>
          <a:off x="323528" y="2155899"/>
          <a:ext cx="8640959" cy="378958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201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1214">
                  <a:extLst>
                    <a:ext uri="{9D8B030D-6E8A-4147-A177-3AD203B41FA5}">
                      <a16:colId xmlns:a16="http://schemas.microsoft.com/office/drawing/2014/main" val="3197756745"/>
                    </a:ext>
                  </a:extLst>
                </a:gridCol>
              </a:tblGrid>
              <a:tr h="299291">
                <a:tc rowSpan="4"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</a:rPr>
                        <a:t>Операторы IN и NOT IN</a:t>
                      </a: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b="0" kern="1200" dirty="0">
                          <a:solidFill>
                            <a:schemeClr val="bg1"/>
                          </a:solidFill>
                          <a:effectLst/>
                        </a:rPr>
                        <a:t>Запрос</a:t>
                      </a:r>
                      <a:endParaRPr lang="ru-RU" sz="14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b="0" kern="1200">
                          <a:solidFill>
                            <a:schemeClr val="bg1"/>
                          </a:solidFill>
                          <a:effectLst/>
                        </a:rPr>
                        <a:t>Результат</a:t>
                      </a:r>
                      <a:endParaRPr lang="ru-RU" sz="14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4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select * from t where a in(1,2,null); 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481" marR="50481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rgbClr val="C00000"/>
                          </a:solidFill>
                          <a:effectLst/>
                        </a:rPr>
                        <a:t>-- вернёт [1,2]</a:t>
                      </a:r>
                      <a:endParaRPr lang="ru-RU" sz="14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94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select * from t where a in(1,2) or a is null; 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481" marR="50481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rgbClr val="C00000"/>
                          </a:solidFill>
                          <a:effectLst/>
                        </a:rPr>
                        <a:t>-- вернёт [1,2,NULL]</a:t>
                      </a:r>
                      <a:endParaRPr lang="ru-RU" sz="14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endParaRPr lang="ru-RU" sz="14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2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select * from t where a not in(1,2,null);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rgbClr val="C00000"/>
                          </a:solidFill>
                          <a:effectLst/>
                        </a:rPr>
                        <a:t>-- </a:t>
                      </a:r>
                      <a:r>
                        <a:rPr lang="ru-RU" sz="1400" kern="1200" dirty="0" err="1">
                          <a:solidFill>
                            <a:srgbClr val="C00000"/>
                          </a:solidFill>
                          <a:effectLst/>
                        </a:rPr>
                        <a:t>no</a:t>
                      </a:r>
                      <a:r>
                        <a:rPr lang="ru-RU" sz="1400" kern="120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ru-RU" sz="1400" kern="1200" dirty="0" err="1">
                          <a:solidFill>
                            <a:srgbClr val="C00000"/>
                          </a:solidFill>
                          <a:effectLst/>
                        </a:rPr>
                        <a:t>rows</a:t>
                      </a:r>
                      <a:r>
                        <a:rPr lang="ru-RU" sz="1400" kern="120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ru-RU" sz="1400" kern="1200" dirty="0" err="1">
                          <a:solidFill>
                            <a:srgbClr val="C00000"/>
                          </a:solidFill>
                          <a:effectLst/>
                        </a:rPr>
                        <a:t>selected</a:t>
                      </a:r>
                      <a:r>
                        <a:rPr lang="ru-RU" sz="1400" kern="120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endParaRPr lang="ru-RU" sz="14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8347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</a:rPr>
                        <a:t>NULL и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effectLst/>
                        </a:rPr>
                        <a:t>пустая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effectLst/>
                        </a:rPr>
                        <a:t>строка</a:t>
                      </a: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 gridSpan="2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i="1" kern="1200" dirty="0">
                          <a:solidFill>
                            <a:schemeClr val="tx1"/>
                          </a:solidFill>
                          <a:effectLst/>
                        </a:rPr>
                        <a:t>Не равны, но! </a:t>
                      </a:r>
                      <a:r>
                        <a:rPr lang="en-US" sz="1400" i="1" kern="1200" dirty="0">
                          <a:solidFill>
                            <a:schemeClr val="tx1"/>
                          </a:solidFill>
                          <a:effectLst/>
                        </a:rPr>
                        <a:t>Oracle</a:t>
                      </a:r>
                      <a:r>
                        <a:rPr lang="ru-RU" sz="1400" i="1" kern="1200" dirty="0">
                          <a:solidFill>
                            <a:schemeClr val="tx1"/>
                          </a:solidFill>
                          <a:effectLst/>
                        </a:rPr>
                        <a:t> отходит от стандарта </a:t>
                      </a:r>
                      <a:r>
                        <a:rPr lang="en-US" sz="1400" i="1" kern="1200" dirty="0">
                          <a:solidFill>
                            <a:schemeClr val="tx1"/>
                          </a:solidFill>
                          <a:effectLst/>
                        </a:rPr>
                        <a:t>ANSI SQL</a:t>
                      </a:r>
                      <a:r>
                        <a:rPr lang="ru-RU" sz="1400" i="1" kern="1200" dirty="0">
                          <a:solidFill>
                            <a:schemeClr val="tx1"/>
                          </a:solidFill>
                          <a:effectLst/>
                        </a:rPr>
                        <a:t> и провозглашает эквивалентность </a:t>
                      </a:r>
                      <a:r>
                        <a:rPr lang="en-US" sz="1400" i="1" kern="1200" dirty="0">
                          <a:solidFill>
                            <a:schemeClr val="tx1"/>
                          </a:solidFill>
                          <a:effectLst/>
                        </a:rPr>
                        <a:t>NULL</a:t>
                      </a:r>
                      <a:r>
                        <a:rPr lang="ru-RU" sz="1400" i="1" kern="1200" dirty="0">
                          <a:solidFill>
                            <a:schemeClr val="tx1"/>
                          </a:solidFill>
                          <a:effectLst/>
                        </a:rPr>
                        <a:t>а и пустой строки</a:t>
                      </a:r>
                      <a:endParaRPr lang="ru-RU" sz="1400" i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 rowSpan="2"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</a:rPr>
                        <a:t>Математика </a:t>
                      </a:r>
                      <a:r>
                        <a:rPr lang="ru-RU" sz="1400" kern="1200" dirty="0" err="1">
                          <a:solidFill>
                            <a:schemeClr val="bg1"/>
                          </a:solidFill>
                          <a:effectLst/>
                        </a:rPr>
                        <a:t>NULLа</a:t>
                      </a: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null + 10,  null * 10, abs(null), sign(null) …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-- 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неизвестно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6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select null ||'AA'|| null ||'BB'|| null from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</a:rPr>
                        <a:t>***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; 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0481" marR="50481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</a:rPr>
                        <a:t>-- AABB</a:t>
                      </a:r>
                      <a:endParaRPr lang="ru-RU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вы можете добавить NULL к строке и это её не изменит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481" marR="50481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C235FC5-905B-E817-FE0D-C99CF84EA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54932"/>
              </p:ext>
            </p:extLst>
          </p:nvPr>
        </p:nvGraphicFramePr>
        <p:xfrm>
          <a:off x="7705948" y="1952467"/>
          <a:ext cx="888238" cy="190858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88238">
                  <a:extLst>
                    <a:ext uri="{9D8B030D-6E8A-4147-A177-3AD203B41FA5}">
                      <a16:colId xmlns:a16="http://schemas.microsoft.com/office/drawing/2014/main" val="227747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2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64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3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046117"/>
                  </a:ext>
                </a:extLst>
              </a:tr>
              <a:tr h="4252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853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8D670A-80A1-D669-BB3A-B72A67F46C92}"/>
              </a:ext>
            </a:extLst>
          </p:cNvPr>
          <p:cNvSpPr txBox="1"/>
          <p:nvPr/>
        </p:nvSpPr>
        <p:spPr>
          <a:xfrm rot="16200000">
            <a:off x="7871610" y="2783424"/>
            <a:ext cx="1825724" cy="3805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Таблица </a:t>
            </a:r>
            <a:r>
              <a:rPr lang="en-US" b="1" dirty="0"/>
              <a:t>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39765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FABAC-7577-499D-76B9-32EBCC93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</a:t>
            </a:r>
            <a:r>
              <a:rPr lang="ru-RU" dirty="0"/>
              <a:t>и агрегатные функции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1B1D7-96BC-67CD-D530-B2DBD8D1D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56</a:t>
            </a:fld>
            <a:endParaRPr lang="ru-RU"/>
          </a:p>
        </p:txBody>
      </p:sp>
      <p:graphicFrame>
        <p:nvGraphicFramePr>
          <p:cNvPr id="9" name="Объект 2">
            <a:extLst>
              <a:ext uri="{FF2B5EF4-FFF2-40B4-BE49-F238E27FC236}">
                <a16:creationId xmlns:a16="http://schemas.microsoft.com/office/drawing/2014/main" id="{9D405352-1291-252F-A534-9B4401DE019D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603249" y="1474402"/>
          <a:ext cx="6849071" cy="487680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3176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682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create table agg( id </a:t>
                      </a:r>
                      <a:r>
                        <a:rPr lang="en-US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int</a:t>
                      </a: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, n </a:t>
                      </a:r>
                      <a:r>
                        <a:rPr lang="en-US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int</a:t>
                      </a: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);</a:t>
                      </a:r>
                      <a:endParaRPr lang="ru-RU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insert into agg values( 1, 1 );</a:t>
                      </a:r>
                      <a:endParaRPr lang="ru-RU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insert into agg values( 2, 3 );</a:t>
                      </a:r>
                      <a:endParaRPr lang="ru-RU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insert into agg values( 3, null );</a:t>
                      </a:r>
                      <a:endParaRPr lang="ru-RU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insert into agg values( 4, 2 );</a:t>
                      </a:r>
                      <a:endParaRPr lang="ru-RU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commit;</a:t>
                      </a:r>
                      <a:endParaRPr lang="ru-RU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</a:rPr>
                        <a:t>Почти все агрегатные функции, за исключением COUNT (и то не всегда), </a:t>
                      </a: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</a:rPr>
                        <a:t>игнорируют</a:t>
                      </a:r>
                      <a:r>
                        <a:rPr lang="ru-RU" sz="1600" b="0" kern="1200" dirty="0">
                          <a:solidFill>
                            <a:schemeClr val="accent5"/>
                          </a:solidFill>
                          <a:effectLst/>
                        </a:rPr>
                        <a:t> </a:t>
                      </a: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</a:rPr>
                        <a:t>пустые значения при расчётах</a:t>
                      </a:r>
                      <a:endParaRPr lang="ru-RU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47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sum(n) from agg; 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kern="1200" dirty="0">
                          <a:solidFill>
                            <a:srgbClr val="0070C0"/>
                          </a:solidFill>
                          <a:effectLst/>
                        </a:rPr>
                        <a:t>-- 6</a:t>
                      </a:r>
                      <a:endParaRPr lang="ru-RU" sz="160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err="1">
                          <a:effectLst/>
                        </a:rPr>
                        <a:t>Пустые</a:t>
                      </a:r>
                      <a:r>
                        <a:rPr lang="en-US" sz="1600" kern="1200" dirty="0">
                          <a:effectLst/>
                        </a:rPr>
                        <a:t> </a:t>
                      </a:r>
                      <a:r>
                        <a:rPr lang="en-US" sz="1600" kern="1200" dirty="0" err="1">
                          <a:effectLst/>
                        </a:rPr>
                        <a:t>значения</a:t>
                      </a:r>
                      <a:r>
                        <a:rPr lang="en-US" sz="1600" kern="1200" dirty="0">
                          <a:effectLst/>
                        </a:rPr>
                        <a:t> </a:t>
                      </a:r>
                      <a:r>
                        <a:rPr lang="en-US" sz="1600" kern="1200" dirty="0" err="1">
                          <a:effectLst/>
                        </a:rPr>
                        <a:t>игнорируются</a:t>
                      </a:r>
                      <a:r>
                        <a:rPr lang="en-US" sz="1600" kern="1200" dirty="0">
                          <a:effectLst/>
                        </a:rPr>
                        <a:t> </a:t>
                      </a:r>
                      <a:r>
                        <a:rPr lang="en-US" sz="1600" kern="1200" dirty="0" err="1">
                          <a:effectLst/>
                        </a:rPr>
                        <a:t>агрегатами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9292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count(*)    from agg;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-- 4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count(1+1)  from agg;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-- 4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kern="1200" dirty="0">
                          <a:solidFill>
                            <a:schemeClr val="accent1"/>
                          </a:solidFill>
                          <a:effectLst/>
                        </a:rPr>
                        <a:t>С выражением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: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count(n)      from agg;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-- 3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count(id)     from agg;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-- 4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count(abs(n)) from agg;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-- 3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если используется в виде COUNT(*) или COUNT(константа), будет учитывать пустые значения. </a:t>
                      </a: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Однако, если она используется в виде COUNT(выражение), то пустые значения будут игнорироваться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881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</a:t>
                      </a:r>
                      <a:r>
                        <a:rPr lang="en-US" sz="1600" kern="1200" dirty="0" err="1">
                          <a:effectLst/>
                        </a:rPr>
                        <a:t>avg</a:t>
                      </a:r>
                      <a:r>
                        <a:rPr lang="en-US" sz="1600" kern="1200" dirty="0">
                          <a:effectLst/>
                        </a:rPr>
                        <a:t>(n)        from agg; 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-- (1 + 3 + 2) / 3 = 2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kern="1200" dirty="0">
                          <a:effectLst/>
                        </a:rPr>
                        <a:t>select </a:t>
                      </a:r>
                      <a:r>
                        <a:rPr lang="en-US" sz="1600" kern="1200" dirty="0" err="1">
                          <a:effectLst/>
                        </a:rPr>
                        <a:t>avg</a:t>
                      </a:r>
                      <a:r>
                        <a:rPr lang="en-US" sz="1600" kern="1200" dirty="0">
                          <a:effectLst/>
                        </a:rPr>
                        <a:t>(</a:t>
                      </a:r>
                      <a:r>
                        <a:rPr lang="en-US" sz="1600" kern="1200" dirty="0" err="1">
                          <a:effectLst/>
                        </a:rPr>
                        <a:t>nvl</a:t>
                      </a:r>
                      <a:r>
                        <a:rPr lang="en-US" sz="1600" kern="1200" dirty="0">
                          <a:effectLst/>
                        </a:rPr>
                        <a:t>(n,0)) from agg; 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kern="1200" dirty="0">
                          <a:solidFill>
                            <a:schemeClr val="accent1"/>
                          </a:solidFill>
                          <a:effectLst/>
                        </a:rPr>
                        <a:t>-- (1 + 3 + 0 + 2) / 4 = 1.5</a:t>
                      </a:r>
                    </a:p>
                    <a:p>
                      <a:pPr marL="0" indent="0" algn="just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kern="1200" dirty="0">
                          <a:effectLst/>
                        </a:rPr>
                        <a:t> 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Для решения подобных проблем есть стандартное решение — воспользоваться функцией NVL или ее аналогом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DD828F5-C04A-A734-80BD-DC855756E2F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506760" y="3227056"/>
          <a:ext cx="1480082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03460">
                  <a:extLst>
                    <a:ext uri="{9D8B030D-6E8A-4147-A177-3AD203B41FA5}">
                      <a16:colId xmlns:a16="http://schemas.microsoft.com/office/drawing/2014/main" val="1822623543"/>
                    </a:ext>
                  </a:extLst>
                </a:gridCol>
                <a:gridCol w="876622">
                  <a:extLst>
                    <a:ext uri="{9D8B030D-6E8A-4147-A177-3AD203B41FA5}">
                      <a16:colId xmlns:a16="http://schemas.microsoft.com/office/drawing/2014/main" val="227747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ru-RU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2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64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3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null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04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8534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4103AD6-652F-AA57-63B9-83A5D8471AC9}"/>
              </a:ext>
            </a:extLst>
          </p:cNvPr>
          <p:cNvSpPr txBox="1"/>
          <p:nvPr/>
        </p:nvSpPr>
        <p:spPr>
          <a:xfrm>
            <a:off x="7474027" y="2857724"/>
            <a:ext cx="1427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agg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7245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FABAC-7577-499D-76B9-32EBCC93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Агрегатные функции и наборы из </a:t>
            </a:r>
            <a:r>
              <a:rPr lang="en-US" dirty="0"/>
              <a:t>NULL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1B1D7-96BC-67CD-D530-B2DBD8D1D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57</a:t>
            </a:fld>
            <a:endParaRPr lang="ru-RU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DD828F5-C04A-A734-80BD-DC855756E2FF}"/>
              </a:ext>
            </a:extLst>
          </p:cNvPr>
          <p:cNvGraphicFramePr>
            <a:graphicFrameLocks noGrp="1"/>
          </p:cNvGraphicFramePr>
          <p:nvPr/>
        </p:nvGraphicFramePr>
        <p:xfrm>
          <a:off x="7506760" y="3227056"/>
          <a:ext cx="1480082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03460">
                  <a:extLst>
                    <a:ext uri="{9D8B030D-6E8A-4147-A177-3AD203B41FA5}">
                      <a16:colId xmlns:a16="http://schemas.microsoft.com/office/drawing/2014/main" val="1822623543"/>
                    </a:ext>
                  </a:extLst>
                </a:gridCol>
                <a:gridCol w="876622">
                  <a:extLst>
                    <a:ext uri="{9D8B030D-6E8A-4147-A177-3AD203B41FA5}">
                      <a16:colId xmlns:a16="http://schemas.microsoft.com/office/drawing/2014/main" val="227747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ru-RU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2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64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3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null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04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8534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4103AD6-652F-AA57-63B9-83A5D8471AC9}"/>
              </a:ext>
            </a:extLst>
          </p:cNvPr>
          <p:cNvSpPr txBox="1"/>
          <p:nvPr/>
        </p:nvSpPr>
        <p:spPr>
          <a:xfrm>
            <a:off x="7474027" y="2857724"/>
            <a:ext cx="1427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agg</a:t>
            </a:r>
            <a:endParaRPr lang="ru-RU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22114769-A174-FE01-CB82-001791BDE062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95536" y="1501140"/>
          <a:ext cx="6552729" cy="473964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3910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481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kern="1200" dirty="0">
                          <a:solidFill>
                            <a:schemeClr val="accent1"/>
                          </a:solidFill>
                          <a:effectLst/>
                        </a:rPr>
                        <a:t>Набор данных только из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NULL</a:t>
                      </a:r>
                      <a:r>
                        <a:rPr lang="ru-RU" sz="1600" kern="1200" dirty="0" err="1">
                          <a:solidFill>
                            <a:schemeClr val="accent1"/>
                          </a:solidFill>
                          <a:effectLst/>
                        </a:rPr>
                        <a:t>ов</a:t>
                      </a:r>
                      <a:r>
                        <a:rPr lang="ru-RU" sz="1600" kern="1200" dirty="0">
                          <a:solidFill>
                            <a:schemeClr val="accent1"/>
                          </a:solidFill>
                          <a:effectLst/>
                        </a:rPr>
                        <a:t>:</a:t>
                      </a: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select sum(n) from agg 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where n is null;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select </a:t>
                      </a:r>
                      <a:r>
                        <a:rPr lang="en-US" sz="1600" kern="1200" dirty="0" err="1">
                          <a:effectLst/>
                        </a:rPr>
                        <a:t>avg</a:t>
                      </a:r>
                      <a:r>
                        <a:rPr lang="en-US" sz="1600" kern="1200" dirty="0">
                          <a:effectLst/>
                        </a:rPr>
                        <a:t>(n) 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from agg where n is null; </a:t>
                      </a: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-- НЕИЗВЕСТНО</a:t>
                      </a:r>
                      <a:endParaRPr lang="ru-RU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614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select count(n) from agg where n is null</a:t>
                      </a:r>
                      <a:r>
                        <a:rPr lang="en-GB" sz="1600" kern="1200" dirty="0">
                          <a:effectLst/>
                        </a:rPr>
                        <a:t>;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-- 0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81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err="1">
                          <a:solidFill>
                            <a:schemeClr val="accent1"/>
                          </a:solidFill>
                          <a:effectLst/>
                        </a:rPr>
                        <a:t>Пустой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accent1"/>
                          </a:solidFill>
                          <a:effectLst/>
                        </a:rPr>
                        <a:t>набор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accent1"/>
                          </a:solidFill>
                          <a:effectLst/>
                        </a:rPr>
                        <a:t>данных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</a:rPr>
                        <a:t>:</a:t>
                      </a:r>
                      <a:endParaRPr lang="ru-RU" sz="1600" kern="12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select sum(n) from agg where 1 = 0; 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select avg(n) from agg where 1 = 0; </a:t>
                      </a: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effectLst/>
                        </a:rPr>
                        <a:t>-- НЕИЗВЕСТНО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30"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select count(n)        </a:t>
                      </a:r>
                      <a:endParaRPr lang="ru-RU" sz="1600" kern="1200" dirty="0">
                        <a:effectLst/>
                      </a:endParaRPr>
                    </a:p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from agg where 1 = 0;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-- 0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15" marR="3181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941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345CD-80DD-B3CD-B5DA-8B10FEC2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AF1245-96AB-A79E-E10A-76B4B96C7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14DBC9-4E71-FFF5-2A21-A2FACC6C399E}"/>
              </a:ext>
            </a:extLst>
          </p:cNvPr>
          <p:cNvSpPr/>
          <p:nvPr/>
        </p:nvSpPr>
        <p:spPr>
          <a:xfrm>
            <a:off x="692285" y="1315857"/>
            <a:ext cx="722206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COALESCE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Employer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1600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N'На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должности нет работника'</a:t>
            </a:r>
            <a:r>
              <a:rPr lang="ru-RU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rgbClr val="80808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N'Работник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FF00FF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COALESCE</a:t>
            </a:r>
            <a:r>
              <a:rPr lang="ru-RU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ru-RU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ru-RU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1600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N'Должность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не указана'</a:t>
            </a:r>
            <a:r>
              <a:rPr lang="ru-RU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N'Должность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COALESCE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Oklad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0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</a:t>
            </a:r>
            <a:r>
              <a:rPr lang="ru-RU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Оклад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full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sz="1600" dirty="0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TEmployers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TDoljnost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highlight>
                  <a:srgbClr val="FFFFFF"/>
                </a:highlight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Doljnost</a:t>
            </a:r>
            <a:endParaRPr lang="ru-RU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A892BC-08FD-7A5A-9A03-705D89823C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901" y="3324165"/>
            <a:ext cx="4487450" cy="32772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7051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1408C-750F-C623-0D8A-0C593402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проектированию с учетом </a:t>
            </a:r>
            <a:r>
              <a:rPr lang="en-US" dirty="0"/>
              <a:t>NULL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EEF98-BC02-05DC-7875-ACB911B99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Определять </a:t>
            </a:r>
            <a:r>
              <a:rPr lang="ru-RU" b="1" dirty="0"/>
              <a:t>все </a:t>
            </a:r>
            <a:r>
              <a:rPr lang="ru-RU" dirty="0"/>
              <a:t>ваши базовые таблицы с ограничениями NOT NULL во всех столбцах. </a:t>
            </a:r>
          </a:p>
          <a:p>
            <a:r>
              <a:rPr lang="ru-RU" dirty="0"/>
              <a:t>Значения NULL недопустимы в столбцах </a:t>
            </a:r>
            <a:r>
              <a:rPr lang="ru-RU" b="1" dirty="0"/>
              <a:t>первичного ключа</a:t>
            </a:r>
            <a:r>
              <a:rPr lang="ru-RU" dirty="0"/>
              <a:t>. </a:t>
            </a:r>
          </a:p>
          <a:p>
            <a:r>
              <a:rPr lang="ru-RU" dirty="0"/>
              <a:t>NULL-значений лучше избегать и во </a:t>
            </a:r>
            <a:r>
              <a:rPr lang="ru-RU" b="1" dirty="0"/>
              <a:t>внешних ключах</a:t>
            </a:r>
            <a:r>
              <a:rPr lang="ru-RU" dirty="0"/>
              <a:t>. </a:t>
            </a:r>
          </a:p>
          <a:p>
            <a:pPr lvl="1"/>
            <a:r>
              <a:rPr lang="ru-RU" i="1" dirty="0"/>
              <a:t>Например,</a:t>
            </a:r>
            <a:r>
              <a:rPr lang="ru-RU" dirty="0"/>
              <a:t> если вы работаете с кодами номеров деталей в реестре и таблица </a:t>
            </a:r>
            <a:r>
              <a:rPr lang="ru-RU" dirty="0" err="1"/>
              <a:t>Orders</a:t>
            </a:r>
            <a:r>
              <a:rPr lang="ru-RU" dirty="0"/>
              <a:t> ссылается на эти коды как на внешний ключ, вы не сможете использовать список деталей, содержащий значения NULL.</a:t>
            </a:r>
          </a:p>
          <a:p>
            <a:r>
              <a:rPr lang="ru-RU" dirty="0"/>
              <a:t>Значения NULL недопустимы в </a:t>
            </a:r>
            <a:r>
              <a:rPr lang="ru-RU" i="1" dirty="0"/>
              <a:t>полных системах кодирования</a:t>
            </a:r>
            <a:r>
              <a:rPr lang="ru-RU" dirty="0"/>
              <a:t>. </a:t>
            </a:r>
          </a:p>
          <a:p>
            <a:r>
              <a:rPr lang="ru-RU" dirty="0"/>
              <a:t>Значения по умолчанию </a:t>
            </a:r>
            <a:r>
              <a:rPr lang="ru-RU" b="1" i="1" dirty="0"/>
              <a:t>по возможности </a:t>
            </a:r>
            <a:r>
              <a:rPr lang="ru-RU" dirty="0"/>
              <a:t>не должны быть NULL. </a:t>
            </a:r>
          </a:p>
          <a:p>
            <a:pPr lvl="1"/>
            <a:r>
              <a:rPr lang="ru-RU" dirty="0"/>
              <a:t>Если вы знаете значения по умолчанию для количественных параметров, с помощью конструкции DEFAULT их можно автоматически вводить в столбец</a:t>
            </a:r>
          </a:p>
          <a:p>
            <a:pPr lvl="1"/>
            <a:r>
              <a:rPr lang="ru-RU" dirty="0"/>
              <a:t>Показать, что некоторые значения отсутствуют, можно соответственно спроектировав системы кодирования</a:t>
            </a:r>
          </a:p>
          <a:p>
            <a:pPr lvl="1"/>
            <a:r>
              <a:rPr lang="ru-RU" dirty="0"/>
              <a:t>При работе с именами для обозначения отсутствующих значений лучше использовать специальную фиктивную строку, а не NULL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3378C5-C502-28C2-54A4-95D8290CC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4622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583E6-B82D-5320-1664-1561FF92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применяются </a:t>
            </a:r>
            <a:r>
              <a:rPr lang="en-US" dirty="0"/>
              <a:t>NULL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411069-111C-E0AD-942B-5F01F3F04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Неизвестные в какой-то момент времени значения</a:t>
            </a:r>
          </a:p>
          <a:p>
            <a:pPr lvl="2"/>
            <a:r>
              <a:rPr lang="ru-RU" dirty="0">
                <a:solidFill>
                  <a:schemeClr val="accent1"/>
                </a:solidFill>
              </a:rPr>
              <a:t>Между нулем и неизвестной величиной есть разница, аналогичная различию между пустым бензобаком и отсутствием автомобиля вообще. </a:t>
            </a:r>
            <a:endParaRPr lang="en-GB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Отрицательные числа также не подходят для обозначения </a:t>
            </a:r>
            <a:r>
              <a:rPr lang="en-US" dirty="0"/>
              <a:t>	</a:t>
            </a:r>
            <a:r>
              <a:rPr lang="ru-RU" dirty="0"/>
              <a:t>отсутствующих значений </a:t>
            </a:r>
            <a:endParaRPr lang="en-US" dirty="0"/>
          </a:p>
          <a:p>
            <a:pPr lvl="2"/>
            <a:r>
              <a:rPr lang="en-US" dirty="0">
                <a:solidFill>
                  <a:schemeClr val="accent1"/>
                </a:solidFill>
              </a:rPr>
              <a:t>C</a:t>
            </a:r>
            <a:r>
              <a:rPr lang="ru-RU" dirty="0">
                <a:solidFill>
                  <a:schemeClr val="accent1"/>
                </a:solidFill>
              </a:rPr>
              <a:t>лишком усложняет расчеты. 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dirty="0"/>
              <a:t>Может быть необходимо использовать NULL </a:t>
            </a:r>
            <a:r>
              <a:rPr lang="ru-RU" b="1" dirty="0"/>
              <a:t>в полях дат</a:t>
            </a:r>
            <a:r>
              <a:rPr lang="ru-RU" dirty="0"/>
              <a:t>, если неудобно вводить дату по умолчанию. </a:t>
            </a:r>
            <a:br>
              <a:rPr lang="ru-RU" dirty="0"/>
            </a:br>
            <a:r>
              <a:rPr lang="ru-RU" dirty="0">
                <a:solidFill>
                  <a:schemeClr val="accent1"/>
                </a:solidFill>
              </a:rPr>
              <a:t>Например:</a:t>
            </a:r>
          </a:p>
          <a:p>
            <a:pPr lvl="1"/>
            <a:r>
              <a:rPr lang="ru-RU" i="1" dirty="0"/>
              <a:t>не имеет смысла </a:t>
            </a:r>
            <a:r>
              <a:rPr lang="ru-RU" dirty="0"/>
              <a:t>вводить дату по умолчанию в поле дня рождения; </a:t>
            </a:r>
          </a:p>
          <a:p>
            <a:pPr lvl="1"/>
            <a:r>
              <a:rPr lang="ru-RU" dirty="0"/>
              <a:t>если </a:t>
            </a:r>
            <a:r>
              <a:rPr lang="ru-RU" i="1" dirty="0"/>
              <a:t>гарантия не имеет срока давности</a:t>
            </a:r>
            <a:r>
              <a:rPr lang="ru-RU" dirty="0"/>
              <a:t>, NULL можно считать </a:t>
            </a:r>
            <a:r>
              <a:rPr lang="en-US" dirty="0"/>
              <a:t>“</a:t>
            </a:r>
            <a:r>
              <a:rPr lang="ru-RU" dirty="0"/>
              <a:t>символом вечности</a:t>
            </a:r>
            <a:r>
              <a:rPr lang="en-US" dirty="0"/>
              <a:t>”</a:t>
            </a:r>
            <a:r>
              <a:rPr lang="ru-RU" dirty="0"/>
              <a:t>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755AC5-E0EF-8A78-4517-ED003B5BC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078434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12009</TotalTime>
  <Words>3831</Words>
  <Application>Microsoft Office PowerPoint</Application>
  <PresentationFormat>Экран (4:3)</PresentationFormat>
  <Paragraphs>830</Paragraphs>
  <Slides>60</Slides>
  <Notes>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9" baseType="lpstr">
      <vt:lpstr>Arial</vt:lpstr>
      <vt:lpstr>Calibri</vt:lpstr>
      <vt:lpstr>Cambria Math</vt:lpstr>
      <vt:lpstr>Courier New</vt:lpstr>
      <vt:lpstr>PT Sans</vt:lpstr>
      <vt:lpstr>Symbol</vt:lpstr>
      <vt:lpstr>Times New Roman</vt:lpstr>
      <vt:lpstr>SCC</vt:lpstr>
      <vt:lpstr>Equation.DSMT4</vt:lpstr>
      <vt:lpstr>СУБД для специалиста  по информационной безопасности</vt:lpstr>
      <vt:lpstr>Темы лекции</vt:lpstr>
      <vt:lpstr>Манипулирование данными в реляционном сервере</vt:lpstr>
      <vt:lpstr>Математические основы</vt:lpstr>
      <vt:lpstr>Операции реляционной алгебры</vt:lpstr>
      <vt:lpstr>Объединение (UNION)</vt:lpstr>
      <vt:lpstr>Пересечение (INTERSECT)</vt:lpstr>
      <vt:lpstr>Разность (MINUS)</vt:lpstr>
      <vt:lpstr>Декартово произведение в теории множеств</vt:lpstr>
      <vt:lpstr>Расширенное декартово произведение (TIMES)</vt:lpstr>
      <vt:lpstr>Эквивалентность отношений</vt:lpstr>
      <vt:lpstr>Выборка (WHERE)</vt:lpstr>
      <vt:lpstr>Проекция (PROJECT)</vt:lpstr>
      <vt:lpstr>Соединениe (JOIN)</vt:lpstr>
      <vt:lpstr>Естественное соединение (NATURAL JOIN)</vt:lpstr>
      <vt:lpstr>Другие виды соединений – LEFT JOIN</vt:lpstr>
      <vt:lpstr>Другие виды соединений – RIGHT JOIN</vt:lpstr>
      <vt:lpstr>Деление (DIVIDE BY)</vt:lpstr>
      <vt:lpstr>Деление (DIVIDE BY) – Пример 1</vt:lpstr>
      <vt:lpstr>Деление (DIVIDE BY) – Пример 1</vt:lpstr>
      <vt:lpstr>Деление (DIVIDE BY) – Пример 2</vt:lpstr>
      <vt:lpstr>Деление (DIVIDE BY) – Пример 2</vt:lpstr>
      <vt:lpstr>Реляционная алгебра - Дополнительные операции</vt:lpstr>
      <vt:lpstr>Реляционная алгебра - Свойства операций</vt:lpstr>
      <vt:lpstr>Реляционная алгебра – практическое использование</vt:lpstr>
      <vt:lpstr>Реляционное исчисление – исчисление кортежей</vt:lpstr>
      <vt:lpstr>Реляционная математика в СУБД</vt:lpstr>
      <vt:lpstr>Основы построения  SQL - запросов</vt:lpstr>
      <vt:lpstr>История SQL</vt:lpstr>
      <vt:lpstr>Запрос Select</vt:lpstr>
      <vt:lpstr>Дубликаты</vt:lpstr>
      <vt:lpstr>Группировки и группировки с условием</vt:lpstr>
      <vt:lpstr>Запросы с агрегированием</vt:lpstr>
      <vt:lpstr>Запросы с соединением – Естественное соединение</vt:lpstr>
      <vt:lpstr>Запросы с соединением – Естественное соединение</vt:lpstr>
      <vt:lpstr>Запросы с соединением - семантика</vt:lpstr>
      <vt:lpstr>Запросы с соединением – Полное соединение</vt:lpstr>
      <vt:lpstr>Запросы с соединением – Левое соединение</vt:lpstr>
      <vt:lpstr>Запросы с соединением – Правое соединение</vt:lpstr>
      <vt:lpstr>Вложенные подзапросы и UNION </vt:lpstr>
      <vt:lpstr>Вычитание </vt:lpstr>
      <vt:lpstr>Особенности SELECT - кавычки</vt:lpstr>
      <vt:lpstr>Особенности SELECT - множества</vt:lpstr>
      <vt:lpstr>Реляционные переменные («псевдо»-таблицы) в СУБД</vt:lpstr>
      <vt:lpstr>Трехзначная логика в СУБД</vt:lpstr>
      <vt:lpstr>NULL – значения в SQL: использование</vt:lpstr>
      <vt:lpstr>NULL – значения в SQL: основы логики</vt:lpstr>
      <vt:lpstr>NULL – значения в SQL: «НЕ», «И»</vt:lpstr>
      <vt:lpstr>NULL – значения в SQL: «НЕ», «И», «ИЛИ»</vt:lpstr>
      <vt:lpstr>Влияние NULL на результат запроса</vt:lpstr>
      <vt:lpstr>Влияние NULL на результат запроса</vt:lpstr>
      <vt:lpstr>Влияние NULL на результат запроса</vt:lpstr>
      <vt:lpstr>Влияние NULL на вычисление выражений - сравнение</vt:lpstr>
      <vt:lpstr>Влияние NULL на вычисление выражений - сравнеение</vt:lpstr>
      <vt:lpstr>Влияние NULL на вычисление выражений - сравнеение</vt:lpstr>
      <vt:lpstr>NULL и агрегатные функции</vt:lpstr>
      <vt:lpstr>Агрегатные функции и наборы из NULL</vt:lpstr>
      <vt:lpstr>Подстановки</vt:lpstr>
      <vt:lpstr>Рекомендации по проектированию с учетом NULL</vt:lpstr>
      <vt:lpstr>Когда применяются NULL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765</cp:revision>
  <dcterms:created xsi:type="dcterms:W3CDTF">2018-04-03T06:05:28Z</dcterms:created>
  <dcterms:modified xsi:type="dcterms:W3CDTF">2024-02-20T11:30:32Z</dcterms:modified>
</cp:coreProperties>
</file>