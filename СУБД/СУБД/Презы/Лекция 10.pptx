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74"/>
  </p:notesMasterIdLst>
  <p:sldIdLst>
    <p:sldId id="381" r:id="rId2"/>
    <p:sldId id="387" r:id="rId3"/>
    <p:sldId id="490" r:id="rId4"/>
    <p:sldId id="491" r:id="rId5"/>
    <p:sldId id="492" r:id="rId6"/>
    <p:sldId id="493" r:id="rId7"/>
    <p:sldId id="422" r:id="rId8"/>
    <p:sldId id="468" r:id="rId9"/>
    <p:sldId id="469" r:id="rId10"/>
    <p:sldId id="470" r:id="rId11"/>
    <p:sldId id="423" r:id="rId12"/>
    <p:sldId id="425" r:id="rId13"/>
    <p:sldId id="426" r:id="rId14"/>
    <p:sldId id="427" r:id="rId15"/>
    <p:sldId id="428" r:id="rId16"/>
    <p:sldId id="456" r:id="rId17"/>
    <p:sldId id="429" r:id="rId18"/>
    <p:sldId id="457" r:id="rId19"/>
    <p:sldId id="458" r:id="rId20"/>
    <p:sldId id="459" r:id="rId21"/>
    <p:sldId id="460" r:id="rId22"/>
    <p:sldId id="461" r:id="rId23"/>
    <p:sldId id="462" r:id="rId24"/>
    <p:sldId id="463" r:id="rId25"/>
    <p:sldId id="464" r:id="rId26"/>
    <p:sldId id="465" r:id="rId27"/>
    <p:sldId id="466" r:id="rId28"/>
    <p:sldId id="472" r:id="rId29"/>
    <p:sldId id="473" r:id="rId30"/>
    <p:sldId id="471" r:id="rId31"/>
    <p:sldId id="494" r:id="rId32"/>
    <p:sldId id="495" r:id="rId33"/>
    <p:sldId id="496" r:id="rId34"/>
    <p:sldId id="497" r:id="rId35"/>
    <p:sldId id="498" r:id="rId36"/>
    <p:sldId id="499" r:id="rId37"/>
    <p:sldId id="500" r:id="rId38"/>
    <p:sldId id="501" r:id="rId39"/>
    <p:sldId id="502" r:id="rId40"/>
    <p:sldId id="503" r:id="rId41"/>
    <p:sldId id="504" r:id="rId42"/>
    <p:sldId id="505" r:id="rId43"/>
    <p:sldId id="506" r:id="rId44"/>
    <p:sldId id="507" r:id="rId45"/>
    <p:sldId id="474" r:id="rId46"/>
    <p:sldId id="516" r:id="rId47"/>
    <p:sldId id="517" r:id="rId48"/>
    <p:sldId id="518" r:id="rId49"/>
    <p:sldId id="519" r:id="rId50"/>
    <p:sldId id="520" r:id="rId51"/>
    <p:sldId id="521" r:id="rId52"/>
    <p:sldId id="522" r:id="rId53"/>
    <p:sldId id="523" r:id="rId54"/>
    <p:sldId id="489" r:id="rId55"/>
    <p:sldId id="515" r:id="rId56"/>
    <p:sldId id="509" r:id="rId57"/>
    <p:sldId id="477" r:id="rId58"/>
    <p:sldId id="481" r:id="rId59"/>
    <p:sldId id="482" r:id="rId60"/>
    <p:sldId id="485" r:id="rId61"/>
    <p:sldId id="484" r:id="rId62"/>
    <p:sldId id="483" r:id="rId63"/>
    <p:sldId id="486" r:id="rId64"/>
    <p:sldId id="487" r:id="rId65"/>
    <p:sldId id="488" r:id="rId66"/>
    <p:sldId id="508" r:id="rId67"/>
    <p:sldId id="510" r:id="rId68"/>
    <p:sldId id="511" r:id="rId69"/>
    <p:sldId id="512" r:id="rId70"/>
    <p:sldId id="513" r:id="rId71"/>
    <p:sldId id="514" r:id="rId72"/>
    <p:sldId id="476" r:id="rId7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рия Полтавцева" initials="МП" lastIdx="2" clrIdx="0">
    <p:extLst>
      <p:ext uri="{19B8F6BF-5375-455C-9EA6-DF929625EA0E}">
        <p15:presenceInfo xmlns:p15="http://schemas.microsoft.com/office/powerpoint/2012/main" userId="30c9d96cf1c6a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369461"/>
    <a:srgbClr val="DB3519"/>
    <a:srgbClr val="FFCCCC"/>
    <a:srgbClr val="F4AC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1834" autoAdjust="0"/>
  </p:normalViewPr>
  <p:slideViewPr>
    <p:cSldViewPr snapToObjects="1">
      <p:cViewPr varScale="1">
        <p:scale>
          <a:sx n="102" d="100"/>
          <a:sy n="102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AFFA48-8607-4707-BB18-CF413BACD2EA}" type="datetimeFigureOut">
              <a:rPr lang="ru-RU" smtClean="0"/>
              <a:pPr/>
              <a:t>16.04.2024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E5D1D-64DB-439F-9BA6-342FDC2CD81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69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3445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088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8573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1986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45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5614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55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3275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015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809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5303" y="1307734"/>
            <a:ext cx="9171156" cy="384094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-15302" y="0"/>
            <a:ext cx="9171156" cy="1379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93304" y="2384884"/>
            <a:ext cx="7772400" cy="1899643"/>
          </a:xfrm>
          <a:solidFill>
            <a:srgbClr val="FFFFFF">
              <a:alpha val="69804"/>
            </a:srgbClr>
          </a:solidFill>
        </p:spPr>
        <p:txBody>
          <a:bodyPr lIns="144000" rIns="144000">
            <a:normAutofit/>
          </a:bodyPr>
          <a:lstStyle>
            <a:lvl1pPr>
              <a:defRPr sz="3200" b="1" cap="small" baseline="0">
                <a:solidFill>
                  <a:schemeClr val="accent1"/>
                </a:solidFill>
                <a:latin typeface="PT Sans" panose="020B0503020203020204" pitchFamily="34" charset="-52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815916" y="5337212"/>
            <a:ext cx="5072608" cy="1332148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2"/>
                </a:solidFill>
                <a:latin typeface="PT Sans" panose="020B0503020203020204" pitchFamily="34" charset="-5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-15302" y="1307734"/>
            <a:ext cx="9171156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-15304" y="5080882"/>
            <a:ext cx="9171157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3" y="404664"/>
            <a:ext cx="2333625" cy="62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5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tIns="108000" bIns="108000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47525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00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00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495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50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423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7504" y="404664"/>
            <a:ext cx="8928992" cy="18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85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66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56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381000" y="1219200"/>
            <a:ext cx="4210050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743450" y="1219200"/>
            <a:ext cx="4211638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6507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43608" y="1484784"/>
            <a:ext cx="7770041" cy="4896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43608" y="1484784"/>
            <a:ext cx="7082705" cy="475252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12" cstate="screen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717" y="427403"/>
            <a:ext cx="752523" cy="69365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108000" rIns="91440" bIns="10800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251520" y="1196752"/>
            <a:ext cx="8712968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8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000" b="0" i="0" kern="1200" cap="sm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11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ru-RU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СУБД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специалиста </a:t>
            </a:r>
            <a:b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информационной безопасности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8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D47EE-59AD-3635-4ABD-37F79EA6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Темы лекции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C114BF-7CF3-7B70-F7DF-B77ECF540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5112568"/>
          </a:xfrm>
        </p:spPr>
        <p:txBody>
          <a:bodyPr anchor="t">
            <a:normAutofit/>
          </a:bodyPr>
          <a:lstStyle/>
          <a:p>
            <a:r>
              <a:rPr lang="ru-RU" dirty="0" smtClean="0"/>
              <a:t>Физические планы выполнения запросов</a:t>
            </a:r>
            <a:endParaRPr lang="ru-RU" dirty="0"/>
          </a:p>
          <a:p>
            <a:r>
              <a:rPr lang="ru-RU" dirty="0"/>
              <a:t>Оценка планов выполнения запросы</a:t>
            </a:r>
          </a:p>
          <a:p>
            <a:pPr lvl="1"/>
            <a:r>
              <a:rPr lang="ru-RU" dirty="0"/>
              <a:t>Оптимизация на основе синтаксиса</a:t>
            </a:r>
          </a:p>
          <a:p>
            <a:pPr lvl="1"/>
            <a:r>
              <a:rPr lang="ru-RU" dirty="0"/>
              <a:t>Ранги путей доступа</a:t>
            </a:r>
          </a:p>
          <a:p>
            <a:pPr lvl="1"/>
            <a:r>
              <a:rPr lang="ru-RU" dirty="0"/>
              <a:t>Оптимизация на основе стоимости</a:t>
            </a:r>
          </a:p>
          <a:p>
            <a:pPr lvl="1"/>
            <a:r>
              <a:rPr lang="ru-RU" dirty="0"/>
              <a:t>Характеристики данных и статистические показатели</a:t>
            </a:r>
          </a:p>
          <a:p>
            <a:r>
              <a:rPr lang="ru-RU" dirty="0" smtClean="0"/>
              <a:t>Оптимизация запросов в </a:t>
            </a:r>
            <a:r>
              <a:rPr lang="en-US" dirty="0" smtClean="0"/>
              <a:t>PostgreSQL</a:t>
            </a:r>
            <a:endParaRPr lang="ru-RU" dirty="0" smtClean="0"/>
          </a:p>
          <a:p>
            <a:r>
              <a:rPr lang="ru-RU" dirty="0" smtClean="0">
                <a:solidFill>
                  <a:srgbClr val="7030A0"/>
                </a:solidFill>
              </a:rPr>
              <a:t>Параллельное </a:t>
            </a:r>
            <a:r>
              <a:rPr lang="ru-RU" dirty="0">
                <a:solidFill>
                  <a:srgbClr val="7030A0"/>
                </a:solidFill>
              </a:rPr>
              <a:t>выполнение и производительность</a:t>
            </a:r>
          </a:p>
          <a:p>
            <a:pPr lvl="1"/>
            <a:r>
              <a:rPr lang="ru-RU" dirty="0">
                <a:solidFill>
                  <a:srgbClr val="7030A0"/>
                </a:solidFill>
              </a:rPr>
              <a:t>Виды параллелизма в СУБД</a:t>
            </a:r>
          </a:p>
          <a:p>
            <a:pPr lvl="1"/>
            <a:r>
              <a:rPr lang="ru-RU" dirty="0">
                <a:solidFill>
                  <a:srgbClr val="7030A0"/>
                </a:solidFill>
              </a:rPr>
              <a:t>Разделение запроса</a:t>
            </a:r>
          </a:p>
          <a:p>
            <a:pPr lvl="1"/>
            <a:r>
              <a:rPr lang="ru-RU" dirty="0">
                <a:solidFill>
                  <a:srgbClr val="7030A0"/>
                </a:solidFill>
              </a:rPr>
              <a:t>Распределенная оптимизация</a:t>
            </a:r>
          </a:p>
          <a:p>
            <a:pPr lvl="1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7EC5E5-F5A9-C307-2886-0AAA6331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4563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Физическая оптимизация 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запросов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19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FB6E44-F383-02D3-1135-FADA57282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построения физического плана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7C8876-69F8-5F6E-B420-2A8F24EF9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4935332"/>
          </a:xfrm>
        </p:spPr>
        <p:txBody>
          <a:bodyPr>
            <a:normAutofit/>
          </a:bodyPr>
          <a:lstStyle/>
          <a:p>
            <a:pPr lvl="0">
              <a:buFont typeface="+mj-lt"/>
              <a:buAutoNum type="arabicPeriod"/>
            </a:pPr>
            <a:r>
              <a:rPr lang="ru-RU" sz="2400" dirty="0"/>
              <a:t>Физические планы </a:t>
            </a:r>
            <a:r>
              <a:rPr lang="ru-RU" sz="2400" i="1" dirty="0"/>
              <a:t>в основном </a:t>
            </a:r>
            <a:r>
              <a:rPr lang="ru-RU" sz="2400" dirty="0"/>
              <a:t>отличаются следующим:</a:t>
            </a:r>
          </a:p>
          <a:p>
            <a:pPr lvl="1"/>
            <a:r>
              <a:rPr lang="ru-RU" sz="2000" dirty="0"/>
              <a:t>методом выбора записей из исходных таблиц;</a:t>
            </a:r>
          </a:p>
          <a:p>
            <a:pPr lvl="1"/>
            <a:r>
              <a:rPr lang="ru-RU" sz="2000" dirty="0"/>
              <a:t>методом реализации подзапросов  ;</a:t>
            </a:r>
          </a:p>
          <a:p>
            <a:pPr lvl="1"/>
            <a:r>
              <a:rPr lang="ru-RU" sz="2000" dirty="0"/>
              <a:t>порядком соединения таблиц;</a:t>
            </a:r>
          </a:p>
          <a:p>
            <a:pPr lvl="1"/>
            <a:r>
              <a:rPr lang="ru-RU" sz="2000" dirty="0"/>
              <a:t>методом соединения таблиц, т.е. методом реализации операции естественного соединения  </a:t>
            </a:r>
          </a:p>
          <a:p>
            <a:pPr lvl="0">
              <a:buFont typeface="+mj-lt"/>
              <a:buAutoNum type="arabicPeriod"/>
            </a:pPr>
            <a:endParaRPr lang="ru-RU" sz="2400" dirty="0"/>
          </a:p>
          <a:p>
            <a:pPr lvl="0">
              <a:buFont typeface="+mj-lt"/>
              <a:buAutoNum type="arabicPeriod"/>
            </a:pPr>
            <a:r>
              <a:rPr lang="ru-RU" sz="2400" dirty="0"/>
              <a:t>Для каждого физического плана </a:t>
            </a:r>
            <a:r>
              <a:rPr lang="ru-RU" sz="2400" b="1" dirty="0"/>
              <a:t>рассчитывается стоимость его выполнения</a:t>
            </a:r>
            <a:r>
              <a:rPr lang="ru-RU" sz="2400" dirty="0"/>
              <a:t>. Выбирается физический план с наименьшей стоимостью.</a:t>
            </a:r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9E6778-54C7-8815-D8EC-FA4EC7AD5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435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E9D12A-E0EC-50D0-2626-988333D54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Сопоставление физического и логического планов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B9C83A-4850-C358-7BE5-ABB3E87D3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</a:t>
            </a:fld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0CB55C02-5307-F682-11F6-A4971B66085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02127" y="1480420"/>
          <a:ext cx="8374329" cy="4939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r:id="rId3" imgW="5472113" imgH="3771900" progId="Visio.Drawing.6">
                  <p:embed/>
                </p:oleObj>
              </mc:Choice>
              <mc:Fallback>
                <p:oleObj r:id="rId3" imgW="5472113" imgH="3771900" progId="Visio.Drawing.6">
                  <p:embed/>
                  <p:pic>
                    <p:nvPicPr>
                      <p:cNvPr id="5" name="Объект 4">
                        <a:extLst>
                          <a:ext uri="{FF2B5EF4-FFF2-40B4-BE49-F238E27FC236}">
                            <a16:creationId xmlns:a16="http://schemas.microsoft.com/office/drawing/2014/main" id="{0CB55C02-5307-F682-11F6-A4971B6608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27" y="1480420"/>
                        <a:ext cx="8374329" cy="49396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2717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5EF6BA-28A3-30F2-C00C-477D12BB2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EC226B-5B51-F349-AA15-E89368AF7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6D6B29AF-89B0-9DF8-7770-5C388380D3FD}"/>
              </a:ext>
            </a:extLst>
          </p:cNvPr>
          <p:cNvSpPr txBox="1">
            <a:spLocks/>
          </p:cNvSpPr>
          <p:nvPr/>
        </p:nvSpPr>
        <p:spPr>
          <a:xfrm>
            <a:off x="2245093" y="3506926"/>
            <a:ext cx="5043716" cy="11221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На основе синтаксиса (правил)</a:t>
            </a:r>
          </a:p>
          <a:p>
            <a:r>
              <a:rPr lang="ru-RU" dirty="0"/>
              <a:t>На основе стоимости (издержек)</a:t>
            </a:r>
            <a:br>
              <a:rPr lang="ru-RU" dirty="0"/>
            </a:br>
            <a:endParaRPr lang="ru-RU" i="1" dirty="0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926C40F2-1853-9B6D-A345-CA13809871B4}"/>
              </a:ext>
            </a:extLst>
          </p:cNvPr>
          <p:cNvSpPr txBox="1">
            <a:spLocks/>
          </p:cNvSpPr>
          <p:nvPr/>
        </p:nvSpPr>
        <p:spPr>
          <a:xfrm>
            <a:off x="8590663" y="6020488"/>
            <a:ext cx="683339" cy="386000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027D79F-97CA-4873-BC38-2EA574A6E303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7" name="Правая фигурная скобка 6">
            <a:extLst>
              <a:ext uri="{FF2B5EF4-FFF2-40B4-BE49-F238E27FC236}">
                <a16:creationId xmlns:a16="http://schemas.microsoft.com/office/drawing/2014/main" id="{9BD2F177-9C81-8C8D-978C-13619DE30C06}"/>
              </a:ext>
            </a:extLst>
          </p:cNvPr>
          <p:cNvSpPr/>
          <p:nvPr/>
        </p:nvSpPr>
        <p:spPr>
          <a:xfrm rot="5400000">
            <a:off x="4139293" y="1325532"/>
            <a:ext cx="865412" cy="6995267"/>
          </a:xfrm>
          <a:prstGeom prst="rightBrace">
            <a:avLst>
              <a:gd name="adj1" fmla="val 9622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67EA572A-A5ED-46A8-37E5-078FCDC9A4D5}"/>
              </a:ext>
            </a:extLst>
          </p:cNvPr>
          <p:cNvGrpSpPr/>
          <p:nvPr/>
        </p:nvGrpSpPr>
        <p:grpSpPr>
          <a:xfrm>
            <a:off x="831840" y="1917311"/>
            <a:ext cx="7480320" cy="1194706"/>
            <a:chOff x="979714" y="1352555"/>
            <a:chExt cx="7480320" cy="1194706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E2031A94-CA31-D2E8-87E7-881B601CF095}"/>
                </a:ext>
              </a:extLst>
            </p:cNvPr>
            <p:cNvSpPr/>
            <p:nvPr/>
          </p:nvSpPr>
          <p:spPr>
            <a:xfrm>
              <a:off x="979714" y="1829001"/>
              <a:ext cx="2710543" cy="60395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Потенциальный план</a:t>
              </a:r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581541DD-81E7-FF22-5B09-9282C8475B0A}"/>
                </a:ext>
              </a:extLst>
            </p:cNvPr>
            <p:cNvSpPr/>
            <p:nvPr/>
          </p:nvSpPr>
          <p:spPr>
            <a:xfrm>
              <a:off x="1126671" y="1763692"/>
              <a:ext cx="2710543" cy="60395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Потенциальный план</a:t>
              </a: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1913EE74-28F9-AF8B-5CDA-3FEF6EED7AF0}"/>
                </a:ext>
              </a:extLst>
            </p:cNvPr>
            <p:cNvSpPr/>
            <p:nvPr/>
          </p:nvSpPr>
          <p:spPr>
            <a:xfrm>
              <a:off x="1273628" y="1633062"/>
              <a:ext cx="2710543" cy="60395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Потенциальный план</a:t>
              </a: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3892A882-A677-97E8-54A3-038A1F642647}"/>
                </a:ext>
              </a:extLst>
            </p:cNvPr>
            <p:cNvSpPr/>
            <p:nvPr/>
          </p:nvSpPr>
          <p:spPr>
            <a:xfrm>
              <a:off x="1420585" y="1478046"/>
              <a:ext cx="2710543" cy="60395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Потенциальный план</a:t>
              </a:r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49BFEFAA-0853-DBB9-8DFD-9A79D5D124CC}"/>
                </a:ext>
              </a:extLst>
            </p:cNvPr>
            <p:cNvSpPr/>
            <p:nvPr/>
          </p:nvSpPr>
          <p:spPr>
            <a:xfrm>
              <a:off x="5749491" y="1352555"/>
              <a:ext cx="2710543" cy="11947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Итоговый план</a:t>
              </a:r>
              <a:br>
                <a:rPr lang="ru-RU" dirty="0"/>
              </a:br>
              <a:r>
                <a:rPr lang="ru-RU" dirty="0"/>
                <a:t>(наименее дорогостоящий)</a:t>
              </a:r>
            </a:p>
          </p:txBody>
        </p:sp>
        <p:sp>
          <p:nvSpPr>
            <p:cNvPr id="14" name="Стрелка вправо 10">
              <a:extLst>
                <a:ext uri="{FF2B5EF4-FFF2-40B4-BE49-F238E27FC236}">
                  <a16:creationId xmlns:a16="http://schemas.microsoft.com/office/drawing/2014/main" id="{7CCE731A-A52A-D86A-326D-EB42F8FA7772}"/>
                </a:ext>
              </a:extLst>
            </p:cNvPr>
            <p:cNvSpPr/>
            <p:nvPr/>
          </p:nvSpPr>
          <p:spPr>
            <a:xfrm>
              <a:off x="4588015" y="1633062"/>
              <a:ext cx="914400" cy="60395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3D910B6-8D0E-54F5-1F26-5D613D4E9E7F}"/>
              </a:ext>
            </a:extLst>
          </p:cNvPr>
          <p:cNvSpPr/>
          <p:nvPr/>
        </p:nvSpPr>
        <p:spPr>
          <a:xfrm>
            <a:off x="1922296" y="5512579"/>
            <a:ext cx="5299405" cy="6619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Совместное использование</a:t>
            </a:r>
          </a:p>
        </p:txBody>
      </p:sp>
    </p:spTree>
    <p:extLst>
      <p:ext uri="{BB962C8B-B14F-4D97-AF65-F5344CB8AC3E}">
        <p14:creationId xmlns:p14="http://schemas.microsoft.com/office/powerpoint/2010/main" val="989969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FB6E44-F383-02D3-1135-FADA57282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построения физического плана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7C8876-69F8-5F6E-B420-2A8F24EF9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4935332"/>
          </a:xfrm>
        </p:spPr>
        <p:txBody>
          <a:bodyPr>
            <a:normAutofit lnSpcReduction="10000"/>
          </a:bodyPr>
          <a:lstStyle/>
          <a:p>
            <a:pPr lvl="0">
              <a:buFont typeface="+mj-lt"/>
              <a:buAutoNum type="arabicPeriod"/>
            </a:pPr>
            <a:r>
              <a:rPr lang="ru-RU" dirty="0"/>
              <a:t>Физические планы в основном отличаются следующим:</a:t>
            </a:r>
            <a:endParaRPr lang="ru-RU" sz="2000" dirty="0"/>
          </a:p>
          <a:p>
            <a:pPr lvl="1"/>
            <a:r>
              <a:rPr lang="ru-RU" dirty="0"/>
              <a:t>методом выбора записей из исходных таблиц </a:t>
            </a:r>
          </a:p>
          <a:p>
            <a:pPr lvl="1"/>
            <a:r>
              <a:rPr lang="ru-RU" dirty="0"/>
              <a:t>- методом реализации подзапросов  </a:t>
            </a:r>
          </a:p>
          <a:p>
            <a:pPr lvl="1"/>
            <a:endParaRPr lang="ru-RU" sz="1800" dirty="0"/>
          </a:p>
          <a:p>
            <a:pPr lvl="1"/>
            <a:endParaRPr lang="ru-RU" sz="1800" dirty="0"/>
          </a:p>
          <a:p>
            <a:pPr lvl="1"/>
            <a:endParaRPr lang="ru-RU" sz="1800" dirty="0"/>
          </a:p>
          <a:p>
            <a:pPr lvl="1"/>
            <a:r>
              <a:rPr lang="ru-RU" dirty="0"/>
              <a:t>порядком соединения таблиц;</a:t>
            </a:r>
            <a:endParaRPr lang="ru-RU" sz="1800" dirty="0"/>
          </a:p>
          <a:p>
            <a:pPr lvl="1"/>
            <a:r>
              <a:rPr lang="ru-RU" dirty="0"/>
              <a:t>методом соединения таблиц, т.е. методом реализации операции естественного соединения  </a:t>
            </a:r>
          </a:p>
          <a:p>
            <a:pPr lvl="0">
              <a:buFont typeface="+mj-lt"/>
              <a:buAutoNum type="arabicPeriod"/>
            </a:pPr>
            <a:endParaRPr lang="ru-RU" dirty="0"/>
          </a:p>
          <a:p>
            <a:pPr lvl="0">
              <a:buFont typeface="+mj-lt"/>
              <a:buAutoNum type="arabicPeriod"/>
            </a:pPr>
            <a:endParaRPr lang="ru-RU" dirty="0"/>
          </a:p>
          <a:p>
            <a:pPr lvl="0">
              <a:buFont typeface="+mj-lt"/>
              <a:buAutoNum type="arabicPeriod"/>
            </a:pPr>
            <a:endParaRPr lang="ru-RU" dirty="0"/>
          </a:p>
          <a:p>
            <a:pPr lvl="0">
              <a:buFont typeface="+mj-lt"/>
              <a:buAutoNum type="arabicPeriod"/>
            </a:pPr>
            <a:r>
              <a:rPr lang="ru-RU" dirty="0"/>
              <a:t>Для каждого физического плана </a:t>
            </a:r>
            <a:r>
              <a:rPr lang="ru-RU" b="1" dirty="0"/>
              <a:t>рассчитывается стоимость его выполнения</a:t>
            </a:r>
            <a:r>
              <a:rPr lang="ru-RU" dirty="0"/>
              <a:t>. Выбирается физический план с наименьшей стоимостью.</a:t>
            </a:r>
            <a:endParaRPr lang="ru-RU" sz="2000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9E6778-54C7-8815-D8EC-FA4EC7AD5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7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AD8BA1-459E-6A67-33E8-54B0ED781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4421415"/>
            <a:ext cx="4315780" cy="72863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DD81060-A466-444C-9766-C279C0E61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2616348"/>
            <a:ext cx="3263540" cy="53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908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7114C-A895-A0BC-644C-31C908555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оптимизации, основанный на синтаксисе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707D7F-E91A-F2F9-20C6-F80690072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ru-RU" dirty="0"/>
              <a:t>Ранг пути доступа определяется на основании знаний о последовательности реализации этого пути</a:t>
            </a:r>
          </a:p>
          <a:p>
            <a:r>
              <a:rPr lang="ru-RU" dirty="0"/>
              <a:t>Учитывается </a:t>
            </a:r>
            <a:r>
              <a:rPr lang="ru-RU" b="1" i="1" dirty="0"/>
              <a:t>иерархическое старшинство </a:t>
            </a:r>
            <a:r>
              <a:rPr lang="ru-RU" dirty="0"/>
              <a:t>операций</a:t>
            </a:r>
          </a:p>
          <a:p>
            <a:r>
              <a:rPr lang="ru-RU" dirty="0"/>
              <a:t>План – выбранные пути доступа с минимальными рангами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4CE350-2732-F46C-C1B7-4F0610F4C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8</a:t>
            </a:fld>
            <a:endParaRPr lang="ru-RU" dirty="0"/>
          </a:p>
        </p:txBody>
      </p:sp>
      <p:pic>
        <p:nvPicPr>
          <p:cNvPr id="5" name="Рисунок 4" descr="http://rema44.ru/resurs/study/optimize/optimize.files/image004.gif">
            <a:extLst>
              <a:ext uri="{FF2B5EF4-FFF2-40B4-BE49-F238E27FC236}">
                <a16:creationId xmlns:a16="http://schemas.microsoft.com/office/drawing/2014/main" id="{B316CD3E-B796-88A1-EC5A-890E0AA3AF7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212976"/>
            <a:ext cx="6768752" cy="33843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0026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A755AC-4B7B-330E-93A8-59E1202A5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Ранги путей доступа: пример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BB03BE-0C19-F16E-E042-80835D8FDE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9</a:t>
            </a:fld>
            <a:endParaRPr lang="ru-RU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7E48E01B-ED3C-173D-8400-6514A8DC83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5970343"/>
              </p:ext>
            </p:extLst>
          </p:nvPr>
        </p:nvGraphicFramePr>
        <p:xfrm>
          <a:off x="571036" y="1402102"/>
          <a:ext cx="7385339" cy="5195248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76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1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70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Ранг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Пути доступа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70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Одна строка по </a:t>
                      </a:r>
                      <a:r>
                        <a:rPr lang="en-US" sz="1400" dirty="0">
                          <a:effectLst/>
                        </a:rPr>
                        <a:t>ROWID</a:t>
                      </a:r>
                      <a:r>
                        <a:rPr lang="ru-RU" sz="1400" dirty="0">
                          <a:effectLst/>
                        </a:rPr>
                        <a:t>*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70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Одна строка по кластерному соединению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70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Одна строка по хеш-кластеру с уникальным или первичным ключом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70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Одна строка по уникальному или первичному ключу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70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Кластерное соединение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70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Ключ хеш-кластера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70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Ключ индексного кластера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70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Составной индекс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70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Индекс по одиночному столбцу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70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Индексный поиск по закрытому интервалу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70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11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Индексный поиск по открытому интервалу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70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12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Сортировка-объединение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470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13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MAX</a:t>
                      </a:r>
                      <a:r>
                        <a:rPr lang="ru-RU" sz="1400" dirty="0">
                          <a:effectLst/>
                        </a:rPr>
                        <a:t> и </a:t>
                      </a:r>
                      <a:r>
                        <a:rPr lang="en-US" sz="1400" dirty="0">
                          <a:effectLst/>
                        </a:rPr>
                        <a:t>MIN</a:t>
                      </a:r>
                      <a:r>
                        <a:rPr lang="ru-RU" sz="1400" dirty="0">
                          <a:effectLst/>
                        </a:rPr>
                        <a:t> по индексированному столбцу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470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14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ORDER BY</a:t>
                      </a:r>
                      <a:r>
                        <a:rPr lang="ru-RU" sz="1400" dirty="0">
                          <a:effectLst/>
                        </a:rPr>
                        <a:t> по индексированному столбцу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470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15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Полный просмотр таблицы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496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68892-637B-328F-4A20-117DFE0EA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оптимизации, основанный на стоимости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6A0DF3-1C09-8DB8-7DCA-E1277F5C3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8547B5F-86B0-0407-CBA6-ABD87F3A8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4" y="1412776"/>
            <a:ext cx="8596668" cy="4993711"/>
          </a:xfrm>
        </p:spPr>
        <p:txBody>
          <a:bodyPr anchor="t">
            <a:normAutofit/>
          </a:bodyPr>
          <a:lstStyle/>
          <a:p>
            <a:r>
              <a:rPr lang="ru-RU" sz="1800" dirty="0"/>
              <a:t>Оптимизатор </a:t>
            </a:r>
            <a:r>
              <a:rPr lang="ru-RU" sz="1800" b="1" i="1" dirty="0"/>
              <a:t>сначала</a:t>
            </a:r>
            <a:r>
              <a:rPr lang="ru-RU" sz="1800" dirty="0"/>
              <a:t> строит возможные планы выполнения запроса с применением эвристик (логической оптимизации)</a:t>
            </a:r>
          </a:p>
          <a:p>
            <a:r>
              <a:rPr lang="ru-RU" sz="1800" b="1" u="sng" dirty="0"/>
              <a:t>Стоимость плана</a:t>
            </a:r>
            <a:r>
              <a:rPr lang="ru-RU" sz="1800" dirty="0"/>
              <a:t> — это сумма стоимостей отдельных процедур, входящих в его состав. 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33A3C9FE-35E1-5A4B-214B-CB6DBAF08DA0}"/>
              </a:ext>
            </a:extLst>
          </p:cNvPr>
          <p:cNvSpPr txBox="1">
            <a:spLocks/>
          </p:cNvSpPr>
          <p:nvPr/>
        </p:nvSpPr>
        <p:spPr>
          <a:xfrm>
            <a:off x="211668" y="4737669"/>
            <a:ext cx="8897358" cy="187220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Критерии оптимизации (примеры):</a:t>
            </a:r>
          </a:p>
          <a:p>
            <a:pPr lvl="1"/>
            <a:r>
              <a:rPr lang="ru-RU" dirty="0"/>
              <a:t>Наилучшая общая производительность системы.</a:t>
            </a:r>
          </a:p>
          <a:p>
            <a:pPr lvl="1"/>
            <a:r>
              <a:rPr lang="ru-RU" dirty="0"/>
              <a:t>Минимальное время реакции – время, необходимое для обработки первой строки. </a:t>
            </a:r>
            <a:br>
              <a:rPr lang="ru-RU" dirty="0"/>
            </a:br>
            <a:r>
              <a:rPr lang="ru-RU" dirty="0"/>
              <a:t>(только для запросов, которые не содержат агрегирующих функций и не требуют сортировки данных результата).</a:t>
            </a:r>
          </a:p>
          <a:p>
            <a:pPr lvl="1"/>
            <a:r>
              <a:rPr lang="ru-RU" dirty="0"/>
              <a:t>Минимальные затраты времени на обработку всех строк, к которым обращается команда. </a:t>
            </a:r>
          </a:p>
        </p:txBody>
      </p:sp>
      <p:pic>
        <p:nvPicPr>
          <p:cNvPr id="7" name="Рисунок 6" descr="http://rema44.ru/resurs/study/optimize/optimize.files/image006.gif">
            <a:extLst>
              <a:ext uri="{FF2B5EF4-FFF2-40B4-BE49-F238E27FC236}">
                <a16:creationId xmlns:a16="http://schemas.microsoft.com/office/drawing/2014/main" id="{2C2A8535-71A8-8C41-7DC8-FF92604085A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932" y="2502196"/>
            <a:ext cx="4342132" cy="2044607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1922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9A7A3C-7E6F-FCB2-F6AC-1D796A4FF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Методы выбора записей </a:t>
            </a:r>
            <a:br>
              <a:rPr lang="ru-RU" dirty="0"/>
            </a:br>
            <a:r>
              <a:rPr lang="ru-RU" sz="1200" i="1" dirty="0"/>
              <a:t>Чтение всех записей и их фильтрация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51D8C3-ECEB-25E1-BE9F-12513C0FC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1800" y="4999484"/>
            <a:ext cx="5184576" cy="1728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T</a:t>
            </a:r>
            <a:r>
              <a:rPr lang="ru-RU" sz="1600" dirty="0"/>
              <a:t>(</a:t>
            </a:r>
            <a:r>
              <a:rPr lang="en-US" sz="1600" dirty="0"/>
              <a:t>R</a:t>
            </a:r>
            <a:r>
              <a:rPr lang="ru-RU" sz="1600" dirty="0"/>
              <a:t>) – число кортежей (записей) в исходной таблице </a:t>
            </a:r>
            <a:r>
              <a:rPr lang="en-US" sz="1600" dirty="0"/>
              <a:t>R</a:t>
            </a:r>
            <a:r>
              <a:rPr lang="ru-RU" sz="1600" dirty="0"/>
              <a:t>;</a:t>
            </a:r>
          </a:p>
          <a:p>
            <a:pPr marL="0" indent="0">
              <a:buNone/>
            </a:pPr>
            <a:r>
              <a:rPr lang="en-US" sz="1600" dirty="0"/>
              <a:t>B</a:t>
            </a:r>
            <a:r>
              <a:rPr lang="ru-RU" sz="1600" dirty="0"/>
              <a:t>(</a:t>
            </a:r>
            <a:r>
              <a:rPr lang="en-US" sz="1600" dirty="0"/>
              <a:t>R</a:t>
            </a:r>
            <a:r>
              <a:rPr lang="ru-RU" sz="1600" dirty="0"/>
              <a:t>) – число физических блоков таблицы </a:t>
            </a:r>
            <a:r>
              <a:rPr lang="en-US" sz="1600" dirty="0"/>
              <a:t>R</a:t>
            </a:r>
            <a:r>
              <a:rPr lang="ru-RU" sz="1600" dirty="0"/>
              <a:t>;</a:t>
            </a:r>
          </a:p>
          <a:p>
            <a:pPr marL="0" indent="0">
              <a:buNone/>
            </a:pPr>
            <a:r>
              <a:rPr lang="ru-RU" sz="1600" dirty="0"/>
              <a:t>С</a:t>
            </a:r>
            <a:r>
              <a:rPr lang="en-US" sz="1600" baseline="-25000" dirty="0"/>
              <a:t>filter</a:t>
            </a:r>
            <a:r>
              <a:rPr lang="ru-RU" sz="1600" dirty="0"/>
              <a:t> – время фильтрации одной записи в ОП;</a:t>
            </a:r>
          </a:p>
          <a:p>
            <a:pPr marL="0" indent="0">
              <a:buNone/>
            </a:pPr>
            <a:r>
              <a:rPr lang="en-US" sz="1600" dirty="0"/>
              <a:t>C</a:t>
            </a:r>
            <a:r>
              <a:rPr lang="en-US" sz="1600" baseline="-25000" dirty="0"/>
              <a:t>B</a:t>
            </a:r>
            <a:r>
              <a:rPr lang="ru-RU" sz="1600" dirty="0"/>
              <a:t> – время чтения/записи одного блока на диск.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74FC13-83AC-514A-5B09-3D8506212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EB415F3B-050B-3C0C-2252-7B3E1381537D}"/>
              </a:ext>
            </a:extLst>
          </p:cNvPr>
          <p:cNvSpPr txBox="1">
            <a:spLocks/>
          </p:cNvSpPr>
          <p:nvPr/>
        </p:nvSpPr>
        <p:spPr>
          <a:xfrm>
            <a:off x="4818340" y="2922919"/>
            <a:ext cx="4185623" cy="101216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</a:t>
            </a:r>
            <a:r>
              <a:rPr lang="en-US" baseline="-25000" dirty="0"/>
              <a:t>CPU</a:t>
            </a:r>
            <a:r>
              <a:rPr lang="en-US" dirty="0"/>
              <a:t> = T(R) · </a:t>
            </a:r>
            <a:r>
              <a:rPr lang="en-US" dirty="0" err="1"/>
              <a:t>C</a:t>
            </a:r>
            <a:r>
              <a:rPr lang="en-US" baseline="-25000" dirty="0" err="1"/>
              <a:t>filter</a:t>
            </a:r>
            <a:r>
              <a:rPr lang="en-US" dirty="0"/>
              <a:t> , 	</a:t>
            </a:r>
            <a:endParaRPr lang="ru-RU" dirty="0"/>
          </a:p>
          <a:p>
            <a:r>
              <a:rPr lang="en-US" dirty="0"/>
              <a:t>C</a:t>
            </a:r>
            <a:r>
              <a:rPr lang="en-US" baseline="-25000" dirty="0"/>
              <a:t>I/O</a:t>
            </a:r>
            <a:r>
              <a:rPr lang="en-US" dirty="0"/>
              <a:t> = B(R) · C</a:t>
            </a:r>
            <a:r>
              <a:rPr lang="en-US" baseline="-25000" dirty="0"/>
              <a:t>B</a:t>
            </a:r>
            <a:r>
              <a:rPr lang="en-US" dirty="0"/>
              <a:t> </a:t>
            </a:r>
            <a:endParaRPr lang="ru-RU" dirty="0"/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EA2AC4AB-8AC3-AFEB-D4DB-DF80FD34DF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8058810"/>
              </p:ext>
            </p:extLst>
          </p:nvPr>
        </p:nvGraphicFramePr>
        <p:xfrm>
          <a:off x="386377" y="1360463"/>
          <a:ext cx="4185623" cy="3501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r:id="rId3" imgW="3200932" imgH="2598429" progId="Visio.Drawing.11">
                  <p:embed/>
                </p:oleObj>
              </mc:Choice>
              <mc:Fallback>
                <p:oleObj r:id="rId3" imgW="3200932" imgH="2598429" progId="Visio.Drawing.11">
                  <p:embed/>
                  <p:pic>
                    <p:nvPicPr>
                      <p:cNvPr id="10" name="Объект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77" y="1360463"/>
                        <a:ext cx="4185623" cy="35014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9546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155954-6441-62CE-CF7B-02F4AC409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Методы выбора записей </a:t>
            </a:r>
            <a:br>
              <a:rPr lang="ru-RU" dirty="0"/>
            </a:br>
            <a:r>
              <a:rPr lang="ru-RU" sz="1200" i="1" dirty="0"/>
              <a:t>Чтение записей с помощью индекса и их фильтрация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964458-446A-7EA9-86EF-394F08911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12</a:t>
            </a:fld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F1F2B195-F52F-A8EE-8532-B63C1C584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340815"/>
              </p:ext>
            </p:extLst>
          </p:nvPr>
        </p:nvGraphicFramePr>
        <p:xfrm>
          <a:off x="0" y="1273192"/>
          <a:ext cx="5263516" cy="3707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r:id="rId3" imgW="5774542" imgH="3616133" progId="Visio.Drawing.11">
                  <p:embed/>
                </p:oleObj>
              </mc:Choice>
              <mc:Fallback>
                <p:oleObj r:id="rId3" imgW="5774542" imgH="3616133" progId="Visio.Drawing.11">
                  <p:embed/>
                  <p:pic>
                    <p:nvPicPr>
                      <p:cNvPr id="5" name="Объект 4">
                        <a:extLst>
                          <a:ext uri="{FF2B5EF4-FFF2-40B4-BE49-F238E27FC236}">
                            <a16:creationId xmlns:a16="http://schemas.microsoft.com/office/drawing/2014/main" id="{F1F2B195-F52F-A8EE-8532-B63C1C5847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73192"/>
                        <a:ext cx="5263516" cy="37074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BF2845C4-7F41-D17A-053F-C2E807697092}"/>
                  </a:ext>
                </a:extLst>
              </p:cNvPr>
              <p:cNvSpPr txBox="1"/>
              <p:nvPr/>
            </p:nvSpPr>
            <p:spPr bwMode="auto">
              <a:xfrm>
                <a:off x="3586900" y="1363891"/>
                <a:ext cx="5263516" cy="2378075"/>
              </a:xfrm>
              <a:prstGeom prst="rect">
                <a:avLst/>
              </a:prstGeom>
              <a:noFill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𝐶𝑃𝑈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)⋅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𝑓𝑖𝑙𝑡𝑒𝑟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𝐼𝑛𝑑𝑒𝑥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))⋅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+                </m:t>
                      </m:r>
                    </m:oMath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     +</m:t>
                      </m:r>
                      <m:d>
                        <m:dPr>
                          <m:begChr m:val="{"/>
                          <m:endChr m:val="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)⋅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, длякластеризованного индексапо</m:t>
                              </m:r>
                            </m:e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&amp;     атрибуту "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";</m:t>
                              </m:r>
                            </m:e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)⋅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, дляиндекса поатрибуту "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"безкластеризации,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BF2845C4-7F41-D17A-053F-C2E807697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6900" y="1363891"/>
                <a:ext cx="5263516" cy="23780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6">
                <a:extLst>
                  <a:ext uri="{FF2B5EF4-FFF2-40B4-BE49-F238E27FC236}">
                    <a16:creationId xmlns:a16="http://schemas.microsoft.com/office/drawing/2014/main" id="{9F209989-8E41-2584-2E04-C9D1AA9AA083}"/>
                  </a:ext>
                </a:extLst>
              </p:cNvPr>
              <p:cNvSpPr txBox="1"/>
              <p:nvPr/>
            </p:nvSpPr>
            <p:spPr bwMode="auto">
              <a:xfrm>
                <a:off x="169241" y="5114989"/>
                <a:ext cx="6984775" cy="1612687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ru-RU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u-RU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&amp;1, если подусловие 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 имеет вид 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;гдес−константа,</m:t>
                              </m:r>
                            </m:e>
                            <m:e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1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если подусловие 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 имеет вид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𝑎𝐼𝑁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,...,,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с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);где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с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−константы,</m:t>
                              </m:r>
                            </m:e>
                            <m:e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&amp;числозначенийатрибута,лежащихвзаданномдиапазоне, </m:t>
                              </m:r>
                            </m:e>
                            <m:e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&amp;если подусловие 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 имеет вид 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&amp;числозначенийатрибута,удовлетворяющихобразцу,</m:t>
                              </m:r>
                            </m:e>
                            <m:e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&amp;если подусловие 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 имеет вида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𝐿𝐼𝐾𝐸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  ′</m:t>
                              </m:r>
                              <m:r>
                                <m:rPr>
                                  <m:nor/>
                                </m:rPr>
                                <a:rPr lang="ru-RU" sz="1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образец′,</m:t>
                              </m:r>
                            </m:e>
                            <m:e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sz="1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и</m:t>
                              </m:r>
                              <m:r>
                                <m:rPr>
                                  <m:nor/>
                                </m:rPr>
                                <a:rPr lang="ru-RU" sz="1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т.д.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" name="Объект 6">
                <a:extLst>
                  <a:ext uri="{FF2B5EF4-FFF2-40B4-BE49-F238E27FC236}">
                    <a16:creationId xmlns:a16="http://schemas.microsoft.com/office/drawing/2014/main" id="{9F209989-8E41-2584-2E04-C9D1AA9AA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241" y="5114989"/>
                <a:ext cx="6984775" cy="16126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Объект 7">
            <a:extLst>
              <a:ext uri="{FF2B5EF4-FFF2-40B4-BE49-F238E27FC236}">
                <a16:creationId xmlns:a16="http://schemas.microsoft.com/office/drawing/2014/main" id="{F78EDE6E-E2B3-C781-B6F9-177DEC8E2C70}"/>
              </a:ext>
            </a:extLst>
          </p:cNvPr>
          <p:cNvSpPr txBox="1">
            <a:spLocks/>
          </p:cNvSpPr>
          <p:nvPr/>
        </p:nvSpPr>
        <p:spPr>
          <a:xfrm>
            <a:off x="1323176" y="3359310"/>
            <a:ext cx="7361743" cy="18650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7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0">
                <a:solidFill>
                  <a:schemeClr val="tx1"/>
                </a:solidFill>
              </a:rPr>
              <a:t>T</a:t>
            </a:r>
            <a:r>
              <a:rPr lang="ru-RU" sz="1050" b="0">
                <a:solidFill>
                  <a:schemeClr val="tx1"/>
                </a:solidFill>
              </a:rPr>
              <a:t>(</a:t>
            </a:r>
            <a:r>
              <a:rPr lang="en-US" sz="1050" b="0">
                <a:solidFill>
                  <a:schemeClr val="tx1"/>
                </a:solidFill>
              </a:rPr>
              <a:t>R</a:t>
            </a:r>
            <a:r>
              <a:rPr lang="ru-RU" sz="1050" b="0">
                <a:solidFill>
                  <a:schemeClr val="tx1"/>
                </a:solidFill>
              </a:rPr>
              <a:t>) – число записей в таблице </a:t>
            </a:r>
            <a:r>
              <a:rPr lang="en-US" sz="1050" b="0">
                <a:solidFill>
                  <a:schemeClr val="tx1"/>
                </a:solidFill>
              </a:rPr>
              <a:t>R</a:t>
            </a:r>
            <a:r>
              <a:rPr lang="ru-RU" sz="1050" b="0">
                <a:solidFill>
                  <a:schemeClr val="tx1"/>
                </a:solidFill>
              </a:rPr>
              <a:t>;</a:t>
            </a:r>
          </a:p>
          <a:p>
            <a:r>
              <a:rPr lang="en-US" sz="1050" b="0">
                <a:solidFill>
                  <a:schemeClr val="tx1"/>
                </a:solidFill>
              </a:rPr>
              <a:t>B</a:t>
            </a:r>
            <a:r>
              <a:rPr lang="ru-RU" sz="1050" b="0">
                <a:solidFill>
                  <a:schemeClr val="tx1"/>
                </a:solidFill>
              </a:rPr>
              <a:t>(</a:t>
            </a:r>
            <a:r>
              <a:rPr lang="en-US" sz="1050" b="0">
                <a:solidFill>
                  <a:schemeClr val="tx1"/>
                </a:solidFill>
              </a:rPr>
              <a:t>R</a:t>
            </a:r>
            <a:r>
              <a:rPr lang="ru-RU" sz="1050" b="0">
                <a:solidFill>
                  <a:schemeClr val="tx1"/>
                </a:solidFill>
              </a:rPr>
              <a:t>) – число блоков таблицы </a:t>
            </a:r>
            <a:r>
              <a:rPr lang="en-US" sz="1050" b="0">
                <a:solidFill>
                  <a:schemeClr val="tx1"/>
                </a:solidFill>
              </a:rPr>
              <a:t>R</a:t>
            </a:r>
            <a:r>
              <a:rPr lang="ru-RU" sz="1050" b="0">
                <a:solidFill>
                  <a:schemeClr val="tx1"/>
                </a:solidFill>
              </a:rPr>
              <a:t>;</a:t>
            </a:r>
          </a:p>
          <a:p>
            <a:r>
              <a:rPr lang="en-US" sz="1050" b="0">
                <a:solidFill>
                  <a:schemeClr val="tx1"/>
                </a:solidFill>
              </a:rPr>
              <a:t>I</a:t>
            </a:r>
            <a:r>
              <a:rPr lang="ru-RU" sz="1050" b="0">
                <a:solidFill>
                  <a:schemeClr val="tx1"/>
                </a:solidFill>
              </a:rPr>
              <a:t>(</a:t>
            </a:r>
            <a:r>
              <a:rPr lang="en-US" sz="1050" b="0">
                <a:solidFill>
                  <a:schemeClr val="tx1"/>
                </a:solidFill>
              </a:rPr>
              <a:t>R</a:t>
            </a:r>
            <a:r>
              <a:rPr lang="ru-RU" sz="1050" b="0">
                <a:solidFill>
                  <a:schemeClr val="tx1"/>
                </a:solidFill>
              </a:rPr>
              <a:t>,</a:t>
            </a:r>
            <a:r>
              <a:rPr lang="en-US" sz="1050" b="0">
                <a:solidFill>
                  <a:schemeClr val="tx1"/>
                </a:solidFill>
              </a:rPr>
              <a:t>a</a:t>
            </a:r>
            <a:r>
              <a:rPr lang="ru-RU" sz="1050" b="0">
                <a:solidFill>
                  <a:schemeClr val="tx1"/>
                </a:solidFill>
              </a:rPr>
              <a:t>) – мощность атрибута "а" в таблице </a:t>
            </a:r>
            <a:r>
              <a:rPr lang="en-US" sz="1050" b="0">
                <a:solidFill>
                  <a:schemeClr val="tx1"/>
                </a:solidFill>
              </a:rPr>
              <a:t>R</a:t>
            </a:r>
            <a:r>
              <a:rPr lang="ru-RU" sz="1050" b="0">
                <a:solidFill>
                  <a:schemeClr val="tx1"/>
                </a:solidFill>
              </a:rPr>
              <a:t> (число различных значений);</a:t>
            </a:r>
          </a:p>
          <a:p>
            <a:r>
              <a:rPr lang="en-US" sz="1050" b="0">
                <a:solidFill>
                  <a:schemeClr val="tx1"/>
                </a:solidFill>
              </a:rPr>
              <a:t>B</a:t>
            </a:r>
            <a:r>
              <a:rPr lang="ru-RU" sz="1050" b="0">
                <a:solidFill>
                  <a:schemeClr val="tx1"/>
                </a:solidFill>
              </a:rPr>
              <a:t>(</a:t>
            </a:r>
            <a:r>
              <a:rPr lang="en-US" sz="1050" b="0">
                <a:solidFill>
                  <a:schemeClr val="tx1"/>
                </a:solidFill>
              </a:rPr>
              <a:t>Index</a:t>
            </a:r>
            <a:r>
              <a:rPr lang="ru-RU" sz="1050" b="0">
                <a:solidFill>
                  <a:schemeClr val="tx1"/>
                </a:solidFill>
              </a:rPr>
              <a:t>(</a:t>
            </a:r>
            <a:r>
              <a:rPr lang="en-US" sz="1050" b="0">
                <a:solidFill>
                  <a:schemeClr val="tx1"/>
                </a:solidFill>
              </a:rPr>
              <a:t>R</a:t>
            </a:r>
            <a:r>
              <a:rPr lang="ru-RU" sz="1050" b="0">
                <a:solidFill>
                  <a:schemeClr val="tx1"/>
                </a:solidFill>
              </a:rPr>
              <a:t>,</a:t>
            </a:r>
            <a:r>
              <a:rPr lang="en-US" sz="1050" b="0">
                <a:solidFill>
                  <a:schemeClr val="tx1"/>
                </a:solidFill>
              </a:rPr>
              <a:t>a</a:t>
            </a:r>
            <a:r>
              <a:rPr lang="ru-RU" sz="1050" b="0">
                <a:solidFill>
                  <a:schemeClr val="tx1"/>
                </a:solidFill>
              </a:rPr>
              <a:t>)) – число блоков на листовом уровне индекса по атрибуту "а";</a:t>
            </a:r>
          </a:p>
          <a:p>
            <a:r>
              <a:rPr lang="ru-RU" sz="1050" b="0">
                <a:solidFill>
                  <a:schemeClr val="tx1"/>
                </a:solidFill>
              </a:rPr>
              <a:t>С</a:t>
            </a:r>
            <a:r>
              <a:rPr lang="en-US" sz="1050" b="0" baseline="-25000">
                <a:solidFill>
                  <a:schemeClr val="tx1"/>
                </a:solidFill>
              </a:rPr>
              <a:t>filter</a:t>
            </a:r>
            <a:r>
              <a:rPr lang="ru-RU" sz="1050" b="0">
                <a:solidFill>
                  <a:schemeClr val="tx1"/>
                </a:solidFill>
              </a:rPr>
              <a:t> – время фильтрации одной записи в ОП;</a:t>
            </a:r>
          </a:p>
          <a:p>
            <a:r>
              <a:rPr lang="en-US" sz="1050" b="0">
                <a:solidFill>
                  <a:schemeClr val="tx1"/>
                </a:solidFill>
              </a:rPr>
              <a:t>C</a:t>
            </a:r>
            <a:r>
              <a:rPr lang="en-US" sz="1050" b="0" baseline="-25000">
                <a:solidFill>
                  <a:schemeClr val="tx1"/>
                </a:solidFill>
              </a:rPr>
              <a:t>B</a:t>
            </a:r>
            <a:r>
              <a:rPr lang="ru-RU" sz="1050" b="0">
                <a:solidFill>
                  <a:schemeClr val="tx1"/>
                </a:solidFill>
              </a:rPr>
              <a:t> – время чтения/записи одного блока на диск;</a:t>
            </a:r>
          </a:p>
          <a:p>
            <a:r>
              <a:rPr lang="en-US" sz="1050" b="0">
                <a:solidFill>
                  <a:schemeClr val="tx1"/>
                </a:solidFill>
              </a:rPr>
              <a:t>k</a:t>
            </a:r>
            <a:r>
              <a:rPr lang="ru-RU" sz="1050" b="0">
                <a:solidFill>
                  <a:schemeClr val="tx1"/>
                </a:solidFill>
              </a:rPr>
              <a:t> – мощность атрибута "а" в запросе </a:t>
            </a:r>
          </a:p>
          <a:p>
            <a:r>
              <a:rPr lang="ru-RU" sz="1050" b="0">
                <a:solidFill>
                  <a:schemeClr val="tx1"/>
                </a:solidFill>
              </a:rPr>
              <a:t>   (число различных значений, указанных в подзапросе φ).</a:t>
            </a:r>
            <a:endParaRPr lang="ru-RU" sz="105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8951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D882FD-1B95-D294-2834-20320273A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промежуточной таблицы </a:t>
            </a:r>
            <a:r>
              <a:rPr lang="en-US" dirty="0"/>
              <a:t>Q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38D409-7588-7585-D7BC-29E65F1E3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5184576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Число кортежей оценивается с помощью следующей формулы:</a:t>
            </a:r>
          </a:p>
          <a:p>
            <a:pPr marL="0" indent="0" algn="ctr">
              <a:buNone/>
            </a:pPr>
            <a:r>
              <a:rPr lang="en-US" dirty="0"/>
              <a:t>T</a:t>
            </a:r>
            <a:r>
              <a:rPr lang="ru-RU" dirty="0"/>
              <a:t>(</a:t>
            </a:r>
            <a:r>
              <a:rPr lang="en-US" dirty="0"/>
              <a:t>Q</a:t>
            </a:r>
            <a:r>
              <a:rPr lang="ru-RU" dirty="0"/>
              <a:t>) = </a:t>
            </a:r>
            <a:r>
              <a:rPr lang="en-US" dirty="0"/>
              <a:t>T</a:t>
            </a:r>
            <a:r>
              <a:rPr lang="ru-RU" dirty="0"/>
              <a:t>(</a:t>
            </a:r>
            <a:r>
              <a:rPr lang="en-US" dirty="0"/>
              <a:t>R</a:t>
            </a:r>
            <a:r>
              <a:rPr lang="ru-RU" dirty="0"/>
              <a:t>)·</a:t>
            </a:r>
            <a:r>
              <a:rPr lang="en-US" dirty="0"/>
              <a:t>p</a:t>
            </a:r>
            <a:r>
              <a:rPr lang="ru-RU" dirty="0"/>
              <a:t> ,	</a:t>
            </a:r>
          </a:p>
          <a:p>
            <a:r>
              <a:rPr lang="ru-RU" dirty="0"/>
              <a:t>где</a:t>
            </a:r>
          </a:p>
          <a:p>
            <a:pPr lvl="1"/>
            <a:r>
              <a:rPr lang="en-US" dirty="0"/>
              <a:t>Q</a:t>
            </a:r>
            <a:r>
              <a:rPr lang="ru-RU" dirty="0"/>
              <a:t>=</a:t>
            </a:r>
            <a:r>
              <a:rPr lang="en-US" dirty="0">
                <a:sym typeface="Symbol" panose="05050102010706020507" pitchFamily="18" charset="2"/>
              </a:rPr>
              <a:t></a:t>
            </a:r>
            <a:r>
              <a:rPr lang="en-US" baseline="-25000" dirty="0"/>
              <a:t>F</a:t>
            </a:r>
            <a:r>
              <a:rPr lang="ru-RU" dirty="0"/>
              <a:t>(</a:t>
            </a:r>
            <a:r>
              <a:rPr lang="en-US" dirty="0"/>
              <a:t>R</a:t>
            </a:r>
            <a:r>
              <a:rPr lang="ru-RU" dirty="0"/>
              <a:t>) – промежуточной таблица, соответствующая подзапросу </a:t>
            </a:r>
            <a:r>
              <a:rPr lang="en-US" dirty="0"/>
              <a:t>Q</a:t>
            </a:r>
            <a:r>
              <a:rPr lang="ru-RU" dirty="0"/>
              <a:t>,</a:t>
            </a:r>
          </a:p>
          <a:p>
            <a:pPr lvl="1"/>
            <a:r>
              <a:rPr lang="en-US" dirty="0"/>
              <a:t>T</a:t>
            </a:r>
            <a:r>
              <a:rPr lang="ru-RU" dirty="0"/>
              <a:t>(</a:t>
            </a:r>
            <a:r>
              <a:rPr lang="en-US" dirty="0"/>
              <a:t>Q</a:t>
            </a:r>
            <a:r>
              <a:rPr lang="ru-RU" dirty="0"/>
              <a:t>) – оценка числа кортежей в промежуточной таблице </a:t>
            </a:r>
            <a:r>
              <a:rPr lang="en-US" dirty="0"/>
              <a:t>Q</a:t>
            </a:r>
            <a:r>
              <a:rPr lang="ru-RU" dirty="0"/>
              <a:t>,</a:t>
            </a:r>
          </a:p>
          <a:p>
            <a:pPr lvl="1"/>
            <a:r>
              <a:rPr lang="en-US" dirty="0"/>
              <a:t>T</a:t>
            </a:r>
            <a:r>
              <a:rPr lang="ru-RU" dirty="0"/>
              <a:t>(</a:t>
            </a:r>
            <a:r>
              <a:rPr lang="en-US" dirty="0"/>
              <a:t>R</a:t>
            </a:r>
            <a:r>
              <a:rPr lang="ru-RU" dirty="0"/>
              <a:t>) – общее число кортежей в исходной таблице </a:t>
            </a:r>
            <a:r>
              <a:rPr lang="en-US" dirty="0"/>
              <a:t>R</a:t>
            </a:r>
            <a:r>
              <a:rPr lang="ru-RU" dirty="0"/>
              <a:t>,</a:t>
            </a:r>
          </a:p>
          <a:p>
            <a:pPr lvl="1"/>
            <a:r>
              <a:rPr lang="en-US" dirty="0"/>
              <a:t>p</a:t>
            </a:r>
            <a:r>
              <a:rPr lang="ru-RU" dirty="0"/>
              <a:t> – вероятность того, что кортеж из </a:t>
            </a:r>
            <a:r>
              <a:rPr lang="en-US" dirty="0"/>
              <a:t>R</a:t>
            </a:r>
            <a:r>
              <a:rPr lang="ru-RU" dirty="0"/>
              <a:t> удовлетворяет условию поиска </a:t>
            </a:r>
            <a:r>
              <a:rPr lang="en-US" dirty="0"/>
              <a:t>F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Число блоков в промежуточной таблице можно оценить при помощи следующей формулы:</a:t>
            </a:r>
          </a:p>
          <a:p>
            <a:endParaRPr lang="ru-RU" dirty="0"/>
          </a:p>
          <a:p>
            <a:r>
              <a:rPr lang="ru-RU" dirty="0"/>
              <a:t>где</a:t>
            </a:r>
            <a:endParaRPr lang="ru-RU" sz="2000" dirty="0"/>
          </a:p>
          <a:p>
            <a:pPr lvl="1"/>
            <a:r>
              <a:rPr lang="en-US" dirty="0"/>
              <a:t>Q</a:t>
            </a:r>
            <a:r>
              <a:rPr lang="ru-RU" dirty="0"/>
              <a:t>=</a:t>
            </a:r>
            <a:r>
              <a:rPr lang="en-US" dirty="0">
                <a:sym typeface="Symbol" panose="05050102010706020507" pitchFamily="18" charset="2"/>
              </a:rPr>
              <a:t></a:t>
            </a:r>
            <a:r>
              <a:rPr lang="en-US" baseline="-25000" dirty="0"/>
              <a:t>F</a:t>
            </a:r>
            <a:r>
              <a:rPr lang="ru-RU" dirty="0"/>
              <a:t>(</a:t>
            </a:r>
            <a:r>
              <a:rPr lang="en-US" dirty="0"/>
              <a:t>R</a:t>
            </a:r>
            <a:r>
              <a:rPr lang="ru-RU" dirty="0"/>
              <a:t>) – промежуточной таблица, соответствующая подзапросу </a:t>
            </a:r>
            <a:r>
              <a:rPr lang="en-US" dirty="0"/>
              <a:t>Q</a:t>
            </a:r>
            <a:r>
              <a:rPr lang="ru-RU" dirty="0"/>
              <a:t>,</a:t>
            </a:r>
          </a:p>
          <a:p>
            <a:pPr lvl="1"/>
            <a:r>
              <a:rPr lang="en-US" dirty="0"/>
              <a:t>T</a:t>
            </a:r>
            <a:r>
              <a:rPr lang="ru-RU" dirty="0"/>
              <a:t>(</a:t>
            </a:r>
            <a:r>
              <a:rPr lang="en-US" dirty="0"/>
              <a:t>Q</a:t>
            </a:r>
            <a:r>
              <a:rPr lang="ru-RU" dirty="0"/>
              <a:t>) - оценка числа кортежей в промежуточной таблице </a:t>
            </a:r>
          </a:p>
          <a:p>
            <a:pPr lvl="1"/>
            <a:r>
              <a:rPr lang="en-US" dirty="0"/>
              <a:t>L</a:t>
            </a:r>
            <a:r>
              <a:rPr lang="en-US" baseline="-25000" dirty="0"/>
              <a:t>B</a:t>
            </a:r>
            <a:r>
              <a:rPr lang="ru-RU" dirty="0"/>
              <a:t> – длина блока (т.е. число записей в блоке), </a:t>
            </a:r>
          </a:p>
          <a:p>
            <a:pPr lvl="1"/>
            <a:r>
              <a:rPr lang="ru-RU" dirty="0"/>
              <a:t>     - операция округления с избытком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A2D662-8BF7-8BE1-5520-A65781083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FD298E-B427-7BC5-C569-7D9D408C8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4509120"/>
            <a:ext cx="2271632" cy="75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53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EF358F-DC4B-8C4F-AFC1-1563695AC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соединения таблиц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CCE456-EE03-C1F7-AE0F-92333C79D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512168"/>
          </a:xfrm>
        </p:spPr>
        <p:txBody>
          <a:bodyPr anchor="t"/>
          <a:lstStyle/>
          <a:p>
            <a:r>
              <a:rPr lang="ru-RU" dirty="0"/>
              <a:t>Существуют три вида деревьев соединений: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dirty="0"/>
              <a:t>Левостороннее дерево соединений.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dirty="0"/>
              <a:t>Кустовое (ветвящееся) дерево соединений.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dirty="0"/>
              <a:t>Правостороннее дерево соединений.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523ED5-6907-F693-787A-8E56B9B6C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14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C3306AC-142F-549B-7789-45836E15F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46" y="3136222"/>
            <a:ext cx="3338398" cy="21448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1D15F92-93B2-DCF3-28DF-BADE13A58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436" y="2799271"/>
            <a:ext cx="3185004" cy="148909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E3667C9-8AFC-1675-397C-E957D8185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4899557"/>
            <a:ext cx="2508508" cy="1851918"/>
          </a:xfrm>
          <a:prstGeom prst="rect">
            <a:avLst/>
          </a:prstGeom>
        </p:spPr>
      </p:pic>
      <p:sp>
        <p:nvSpPr>
          <p:cNvPr id="10" name="Блок-схема: узел 9">
            <a:extLst>
              <a:ext uri="{FF2B5EF4-FFF2-40B4-BE49-F238E27FC236}">
                <a16:creationId xmlns:a16="http://schemas.microsoft.com/office/drawing/2014/main" id="{76D93CDF-772C-FDA8-1F1A-EA80E2920177}"/>
              </a:ext>
            </a:extLst>
          </p:cNvPr>
          <p:cNvSpPr/>
          <p:nvPr/>
        </p:nvSpPr>
        <p:spPr>
          <a:xfrm>
            <a:off x="372811" y="2991460"/>
            <a:ext cx="875413" cy="87549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11" name="Блок-схема: узел 10">
            <a:extLst>
              <a:ext uri="{FF2B5EF4-FFF2-40B4-BE49-F238E27FC236}">
                <a16:creationId xmlns:a16="http://schemas.microsoft.com/office/drawing/2014/main" id="{112EF358-E56F-B826-6820-6C9E3588CA59}"/>
              </a:ext>
            </a:extLst>
          </p:cNvPr>
          <p:cNvSpPr/>
          <p:nvPr/>
        </p:nvSpPr>
        <p:spPr>
          <a:xfrm>
            <a:off x="4318659" y="3033653"/>
            <a:ext cx="875413" cy="87549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12" name="Блок-схема: узел 11">
            <a:extLst>
              <a:ext uri="{FF2B5EF4-FFF2-40B4-BE49-F238E27FC236}">
                <a16:creationId xmlns:a16="http://schemas.microsoft.com/office/drawing/2014/main" id="{801BFF55-D07F-3A41-A49E-4A40C6DF236D}"/>
              </a:ext>
            </a:extLst>
          </p:cNvPr>
          <p:cNvSpPr/>
          <p:nvPr/>
        </p:nvSpPr>
        <p:spPr>
          <a:xfrm>
            <a:off x="4098634" y="4305877"/>
            <a:ext cx="875413" cy="87549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01888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6AACB-8734-0B68-83A4-13ED41273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Каналы обработки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C2FB29-E797-EC1C-2A5A-28D44589A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080120"/>
          </a:xfrm>
        </p:spPr>
        <p:txBody>
          <a:bodyPr anchor="t">
            <a:normAutofit fontScale="92500" lnSpcReduction="20000"/>
          </a:bodyPr>
          <a:lstStyle/>
          <a:p>
            <a:r>
              <a:rPr lang="ru-RU" b="1" dirty="0"/>
              <a:t>Канал обработки </a:t>
            </a:r>
            <a:r>
              <a:rPr lang="ru-RU" dirty="0"/>
              <a:t>– это способ передачи результатов выполнения одной операции на вход другой операции через оперативную память (</a:t>
            </a:r>
            <a:r>
              <a:rPr lang="ru-RU" i="1" dirty="0"/>
              <a:t>без промежуточного запоминания на диске</a:t>
            </a:r>
            <a:r>
              <a:rPr lang="ru-RU" dirty="0"/>
              <a:t>).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B845C9-ADBA-616E-476B-2C5C58C09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4DC9F1-4303-D8E3-61A6-5D88A3382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714" y="2946984"/>
            <a:ext cx="6571066" cy="2980689"/>
          </a:xfrm>
          <a:prstGeom prst="rect">
            <a:avLst/>
          </a:prstGeom>
        </p:spPr>
      </p:pic>
      <p:sp>
        <p:nvSpPr>
          <p:cNvPr id="7" name="Стрелка углом 11">
            <a:extLst>
              <a:ext uri="{FF2B5EF4-FFF2-40B4-BE49-F238E27FC236}">
                <a16:creationId xmlns:a16="http://schemas.microsoft.com/office/drawing/2014/main" id="{BD57D5F4-802A-8A60-AA4B-4D1059897E36}"/>
              </a:ext>
            </a:extLst>
          </p:cNvPr>
          <p:cNvSpPr/>
          <p:nvPr/>
        </p:nvSpPr>
        <p:spPr>
          <a:xfrm>
            <a:off x="889298" y="4315941"/>
            <a:ext cx="1028700" cy="1057275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FC7D08C-BDBC-CEDC-4149-0AFD21DE71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09" t="10842" r="76201" b="15749"/>
          <a:stretch/>
        </p:blipFill>
        <p:spPr>
          <a:xfrm>
            <a:off x="179512" y="5670911"/>
            <a:ext cx="2448273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564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013-80CE-2B10-929B-937111B30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соединения таблиц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D5CB2526-E8D7-F323-FF56-4D087246C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374" y="1452483"/>
            <a:ext cx="8439251" cy="4358252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9B6A92-A068-EA72-2B75-682D4CECF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966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F0838-2207-3F35-1729-31FF75A3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Методы соединения таблиц: оценка стоимости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82C260-E337-9A54-C940-8EBB07AE4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321473"/>
            <a:ext cx="7848872" cy="4915839"/>
          </a:xfrm>
        </p:spPr>
        <p:txBody>
          <a:bodyPr anchor="t"/>
          <a:lstStyle/>
          <a:p>
            <a:pPr>
              <a:spcBef>
                <a:spcPts val="1200"/>
              </a:spcBef>
            </a:pPr>
            <a:r>
              <a:rPr lang="ru-RU" dirty="0"/>
              <a:t>Число кортежей в соединении</a:t>
            </a:r>
          </a:p>
          <a:p>
            <a:pPr>
              <a:spcBef>
                <a:spcPts val="1200"/>
              </a:spcBef>
            </a:pPr>
            <a:endParaRPr lang="ru-RU" dirty="0"/>
          </a:p>
          <a:p>
            <a:pPr>
              <a:spcBef>
                <a:spcPts val="1200"/>
              </a:spcBef>
            </a:pPr>
            <a:r>
              <a:rPr lang="ru-RU" dirty="0"/>
              <a:t>Число блоков</a:t>
            </a:r>
          </a:p>
          <a:p>
            <a:pPr>
              <a:spcBef>
                <a:spcPts val="1200"/>
              </a:spcBef>
            </a:pPr>
            <a:endParaRPr lang="ru-RU" dirty="0"/>
          </a:p>
          <a:p>
            <a:pPr>
              <a:spcBef>
                <a:spcPts val="1200"/>
              </a:spcBef>
            </a:pPr>
            <a:r>
              <a:rPr lang="ru-RU" dirty="0"/>
              <a:t>Мощности атрибутов: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а) мощность атрибута соединения ("а") в результирующей таблице</a:t>
            </a:r>
          </a:p>
          <a:p>
            <a:pPr lvl="1">
              <a:spcBef>
                <a:spcPts val="1200"/>
              </a:spcBef>
            </a:pPr>
            <a:endParaRPr lang="ru-RU" dirty="0"/>
          </a:p>
          <a:p>
            <a:pPr lvl="1">
              <a:spcBef>
                <a:spcPts val="1200"/>
              </a:spcBef>
            </a:pPr>
            <a:r>
              <a:rPr lang="ru-RU" dirty="0"/>
              <a:t>б) мощности остальных атрибутов (</a:t>
            </a:r>
            <a:r>
              <a:rPr lang="en-US" dirty="0"/>
              <a:t>b</a:t>
            </a:r>
            <a:r>
              <a:rPr lang="ru-RU" dirty="0"/>
              <a:t>)</a:t>
            </a:r>
          </a:p>
          <a:p>
            <a:pPr lvl="1">
              <a:spcBef>
                <a:spcPts val="1200"/>
              </a:spcBef>
            </a:pPr>
            <a:endParaRPr lang="ru-RU" dirty="0"/>
          </a:p>
          <a:p>
            <a:pPr>
              <a:spcBef>
                <a:spcPts val="1200"/>
              </a:spcBef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F32EE9-C1B6-9AB6-F8EA-CBD942C70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5D0AA5-BD00-D08D-F75B-3DE90A5A7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521" y="1583207"/>
            <a:ext cx="4649605" cy="82864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C13B90-0858-F61D-2580-34A6EBFDB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2459395"/>
            <a:ext cx="3550252" cy="86591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191AE1D-D011-6FEF-787B-BF9EC7A24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808" y="3986090"/>
            <a:ext cx="5175680" cy="46006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739BD5A-8606-21A9-A735-91C43A233E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1970" y="4899551"/>
            <a:ext cx="6435330" cy="62840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C2E1672-FD9C-13A7-8E78-783D64DEFBC3}"/>
              </a:ext>
            </a:extLst>
          </p:cNvPr>
          <p:cNvSpPr/>
          <p:nvPr/>
        </p:nvSpPr>
        <p:spPr>
          <a:xfrm>
            <a:off x="260416" y="5693115"/>
            <a:ext cx="820001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z="1400" i="1" dirty="0">
                <a:ea typeface="Calibri" panose="020F0502020204030204" pitchFamily="34" charset="0"/>
              </a:rPr>
              <a:t>Здесь </a:t>
            </a:r>
            <a:r>
              <a:rPr lang="en-US" sz="1400" i="1" dirty="0">
                <a:ea typeface="Calibri" panose="020F0502020204030204" pitchFamily="34" charset="0"/>
              </a:rPr>
              <a:t>T</a:t>
            </a:r>
            <a:r>
              <a:rPr lang="ru-RU" sz="1400" i="1" dirty="0">
                <a:ea typeface="Calibri" panose="020F0502020204030204" pitchFamily="34" charset="0"/>
              </a:rPr>
              <a:t>(</a:t>
            </a:r>
            <a:r>
              <a:rPr lang="en-US" sz="1400" i="1" dirty="0">
                <a:ea typeface="Calibri" panose="020F0502020204030204" pitchFamily="34" charset="0"/>
              </a:rPr>
              <a:t>Q</a:t>
            </a:r>
            <a:r>
              <a:rPr lang="ru-RU" sz="1400" i="1" baseline="-25000" dirty="0">
                <a:ea typeface="Calibri" panose="020F0502020204030204" pitchFamily="34" charset="0"/>
              </a:rPr>
              <a:t>1</a:t>
            </a:r>
            <a:r>
              <a:rPr lang="ru-RU" sz="1400" i="1" dirty="0">
                <a:ea typeface="Calibri" panose="020F0502020204030204" pitchFamily="34" charset="0"/>
              </a:rPr>
              <a:t>), </a:t>
            </a:r>
            <a:r>
              <a:rPr lang="en-US" sz="1400" i="1" dirty="0">
                <a:ea typeface="Calibri" panose="020F0502020204030204" pitchFamily="34" charset="0"/>
              </a:rPr>
              <a:t>T</a:t>
            </a:r>
            <a:r>
              <a:rPr lang="ru-RU" sz="1400" i="1" dirty="0">
                <a:ea typeface="Calibri" panose="020F0502020204030204" pitchFamily="34" charset="0"/>
              </a:rPr>
              <a:t>(</a:t>
            </a:r>
            <a:r>
              <a:rPr lang="en-US" sz="1400" i="1" dirty="0">
                <a:ea typeface="Calibri" panose="020F0502020204030204" pitchFamily="34" charset="0"/>
              </a:rPr>
              <a:t>Q</a:t>
            </a:r>
            <a:r>
              <a:rPr lang="ru-RU" sz="1400" i="1" baseline="-25000" dirty="0">
                <a:ea typeface="Calibri" panose="020F0502020204030204" pitchFamily="34" charset="0"/>
              </a:rPr>
              <a:t>2</a:t>
            </a:r>
            <a:r>
              <a:rPr lang="ru-RU" sz="1400" i="1" dirty="0">
                <a:ea typeface="Calibri" panose="020F0502020204030204" pitchFamily="34" charset="0"/>
              </a:rPr>
              <a:t>) – число кортежей в таблицах </a:t>
            </a:r>
            <a:r>
              <a:rPr lang="en-US" sz="1400" i="1" dirty="0">
                <a:ea typeface="Calibri" panose="020F0502020204030204" pitchFamily="34" charset="0"/>
              </a:rPr>
              <a:t>Q</a:t>
            </a:r>
            <a:r>
              <a:rPr lang="ru-RU" sz="1400" i="1" baseline="-25000" dirty="0">
                <a:ea typeface="Calibri" panose="020F0502020204030204" pitchFamily="34" charset="0"/>
              </a:rPr>
              <a:t>1 </a:t>
            </a:r>
            <a:r>
              <a:rPr lang="ru-RU" sz="1400" i="1" dirty="0">
                <a:ea typeface="Calibri" panose="020F0502020204030204" pitchFamily="34" charset="0"/>
              </a:rPr>
              <a:t>и </a:t>
            </a:r>
            <a:r>
              <a:rPr lang="en-US" sz="1400" i="1" dirty="0">
                <a:ea typeface="Calibri" panose="020F0502020204030204" pitchFamily="34" charset="0"/>
              </a:rPr>
              <a:t>Q</a:t>
            </a:r>
            <a:r>
              <a:rPr lang="ru-RU" sz="1400" i="1" baseline="-25000" dirty="0">
                <a:ea typeface="Calibri" panose="020F0502020204030204" pitchFamily="34" charset="0"/>
              </a:rPr>
              <a:t>2</a:t>
            </a:r>
            <a:r>
              <a:rPr lang="ru-RU" sz="1400" i="1" dirty="0">
                <a:ea typeface="Calibri" panose="020F0502020204030204" pitchFamily="34" charset="0"/>
              </a:rPr>
              <a:t>;</a:t>
            </a:r>
          </a:p>
          <a:p>
            <a:pPr indent="450215" algn="just">
              <a:spcAft>
                <a:spcPts val="0"/>
              </a:spcAft>
            </a:pPr>
            <a:r>
              <a:rPr lang="ru-RU" sz="1400" i="1" dirty="0">
                <a:ea typeface="Calibri" panose="020F0502020204030204" pitchFamily="34" charset="0"/>
              </a:rPr>
              <a:t>		- оценка числа кортежей в таблице, полученной после соединения;</a:t>
            </a:r>
          </a:p>
          <a:p>
            <a:pPr indent="450215" algn="just">
              <a:spcAft>
                <a:spcPts val="0"/>
              </a:spcAft>
            </a:pPr>
            <a:r>
              <a:rPr lang="en-US" sz="1400" i="1" dirty="0">
                <a:ea typeface="Calibri" panose="020F0502020204030204" pitchFamily="34" charset="0"/>
              </a:rPr>
              <a:t>I</a:t>
            </a:r>
            <a:r>
              <a:rPr lang="ru-RU" sz="1400" i="1" dirty="0">
                <a:ea typeface="Calibri" panose="020F0502020204030204" pitchFamily="34" charset="0"/>
              </a:rPr>
              <a:t>(</a:t>
            </a:r>
            <a:r>
              <a:rPr lang="en-US" sz="1400" i="1" dirty="0">
                <a:ea typeface="Calibri" panose="020F0502020204030204" pitchFamily="34" charset="0"/>
              </a:rPr>
              <a:t>Q</a:t>
            </a:r>
            <a:r>
              <a:rPr lang="en-US" sz="1400" i="1" baseline="-25000" dirty="0">
                <a:ea typeface="Calibri" panose="020F0502020204030204" pitchFamily="34" charset="0"/>
              </a:rPr>
              <a:t>i</a:t>
            </a:r>
            <a:r>
              <a:rPr lang="ru-RU" sz="1400" i="1" dirty="0">
                <a:ea typeface="Calibri" panose="020F0502020204030204" pitchFamily="34" charset="0"/>
              </a:rPr>
              <a:t>,</a:t>
            </a:r>
            <a:r>
              <a:rPr lang="en-US" sz="1400" i="1" dirty="0">
                <a:ea typeface="Calibri" panose="020F0502020204030204" pitchFamily="34" charset="0"/>
              </a:rPr>
              <a:t>a</a:t>
            </a:r>
            <a:r>
              <a:rPr lang="ru-RU" sz="1400" i="1" dirty="0">
                <a:ea typeface="Calibri" panose="020F0502020204030204" pitchFamily="34" charset="0"/>
              </a:rPr>
              <a:t>) – мощность атрибута "а" в таблице </a:t>
            </a:r>
            <a:r>
              <a:rPr lang="en-US" sz="1400" i="1" dirty="0">
                <a:ea typeface="Calibri" panose="020F0502020204030204" pitchFamily="34" charset="0"/>
              </a:rPr>
              <a:t>Q</a:t>
            </a:r>
            <a:r>
              <a:rPr lang="en-US" sz="1400" i="1" baseline="-25000" dirty="0">
                <a:ea typeface="Calibri" panose="020F0502020204030204" pitchFamily="34" charset="0"/>
              </a:rPr>
              <a:t>i</a:t>
            </a:r>
            <a:r>
              <a:rPr lang="ru-RU" sz="1400" i="1" dirty="0">
                <a:ea typeface="Calibri" panose="020F0502020204030204" pitchFamily="34" charset="0"/>
              </a:rPr>
              <a:t> (</a:t>
            </a:r>
            <a:r>
              <a:rPr lang="en-US" sz="1400" i="1" dirty="0" err="1">
                <a:ea typeface="Calibri" panose="020F0502020204030204" pitchFamily="34" charset="0"/>
              </a:rPr>
              <a:t>i</a:t>
            </a:r>
            <a:r>
              <a:rPr lang="ru-RU" sz="1400" i="1" dirty="0">
                <a:ea typeface="Calibri" panose="020F0502020204030204" pitchFamily="34" charset="0"/>
              </a:rPr>
              <a:t>=1,2);</a:t>
            </a:r>
          </a:p>
          <a:p>
            <a:pPr indent="450215" algn="just">
              <a:spcAft>
                <a:spcPts val="0"/>
              </a:spcAft>
            </a:pPr>
            <a:r>
              <a:rPr lang="en-US" sz="1400" i="1" dirty="0">
                <a:ea typeface="Calibri" panose="020F0502020204030204" pitchFamily="34" charset="0"/>
              </a:rPr>
              <a:t>L</a:t>
            </a:r>
            <a:r>
              <a:rPr lang="en-US" sz="1400" i="1" baseline="-25000" dirty="0">
                <a:ea typeface="Calibri" panose="020F0502020204030204" pitchFamily="34" charset="0"/>
              </a:rPr>
              <a:t>JOIN</a:t>
            </a:r>
            <a:r>
              <a:rPr lang="ru-RU" sz="1400" i="1" dirty="0">
                <a:ea typeface="Calibri" panose="020F0502020204030204" pitchFamily="34" charset="0"/>
              </a:rPr>
              <a:t> – число кортежей соединения в одном блоке.</a:t>
            </a:r>
            <a:endParaRPr lang="ru-RU" sz="1400" i="1" dirty="0">
              <a:effectLst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88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72F3DA-F512-A38D-F1FD-6F22C442C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 вложенных циклов </a:t>
            </a:r>
            <a:br>
              <a:rPr lang="ru-RU" dirty="0"/>
            </a:br>
            <a:r>
              <a:rPr lang="ru-RU" sz="1200" i="1" dirty="0"/>
              <a:t>(</a:t>
            </a:r>
            <a:r>
              <a:rPr lang="en-US" sz="1200" i="1" dirty="0"/>
              <a:t>NLJ</a:t>
            </a:r>
            <a:r>
              <a:rPr lang="ru-RU" sz="1200" i="1" dirty="0"/>
              <a:t> – </a:t>
            </a:r>
            <a:r>
              <a:rPr lang="ru-RU" sz="1200" i="1" dirty="0" err="1"/>
              <a:t>Nested</a:t>
            </a:r>
            <a:r>
              <a:rPr lang="ru-RU" sz="1200" i="1" dirty="0"/>
              <a:t> </a:t>
            </a:r>
            <a:r>
              <a:rPr lang="en-US" sz="1200" i="1" dirty="0"/>
              <a:t>Loop Join</a:t>
            </a:r>
            <a:r>
              <a:rPr lang="ru-RU" sz="1200" i="1" dirty="0"/>
              <a:t>)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C4D1E9-22EC-C552-D580-FF0F07800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18</a:t>
            </a:fld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17804E6-A0BB-70D5-40B9-AE9429181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592" y="1395022"/>
            <a:ext cx="7776864" cy="37425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5E933C-1544-80E5-79D4-2ED229801747}"/>
              </a:ext>
            </a:extLst>
          </p:cNvPr>
          <p:cNvSpPr txBox="1"/>
          <p:nvPr/>
        </p:nvSpPr>
        <p:spPr>
          <a:xfrm>
            <a:off x="1691680" y="5929159"/>
            <a:ext cx="525658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Условие сравнения может быть произвольным.</a:t>
            </a:r>
          </a:p>
        </p:txBody>
      </p:sp>
    </p:spTree>
    <p:extLst>
      <p:ext uri="{BB962C8B-B14F-4D97-AF65-F5344CB8AC3E}">
        <p14:creationId xmlns:p14="http://schemas.microsoft.com/office/powerpoint/2010/main" val="2948444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880907-53FB-B2F6-AE8B-596E246E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 вложенных циклов </a:t>
            </a:r>
            <a:br>
              <a:rPr lang="ru-RU" dirty="0"/>
            </a:br>
            <a:r>
              <a:rPr lang="ru-RU" sz="2400" i="1" dirty="0"/>
              <a:t>(</a:t>
            </a:r>
            <a:r>
              <a:rPr lang="en-US" sz="1200" i="1" dirty="0"/>
              <a:t>NLJ</a:t>
            </a:r>
            <a:r>
              <a:rPr lang="ru-RU" sz="1200" i="1" dirty="0"/>
              <a:t> – </a:t>
            </a:r>
            <a:r>
              <a:rPr lang="ru-RU" sz="1200" i="1" dirty="0" err="1"/>
              <a:t>Nested</a:t>
            </a:r>
            <a:r>
              <a:rPr lang="ru-RU" sz="1200" i="1" dirty="0"/>
              <a:t> </a:t>
            </a:r>
            <a:r>
              <a:rPr lang="en-US" sz="1200" i="1" dirty="0"/>
              <a:t>Loop Join</a:t>
            </a:r>
            <a:r>
              <a:rPr lang="ru-RU" sz="1200" i="1" dirty="0"/>
              <a:t>) – назначение буферов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3B3204-A5C7-9905-F16A-EBCE5B7EE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19</a:t>
            </a:fld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974CDF2-6650-D0E0-7149-43D3BB1DFC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20" y="1844824"/>
            <a:ext cx="8043948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848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ADFF35-12EB-966B-A0F1-11B92B1E4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 вложенных циклов </a:t>
            </a:r>
            <a:br>
              <a:rPr lang="ru-RU" dirty="0"/>
            </a:br>
            <a:r>
              <a:rPr lang="ru-RU" sz="2400" i="1" dirty="0"/>
              <a:t>(</a:t>
            </a:r>
            <a:r>
              <a:rPr lang="en-US" sz="1200" i="1" dirty="0"/>
              <a:t>NLJ</a:t>
            </a:r>
            <a:r>
              <a:rPr lang="ru-RU" sz="1200" i="1" dirty="0"/>
              <a:t> – </a:t>
            </a:r>
            <a:r>
              <a:rPr lang="ru-RU" sz="1200" i="1" dirty="0" err="1"/>
              <a:t>Nested</a:t>
            </a:r>
            <a:r>
              <a:rPr lang="ru-RU" sz="1200" i="1" dirty="0"/>
              <a:t> </a:t>
            </a:r>
            <a:r>
              <a:rPr lang="en-US" sz="1200" i="1" dirty="0"/>
              <a:t>Loop Join</a:t>
            </a:r>
            <a:r>
              <a:rPr lang="ru-RU" sz="1200" i="1" dirty="0"/>
              <a:t>) - Стоимости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44F5B4-64C1-032B-0E41-AFFF24888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3955169"/>
            <a:ext cx="7848872" cy="28083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</a:t>
            </a:r>
            <a:r>
              <a:rPr lang="ru-RU" dirty="0"/>
              <a:t>(</a:t>
            </a:r>
            <a:r>
              <a:rPr lang="en-US" dirty="0"/>
              <a:t>Q</a:t>
            </a:r>
            <a:r>
              <a:rPr lang="ru-RU" baseline="-25000" dirty="0"/>
              <a:t>1</a:t>
            </a:r>
            <a:r>
              <a:rPr lang="ru-RU" dirty="0"/>
              <a:t>), </a:t>
            </a:r>
            <a:r>
              <a:rPr lang="en-US" dirty="0"/>
              <a:t>T</a:t>
            </a:r>
            <a:r>
              <a:rPr lang="ru-RU" dirty="0"/>
              <a:t>(</a:t>
            </a:r>
            <a:r>
              <a:rPr lang="en-US" dirty="0"/>
              <a:t>Q</a:t>
            </a:r>
            <a:r>
              <a:rPr lang="ru-RU" baseline="-25000" dirty="0"/>
              <a:t>2</a:t>
            </a:r>
            <a:r>
              <a:rPr lang="ru-RU" dirty="0"/>
              <a:t>) – число кортежей в таблицах подзапросов </a:t>
            </a:r>
            <a:r>
              <a:rPr lang="en-US" dirty="0"/>
              <a:t>Q</a:t>
            </a:r>
            <a:r>
              <a:rPr lang="ru-RU" baseline="-25000" dirty="0"/>
              <a:t>1 </a:t>
            </a:r>
            <a:r>
              <a:rPr lang="ru-RU" dirty="0"/>
              <a:t>и </a:t>
            </a:r>
            <a:r>
              <a:rPr lang="en-US" dirty="0"/>
              <a:t>Q</a:t>
            </a:r>
            <a:r>
              <a:rPr lang="ru-RU" baseline="-25000" dirty="0"/>
              <a:t>2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en-US" dirty="0"/>
              <a:t>B</a:t>
            </a:r>
            <a:r>
              <a:rPr lang="ru-RU" dirty="0"/>
              <a:t>(</a:t>
            </a:r>
            <a:r>
              <a:rPr lang="en-US" dirty="0"/>
              <a:t>Q</a:t>
            </a:r>
            <a:r>
              <a:rPr lang="ru-RU" baseline="-25000" dirty="0"/>
              <a:t>1</a:t>
            </a:r>
            <a:r>
              <a:rPr lang="ru-RU" dirty="0"/>
              <a:t>) – число блоков в таблице </a:t>
            </a:r>
            <a:r>
              <a:rPr lang="en-US" dirty="0"/>
              <a:t>Q</a:t>
            </a:r>
            <a:r>
              <a:rPr lang="ru-RU" baseline="-25000" dirty="0"/>
              <a:t>1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ru-RU" dirty="0"/>
              <a:t>С</a:t>
            </a:r>
            <a:r>
              <a:rPr lang="en-US" baseline="-25000" dirty="0"/>
              <a:t>I</a:t>
            </a:r>
            <a:r>
              <a:rPr lang="ru-RU" baseline="-25000" dirty="0"/>
              <a:t>/</a:t>
            </a:r>
            <a:r>
              <a:rPr lang="en-US" baseline="-25000" dirty="0"/>
              <a:t>O</a:t>
            </a:r>
            <a:r>
              <a:rPr lang="ru-RU" dirty="0"/>
              <a:t>(</a:t>
            </a:r>
            <a:r>
              <a:rPr lang="en-US" dirty="0"/>
              <a:t>Q</a:t>
            </a:r>
            <a:r>
              <a:rPr lang="ru-RU" baseline="-25000" dirty="0"/>
              <a:t>2</a:t>
            </a:r>
            <a:r>
              <a:rPr lang="ru-RU" dirty="0"/>
              <a:t>) – время ввода-вывода для получения таблицы </a:t>
            </a:r>
            <a:r>
              <a:rPr lang="en-US" dirty="0"/>
              <a:t>Q</a:t>
            </a:r>
            <a:r>
              <a:rPr lang="ru-RU" baseline="-25000" dirty="0"/>
              <a:t>2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en-US" dirty="0"/>
              <a:t>b</a:t>
            </a:r>
            <a:r>
              <a:rPr lang="ru-RU" dirty="0"/>
              <a:t> – число блоков в буфере для </a:t>
            </a:r>
            <a:r>
              <a:rPr lang="en-US" dirty="0"/>
              <a:t>Q</a:t>
            </a:r>
            <a:r>
              <a:rPr lang="ru-RU" baseline="-25000" dirty="0"/>
              <a:t>1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en-US" dirty="0" err="1"/>
              <a:t>C</a:t>
            </a:r>
            <a:r>
              <a:rPr lang="en-US" baseline="-25000" dirty="0" err="1"/>
              <a:t>comp</a:t>
            </a:r>
            <a:r>
              <a:rPr lang="ru-RU" dirty="0"/>
              <a:t> – время соединения (сравнения) двух кортежей из таблиц </a:t>
            </a:r>
            <a:r>
              <a:rPr lang="en-US" dirty="0"/>
              <a:t>Q</a:t>
            </a:r>
            <a:r>
              <a:rPr lang="ru-RU" baseline="-25000" dirty="0"/>
              <a:t>1 </a:t>
            </a:r>
            <a:r>
              <a:rPr lang="ru-RU" dirty="0"/>
              <a:t>и </a:t>
            </a:r>
            <a:r>
              <a:rPr lang="en-US" dirty="0"/>
              <a:t>Q</a:t>
            </a:r>
            <a:r>
              <a:rPr lang="ru-RU" baseline="-25000" dirty="0"/>
              <a:t>2</a:t>
            </a:r>
            <a:r>
              <a:rPr lang="ru-RU" dirty="0"/>
              <a:t> в оперативной памяти (ОП); </a:t>
            </a:r>
          </a:p>
          <a:p>
            <a:pPr marL="0" indent="0">
              <a:buNone/>
            </a:pPr>
            <a:r>
              <a:rPr lang="ru-RU" dirty="0"/>
              <a:t>        - округление с недостатком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BFEBA62-336B-C087-4519-9738CA62D4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20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843602-FB73-31D0-21C8-237357ACD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70" y="1964036"/>
            <a:ext cx="3640230" cy="1412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26EA32-4F44-5CD8-0A5B-3E217E06FDD0}"/>
              </a:ext>
            </a:extLst>
          </p:cNvPr>
          <p:cNvSpPr txBox="1"/>
          <p:nvPr/>
        </p:nvSpPr>
        <p:spPr>
          <a:xfrm>
            <a:off x="5313845" y="1703814"/>
            <a:ext cx="36402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 второй формуле учитывается возможность многопроходного варианта соединения таблицы </a:t>
            </a:r>
            <a:r>
              <a:rPr lang="en-US" sz="18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</a:t>
            </a:r>
            <a:r>
              <a:rPr lang="ru-RU" sz="1800" i="1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ru-RU" sz="18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если таблица </a:t>
            </a:r>
            <a:r>
              <a:rPr lang="en-US" sz="18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</a:t>
            </a:r>
            <a:r>
              <a:rPr lang="ru-RU" sz="1800" i="1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ru-RU" sz="18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умещается в "</a:t>
            </a:r>
            <a:r>
              <a:rPr lang="en-US" sz="18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ru-RU" sz="18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блоках буфера оперативной памяти. </a:t>
            </a:r>
          </a:p>
        </p:txBody>
      </p:sp>
    </p:spTree>
    <p:extLst>
      <p:ext uri="{BB962C8B-B14F-4D97-AF65-F5344CB8AC3E}">
        <p14:creationId xmlns:p14="http://schemas.microsoft.com/office/powerpoint/2010/main" val="1566797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9544F7-CEF0-5BDB-75F8-E35A063E2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 сортировки-слияния</a:t>
            </a:r>
            <a:br>
              <a:rPr lang="ru-RU" dirty="0"/>
            </a:br>
            <a:r>
              <a:rPr lang="ru-RU" sz="1200" i="1" dirty="0"/>
              <a:t>(</a:t>
            </a:r>
            <a:r>
              <a:rPr lang="en-US" sz="1200" i="1" dirty="0"/>
              <a:t>SMJ – Sort Merge Join</a:t>
            </a:r>
            <a:r>
              <a:rPr lang="ru-RU" sz="1200" i="1" dirty="0"/>
              <a:t>)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40FC5A-FC7D-CA7C-9D31-36D6E9F192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21</a:t>
            </a:fld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EAF92E9-C23B-8F2A-1140-1B6B16545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52" y="1412776"/>
            <a:ext cx="7704856" cy="39024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EAF08A-D626-FBB1-8BC8-320A3560915B}"/>
              </a:ext>
            </a:extLst>
          </p:cNvPr>
          <p:cNvSpPr txBox="1"/>
          <p:nvPr/>
        </p:nvSpPr>
        <p:spPr>
          <a:xfrm>
            <a:off x="1763688" y="5660443"/>
            <a:ext cx="5256584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Условием соединения может быть только равенство атрибутов соединения</a:t>
            </a:r>
          </a:p>
        </p:txBody>
      </p:sp>
    </p:spTree>
    <p:extLst>
      <p:ext uri="{BB962C8B-B14F-4D97-AF65-F5344CB8AC3E}">
        <p14:creationId xmlns:p14="http://schemas.microsoft.com/office/powerpoint/2010/main" val="783656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8193EC-E770-61BC-A7A7-361CD82F6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 сортировки-слияния</a:t>
            </a:r>
            <a:br>
              <a:rPr lang="ru-RU" dirty="0"/>
            </a:br>
            <a:r>
              <a:rPr lang="ru-RU" dirty="0"/>
              <a:t>(</a:t>
            </a:r>
            <a:r>
              <a:rPr lang="ru-RU" sz="1200" i="1" dirty="0"/>
              <a:t>SMJ – </a:t>
            </a:r>
            <a:r>
              <a:rPr lang="ru-RU" sz="1200" i="1" dirty="0" err="1"/>
              <a:t>Sort</a:t>
            </a:r>
            <a:r>
              <a:rPr lang="ru-RU" sz="1200" i="1" dirty="0"/>
              <a:t> </a:t>
            </a:r>
            <a:r>
              <a:rPr lang="ru-RU" sz="1200" i="1" dirty="0" err="1"/>
              <a:t>Merge</a:t>
            </a:r>
            <a:r>
              <a:rPr lang="ru-RU" sz="1200" i="1" dirty="0"/>
              <a:t> </a:t>
            </a:r>
            <a:r>
              <a:rPr lang="ru-RU" sz="1200" i="1" dirty="0" err="1"/>
              <a:t>Join</a:t>
            </a:r>
            <a:r>
              <a:rPr lang="ru-RU" sz="1200" i="1" dirty="0"/>
              <a:t>) – схема назначения буферов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580DE6-7F79-EDF3-00E0-4701AD3ED0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22</a:t>
            </a:fld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5C2B3D4-B818-A750-9AD8-E7E77B9156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584" y="1628799"/>
            <a:ext cx="7272808" cy="378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877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276CF5-36AD-84B1-6EC0-D0007D454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 сортировки-слияния</a:t>
            </a:r>
            <a:br>
              <a:rPr lang="ru-RU" dirty="0"/>
            </a:br>
            <a:r>
              <a:rPr lang="ru-RU" sz="1200" i="1" dirty="0"/>
              <a:t>(</a:t>
            </a:r>
            <a:r>
              <a:rPr lang="en-US" sz="1200" i="1" dirty="0"/>
              <a:t>SMJ – Sort Merge Join</a:t>
            </a:r>
            <a:r>
              <a:rPr lang="ru-RU" sz="1200" i="1" dirty="0"/>
              <a:t>) – оценка стоимости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FBE020-A043-5CD8-3B54-BCCED1B74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3638" y="5075748"/>
            <a:ext cx="6984775" cy="165192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T</a:t>
            </a:r>
            <a:r>
              <a:rPr lang="ru-RU" dirty="0"/>
              <a:t>(</a:t>
            </a:r>
            <a:r>
              <a:rPr lang="en-US" dirty="0"/>
              <a:t>Q</a:t>
            </a:r>
            <a:r>
              <a:rPr lang="ru-RU" baseline="-25000" dirty="0"/>
              <a:t>1</a:t>
            </a:r>
            <a:r>
              <a:rPr lang="ru-RU" dirty="0"/>
              <a:t>), </a:t>
            </a:r>
            <a:r>
              <a:rPr lang="en-US" dirty="0"/>
              <a:t>T</a:t>
            </a:r>
            <a:r>
              <a:rPr lang="ru-RU" dirty="0"/>
              <a:t>(</a:t>
            </a:r>
            <a:r>
              <a:rPr lang="en-US" dirty="0"/>
              <a:t>Q</a:t>
            </a:r>
            <a:r>
              <a:rPr lang="ru-RU" baseline="-25000" dirty="0"/>
              <a:t>2</a:t>
            </a:r>
            <a:r>
              <a:rPr lang="ru-RU" dirty="0"/>
              <a:t>) – число кортежей в таблицах </a:t>
            </a:r>
            <a:r>
              <a:rPr lang="en-US" dirty="0"/>
              <a:t>Q</a:t>
            </a:r>
            <a:r>
              <a:rPr lang="ru-RU" baseline="-25000" dirty="0"/>
              <a:t>1 </a:t>
            </a:r>
            <a:r>
              <a:rPr lang="ru-RU" dirty="0"/>
              <a:t>и </a:t>
            </a:r>
            <a:r>
              <a:rPr lang="en-US" dirty="0"/>
              <a:t>Q</a:t>
            </a:r>
            <a:r>
              <a:rPr lang="ru-RU" baseline="-25000" dirty="0"/>
              <a:t>2</a:t>
            </a:r>
            <a:r>
              <a:rPr lang="ru-RU" dirty="0"/>
              <a:t>;  </a:t>
            </a:r>
          </a:p>
          <a:p>
            <a:pPr marL="0" indent="0">
              <a:buNone/>
            </a:pPr>
            <a:r>
              <a:rPr lang="en-US" dirty="0"/>
              <a:t>B</a:t>
            </a:r>
            <a:r>
              <a:rPr lang="ru-RU" dirty="0"/>
              <a:t>(</a:t>
            </a:r>
            <a:r>
              <a:rPr lang="en-US" dirty="0"/>
              <a:t>Q</a:t>
            </a:r>
            <a:r>
              <a:rPr lang="ru-RU" baseline="-25000" dirty="0"/>
              <a:t>1</a:t>
            </a:r>
            <a:r>
              <a:rPr lang="ru-RU" dirty="0"/>
              <a:t>), </a:t>
            </a:r>
            <a:r>
              <a:rPr lang="en-US" dirty="0"/>
              <a:t>B</a:t>
            </a:r>
            <a:r>
              <a:rPr lang="ru-RU" dirty="0"/>
              <a:t>(</a:t>
            </a:r>
            <a:r>
              <a:rPr lang="en-US" dirty="0"/>
              <a:t>Q</a:t>
            </a:r>
            <a:r>
              <a:rPr lang="ru-RU" baseline="-25000" dirty="0"/>
              <a:t>2</a:t>
            </a:r>
            <a:r>
              <a:rPr lang="ru-RU" dirty="0"/>
              <a:t>) – число блоков в таблицах </a:t>
            </a:r>
            <a:r>
              <a:rPr lang="en-US" dirty="0"/>
              <a:t>Q</a:t>
            </a:r>
            <a:r>
              <a:rPr lang="ru-RU" baseline="-25000" dirty="0"/>
              <a:t>1 </a:t>
            </a:r>
            <a:r>
              <a:rPr lang="ru-RU" dirty="0"/>
              <a:t>и </a:t>
            </a:r>
            <a:r>
              <a:rPr lang="en-US" dirty="0"/>
              <a:t>Q</a:t>
            </a:r>
            <a:r>
              <a:rPr lang="ru-RU" baseline="-25000" dirty="0"/>
              <a:t>2</a:t>
            </a:r>
            <a:r>
              <a:rPr lang="ru-RU" dirty="0"/>
              <a:t>; </a:t>
            </a:r>
          </a:p>
          <a:p>
            <a:pPr marL="0" indent="0">
              <a:buNone/>
            </a:pPr>
            <a:r>
              <a:rPr lang="en-US" dirty="0"/>
              <a:t>I</a:t>
            </a:r>
            <a:r>
              <a:rPr lang="ru-RU" dirty="0"/>
              <a:t>(</a:t>
            </a:r>
            <a:r>
              <a:rPr lang="en-US" dirty="0"/>
              <a:t>Q</a:t>
            </a:r>
            <a:r>
              <a:rPr lang="ru-RU" baseline="-25000" dirty="0"/>
              <a:t>1</a:t>
            </a:r>
            <a:r>
              <a:rPr lang="ru-RU" dirty="0"/>
              <a:t>,</a:t>
            </a:r>
            <a:r>
              <a:rPr lang="en-US" dirty="0"/>
              <a:t>a</a:t>
            </a:r>
            <a:r>
              <a:rPr lang="ru-RU" dirty="0"/>
              <a:t>), </a:t>
            </a:r>
            <a:r>
              <a:rPr lang="en-US" dirty="0"/>
              <a:t>I</a:t>
            </a:r>
            <a:r>
              <a:rPr lang="ru-RU" dirty="0"/>
              <a:t>(</a:t>
            </a:r>
            <a:r>
              <a:rPr lang="en-US" dirty="0"/>
              <a:t>Q</a:t>
            </a:r>
            <a:r>
              <a:rPr lang="ru-RU" baseline="-25000" dirty="0"/>
              <a:t>2</a:t>
            </a:r>
            <a:r>
              <a:rPr lang="ru-RU" dirty="0"/>
              <a:t>,</a:t>
            </a:r>
            <a:r>
              <a:rPr lang="en-US" dirty="0"/>
              <a:t>a</a:t>
            </a:r>
            <a:r>
              <a:rPr lang="ru-RU" dirty="0"/>
              <a:t>) – мощности атрибутов соединения "а" в таблицах </a:t>
            </a:r>
            <a:r>
              <a:rPr lang="en-US" dirty="0"/>
              <a:t>Q</a:t>
            </a:r>
            <a:r>
              <a:rPr lang="ru-RU" baseline="-25000" dirty="0"/>
              <a:t>1 </a:t>
            </a:r>
            <a:r>
              <a:rPr lang="ru-RU" dirty="0"/>
              <a:t>и </a:t>
            </a:r>
            <a:r>
              <a:rPr lang="en-US" dirty="0"/>
              <a:t>Q</a:t>
            </a:r>
            <a:r>
              <a:rPr lang="ru-RU" baseline="-25000" dirty="0"/>
              <a:t>2</a:t>
            </a:r>
            <a:r>
              <a:rPr lang="ru-RU" dirty="0"/>
              <a:t>; </a:t>
            </a:r>
          </a:p>
          <a:p>
            <a:pPr marL="0" indent="0">
              <a:buNone/>
            </a:pPr>
            <a:r>
              <a:rPr lang="en-US" dirty="0"/>
              <a:t>b</a:t>
            </a:r>
            <a:r>
              <a:rPr lang="ru-RU" dirty="0"/>
              <a:t> – число блоков в ОП, отводимых под сортировку таблицы </a:t>
            </a:r>
            <a:r>
              <a:rPr lang="en-US" dirty="0"/>
              <a:t>Q</a:t>
            </a:r>
            <a:r>
              <a:rPr lang="ru-RU" baseline="-25000" dirty="0"/>
              <a:t>1</a:t>
            </a:r>
            <a:r>
              <a:rPr lang="ru-RU" dirty="0"/>
              <a:t> или </a:t>
            </a:r>
            <a:r>
              <a:rPr lang="en-US" dirty="0"/>
              <a:t>Q</a:t>
            </a:r>
            <a:r>
              <a:rPr lang="ru-RU" baseline="-25000" dirty="0"/>
              <a:t>2</a:t>
            </a:r>
            <a:r>
              <a:rPr lang="ru-RU" dirty="0"/>
              <a:t>;</a:t>
            </a:r>
          </a:p>
          <a:p>
            <a:pPr marL="0" indent="0">
              <a:buFont typeface="Arial" pitchFamily="34" charset="0"/>
              <a:buNone/>
            </a:pPr>
            <a:r>
              <a:rPr lang="ru-RU" dirty="0" err="1"/>
              <a:t>Ccomp</a:t>
            </a:r>
            <a:r>
              <a:rPr lang="ru-RU" dirty="0"/>
              <a:t> – время соединения двух кортежей из таблиц Q1 и Q2  в ОП; </a:t>
            </a:r>
          </a:p>
          <a:p>
            <a:pPr marL="0" indent="0">
              <a:buFont typeface="Arial" pitchFamily="34" charset="0"/>
              <a:buNone/>
            </a:pPr>
            <a:r>
              <a:rPr lang="ru-RU" dirty="0" err="1"/>
              <a:t>Cmove</a:t>
            </a:r>
            <a:r>
              <a:rPr lang="ru-RU" dirty="0"/>
              <a:t> – время перемещения одного кортежа в ОП при сортировке; </a:t>
            </a:r>
          </a:p>
          <a:p>
            <a:pPr marL="0" indent="0">
              <a:buFont typeface="Arial" pitchFamily="34" charset="0"/>
              <a:buNone/>
            </a:pPr>
            <a:r>
              <a:rPr lang="ru-RU" dirty="0"/>
              <a:t>CB – время чтения/записи одного блока на диск;</a:t>
            </a:r>
          </a:p>
          <a:p>
            <a:pPr marL="0" indent="0">
              <a:buFont typeface="Arial" pitchFamily="34" charset="0"/>
              <a:buNone/>
            </a:pPr>
            <a:r>
              <a:rPr lang="ru-RU" dirty="0"/>
              <a:t>Округления с избытком, недостатком [] не учитывается, если таблицы уже были отсортированы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BF1F17-B6FC-839C-4B69-B5C012413F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23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1C2D61F-7D96-155F-3C41-EAF783F78A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134"/>
          <a:stretch/>
        </p:blipFill>
        <p:spPr>
          <a:xfrm>
            <a:off x="683568" y="1400054"/>
            <a:ext cx="6984776" cy="367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44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1146BA-6776-B452-A7DC-A5FC75D86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 хешированного соединения</a:t>
            </a:r>
            <a:br>
              <a:rPr lang="ru-RU" dirty="0"/>
            </a:br>
            <a:r>
              <a:rPr lang="ru-RU" sz="1200" i="1" dirty="0"/>
              <a:t>(</a:t>
            </a:r>
            <a:r>
              <a:rPr lang="en-US" sz="1200" i="1" dirty="0"/>
              <a:t>HJ – Hash Join</a:t>
            </a:r>
            <a:r>
              <a:rPr lang="ru-RU" sz="1200" i="1" dirty="0"/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A032BA-0AA7-4953-13AE-0E2F70337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265" y="4821572"/>
            <a:ext cx="7848872" cy="178345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хешированном соединении выполняются следующие шаги:</a:t>
            </a:r>
          </a:p>
          <a:p>
            <a:pPr marL="0" indent="0">
              <a:buNone/>
            </a:pPr>
            <a:r>
              <a:rPr lang="ru-RU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Выбирается хеш-функция </a:t>
            </a:r>
            <a:r>
              <a:rPr lang="en-US" sz="20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20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20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ru-RU" sz="20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marL="0" indent="0">
              <a:buNone/>
            </a:pPr>
            <a:r>
              <a:rPr lang="ru-RU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Записи соединяемых таблиц </a:t>
            </a:r>
            <a:r>
              <a:rPr lang="ru-RU" sz="20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хешируются</a:t>
            </a:r>
            <a:r>
              <a:rPr lang="ru-RU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т.е. </a:t>
            </a:r>
            <a:r>
              <a:rPr lang="ru-RU" sz="20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создаются хеш-разделы</a:t>
            </a:r>
            <a:r>
              <a:rPr lang="ru-RU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indent="0">
              <a:buNone/>
            </a:pPr>
            <a:r>
              <a:rPr lang="ru-RU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Выполняется соединение записей соответствующих разделов по алгоритму </a:t>
            </a:r>
            <a:r>
              <a:rPr lang="en-US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NLJ</a:t>
            </a:r>
            <a:r>
              <a:rPr lang="ru-RU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</a:t>
            </a:r>
            <a:r>
              <a:rPr lang="en-US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SMJ</a:t>
            </a:r>
            <a:r>
              <a:rPr lang="ru-RU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indent="0">
              <a:buNone/>
            </a:pPr>
            <a:endParaRPr lang="ru-RU" sz="20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ru-RU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 метод используется при условии </a:t>
            </a:r>
            <a:br>
              <a:rPr lang="ru-RU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20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равенства атрибутов соединения для очень больших соединяемых таблиц</a:t>
            </a:r>
            <a:r>
              <a:rPr lang="ru-RU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B80B40-FE47-6F94-8356-8D64D4FF1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F197FB-55DA-16EB-6FD6-BF2DAE984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13" y="1484784"/>
            <a:ext cx="8017443" cy="314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584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153710-C320-ABDA-3492-ACD4A1614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 хешированного соединения</a:t>
            </a:r>
            <a:r>
              <a:rPr lang="ru-RU" sz="1200" dirty="0"/>
              <a:t/>
            </a:r>
            <a:br>
              <a:rPr lang="ru-RU" sz="1200" dirty="0"/>
            </a:br>
            <a:r>
              <a:rPr lang="ru-RU" sz="1200" i="1" dirty="0"/>
              <a:t>(</a:t>
            </a:r>
            <a:r>
              <a:rPr lang="en-US" sz="1200" i="1" dirty="0"/>
              <a:t>HJ – Hash Join</a:t>
            </a:r>
            <a:r>
              <a:rPr lang="ru-RU" sz="1200" i="1" dirty="0"/>
              <a:t>) – пример соединения в виде таблицы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2EE22D-0795-2790-53D3-DBFEF5B6C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BBFC8075-6412-808E-09B4-5012DA8A2FDE}"/>
              </a:ext>
            </a:extLst>
          </p:cNvPr>
          <p:cNvSpPr txBox="1">
            <a:spLocks/>
          </p:cNvSpPr>
          <p:nvPr/>
        </p:nvSpPr>
        <p:spPr>
          <a:xfrm>
            <a:off x="755576" y="1371657"/>
            <a:ext cx="8326638" cy="852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spcBef>
                <a:spcPts val="0"/>
              </a:spcBef>
              <a:buNone/>
            </a:pPr>
            <a:r>
              <a:rPr lang="en-US" dirty="0" err="1"/>
              <a:t>R</a:t>
            </a:r>
            <a:r>
              <a:rPr lang="en-US" baseline="-25000" dirty="0" err="1"/>
              <a:t>i</a:t>
            </a:r>
            <a:r>
              <a:rPr lang="ru-RU" dirty="0"/>
              <a:t> – множество номеров счетов из </a:t>
            </a:r>
            <a:r>
              <a:rPr lang="en-US" dirty="0"/>
              <a:t>R</a:t>
            </a:r>
            <a:r>
              <a:rPr lang="ru-RU" dirty="0"/>
              <a:t>, у которых остаток от деления на 10 равен </a:t>
            </a:r>
            <a:r>
              <a:rPr lang="en-US" dirty="0" err="1"/>
              <a:t>i</a:t>
            </a:r>
            <a:r>
              <a:rPr lang="ru-RU" dirty="0"/>
              <a:t>;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S</a:t>
            </a:r>
            <a:r>
              <a:rPr lang="en-US" baseline="-25000" dirty="0"/>
              <a:t>i</a:t>
            </a:r>
            <a:r>
              <a:rPr lang="ru-RU" dirty="0"/>
              <a:t> – множество номеров счетов из </a:t>
            </a:r>
            <a:r>
              <a:rPr lang="en-US" dirty="0"/>
              <a:t>S</a:t>
            </a:r>
            <a:r>
              <a:rPr lang="ru-RU" dirty="0"/>
              <a:t>, у которых остаток от деления на 10 равен </a:t>
            </a:r>
            <a:r>
              <a:rPr lang="en-US" dirty="0" err="1"/>
              <a:t>i</a:t>
            </a:r>
            <a:r>
              <a:rPr lang="ru-RU" dirty="0"/>
              <a:t>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00DE15-8A38-994C-0D39-BFDB9FAA3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51" y="2219094"/>
            <a:ext cx="7450910" cy="30243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D1EB55-24C3-9F6F-FC7D-3F19ED72ADE9}"/>
              </a:ext>
            </a:extLst>
          </p:cNvPr>
          <p:cNvSpPr txBox="1"/>
          <p:nvPr/>
        </p:nvSpPr>
        <p:spPr>
          <a:xfrm>
            <a:off x="981021" y="5496786"/>
            <a:ext cx="78757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качестве хеш-функции выбрано деление номера счета по модулю 10.</a:t>
            </a:r>
          </a:p>
          <a:p>
            <a:r>
              <a:rPr lang="ru-RU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Соединение выполняется по диагонали, т.е. соединяются записи соответствующих разделов. </a:t>
            </a:r>
          </a:p>
        </p:txBody>
      </p:sp>
    </p:spTree>
    <p:extLst>
      <p:ext uri="{BB962C8B-B14F-4D97-AF65-F5344CB8AC3E}">
        <p14:creationId xmlns:p14="http://schemas.microsoft.com/office/powerpoint/2010/main" val="4055082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82803-46AE-2E7E-4814-8252D7445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 хешированного соединения</a:t>
            </a:r>
            <a:br>
              <a:rPr lang="ru-RU" dirty="0"/>
            </a:br>
            <a:r>
              <a:rPr lang="ru-RU" sz="1200" i="1" dirty="0"/>
              <a:t>(</a:t>
            </a:r>
            <a:r>
              <a:rPr lang="en-US" sz="1200" i="1" dirty="0"/>
              <a:t>HJ – Hash Join</a:t>
            </a:r>
            <a:r>
              <a:rPr lang="ru-RU" sz="1200" i="1" dirty="0"/>
              <a:t>) – варианты реализации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6122B4-74B5-5EA5-0C02-AD2947712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9B135F88-882F-B6FA-4EAF-E2CC2B5A1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97" y="1268760"/>
            <a:ext cx="8184859" cy="5688631"/>
          </a:xfrm>
        </p:spPr>
        <p:txBody>
          <a:bodyPr anchor="t">
            <a:normAutofit/>
          </a:bodyPr>
          <a:lstStyle/>
          <a:p>
            <a:r>
              <a:rPr lang="ru-RU" dirty="0"/>
              <a:t>Возможны два варианта реализации хешированного соединения.</a:t>
            </a:r>
          </a:p>
          <a:p>
            <a:pPr>
              <a:buFont typeface="+mj-lt"/>
              <a:buAutoNum type="arabicPeriod"/>
            </a:pPr>
            <a:r>
              <a:rPr lang="ru-RU" dirty="0"/>
              <a:t>Однопроходной вариант</a:t>
            </a:r>
          </a:p>
          <a:p>
            <a:pPr>
              <a:buFont typeface="+mj-lt"/>
              <a:buAutoNum type="arabicPeriod"/>
            </a:pPr>
            <a:endParaRPr lang="ru-RU" dirty="0"/>
          </a:p>
          <a:p>
            <a:pPr>
              <a:buFont typeface="+mj-lt"/>
              <a:buAutoNum type="arabicPeriod"/>
            </a:pPr>
            <a:endParaRPr lang="ru-RU" dirty="0"/>
          </a:p>
          <a:p>
            <a:pPr>
              <a:buFont typeface="+mj-lt"/>
              <a:buAutoNum type="arabicPeriod"/>
            </a:pPr>
            <a:endParaRPr lang="ru-RU" dirty="0"/>
          </a:p>
          <a:p>
            <a:pPr>
              <a:buFont typeface="+mj-lt"/>
              <a:buAutoNum type="arabicPeriod"/>
            </a:pPr>
            <a:endParaRPr lang="ru-RU" dirty="0"/>
          </a:p>
          <a:p>
            <a:pPr>
              <a:buFont typeface="+mj-lt"/>
              <a:buAutoNum type="arabicPeriod"/>
            </a:pPr>
            <a:endParaRPr lang="ru-RU" dirty="0"/>
          </a:p>
          <a:p>
            <a:pPr>
              <a:buFont typeface="+mj-lt"/>
              <a:buAutoNum type="arabicPeriod"/>
            </a:pPr>
            <a:r>
              <a:rPr lang="ru-RU" dirty="0"/>
              <a:t>Двухпроходной вариант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9C4D010-5BA5-C0DA-0ED4-D355A3A1F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018364"/>
            <a:ext cx="5073415" cy="166551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2F75E8E-604D-F72B-3521-F2835B4BC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9" y="4382926"/>
            <a:ext cx="4520034" cy="22144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760C4D-AB87-9680-D2BC-A34B34AEDF0A}"/>
              </a:ext>
            </a:extLst>
          </p:cNvPr>
          <p:cNvSpPr txBox="1"/>
          <p:nvPr/>
        </p:nvSpPr>
        <p:spPr>
          <a:xfrm>
            <a:off x="5615608" y="2217307"/>
            <a:ext cx="35283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Последовательно читаются блоки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диска. 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каждой записи из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выполняется хеш-функция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 значение атрибута соединения данной записи сравнивается со значениями атрибута соединения записей раздела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en-US" sz="120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7677A7-CDA4-3AB5-E565-AC299DE5FBB2}"/>
              </a:ext>
            </a:extLst>
          </p:cNvPr>
          <p:cNvSpPr txBox="1"/>
          <p:nvPr/>
        </p:nvSpPr>
        <p:spPr>
          <a:xfrm>
            <a:off x="5203603" y="4488907"/>
            <a:ext cx="30773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Таблицы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хешируются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их </a:t>
            </a:r>
            <a:r>
              <a:rPr lang="ru-RU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разделы {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en-US" sz="1200" u="sng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и {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en-US" sz="1200" u="sng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сохраняются на диске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Далее в ОП читается весь раздел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ru-RU" sz="120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 в буфер последовательно читаются блоки раздела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Их записи соединяются с записями раздела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ru-RU" sz="120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Далее в оперативную память читается весь раздел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ru-RU" sz="120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далее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поблочно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соединяется с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ru-RU" sz="120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т.д.</a:t>
            </a:r>
          </a:p>
        </p:txBody>
      </p:sp>
    </p:spTree>
    <p:extLst>
      <p:ext uri="{BB962C8B-B14F-4D97-AF65-F5344CB8AC3E}">
        <p14:creationId xmlns:p14="http://schemas.microsoft.com/office/powerpoint/2010/main" val="482592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49EC0-6A49-C55A-07B4-E8D4EC376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Особенность </a:t>
            </a:r>
            <a:r>
              <a:rPr lang="en-GB" dirty="0"/>
              <a:t>HJ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144EEE-7129-017C-7389-C44D16ABC6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56A99067-F12C-54E4-0518-F5DE3FCBD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34" y="1309689"/>
            <a:ext cx="8596668" cy="823911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 методе </a:t>
            </a:r>
            <a:r>
              <a:rPr lang="en-US" dirty="0"/>
              <a:t>HJ</a:t>
            </a:r>
            <a:r>
              <a:rPr lang="ru-RU" dirty="0"/>
              <a:t> соединение таблиц </a:t>
            </a:r>
            <a:r>
              <a:rPr lang="en-US" dirty="0"/>
              <a:t>R</a:t>
            </a:r>
            <a:r>
              <a:rPr lang="ru-RU" dirty="0"/>
              <a:t> и </a:t>
            </a:r>
            <a:r>
              <a:rPr lang="en-US" dirty="0"/>
              <a:t>S</a:t>
            </a:r>
            <a:r>
              <a:rPr lang="ru-RU" dirty="0"/>
              <a:t> может выполняться </a:t>
            </a:r>
            <a:r>
              <a:rPr lang="ru-RU" b="1" i="1" dirty="0"/>
              <a:t>асинхронно</a:t>
            </a:r>
            <a:r>
              <a:rPr lang="ru-RU" dirty="0"/>
              <a:t>, по мере поступления записей этих таблиц с других серверов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53201A6-2D6B-AF91-230A-8DC380EFB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729" y="2219111"/>
            <a:ext cx="7035800" cy="332920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BF71A53-2060-597F-E16A-EA8B5A01ED6F}"/>
              </a:ext>
            </a:extLst>
          </p:cNvPr>
          <p:cNvSpPr/>
          <p:nvPr/>
        </p:nvSpPr>
        <p:spPr>
          <a:xfrm>
            <a:off x="243760" y="5731481"/>
            <a:ext cx="9471739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sz="16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1 - 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сравнение поступившей записи с записями соответствующего противоположного раздела; </a:t>
            </a: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sz="16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– вывод соединения двух записей при успешном сравнении атрибутов соединения;</a:t>
            </a: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ru-RU" sz="16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3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– сохранение поступившей записи в соответствующем разделе.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3639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E4C256-D788-FCC5-A14B-77C91AC84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Учет характеристик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D6AD36-0242-D772-C078-C832732E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008112"/>
          </a:xfrm>
        </p:spPr>
        <p:txBody>
          <a:bodyPr anchor="t">
            <a:normAutofit lnSpcReduction="10000"/>
          </a:bodyPr>
          <a:lstStyle/>
          <a:p>
            <a:r>
              <a:rPr lang="ru-RU" dirty="0"/>
              <a:t>Используются </a:t>
            </a:r>
            <a:r>
              <a:rPr lang="ru-RU" b="1" dirty="0"/>
              <a:t>наборы показателей</a:t>
            </a:r>
          </a:p>
          <a:p>
            <a:r>
              <a:rPr lang="ru-RU" dirty="0"/>
              <a:t>Показатели НЕ обновляются в реальном масштабе времени из-за больших издержек (обновляются избирательно)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26899D-AEDC-CEE0-0AB7-F4338FBD04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28</a:t>
            </a:fld>
            <a:endParaRPr lang="ru-RU"/>
          </a:p>
        </p:txBody>
      </p:sp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30F70E31-47AB-220D-7769-796D5C943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127766"/>
              </p:ext>
            </p:extLst>
          </p:nvPr>
        </p:nvGraphicFramePr>
        <p:xfrm>
          <a:off x="503548" y="2608120"/>
          <a:ext cx="8136904" cy="38150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4077533305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2343124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Объект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Примеры показателей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860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Базовая таблица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кардинальность;</a:t>
                      </a:r>
                      <a:endParaRPr lang="ru-RU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количество страниц (первичных страниц), занятых таблицей;</a:t>
                      </a:r>
                      <a:endParaRPr lang="ru-RU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доля табличного пространства, занимаемого таблицей;</a:t>
                      </a:r>
                      <a:endParaRPr lang="ru-RU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количество страниц переполнения для таблицы…</a:t>
                      </a:r>
                      <a:endParaRPr lang="ru-RU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119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Столбец базовой таблицы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количество различных значений в столбце;</a:t>
                      </a:r>
                      <a:endParaRPr lang="ru-RU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второе наибольшее/наименьшее значения в столбце;</a:t>
                      </a:r>
                      <a:endParaRPr lang="ru-RU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реальные значения в столбце и частота их вхождений;</a:t>
                      </a:r>
                      <a:endParaRPr lang="ru-RU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гистограммы распределения данных…</a:t>
                      </a:r>
                      <a:endParaRPr lang="ru-RU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14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Индекс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индикатор, указывающий, является ли индекс кластеризованным;</a:t>
                      </a:r>
                      <a:endParaRPr lang="ru-RU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количество листовых страниц в индексе;</a:t>
                      </a:r>
                      <a:endParaRPr lang="ru-RU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количество уровней в индексе….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96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11723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E4C256-D788-FCC5-A14B-77C91AC84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Учет распределений данных в столбцах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26899D-AEDC-CEE0-0AB7-F4338FBD04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BF8EB33-0353-FEDD-383A-CAF45351B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421" y="1291530"/>
            <a:ext cx="4427627" cy="66482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Select * From T1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Where F&lt;5</a:t>
            </a:r>
            <a:endParaRPr lang="ru-RU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8" name="Рисунок 7" descr="http://rema44.ru/resurs/study/optimize/optimize.files/image008.gif">
            <a:extLst>
              <a:ext uri="{FF2B5EF4-FFF2-40B4-BE49-F238E27FC236}">
                <a16:creationId xmlns:a16="http://schemas.microsoft.com/office/drawing/2014/main" id="{EDBCC77D-BD44-377A-40C8-A3E045B1214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880734"/>
            <a:ext cx="7180498" cy="229930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Стрелка вправо 6">
            <a:extLst>
              <a:ext uri="{FF2B5EF4-FFF2-40B4-BE49-F238E27FC236}">
                <a16:creationId xmlns:a16="http://schemas.microsoft.com/office/drawing/2014/main" id="{B87408B2-2422-122A-1D5A-29A7616507EA}"/>
              </a:ext>
            </a:extLst>
          </p:cNvPr>
          <p:cNvSpPr/>
          <p:nvPr/>
        </p:nvSpPr>
        <p:spPr>
          <a:xfrm>
            <a:off x="311576" y="2254708"/>
            <a:ext cx="439538" cy="1259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8726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E4C256-D788-FCC5-A14B-77C91AC84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Учет распределений данных в столбцах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26899D-AEDC-CEE0-0AB7-F4338FBD04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BF8EB33-0353-FEDD-383A-CAF45351B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421" y="1291530"/>
            <a:ext cx="4427627" cy="66482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Select * From T1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Where F&lt;5</a:t>
            </a:r>
            <a:endParaRPr lang="ru-RU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8" name="Рисунок 7" descr="http://rema44.ru/resurs/study/optimize/optimize.files/image008.gif">
            <a:extLst>
              <a:ext uri="{FF2B5EF4-FFF2-40B4-BE49-F238E27FC236}">
                <a16:creationId xmlns:a16="http://schemas.microsoft.com/office/drawing/2014/main" id="{EDBCC77D-BD44-377A-40C8-A3E045B1214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880734"/>
            <a:ext cx="7180498" cy="229930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Стрелка вправо 6">
            <a:extLst>
              <a:ext uri="{FF2B5EF4-FFF2-40B4-BE49-F238E27FC236}">
                <a16:creationId xmlns:a16="http://schemas.microsoft.com/office/drawing/2014/main" id="{B87408B2-2422-122A-1D5A-29A7616507EA}"/>
              </a:ext>
            </a:extLst>
          </p:cNvPr>
          <p:cNvSpPr/>
          <p:nvPr/>
        </p:nvSpPr>
        <p:spPr>
          <a:xfrm>
            <a:off x="311576" y="2254708"/>
            <a:ext cx="439538" cy="1259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C5E3B1A0-2602-3A0A-BDA7-BA508EFF277F}"/>
              </a:ext>
            </a:extLst>
          </p:cNvPr>
          <p:cNvSpPr txBox="1">
            <a:spLocks/>
          </p:cNvSpPr>
          <p:nvPr/>
        </p:nvSpPr>
        <p:spPr>
          <a:xfrm>
            <a:off x="751114" y="5299783"/>
            <a:ext cx="7349278" cy="13695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ru-RU" dirty="0"/>
              <a:t>Значения столбца распределены равномерно;</a:t>
            </a:r>
          </a:p>
          <a:p>
            <a:pPr lvl="0"/>
            <a:r>
              <a:rPr lang="ru-RU" dirty="0"/>
              <a:t>Столбец не используется в предикатах запросов;</a:t>
            </a:r>
          </a:p>
          <a:p>
            <a:pPr lvl="0"/>
            <a:r>
              <a:rPr lang="ru-RU" dirty="0"/>
              <a:t>Значения столбца уникальны и используются только в предикатах эквивалентности.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0728B53-CDD9-0070-2C98-EEE3AB852F47}"/>
              </a:ext>
            </a:extLst>
          </p:cNvPr>
          <p:cNvSpPr/>
          <p:nvPr/>
        </p:nvSpPr>
        <p:spPr>
          <a:xfrm>
            <a:off x="751114" y="4724480"/>
            <a:ext cx="5278934" cy="4465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Гистограммы НЕ применяются: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73FECD1-A2C7-1A5A-FD52-E481435602BB}"/>
              </a:ext>
            </a:extLst>
          </p:cNvPr>
          <p:cNvSpPr/>
          <p:nvPr/>
        </p:nvSpPr>
        <p:spPr>
          <a:xfrm>
            <a:off x="6496291" y="4244397"/>
            <a:ext cx="2180165" cy="140675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Требует обновления при изменении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25383829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Планы выполнения запросов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СУБД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193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BCBCB-7CC0-CD6F-B98E-3EBE235B1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Планы выполнения запросов </a:t>
            </a:r>
            <a:r>
              <a:rPr lang="en-US" dirty="0"/>
              <a:t>PostgreSQL (</a:t>
            </a:r>
            <a:r>
              <a:rPr lang="ru-RU" i="1" dirty="0"/>
              <a:t>оценочный</a:t>
            </a:r>
            <a:r>
              <a:rPr lang="ru-RU" dirty="0"/>
              <a:t>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E7AA5B-3513-0A9A-677A-D2CE0D93FA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32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0177252-E2B3-ABEC-6F10-BFB771D90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30" y="1331825"/>
            <a:ext cx="5619750" cy="16383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7524C7D-5787-70DD-C2B9-3BAA37424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30" y="3199246"/>
            <a:ext cx="7593723" cy="187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6308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EE453D-EFAC-2BDC-D0EB-E2191C7E8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Планы выполнения запросов </a:t>
            </a:r>
            <a:r>
              <a:rPr lang="en-US" dirty="0"/>
              <a:t>PostgreSQL</a:t>
            </a:r>
            <a:r>
              <a:rPr lang="ru-RU" dirty="0"/>
              <a:t> (</a:t>
            </a:r>
            <a:r>
              <a:rPr lang="ru-RU" i="1" dirty="0"/>
              <a:t>реальный</a:t>
            </a:r>
            <a:r>
              <a:rPr lang="ru-RU" dirty="0"/>
              <a:t>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1D7778-DEC0-B59E-9CC7-3799151813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33</a:t>
            </a:fld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9B5FA28-77C5-23A1-2A94-685D555BC2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1680" y="1340768"/>
            <a:ext cx="6827528" cy="2423512"/>
          </a:xfrm>
          <a:prstGeom prst="rect">
            <a:avLst/>
          </a:prstGeom>
        </p:spPr>
      </p:pic>
      <p:sp>
        <p:nvSpPr>
          <p:cNvPr id="6" name="Стрелка: вправо 5">
            <a:extLst>
              <a:ext uri="{FF2B5EF4-FFF2-40B4-BE49-F238E27FC236}">
                <a16:creationId xmlns:a16="http://schemas.microsoft.com/office/drawing/2014/main" id="{4DF84A20-18A2-4869-DD6F-721E6BA30B81}"/>
              </a:ext>
            </a:extLst>
          </p:cNvPr>
          <p:cNvSpPr/>
          <p:nvPr/>
        </p:nvSpPr>
        <p:spPr>
          <a:xfrm>
            <a:off x="683568" y="2023708"/>
            <a:ext cx="1512168" cy="288032"/>
          </a:xfrm>
          <a:prstGeom prst="rightArrow">
            <a:avLst>
              <a:gd name="adj1" fmla="val 32515"/>
              <a:gd name="adj2" fmla="val 50000"/>
            </a:avLst>
          </a:prstGeom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1A1E9BDB-5BE3-1597-1537-55EBBC6E3458}"/>
              </a:ext>
            </a:extLst>
          </p:cNvPr>
          <p:cNvSpPr txBox="1">
            <a:spLocks/>
          </p:cNvSpPr>
          <p:nvPr/>
        </p:nvSpPr>
        <p:spPr>
          <a:xfrm>
            <a:off x="683568" y="4002344"/>
            <a:ext cx="7848872" cy="259500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 err="1"/>
              <a:t>cost</a:t>
            </a:r>
            <a:r>
              <a:rPr lang="ru-RU" dirty="0"/>
              <a:t> показывает относительные затраты на выполнение операции. Важно, что это не секунды, а просто некая величина, которая поможет оценить затраты на операцию относительно других операций в запросе;</a:t>
            </a:r>
          </a:p>
          <a:p>
            <a:r>
              <a:rPr lang="ru-RU" b="1" dirty="0" err="1"/>
              <a:t>rows</a:t>
            </a:r>
            <a:r>
              <a:rPr lang="ru-RU" dirty="0"/>
              <a:t> — количество возвращаемых в ходе операции строк;</a:t>
            </a:r>
          </a:p>
          <a:p>
            <a:r>
              <a:rPr lang="ru-RU" b="1" dirty="0" err="1"/>
              <a:t>width</a:t>
            </a:r>
            <a:r>
              <a:rPr lang="ru-RU" dirty="0"/>
              <a:t> — средний размер одной строки в байтах.</a:t>
            </a:r>
          </a:p>
          <a:p>
            <a:pPr marL="0" indent="0">
              <a:buNone/>
            </a:pPr>
            <a:r>
              <a:rPr lang="ru-RU" dirty="0"/>
              <a:t>-------------------------</a:t>
            </a:r>
          </a:p>
          <a:p>
            <a:r>
              <a:rPr lang="ru-RU" b="1" dirty="0" err="1"/>
              <a:t>actual</a:t>
            </a:r>
            <a:r>
              <a:rPr lang="ru-RU" b="1" dirty="0"/>
              <a:t> </a:t>
            </a:r>
            <a:r>
              <a:rPr lang="ru-RU" b="1" dirty="0" err="1"/>
              <a:t>time</a:t>
            </a:r>
            <a:r>
              <a:rPr lang="ru-RU" dirty="0"/>
              <a:t> — реальное время в миллисекундах, затраченное для получения первой строки и всех строк соответственно;</a:t>
            </a:r>
          </a:p>
          <a:p>
            <a:r>
              <a:rPr lang="ru-RU" b="1" dirty="0" err="1"/>
              <a:t>rows</a:t>
            </a:r>
            <a:r>
              <a:rPr lang="ru-RU" dirty="0"/>
              <a:t> — реальное количество строк, полученных при выполнении операции;</a:t>
            </a:r>
          </a:p>
          <a:p>
            <a:r>
              <a:rPr lang="ru-RU" b="1" dirty="0" err="1"/>
              <a:t>loops</a:t>
            </a:r>
            <a:r>
              <a:rPr lang="ru-RU" dirty="0"/>
              <a:t> — сколько раз операция выполнялась;</a:t>
            </a:r>
          </a:p>
          <a:p>
            <a:r>
              <a:rPr lang="ru-RU" b="1" dirty="0" err="1"/>
              <a:t>total</a:t>
            </a:r>
            <a:r>
              <a:rPr lang="ru-RU" b="1" dirty="0"/>
              <a:t> </a:t>
            </a:r>
            <a:r>
              <a:rPr lang="ru-RU" b="1" dirty="0" err="1"/>
              <a:t>runtime</a:t>
            </a:r>
            <a:r>
              <a:rPr lang="ru-RU" dirty="0"/>
              <a:t> — общее время выполнения запроса.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37640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DA3676-EF9E-AD0E-5172-13D3E49FA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Планы выполнения запросов </a:t>
            </a:r>
            <a:r>
              <a:rPr lang="en-US" dirty="0"/>
              <a:t>PostgreSQL</a:t>
            </a:r>
            <a:r>
              <a:rPr lang="ru-RU" dirty="0"/>
              <a:t> (</a:t>
            </a:r>
            <a:r>
              <a:rPr lang="ru-RU" i="1" dirty="0"/>
              <a:t>соединение</a:t>
            </a:r>
            <a:r>
              <a:rPr lang="ru-RU" dirty="0"/>
              <a:t>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2EB276-247C-BC8F-3BFD-5FA682AFF6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7C3D6C1-2566-9E6A-B956-558F92A15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64" y="1268760"/>
            <a:ext cx="8154071" cy="445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9213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21008-F09F-B9CC-16AC-3AFCFDAE2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выполнения запроса: представление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D6C30C-AC97-149A-E064-8C7E8CB5A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268760"/>
            <a:ext cx="8640960" cy="1800200"/>
          </a:xfrm>
        </p:spPr>
        <p:txBody>
          <a:bodyPr anchor="t">
            <a:norm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name_patient</a:t>
            </a: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FROM prescription t1</a:t>
            </a:r>
            <a:endParaRPr lang="ru-RU" sz="16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name_doctor</a:t>
            </a: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= 'doctor_4' AND</a:t>
            </a:r>
            <a:endParaRPr lang="ru-RU" sz="16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(SELECT COUNT(*) FROM prescription t2 WHERE t1.name_patient = t2.name_patient) &gt; 3</a:t>
            </a:r>
            <a:endParaRPr lang="ru-RU" sz="16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GROUP BY </a:t>
            </a:r>
            <a:r>
              <a:rPr lang="ru-RU" sz="16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name_patient</a:t>
            </a:r>
            <a:r>
              <a:rPr lang="ru-RU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;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</a:p>
          <a:p>
            <a:pPr>
              <a:spcBef>
                <a:spcPts val="0"/>
              </a:spcBef>
            </a:pPr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0F3B55-BE64-3925-4C1D-627283DA9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35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454FCF-6471-F077-0F48-AB31EBC99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37" y="2388630"/>
            <a:ext cx="8317929" cy="1184386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11FE6EAE-4B0C-D7EB-BF8F-3BCD7FC63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3717032"/>
            <a:ext cx="8176016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0200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21008-F09F-B9CC-16AC-3AFCFDAE2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выполнения запроса: статистика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0F3B55-BE64-3925-4C1D-627283DA9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36</a:t>
            </a:fld>
            <a:endParaRPr lang="ru-RU"/>
          </a:p>
        </p:txBody>
      </p:sp>
      <p:pic>
        <p:nvPicPr>
          <p:cNvPr id="6" name="Рисунок 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11FE6EAE-4B0C-D7EB-BF8F-3BCD7FC63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268760"/>
            <a:ext cx="8176016" cy="2952328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монитор, экран&#10;&#10;Автоматически созданное описание">
            <a:extLst>
              <a:ext uri="{FF2B5EF4-FFF2-40B4-BE49-F238E27FC236}">
                <a16:creationId xmlns:a16="http://schemas.microsoft.com/office/drawing/2014/main" id="{FDF7F335-6750-4F80-0D37-5A82CE8E6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06" y="4249200"/>
            <a:ext cx="7881577" cy="234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4076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7AEFB4-BB9D-420B-A326-4498F7A05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выполнения сложного запроса: графика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321D3F-B2AE-D2C4-49D7-DE7B9C324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37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2AC7C10C-5BEE-19B3-B440-BBC933CB6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268760"/>
            <a:ext cx="8640960" cy="1800200"/>
          </a:xfrm>
        </p:spPr>
        <p:txBody>
          <a:bodyPr anchor="t">
            <a:normAutofit fontScale="92500" lnSpcReduction="10000"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name_patient</a:t>
            </a: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FROM prescription t1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WHERE </a:t>
            </a:r>
            <a:r>
              <a:rPr lang="en-US" sz="16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name_patient</a:t>
            </a: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NOT IN (SELECT </a:t>
            </a:r>
            <a:r>
              <a:rPr lang="en-US" sz="16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name_pharmacist</a:t>
            </a: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FROM pharmacy)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GROUP BY </a:t>
            </a:r>
            <a:r>
              <a:rPr lang="en-US" sz="16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name_patient</a:t>
            </a:r>
            <a:endParaRPr lang="en-US" sz="16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HAVING (SELECT COUNT(DISTINCT </a:t>
            </a:r>
            <a:r>
              <a:rPr lang="en-US" sz="16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pharmacy_number</a:t>
            </a: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 FROM prescription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WHERE usage = true AND </a:t>
            </a:r>
            <a:r>
              <a:rPr lang="en-US" sz="16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name_patient</a:t>
            </a: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= t1.name_patient) =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	   (SELECT COUNT(</a:t>
            </a:r>
            <a:r>
              <a:rPr lang="en-US" sz="16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pharmacy_number</a:t>
            </a: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 FROM pharmacy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		WHERE </a:t>
            </a:r>
            <a:r>
              <a:rPr lang="en-US" sz="16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pharmacy_number</a:t>
            </a: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IN </a:t>
            </a:r>
            <a:endParaRPr lang="ru-RU" sz="16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                           </a:t>
            </a: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(SELECT DISTINCT </a:t>
            </a:r>
            <a:r>
              <a:rPr lang="en-US" sz="16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pharmacy_number</a:t>
            </a: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FROM prescription WHERE usage = true));</a:t>
            </a:r>
          </a:p>
          <a:p>
            <a:pPr>
              <a:spcBef>
                <a:spcPts val="0"/>
              </a:spcBef>
            </a:pPr>
            <a:endParaRPr lang="ru-RU" sz="1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2E3BC3-E103-CCB4-E15C-52065DD9E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3250381"/>
            <a:ext cx="7488832" cy="353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4774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7AEFB4-BB9D-420B-A326-4498F7A05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выполнения сложного запроса: текст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321D3F-B2AE-D2C4-49D7-DE7B9C324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38</a:t>
            </a:fld>
            <a:endParaRPr lang="ru-RU"/>
          </a:p>
        </p:txBody>
      </p:sp>
      <p:pic>
        <p:nvPicPr>
          <p:cNvPr id="3" name="Рисунок 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48EC963D-E9BB-B60F-60C5-13BC3E4F1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58243"/>
            <a:ext cx="6840760" cy="545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670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7AEFB4-BB9D-420B-A326-4498F7A05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выполнения сложного запроса: статистика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321D3F-B2AE-D2C4-49D7-DE7B9C324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39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2E3BC3-E103-CCB4-E15C-52065DD9E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340768"/>
            <a:ext cx="6120680" cy="2887470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5E058E2B-1372-7A0F-F2B3-39A2FF979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1" y="4275807"/>
            <a:ext cx="7815271" cy="224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680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724186-A236-C1BB-BF35-0C9AFE10C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Планы выполнения запросов </a:t>
            </a:r>
            <a:r>
              <a:rPr lang="en-US" dirty="0"/>
              <a:t>PostgreSQL (</a:t>
            </a:r>
            <a:r>
              <a:rPr lang="ru-RU" i="1" dirty="0"/>
              <a:t>графика</a:t>
            </a:r>
            <a:r>
              <a:rPr lang="ru-RU" dirty="0"/>
              <a:t>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B9D5FF-5756-5C3E-5590-12CAEB5DC6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40</a:t>
            </a:fld>
            <a:endParaRPr lang="ru-RU"/>
          </a:p>
        </p:txBody>
      </p:sp>
      <p:pic>
        <p:nvPicPr>
          <p:cNvPr id="5" name="Picture 2" descr="SQL Manager">
            <a:extLst>
              <a:ext uri="{FF2B5EF4-FFF2-40B4-BE49-F238E27FC236}">
                <a16:creationId xmlns:a16="http://schemas.microsoft.com/office/drawing/2014/main" id="{90FD79A7-C50D-BB11-71B7-2A61F690C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47" y="1556792"/>
            <a:ext cx="8464506" cy="340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16060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71E4D5-3A3B-2E95-42C3-82717BF6E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 плана с соединением</a:t>
            </a:r>
            <a:br>
              <a:rPr lang="ru-RU" dirty="0"/>
            </a:br>
            <a:r>
              <a:rPr lang="ru-RU" sz="1200" dirty="0"/>
              <a:t>(</a:t>
            </a:r>
            <a:r>
              <a:rPr lang="ru-RU" sz="1200" b="1" i="1" dirty="0"/>
              <a:t>оболочка </a:t>
            </a:r>
            <a:r>
              <a:rPr lang="en-US" sz="1200" b="1" i="1" dirty="0"/>
              <a:t>PostgreSQL</a:t>
            </a:r>
            <a:r>
              <a:rPr lang="en-US" sz="1200" dirty="0"/>
              <a:t>)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1B53BF-1B13-F88D-FA47-4B725A04B3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41</a:t>
            </a:fld>
            <a:endParaRPr lang="ru-RU"/>
          </a:p>
        </p:txBody>
      </p:sp>
      <p:pic>
        <p:nvPicPr>
          <p:cNvPr id="5" name="Picture 2" descr="https://sql-ex.ru/blogs/wp-content/uploads/2021/06/pg_plan_13.png">
            <a:extLst>
              <a:ext uri="{FF2B5EF4-FFF2-40B4-BE49-F238E27FC236}">
                <a16:creationId xmlns:a16="http://schemas.microsoft.com/office/drawing/2014/main" id="{235839FC-D05D-E0C2-5DDB-39B0DACAF1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292538"/>
            <a:ext cx="4760073" cy="5435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58818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CEA862-1695-DC46-8C63-9212CA942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плана в СУБД (MS SQL Server)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EE4C9D3-58E1-5BB2-350E-048053CB2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42</a:t>
            </a:fld>
            <a:endParaRPr lang="ru-RU"/>
          </a:p>
        </p:txBody>
      </p:sp>
      <p:pic>
        <p:nvPicPr>
          <p:cNvPr id="5" name="Объект 7">
            <a:extLst>
              <a:ext uri="{FF2B5EF4-FFF2-40B4-BE49-F238E27FC236}">
                <a16:creationId xmlns:a16="http://schemas.microsoft.com/office/drawing/2014/main" id="{7979A2F7-7E87-E173-991D-C963B49532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5" y="1585133"/>
            <a:ext cx="7376094" cy="3644067"/>
          </a:xfr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8A5D35-EBE8-5C4C-5512-EB26C11AE2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292" y="1916832"/>
            <a:ext cx="292417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4816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B13CA4-AA35-60D0-1A98-7F62EA6A1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 плана в СУБД </a:t>
            </a:r>
            <a:r>
              <a:rPr lang="en-US" dirty="0"/>
              <a:t>MS SQL </a:t>
            </a:r>
            <a:r>
              <a:rPr lang="ru-RU" dirty="0"/>
              <a:t/>
            </a:r>
            <a:br>
              <a:rPr lang="ru-RU" dirty="0"/>
            </a:br>
            <a:r>
              <a:rPr lang="ru-RU" sz="1200" i="1" dirty="0"/>
              <a:t>для индексов разной плотности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14D2C3-82D7-DD2E-85D5-E1D4239D1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43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8CB7C-B60B-C7E0-4CD0-EC4F9500186D}"/>
              </a:ext>
            </a:extLst>
          </p:cNvPr>
          <p:cNvSpPr txBox="1"/>
          <p:nvPr/>
        </p:nvSpPr>
        <p:spPr>
          <a:xfrm>
            <a:off x="1403602" y="5576986"/>
            <a:ext cx="4935583" cy="107567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indent="450215" algn="just">
              <a:lnSpc>
                <a:spcPct val="120000"/>
              </a:lnSpc>
            </a:pPr>
            <a:r>
              <a:rPr lang="en-US" sz="1800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 test1</a:t>
            </a:r>
            <a:r>
              <a:rPr lang="en-US" sz="180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800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Status</a:t>
            </a:r>
            <a:r>
              <a:rPr lang="en-US" sz="180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800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test1</a:t>
            </a:r>
            <a:r>
              <a:rPr lang="en-US" sz="180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800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endParaRPr lang="ru-RU" sz="12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</a:pPr>
            <a:r>
              <a:rPr lang="en-US" sz="1800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from test1</a:t>
            </a:r>
            <a:endParaRPr lang="ru-RU" sz="12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</a:pPr>
            <a:r>
              <a:rPr lang="en-US" sz="1800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where Name </a:t>
            </a:r>
            <a:r>
              <a:rPr lang="en-US" sz="180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N'Description125'</a:t>
            </a:r>
            <a:endParaRPr lang="ru-RU" sz="12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Объект 4">
            <a:extLst>
              <a:ext uri="{FF2B5EF4-FFF2-40B4-BE49-F238E27FC236}">
                <a16:creationId xmlns:a16="http://schemas.microsoft.com/office/drawing/2014/main" id="{05B05E18-F64A-6BD2-48CB-977AB7E336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6" r="24652" b="65213"/>
          <a:stretch/>
        </p:blipFill>
        <p:spPr>
          <a:xfrm>
            <a:off x="283622" y="1339909"/>
            <a:ext cx="3888433" cy="14413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2A46D1-D2CB-C11F-29FC-CD3C2022835B}"/>
              </a:ext>
            </a:extLst>
          </p:cNvPr>
          <p:cNvSpPr txBox="1"/>
          <p:nvPr/>
        </p:nvSpPr>
        <p:spPr>
          <a:xfrm>
            <a:off x="3947159" y="1339909"/>
            <a:ext cx="5196841" cy="1075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20000"/>
              </a:lnSpc>
            </a:pPr>
            <a:r>
              <a:rPr lang="en-US" sz="1800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 test1</a:t>
            </a:r>
            <a:r>
              <a:rPr lang="en-US" sz="180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800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Status</a:t>
            </a:r>
            <a:r>
              <a:rPr lang="en-US" sz="180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800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test1</a:t>
            </a:r>
            <a:r>
              <a:rPr lang="en-US" sz="180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800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endParaRPr lang="ru-RU" sz="12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</a:pPr>
            <a:r>
              <a:rPr lang="en-US" sz="1800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from test1</a:t>
            </a:r>
            <a:endParaRPr lang="ru-RU" sz="12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</a:pPr>
            <a:r>
              <a:rPr lang="ru-RU" sz="1800" dirty="0" err="1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ru-RU" sz="1800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status</a:t>
            </a:r>
            <a:r>
              <a:rPr lang="ru-RU" sz="1800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ru-RU" sz="1800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0</a:t>
            </a:r>
            <a:endParaRPr lang="ru-RU" sz="12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Объект 4">
            <a:extLst>
              <a:ext uri="{FF2B5EF4-FFF2-40B4-BE49-F238E27FC236}">
                <a16:creationId xmlns:a16="http://schemas.microsoft.com/office/drawing/2014/main" id="{C17DA945-4833-8C08-2C1B-F7BFCD9240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59"/>
          <a:stretch/>
        </p:blipFill>
        <p:spPr>
          <a:xfrm>
            <a:off x="611560" y="2827560"/>
            <a:ext cx="6519669" cy="270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2552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BE0465-9A9C-CED3-5862-BE965A5BD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Сервисы анализа планов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4398CD-6CAE-CDF9-23B8-6AB7665DE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44</a:t>
            </a:fld>
            <a:endParaRPr lang="ru-RU"/>
          </a:p>
        </p:txBody>
      </p:sp>
      <p:pic>
        <p:nvPicPr>
          <p:cNvPr id="5" name="Picture 2" descr="explain SQL visually">
            <a:extLst>
              <a:ext uri="{FF2B5EF4-FFF2-40B4-BE49-F238E27FC236}">
                <a16:creationId xmlns:a16="http://schemas.microsoft.com/office/drawing/2014/main" id="{AEBC6BAB-89EC-3DE2-BA16-A55709DCD52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40768"/>
            <a:ext cx="6984776" cy="494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254623-0238-3F0F-C631-3FF4B6CD3823}"/>
              </a:ext>
            </a:extLst>
          </p:cNvPr>
          <p:cNvSpPr txBox="1"/>
          <p:nvPr/>
        </p:nvSpPr>
        <p:spPr>
          <a:xfrm>
            <a:off x="4568291" y="640660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https://explain.depesz.com/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00799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Оптимизация запросов в </a:t>
            </a:r>
            <a:r>
              <a:rPr lang="en-US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endParaRPr lang="ru-RU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51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Сложности операций </a:t>
            </a:r>
            <a:r>
              <a:rPr lang="en-US" dirty="0"/>
              <a:t>PostgreSQL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46</a:t>
            </a:fld>
            <a:endParaRPr lang="ru-RU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0439898"/>
              </p:ext>
            </p:extLst>
          </p:nvPr>
        </p:nvGraphicFramePr>
        <p:xfrm>
          <a:off x="395536" y="1484313"/>
          <a:ext cx="8424935" cy="4593228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2031011">
                  <a:extLst>
                    <a:ext uri="{9D8B030D-6E8A-4147-A177-3AD203B41FA5}">
                      <a16:colId xmlns:a16="http://schemas.microsoft.com/office/drawing/2014/main" val="1119778674"/>
                    </a:ext>
                  </a:extLst>
                </a:gridCol>
                <a:gridCol w="3585613">
                  <a:extLst>
                    <a:ext uri="{9D8B030D-6E8A-4147-A177-3AD203B41FA5}">
                      <a16:colId xmlns:a16="http://schemas.microsoft.com/office/drawing/2014/main" val="1948912018"/>
                    </a:ext>
                  </a:extLst>
                </a:gridCol>
                <a:gridCol w="702078">
                  <a:extLst>
                    <a:ext uri="{9D8B030D-6E8A-4147-A177-3AD203B41FA5}">
                      <a16:colId xmlns:a16="http://schemas.microsoft.com/office/drawing/2014/main" val="1706466136"/>
                    </a:ext>
                  </a:extLst>
                </a:gridCol>
                <a:gridCol w="2106233">
                  <a:extLst>
                    <a:ext uri="{9D8B030D-6E8A-4147-A177-3AD203B41FA5}">
                      <a16:colId xmlns:a16="http://schemas.microsoft.com/office/drawing/2014/main" val="2102318938"/>
                    </a:ext>
                  </a:extLst>
                </a:gridCol>
              </a:tblGrid>
              <a:tr h="99332"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</a:rPr>
                        <a:t>Операция</a:t>
                      </a:r>
                      <a:endParaRPr lang="ru-RU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gridSpan="2"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</a:rPr>
                        <a:t>Что выполняется</a:t>
                      </a:r>
                      <a:endParaRPr lang="ru-RU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pPr fontAlgn="t"/>
                      <a:endParaRPr lang="ru-RU" sz="16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effectLst/>
                        </a:rPr>
                        <a:t>Затратность</a:t>
                      </a:r>
                      <a:endParaRPr lang="ru-RU" sz="16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extLst>
                  <a:ext uri="{0D108BD9-81ED-4DB2-BD59-A6C34878D82A}">
                    <a16:rowId xmlns:a16="http://schemas.microsoft.com/office/drawing/2014/main" val="2922362821"/>
                  </a:ext>
                </a:extLst>
              </a:tr>
              <a:tr h="99332">
                <a:tc gridSpan="4"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rgbClr val="C00000"/>
                          </a:solidFill>
                          <a:effectLst/>
                        </a:rPr>
                        <a:t>Операции выборки данных SELECT … WHERE …</a:t>
                      </a:r>
                      <a:endParaRPr lang="ru-RU" sz="1600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669183"/>
                  </a:ext>
                </a:extLst>
              </a:tr>
              <a:tr h="229961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>
                          <a:effectLst/>
                        </a:rPr>
                        <a:t>Seq</a:t>
                      </a:r>
                      <a:r>
                        <a:rPr lang="en-US" sz="1600" dirty="0">
                          <a:effectLst/>
                        </a:rPr>
                        <a:t> Scan</a:t>
                      </a:r>
                      <a:endParaRPr lang="en-US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</a:rPr>
                        <a:t>Загружаем каждую строку из таблицы и проверяем условие.</a:t>
                      </a:r>
                      <a:endParaRPr lang="ru-RU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gridSpan="2"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O(N)</a:t>
                      </a:r>
                      <a:endParaRPr lang="en-US" sz="16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492260"/>
                  </a:ext>
                </a:extLst>
              </a:tr>
              <a:tr h="425904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Index Scan</a:t>
                      </a:r>
                      <a:br>
                        <a:rPr lang="en-US" sz="1600">
                          <a:effectLst/>
                        </a:rPr>
                      </a:br>
                      <a:r>
                        <a:rPr lang="en-US" sz="1600">
                          <a:effectLst/>
                        </a:rPr>
                        <a:t>(b-tree index)</a:t>
                      </a:r>
                      <a:endParaRPr lang="en-US" sz="16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</a:rPr>
                        <a:t>Данные есть прямо в индексе, поэтому ищем по условию нужные элементы индекса и берем данные оттуда.</a:t>
                      </a:r>
                      <a:endParaRPr lang="ru-RU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gridSpan="2">
                  <a:txBody>
                    <a:bodyPr/>
                    <a:lstStyle/>
                    <a:p>
                      <a:pPr fontAlgn="t"/>
                      <a:r>
                        <a:rPr lang="ru-RU" sz="1600">
                          <a:effectLst/>
                        </a:rPr>
                        <a:t>O(log(N)), поиск элемента в отсортированном дереве.</a:t>
                      </a:r>
                      <a:endParaRPr lang="ru-RU" sz="16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443157"/>
                  </a:ext>
                </a:extLst>
              </a:tr>
              <a:tr h="425904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Index Scan</a:t>
                      </a:r>
                      <a:br>
                        <a:rPr lang="en-US" sz="1600">
                          <a:effectLst/>
                        </a:rPr>
                      </a:br>
                      <a:r>
                        <a:rPr lang="en-US" sz="1600">
                          <a:effectLst/>
                        </a:rPr>
                        <a:t>(hash index)</a:t>
                      </a:r>
                      <a:endParaRPr lang="en-US" sz="16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effectLst/>
                        </a:rPr>
                        <a:t>Данные есть прямо в индексе, поэтому ищем по условию нужные элементы индекса и берем данные оттуда.</a:t>
                      </a:r>
                      <a:endParaRPr lang="ru-RU" sz="16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gridSpan="2"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</a:rPr>
                        <a:t>O(1), поиск элемента в хэш-таблице, без учета затратности создания хэшей</a:t>
                      </a:r>
                      <a:endParaRPr lang="ru-RU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965019"/>
                  </a:ext>
                </a:extLst>
              </a:tr>
              <a:tr h="556532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Bitmap Heap Scan</a:t>
                      </a:r>
                      <a:endParaRPr lang="en-US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</a:rPr>
                        <a:t>Выбираем номера нужных строк по индексу, затем загружаем только нужные строки и проводим с ними дополнительные проверки.</a:t>
                      </a:r>
                      <a:endParaRPr lang="ru-RU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gridSpan="2">
                  <a:txBody>
                    <a:bodyPr/>
                    <a:lstStyle/>
                    <a:p>
                      <a:pPr fontAlgn="t"/>
                      <a:r>
                        <a:rPr lang="ru-RU" sz="1600" dirty="0" err="1">
                          <a:effectLst/>
                        </a:rPr>
                        <a:t>Index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Scan</a:t>
                      </a:r>
                      <a:r>
                        <a:rPr lang="ru-RU" sz="1600" dirty="0">
                          <a:effectLst/>
                        </a:rPr>
                        <a:t> + </a:t>
                      </a:r>
                      <a:r>
                        <a:rPr lang="ru-RU" sz="1600" dirty="0" err="1">
                          <a:effectLst/>
                        </a:rPr>
                        <a:t>Seq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Scan</a:t>
                      </a:r>
                      <a:r>
                        <a:rPr lang="ru-RU" sz="1600" dirty="0">
                          <a:effectLst/>
                        </a:rPr>
                        <a:t> (M),</a:t>
                      </a:r>
                      <a:br>
                        <a:rPr lang="ru-RU" sz="1600" dirty="0">
                          <a:effectLst/>
                        </a:rPr>
                      </a:br>
                      <a:r>
                        <a:rPr lang="ru-RU" sz="1600" dirty="0">
                          <a:effectLst/>
                        </a:rPr>
                        <a:t>Где M – число найденных строк после </a:t>
                      </a:r>
                      <a:r>
                        <a:rPr lang="ru-RU" sz="1600" dirty="0" err="1">
                          <a:effectLst/>
                        </a:rPr>
                        <a:t>Index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Scan</a:t>
                      </a:r>
                      <a:r>
                        <a:rPr lang="ru-RU" sz="1600" dirty="0">
                          <a:effectLst/>
                        </a:rPr>
                        <a:t>. </a:t>
                      </a:r>
                      <a:r>
                        <a:rPr lang="ru-RU" sz="1600" i="1" dirty="0">
                          <a:solidFill>
                            <a:srgbClr val="C00000"/>
                          </a:solidFill>
                          <a:effectLst/>
                        </a:rPr>
                        <a:t>Предполагается что M &lt;&lt; N, т.е. индекс полезнее чем </a:t>
                      </a:r>
                      <a:r>
                        <a:rPr lang="ru-RU" sz="1600" i="1" dirty="0" err="1">
                          <a:solidFill>
                            <a:srgbClr val="C00000"/>
                          </a:solidFill>
                          <a:effectLst/>
                        </a:rPr>
                        <a:t>Seq</a:t>
                      </a:r>
                      <a:r>
                        <a:rPr lang="ru-RU" sz="1600" i="1" dirty="0">
                          <a:solidFill>
                            <a:srgbClr val="C00000"/>
                          </a:solidFill>
                          <a:effectLst/>
                        </a:rPr>
                        <a:t> </a:t>
                      </a:r>
                      <a:r>
                        <a:rPr lang="ru-RU" sz="1600" i="1" dirty="0" err="1">
                          <a:solidFill>
                            <a:srgbClr val="C00000"/>
                          </a:solidFill>
                          <a:effectLst/>
                        </a:rPr>
                        <a:t>Scan</a:t>
                      </a:r>
                      <a:r>
                        <a:rPr lang="ru-RU" sz="1600" i="1" dirty="0">
                          <a:solidFill>
                            <a:srgbClr val="C00000"/>
                          </a:solidFill>
                          <a:effectLst/>
                        </a:rPr>
                        <a:t>.</a:t>
                      </a:r>
                      <a:endParaRPr lang="ru-RU" sz="160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600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19133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Сложности операций </a:t>
            </a:r>
            <a:r>
              <a:rPr lang="en-US" dirty="0"/>
              <a:t>PostgreSQL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47</a:t>
            </a:fld>
            <a:endParaRPr lang="ru-RU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8521940"/>
              </p:ext>
            </p:extLst>
          </p:nvPr>
        </p:nvGraphicFramePr>
        <p:xfrm>
          <a:off x="395537" y="1484313"/>
          <a:ext cx="8064894" cy="4803050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1728191">
                  <a:extLst>
                    <a:ext uri="{9D8B030D-6E8A-4147-A177-3AD203B41FA5}">
                      <a16:colId xmlns:a16="http://schemas.microsoft.com/office/drawing/2014/main" val="111977867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3846776059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194891201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706466136"/>
                    </a:ext>
                  </a:extLst>
                </a:gridCol>
                <a:gridCol w="2016223">
                  <a:extLst>
                    <a:ext uri="{9D8B030D-6E8A-4147-A177-3AD203B41FA5}">
                      <a16:colId xmlns:a16="http://schemas.microsoft.com/office/drawing/2014/main" val="2102318938"/>
                    </a:ext>
                  </a:extLst>
                </a:gridCol>
              </a:tblGrid>
              <a:tr h="99332">
                <a:tc gridSpan="2"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</a:rPr>
                        <a:t>Операция</a:t>
                      </a:r>
                      <a:endParaRPr lang="ru-RU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</a:rPr>
                        <a:t>Что выполняется</a:t>
                      </a:r>
                      <a:endParaRPr lang="ru-RU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pPr fontAlgn="t"/>
                      <a:endParaRPr lang="ru-RU" sz="16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effectLst/>
                        </a:rPr>
                        <a:t>Затратность</a:t>
                      </a:r>
                      <a:endParaRPr lang="ru-RU" sz="16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extLst>
                  <a:ext uri="{0D108BD9-81ED-4DB2-BD59-A6C34878D82A}">
                    <a16:rowId xmlns:a16="http://schemas.microsoft.com/office/drawing/2014/main" val="2922362821"/>
                  </a:ext>
                </a:extLst>
              </a:tr>
              <a:tr h="99332">
                <a:tc gridSpan="5"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rgbClr val="C00000"/>
                          </a:solidFill>
                          <a:effectLst/>
                        </a:rPr>
                        <a:t>Операции соединения (JOIN, SELECT из нескольких таблиц)</a:t>
                      </a:r>
                      <a:endParaRPr lang="ru-RU" sz="1600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574404"/>
                  </a:ext>
                </a:extLst>
              </a:tr>
              <a:tr h="687161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Nested Loop</a:t>
                      </a:r>
                      <a:endParaRPr lang="en-US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gridSpan="2"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</a:rPr>
                        <a:t>Для каждой строки из левой таблицы ищем подходящую строку в правой таблице.</a:t>
                      </a:r>
                      <a:endParaRPr lang="ru-RU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</a:rPr>
                        <a:t>O(N</a:t>
                      </a:r>
                      <a:r>
                        <a:rPr lang="ru-RU" sz="1600" baseline="30000" dirty="0">
                          <a:effectLst/>
                        </a:rPr>
                        <a:t>2</a:t>
                      </a:r>
                      <a:r>
                        <a:rPr lang="ru-RU" sz="1600" dirty="0">
                          <a:effectLst/>
                        </a:rPr>
                        <a:t>).</a:t>
                      </a:r>
                      <a:br>
                        <a:rPr lang="ru-RU" sz="1600" dirty="0">
                          <a:effectLst/>
                        </a:rPr>
                      </a:br>
                      <a:r>
                        <a:rPr lang="ru-RU" sz="1600" dirty="0">
                          <a:effectLst/>
                        </a:rPr>
                        <a:t>Но если одна из таблиц значительно меньше другой (словарь) и практически не растет со временем, то фактическая </a:t>
                      </a:r>
                      <a:r>
                        <a:rPr lang="ru-RU" sz="1600" dirty="0" err="1">
                          <a:effectLst/>
                        </a:rPr>
                        <a:t>затратность</a:t>
                      </a:r>
                      <a:r>
                        <a:rPr lang="ru-RU" sz="1600" dirty="0">
                          <a:effectLst/>
                        </a:rPr>
                        <a:t> может снизиться до O(N).</a:t>
                      </a:r>
                      <a:endParaRPr lang="ru-RU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62860"/>
                  </a:ext>
                </a:extLst>
              </a:tr>
              <a:tr h="621846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Hash Join</a:t>
                      </a:r>
                      <a:endParaRPr lang="en-US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gridSpan="2"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</a:rPr>
                        <a:t>Для каждой строки из левой и правой таблицы считаем </a:t>
                      </a:r>
                      <a:r>
                        <a:rPr lang="ru-RU" sz="1600" dirty="0" err="1">
                          <a:effectLst/>
                        </a:rPr>
                        <a:t>хэш</a:t>
                      </a:r>
                      <a:r>
                        <a:rPr lang="ru-RU" sz="1600" dirty="0">
                          <a:effectLst/>
                        </a:rPr>
                        <a:t>, за счет чего уменьшается число переборов возможных вариантов соединения.</a:t>
                      </a:r>
                      <a:endParaRPr lang="ru-RU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</a:rPr>
                        <a:t>O(N), но в случае очень неэффективной функции хэша или большого количества одинаковых полей для соединения может быть и O(N</a:t>
                      </a:r>
                      <a:r>
                        <a:rPr lang="ru-RU" sz="1600" baseline="30000" dirty="0">
                          <a:effectLst/>
                        </a:rPr>
                        <a:t>2</a:t>
                      </a:r>
                      <a:r>
                        <a:rPr lang="ru-RU" sz="160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672940"/>
                  </a:ext>
                </a:extLst>
              </a:tr>
              <a:tr h="491218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Merge Join</a:t>
                      </a:r>
                      <a:endParaRPr lang="en-US" sz="16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gridSpan="2"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</a:rPr>
                        <a:t>Сортируем по условию левую и правую таблицы, после чего объединяем два отсортированных списка</a:t>
                      </a:r>
                      <a:endParaRPr lang="ru-RU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</a:rPr>
                        <a:t>O(N*</a:t>
                      </a:r>
                      <a:r>
                        <a:rPr lang="ru-RU" sz="1600" dirty="0" err="1">
                          <a:effectLst/>
                        </a:rPr>
                        <a:t>log</a:t>
                      </a:r>
                      <a:r>
                        <a:rPr lang="ru-RU" sz="1600" dirty="0">
                          <a:effectLst/>
                        </a:rPr>
                        <a:t>(N))</a:t>
                      </a:r>
                      <a:br>
                        <a:rPr lang="ru-RU" sz="1600" dirty="0">
                          <a:effectLst/>
                        </a:rPr>
                      </a:br>
                      <a:r>
                        <a:rPr lang="ru-RU" sz="1600" dirty="0">
                          <a:effectLst/>
                        </a:rPr>
                        <a:t>Затраты на сортировку + проход по списку.</a:t>
                      </a:r>
                      <a:endParaRPr lang="ru-RU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530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515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Сложности операций </a:t>
            </a:r>
            <a:r>
              <a:rPr lang="en-US" dirty="0"/>
              <a:t>PostgreSQL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48</a:t>
            </a:fld>
            <a:endParaRPr lang="ru-RU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0553928"/>
              </p:ext>
            </p:extLst>
          </p:nvPr>
        </p:nvGraphicFramePr>
        <p:xfrm>
          <a:off x="395537" y="1484313"/>
          <a:ext cx="8064894" cy="3062152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1944215">
                  <a:extLst>
                    <a:ext uri="{9D8B030D-6E8A-4147-A177-3AD203B41FA5}">
                      <a16:colId xmlns:a16="http://schemas.microsoft.com/office/drawing/2014/main" val="1119778674"/>
                    </a:ext>
                  </a:extLst>
                </a:gridCol>
                <a:gridCol w="744083">
                  <a:extLst>
                    <a:ext uri="{9D8B030D-6E8A-4147-A177-3AD203B41FA5}">
                      <a16:colId xmlns:a16="http://schemas.microsoft.com/office/drawing/2014/main" val="1948912018"/>
                    </a:ext>
                  </a:extLst>
                </a:gridCol>
                <a:gridCol w="2688298">
                  <a:extLst>
                    <a:ext uri="{9D8B030D-6E8A-4147-A177-3AD203B41FA5}">
                      <a16:colId xmlns:a16="http://schemas.microsoft.com/office/drawing/2014/main" val="4142954389"/>
                    </a:ext>
                  </a:extLst>
                </a:gridCol>
                <a:gridCol w="672075">
                  <a:extLst>
                    <a:ext uri="{9D8B030D-6E8A-4147-A177-3AD203B41FA5}">
                      <a16:colId xmlns:a16="http://schemas.microsoft.com/office/drawing/2014/main" val="1706466136"/>
                    </a:ext>
                  </a:extLst>
                </a:gridCol>
                <a:gridCol w="2016223">
                  <a:extLst>
                    <a:ext uri="{9D8B030D-6E8A-4147-A177-3AD203B41FA5}">
                      <a16:colId xmlns:a16="http://schemas.microsoft.com/office/drawing/2014/main" val="2102318938"/>
                    </a:ext>
                  </a:extLst>
                </a:gridCol>
              </a:tblGrid>
              <a:tr h="99332"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</a:rPr>
                        <a:t>Операция</a:t>
                      </a:r>
                      <a:endParaRPr lang="ru-RU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gridSpan="3"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</a:rPr>
                        <a:t>Что выполняется</a:t>
                      </a:r>
                      <a:endParaRPr lang="ru-RU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pPr fontAlgn="t"/>
                      <a:endParaRPr lang="ru-RU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pPr fontAlgn="t"/>
                      <a:endParaRPr lang="ru-RU" sz="16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effectLst/>
                        </a:rPr>
                        <a:t>Затратность</a:t>
                      </a:r>
                      <a:endParaRPr lang="ru-RU" sz="16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extLst>
                  <a:ext uri="{0D108BD9-81ED-4DB2-BD59-A6C34878D82A}">
                    <a16:rowId xmlns:a16="http://schemas.microsoft.com/office/drawing/2014/main" val="2922362821"/>
                  </a:ext>
                </a:extLst>
              </a:tr>
              <a:tr h="99332">
                <a:tc gridSpan="5"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rgbClr val="C00000"/>
                          </a:solidFill>
                          <a:effectLst/>
                        </a:rPr>
                        <a:t>Операции агрегации (GROUP BY, DISTINCT)</a:t>
                      </a:r>
                      <a:endParaRPr lang="ru-RU" sz="1600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335851"/>
                  </a:ext>
                </a:extLst>
              </a:tr>
              <a:tr h="425904">
                <a:tc gridSpan="2"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Group Aggregate</a:t>
                      </a:r>
                      <a:endParaRPr lang="en-US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</a:rPr>
                        <a:t>Сортируем таблицу по условию агрегации и потом в отсортированном списке группируем соседние строки.</a:t>
                      </a:r>
                      <a:endParaRPr lang="ru-RU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effectLst/>
                        </a:rPr>
                        <a:t>O(N*log(N))</a:t>
                      </a:r>
                      <a:endParaRPr lang="en-US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654503"/>
                  </a:ext>
                </a:extLst>
              </a:tr>
              <a:tr h="491218">
                <a:tc gridSpan="2"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Hash Aggregate</a:t>
                      </a:r>
                      <a:endParaRPr lang="en-US" sz="16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</a:rPr>
                        <a:t>Считаем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</a:rPr>
                        <a:t>хэш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</a:rPr>
                        <a:t> для условия агрегации, для каждой строки. Для строк с одинаковым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</a:rPr>
                        <a:t>hash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</a:rPr>
                        <a:t> проводим агрегацию.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marL="27214" marR="27214" marT="13607" marB="20411"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effectLst/>
                        </a:rPr>
                        <a:t>O(N)</a:t>
                      </a:r>
                      <a:endParaRPr lang="en-US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27214" marR="27214" marT="13607" marB="20411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703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6350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Примерное соотношение </a:t>
            </a:r>
            <a:r>
              <a:rPr lang="ru-RU" dirty="0" err="1"/>
              <a:t>затратности</a:t>
            </a:r>
            <a:r>
              <a:rPr lang="ru-RU" dirty="0"/>
              <a:t> операций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49</a:t>
            </a:fld>
            <a:endParaRPr lang="ru-RU"/>
          </a:p>
        </p:txBody>
      </p:sp>
      <p:pic>
        <p:nvPicPr>
          <p:cNvPr id="10242" name="Picture 2" descr="https://habrastorage.org/webt/9f/p_/mx/9fp_mx7mhhd5kgokxbqeu-kxpfa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3" y="1340768"/>
            <a:ext cx="8483827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27647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планировщика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PostgreSQL</a:t>
            </a:r>
            <a:endParaRPr lang="ru-RU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312584"/>
            <a:ext cx="8856984" cy="5500792"/>
          </a:xfrm>
        </p:spPr>
        <p:txBody>
          <a:bodyPr anchor="t"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lang="ru-RU" b="1" dirty="0"/>
              <a:t>Статистика по таблицам</a:t>
            </a:r>
            <a:r>
              <a:rPr lang="ru-RU" dirty="0"/>
              <a:t>:</a:t>
            </a:r>
          </a:p>
          <a:p>
            <a:pPr lvl="1">
              <a:spcBef>
                <a:spcPts val="600"/>
              </a:spcBef>
            </a:pP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Содержится в 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pg_statistic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или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pg_stats</a:t>
            </a:r>
            <a:endParaRPr lang="ru-RU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>
              <a:spcBef>
                <a:spcPts val="600"/>
              </a:spcBef>
            </a:pP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Обновляется она автоматически при запуске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vacuum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, либо явно при команде ANALYZE.</a:t>
            </a:r>
          </a:p>
          <a:p>
            <a:pPr>
              <a:spcBef>
                <a:spcPts val="600"/>
              </a:spcBef>
            </a:pPr>
            <a:r>
              <a:rPr lang="ru-RU" b="1" dirty="0"/>
              <a:t>Источники </a:t>
            </a:r>
            <a:r>
              <a:rPr lang="ru-RU" b="1" dirty="0">
                <a:solidFill>
                  <a:srgbClr val="C00000"/>
                </a:solidFill>
              </a:rPr>
              <a:t>ошибок</a:t>
            </a:r>
            <a:r>
              <a:rPr lang="ru-RU" b="1" dirty="0"/>
              <a:t> планировщика</a:t>
            </a:r>
            <a:r>
              <a:rPr lang="ru-RU" dirty="0"/>
              <a:t>:</a:t>
            </a:r>
          </a:p>
          <a:p>
            <a:pPr lvl="1">
              <a:spcBef>
                <a:spcPts val="600"/>
              </a:spcBef>
            </a:pP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Относительная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затратность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примитивных операций </a:t>
            </a: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/>
            </a:r>
            <a:b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ru-RU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seq_page_cost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ru-RU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cpu_operator_cost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и так далее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) по умолчанию могут сильно </a:t>
            </a: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отличаться по затратам 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от реальности </a:t>
            </a: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/>
            </a:r>
            <a:b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		(</a:t>
            </a:r>
            <a:r>
              <a:rPr lang="ru-RU" i="1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cpu</a:t>
            </a:r>
            <a:r>
              <a:rPr lang="ru-RU" i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i="1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cost</a:t>
            </a:r>
            <a:r>
              <a:rPr lang="ru-RU" i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0.01, </a:t>
            </a:r>
            <a:r>
              <a:rPr lang="ru-RU" i="1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srq</a:t>
            </a:r>
            <a:r>
              <a:rPr lang="ru-RU" i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i="1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page</a:t>
            </a:r>
            <a:r>
              <a:rPr lang="ru-RU" i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i="1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load</a:t>
            </a:r>
            <a:r>
              <a:rPr lang="ru-RU" i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i="1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cost</a:t>
            </a:r>
            <a:r>
              <a:rPr lang="ru-RU" i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– 1 или 4 для </a:t>
            </a:r>
            <a:r>
              <a:rPr lang="ru-RU" i="1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random</a:t>
            </a:r>
            <a:r>
              <a:rPr lang="ru-RU" i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i="1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page</a:t>
            </a:r>
            <a:r>
              <a:rPr lang="ru-RU" i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i="1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load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). </a:t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ru-RU" b="1" dirty="0">
                <a:latin typeface="Cambria Math" panose="02040503050406030204" pitchFamily="18" charset="0"/>
                <a:ea typeface="Cambria Math" panose="02040503050406030204" pitchFamily="18" charset="0"/>
              </a:rPr>
              <a:t>Далеко не факт, что 100 сравнений будут равны 1 загрузке страницы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lvl="2">
              <a:spcBef>
                <a:spcPts val="600"/>
              </a:spcBef>
            </a:pPr>
            <a:r>
              <a:rPr lang="ru-RU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Hash</a:t>
            </a:r>
            <a:r>
              <a:rPr lang="ru-RU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Join</a:t>
            </a:r>
            <a:r>
              <a:rPr lang="ru-RU" b="1" dirty="0">
                <a:latin typeface="Cambria Math" panose="02040503050406030204" pitchFamily="18" charset="0"/>
                <a:ea typeface="Cambria Math" panose="02040503050406030204" pitchFamily="18" charset="0"/>
              </a:rPr>
              <a:t>. 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Ее сложность — </a:t>
            </a:r>
            <a:r>
              <a:rPr lang="ru-RU" dirty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O(N)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, но при ошибке с прогнозом в размере результата можно не поместиться в память и придется делать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Merge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Join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, с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затратностью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O(N*</a:t>
            </a:r>
            <a:r>
              <a:rPr lang="ru-RU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log</a:t>
            </a:r>
            <a:r>
              <a:rPr lang="ru-RU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(N)).</a:t>
            </a:r>
          </a:p>
          <a:p>
            <a:pPr lvl="2">
              <a:spcBef>
                <a:spcPts val="600"/>
              </a:spcBef>
            </a:pPr>
            <a:r>
              <a:rPr lang="ru-RU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Nested</a:t>
            </a:r>
            <a:r>
              <a:rPr lang="ru-RU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Loop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. Ее сложность </a:t>
            </a:r>
            <a:r>
              <a:rPr lang="ru-RU" dirty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O(N</a:t>
            </a:r>
            <a:r>
              <a:rPr lang="ru-RU" baseline="30000" dirty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ru-RU" dirty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, поэтому ошибка в прогнозе размеров квадратично влияет на скорость выполнения такого соединения.</a:t>
            </a:r>
          </a:p>
          <a:p>
            <a:pPr lvl="1">
              <a:spcBef>
                <a:spcPts val="600"/>
              </a:spcBef>
            </a:pP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Ошибка </a:t>
            </a:r>
            <a:r>
              <a:rPr lang="ru-RU" b="1" dirty="0">
                <a:latin typeface="Cambria Math" panose="02040503050406030204" pitchFamily="18" charset="0"/>
                <a:ea typeface="Cambria Math" panose="02040503050406030204" pitchFamily="18" charset="0"/>
              </a:rPr>
              <a:t>с прогнозом числа строк 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в промежуточных операциях. Фактическая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затратность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операции в таком случае может сильно отличаться от прогноза.</a:t>
            </a:r>
          </a:p>
          <a:p>
            <a:pPr>
              <a:spcBef>
                <a:spcPts val="600"/>
              </a:spcBef>
            </a:pPr>
            <a:r>
              <a:rPr lang="ru-RU" dirty="0"/>
              <a:t>Планы </a:t>
            </a:r>
            <a:r>
              <a:rPr lang="ru-RU" dirty="0" smtClean="0"/>
              <a:t>– конкуренты: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06235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PostgreSQL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/>
              <a:t>с конкурентными планами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51</a:t>
            </a:fld>
            <a:endParaRPr lang="ru-RU"/>
          </a:p>
        </p:txBody>
      </p:sp>
      <p:pic>
        <p:nvPicPr>
          <p:cNvPr id="13314" name="Picture 2" descr="https://habrastorage.org/webt/an/0e/t1/an0et1smgdhh60caqa4yltzgiu4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215183"/>
            <a:ext cx="6624736" cy="5382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88241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Возможности контроля и влияния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6036" y="1407821"/>
            <a:ext cx="5861582" cy="1440160"/>
          </a:xfrm>
        </p:spPr>
        <p:txBody>
          <a:bodyPr anchor="t"/>
          <a:lstStyle/>
          <a:p>
            <a:r>
              <a:rPr lang="ru-RU" dirty="0"/>
              <a:t>Запрет конкретных операций с помощью переменных сессии.</a:t>
            </a:r>
          </a:p>
          <a:p>
            <a:pPr lvl="1"/>
            <a:r>
              <a:rPr lang="ru-RU" dirty="0"/>
              <a:t>Это </a:t>
            </a:r>
            <a:r>
              <a:rPr lang="ru-RU" dirty="0">
                <a:solidFill>
                  <a:srgbClr val="C00000"/>
                </a:solidFill>
              </a:rPr>
              <a:t>не реальный запрет </a:t>
            </a:r>
            <a:r>
              <a:rPr lang="ru-RU" dirty="0"/>
              <a:t>а увеличение «</a:t>
            </a:r>
            <a:r>
              <a:rPr lang="ru-RU" dirty="0" err="1"/>
              <a:t>затратности</a:t>
            </a:r>
            <a:r>
              <a:rPr lang="ru-RU" dirty="0"/>
              <a:t>» на 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10</a:t>
            </a:r>
            <a:r>
              <a:rPr lang="ru-RU" dirty="0"/>
              <a:t> млрд у.е.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6299100" y="1269854"/>
            <a:ext cx="259228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enable_bitmapscan</a:t>
            </a:r>
            <a:endParaRPr lang="en-US" sz="1400" dirty="0">
              <a:solidFill>
                <a:schemeClr val="accent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400" dirty="0" err="1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enable_hashagg</a:t>
            </a:r>
            <a:endParaRPr lang="en-US" sz="1400" dirty="0">
              <a:solidFill>
                <a:schemeClr val="accent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400" dirty="0" err="1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enable_hashjoin</a:t>
            </a:r>
            <a:endParaRPr lang="en-US" sz="1400" dirty="0">
              <a:solidFill>
                <a:schemeClr val="accent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400" dirty="0" err="1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enable_indexscan</a:t>
            </a:r>
            <a:endParaRPr lang="en-US" sz="1400" dirty="0">
              <a:solidFill>
                <a:schemeClr val="accent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400" dirty="0" err="1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enable_indexonlyscan</a:t>
            </a:r>
            <a:endParaRPr lang="en-US" sz="1400" dirty="0">
              <a:solidFill>
                <a:schemeClr val="accent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400" dirty="0" err="1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enable_material</a:t>
            </a:r>
            <a:endParaRPr lang="en-US" sz="1400" dirty="0">
              <a:solidFill>
                <a:schemeClr val="accent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400" dirty="0" err="1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enable_mergejoin</a:t>
            </a:r>
            <a:endParaRPr lang="en-US" sz="1400" dirty="0">
              <a:solidFill>
                <a:schemeClr val="accent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400" dirty="0" err="1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enable_nestloop</a:t>
            </a:r>
            <a:endParaRPr lang="en-US" sz="1400" dirty="0">
              <a:solidFill>
                <a:schemeClr val="accent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400" dirty="0" err="1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enable_parallel_append</a:t>
            </a:r>
            <a:endParaRPr lang="en-US" sz="1400" dirty="0">
              <a:solidFill>
                <a:schemeClr val="accent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400" dirty="0" err="1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enable_seqscan</a:t>
            </a:r>
            <a:endParaRPr lang="en-US" sz="1400" dirty="0">
              <a:solidFill>
                <a:schemeClr val="accent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400" dirty="0" err="1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enable_sort</a:t>
            </a:r>
            <a:endParaRPr lang="en-US" sz="1400" dirty="0">
              <a:solidFill>
                <a:schemeClr val="accent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400" dirty="0" err="1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enable_tidscan</a:t>
            </a:r>
            <a:endParaRPr lang="en-US" sz="1400" dirty="0">
              <a:solidFill>
                <a:schemeClr val="accent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400" dirty="0" err="1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enable_parallel_hash</a:t>
            </a:r>
            <a:endParaRPr lang="en-US" sz="1400" dirty="0">
              <a:solidFill>
                <a:schemeClr val="accent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400" dirty="0" err="1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enable_partition_pruning</a:t>
            </a:r>
            <a:endParaRPr lang="ru-RU" sz="1400" dirty="0">
              <a:solidFill>
                <a:schemeClr val="accent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400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enable_partitionwise_join</a:t>
            </a:r>
            <a:endParaRPr lang="en-US" sz="1400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400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enable_partitionwise_aggregate</a:t>
            </a:r>
            <a:endParaRPr lang="ru-RU" sz="1400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475618" y="3045912"/>
            <a:ext cx="4572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>
                <a:solidFill>
                  <a:srgbClr val="4D4D4C"/>
                </a:solidFill>
                <a:latin typeface="Menlo"/>
              </a:rPr>
              <a:t>SET </a:t>
            </a:r>
            <a:r>
              <a:rPr lang="en-US" dirty="0" err="1">
                <a:solidFill>
                  <a:srgbClr val="4D4D4C"/>
                </a:solidFill>
                <a:latin typeface="Menlo"/>
              </a:rPr>
              <a:t>enable_hashjoin</a:t>
            </a:r>
            <a:r>
              <a:rPr lang="en-US" dirty="0">
                <a:solidFill>
                  <a:srgbClr val="4D4D4C"/>
                </a:solidFill>
                <a:latin typeface="Menlo"/>
              </a:rPr>
              <a:t>=’on’;</a:t>
            </a:r>
          </a:p>
          <a:p>
            <a:r>
              <a:rPr lang="en-US" dirty="0">
                <a:solidFill>
                  <a:srgbClr val="4D4D4C"/>
                </a:solidFill>
                <a:latin typeface="Menlo"/>
              </a:rPr>
              <a:t>SET </a:t>
            </a:r>
            <a:r>
              <a:rPr lang="en-US" dirty="0" err="1">
                <a:solidFill>
                  <a:srgbClr val="4D4D4C"/>
                </a:solidFill>
                <a:latin typeface="Menlo"/>
              </a:rPr>
              <a:t>enable_nestloop</a:t>
            </a:r>
            <a:r>
              <a:rPr lang="en-US" dirty="0">
                <a:solidFill>
                  <a:srgbClr val="4D4D4C"/>
                </a:solidFill>
                <a:latin typeface="Menlo"/>
              </a:rPr>
              <a:t>=’off’; </a:t>
            </a:r>
          </a:p>
          <a:p>
            <a:r>
              <a:rPr lang="en-US" dirty="0">
                <a:solidFill>
                  <a:srgbClr val="4D4D4C"/>
                </a:solidFill>
                <a:latin typeface="Menlo"/>
              </a:rPr>
              <a:t>SELECT … FROM … </a:t>
            </a:r>
            <a:endParaRPr lang="ru-RU" dirty="0"/>
          </a:p>
        </p:txBody>
      </p:sp>
      <p:sp>
        <p:nvSpPr>
          <p:cNvPr id="11" name="Объект 2"/>
          <p:cNvSpPr txBox="1">
            <a:spLocks/>
          </p:cNvSpPr>
          <p:nvPr/>
        </p:nvSpPr>
        <p:spPr>
          <a:xfrm>
            <a:off x="179512" y="4365104"/>
            <a:ext cx="8496944" cy="238738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800"/>
              </a:spcBef>
            </a:pPr>
            <a:r>
              <a:rPr lang="ru-RU" sz="2400" dirty="0"/>
              <a:t>Расширения</a:t>
            </a:r>
            <a:r>
              <a:rPr lang="ru-RU" sz="2100" dirty="0"/>
              <a:t> </a:t>
            </a:r>
            <a:r>
              <a:rPr lang="en-US" sz="2100" dirty="0"/>
              <a:t>PostgreSQL</a:t>
            </a:r>
            <a:endParaRPr lang="ru-RU" sz="2100" dirty="0"/>
          </a:p>
          <a:p>
            <a:pPr>
              <a:spcBef>
                <a:spcPts val="800"/>
              </a:spcBef>
            </a:pPr>
            <a:endParaRPr lang="en-US" dirty="0"/>
          </a:p>
          <a:p>
            <a:pPr lvl="1">
              <a:spcBef>
                <a:spcPts val="800"/>
              </a:spcBef>
            </a:pPr>
            <a:r>
              <a:rPr lang="ru-RU" dirty="0"/>
              <a:t>SR_PLAN, для сохранения рассчитанного плана и принудительного использования его в дальнейшем. </a:t>
            </a:r>
          </a:p>
          <a:p>
            <a:pPr lvl="1">
              <a:spcBef>
                <a:spcPts val="800"/>
              </a:spcBef>
            </a:pPr>
            <a:r>
              <a:rPr lang="ru-RU" dirty="0" err="1"/>
              <a:t>Adaptive</a:t>
            </a:r>
            <a:r>
              <a:rPr lang="ru-RU" dirty="0"/>
              <a:t> </a:t>
            </a:r>
            <a:r>
              <a:rPr lang="ru-RU" dirty="0" err="1"/>
              <a:t>Query</a:t>
            </a:r>
            <a:r>
              <a:rPr lang="ru-RU" dirty="0"/>
              <a:t> </a:t>
            </a:r>
            <a:r>
              <a:rPr lang="ru-RU" dirty="0" err="1"/>
              <a:t>Optimizer</a:t>
            </a:r>
            <a:r>
              <a:rPr lang="ru-RU" dirty="0"/>
              <a:t>, реализует обратную связь планировщику от реального времени выполнения запроса, то есть планировщик измеряет фактические результаты выполненного запроса и корректирует свои планы в будущем с учетом этого. </a:t>
            </a:r>
            <a:br>
              <a:rPr lang="ru-RU" dirty="0"/>
            </a:br>
            <a:r>
              <a:rPr lang="ru-RU" i="1" dirty="0"/>
              <a:t>БД таким образом, «</a:t>
            </a:r>
            <a:r>
              <a:rPr lang="ru-RU" i="1" dirty="0" err="1"/>
              <a:t>самонастраивается</a:t>
            </a:r>
            <a:r>
              <a:rPr lang="ru-RU" i="1" dirty="0"/>
              <a:t>» для конкретных данных и запросов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8608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влияния через запрет операторов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53</a:t>
            </a:fld>
            <a:endParaRPr lang="ru-RU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347750" y="4164377"/>
          <a:ext cx="8136904" cy="1691640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2034226">
                  <a:extLst>
                    <a:ext uri="{9D8B030D-6E8A-4147-A177-3AD203B41FA5}">
                      <a16:colId xmlns:a16="http://schemas.microsoft.com/office/drawing/2014/main" val="199453575"/>
                    </a:ext>
                  </a:extLst>
                </a:gridCol>
                <a:gridCol w="2034226">
                  <a:extLst>
                    <a:ext uri="{9D8B030D-6E8A-4147-A177-3AD203B41FA5}">
                      <a16:colId xmlns:a16="http://schemas.microsoft.com/office/drawing/2014/main" val="1668363789"/>
                    </a:ext>
                  </a:extLst>
                </a:gridCol>
                <a:gridCol w="2034226">
                  <a:extLst>
                    <a:ext uri="{9D8B030D-6E8A-4147-A177-3AD203B41FA5}">
                      <a16:colId xmlns:a16="http://schemas.microsoft.com/office/drawing/2014/main" val="503787981"/>
                    </a:ext>
                  </a:extLst>
                </a:gridCol>
                <a:gridCol w="2034226">
                  <a:extLst>
                    <a:ext uri="{9D8B030D-6E8A-4147-A177-3AD203B41FA5}">
                      <a16:colId xmlns:a16="http://schemas.microsoft.com/office/drawing/2014/main" val="1664714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Параметр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План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План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План</a:t>
                      </a:r>
                      <a:r>
                        <a:rPr lang="ru-RU" sz="1600" baseline="0" dirty="0"/>
                        <a:t> 3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233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Особенность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Все </a:t>
                      </a:r>
                      <a:r>
                        <a:rPr lang="en-US" sz="1600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on</a:t>
                      </a:r>
                      <a:endParaRPr lang="ru-RU" sz="1600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Запрет 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nested loop</a:t>
                      </a:r>
                      <a:endParaRPr lang="ru-RU" sz="16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Запрет </a:t>
                      </a:r>
                      <a:r>
                        <a:rPr lang="en-US" sz="1600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Hash Join </a:t>
                      </a:r>
                      <a:endParaRPr lang="ru-RU" sz="1600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892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/>
                        <a:t>Затратность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274 962 .09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40 000 </a:t>
                      </a:r>
                      <a:r>
                        <a:rPr lang="ru-RU" sz="1600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534 153. 85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383 253. 77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6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Время выполнения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 9 минут</a:t>
                      </a:r>
                      <a:endParaRPr lang="ru-RU" sz="16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 1.5 секунды</a:t>
                      </a:r>
                      <a:endParaRPr lang="ru-RU" sz="1600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 5 минут</a:t>
                      </a:r>
                      <a:endParaRPr lang="ru-RU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246146"/>
                  </a:ext>
                </a:extLst>
              </a:tr>
            </a:tbl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288070" y="6373948"/>
            <a:ext cx="56441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https://habr.com/ru/companies/okko/articles/443276/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288070" y="1858980"/>
            <a:ext cx="457200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ru-RU" dirty="0">
                <a:solidFill>
                  <a:srgbClr val="C00000"/>
                </a:solidFill>
              </a:rPr>
              <a:t>Вместо прогнозируемой одной строки </a:t>
            </a:r>
            <a:r>
              <a:rPr lang="ru-RU" dirty="0" err="1">
                <a:solidFill>
                  <a:srgbClr val="C00000"/>
                </a:solidFill>
              </a:rPr>
              <a:t>Nested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Loop</a:t>
            </a:r>
            <a:r>
              <a:rPr lang="ru-RU" dirty="0">
                <a:solidFill>
                  <a:srgbClr val="C00000"/>
                </a:solidFill>
              </a:rPr>
              <a:t> встретился с несколькими тысячами строк</a:t>
            </a:r>
          </a:p>
        </p:txBody>
      </p:sp>
      <p:sp>
        <p:nvSpPr>
          <p:cNvPr id="10" name="Стрелка вниз 9"/>
          <p:cNvSpPr/>
          <p:nvPr/>
        </p:nvSpPr>
        <p:spPr>
          <a:xfrm>
            <a:off x="2123728" y="2941623"/>
            <a:ext cx="1239638" cy="1527465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/>
          <p:nvPr/>
        </p:nvCxnSpPr>
        <p:spPr>
          <a:xfrm>
            <a:off x="5580112" y="3068960"/>
            <a:ext cx="0" cy="936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64088" y="1581981"/>
            <a:ext cx="2592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40 000 000 000 – 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это 4 выполнения «запрещенного»</a:t>
            </a:r>
            <a:r>
              <a:rPr lang="en-US" dirty="0"/>
              <a:t> nested loop</a:t>
            </a:r>
            <a:r>
              <a:rPr lang="ru-RU" dirty="0"/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9467" y="2981655"/>
            <a:ext cx="2592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534 153. </a:t>
            </a:r>
            <a:r>
              <a:rPr lang="ru-RU" dirty="0" smtClean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85 </a:t>
            </a: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– </a:t>
            </a:r>
            <a:r>
              <a:rPr lang="ru-RU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затратность</a:t>
            </a: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остальных операций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72116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6E93E5-A810-B5D3-C60D-1C5165E61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Атаки на производительность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3ED8A0-9A90-14E5-BED0-380B4771A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54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C881A3-5A2C-27CB-0C7A-0063F26DDF3B}"/>
              </a:ext>
            </a:extLst>
          </p:cNvPr>
          <p:cNvSpPr txBox="1"/>
          <p:nvPr/>
        </p:nvSpPr>
        <p:spPr>
          <a:xfrm>
            <a:off x="755576" y="4253376"/>
            <a:ext cx="6688759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CREATE OR REPLACE PROCEDURE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att_resource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IS</a:t>
            </a:r>
          </a:p>
          <a:p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Atx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RAW (2000);</a:t>
            </a:r>
          </a:p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BEGIN</a:t>
            </a:r>
          </a:p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FOR I IN 1..100000 LOOP</a:t>
            </a:r>
          </a:p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Atx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:=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DBMS_CRYPTO.Randombytes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(2000);</a:t>
            </a:r>
          </a:p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	INSERT INTO table1 VALUES (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Atx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END LOOP;</a:t>
            </a:r>
          </a:p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ROLLBACK;</a:t>
            </a:r>
          </a:p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END;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75B8FA1-5F3C-EFDA-13D0-61208CF1B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14" y="1415227"/>
            <a:ext cx="4844382" cy="2416820"/>
          </a:xfrm>
          <a:prstGeom prst="rect">
            <a:avLst/>
          </a:prstGeom>
        </p:spPr>
      </p:pic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75BE8CA5-D064-CBA7-CA3D-93D471F5EDB4}"/>
              </a:ext>
            </a:extLst>
          </p:cNvPr>
          <p:cNvSpPr/>
          <p:nvPr/>
        </p:nvSpPr>
        <p:spPr>
          <a:xfrm rot="10800000">
            <a:off x="3013905" y="5949280"/>
            <a:ext cx="1315990" cy="36004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26B11CBC-6BFA-7574-9F21-75888B15555E}"/>
              </a:ext>
            </a:extLst>
          </p:cNvPr>
          <p:cNvSpPr/>
          <p:nvPr/>
        </p:nvSpPr>
        <p:spPr>
          <a:xfrm rot="10800000">
            <a:off x="6588224" y="5242907"/>
            <a:ext cx="1315990" cy="202317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: вправо 9">
            <a:extLst>
              <a:ext uri="{FF2B5EF4-FFF2-40B4-BE49-F238E27FC236}">
                <a16:creationId xmlns:a16="http://schemas.microsoft.com/office/drawing/2014/main" id="{0825E3E8-3A89-4504-B93C-04BC3D0E976A}"/>
              </a:ext>
            </a:extLst>
          </p:cNvPr>
          <p:cNvSpPr/>
          <p:nvPr/>
        </p:nvSpPr>
        <p:spPr>
          <a:xfrm rot="10800000">
            <a:off x="6156176" y="5589240"/>
            <a:ext cx="1315990" cy="202317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38997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Выполнение запросов 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параллелизм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890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A44B8-87A5-4FE6-FF2F-60B0F5646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параллелизма при управлении данными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06BD0E-B327-32FF-A75B-9D204BAAA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56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A7A03F-E173-E0DE-3BB4-6EC8BD639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0" y="2264580"/>
            <a:ext cx="8496944" cy="4155536"/>
          </a:xfrm>
          <a:prstGeom prst="rect">
            <a:avLst/>
          </a:prstGeom>
        </p:spPr>
      </p:pic>
      <p:sp>
        <p:nvSpPr>
          <p:cNvPr id="6" name="Стрелка: вниз 5">
            <a:extLst>
              <a:ext uri="{FF2B5EF4-FFF2-40B4-BE49-F238E27FC236}">
                <a16:creationId xmlns:a16="http://schemas.microsoft.com/office/drawing/2014/main" id="{C05CF847-D1F8-478B-3C9A-EBF38FC34EBB}"/>
              </a:ext>
            </a:extLst>
          </p:cNvPr>
          <p:cNvSpPr/>
          <p:nvPr/>
        </p:nvSpPr>
        <p:spPr>
          <a:xfrm rot="16200000">
            <a:off x="613951" y="3375362"/>
            <a:ext cx="864095" cy="1835467"/>
          </a:xfrm>
          <a:prstGeom prst="downArrow">
            <a:avLst>
              <a:gd name="adj1" fmla="val 71819"/>
              <a:gd name="adj2" fmla="val 2703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ru-RU" dirty="0" smtClean="0"/>
              <a:t>Декомпозиция запроса</a:t>
            </a:r>
            <a:endParaRPr lang="ru-RU" dirty="0"/>
          </a:p>
        </p:txBody>
      </p:sp>
      <p:sp>
        <p:nvSpPr>
          <p:cNvPr id="7" name="Стрелка: вниз 6">
            <a:extLst>
              <a:ext uri="{FF2B5EF4-FFF2-40B4-BE49-F238E27FC236}">
                <a16:creationId xmlns:a16="http://schemas.microsoft.com/office/drawing/2014/main" id="{FF222C18-F060-AB0A-813B-C04C1B0D0D60}"/>
              </a:ext>
            </a:extLst>
          </p:cNvPr>
          <p:cNvSpPr/>
          <p:nvPr/>
        </p:nvSpPr>
        <p:spPr>
          <a:xfrm>
            <a:off x="107504" y="1268760"/>
            <a:ext cx="1166056" cy="1763459"/>
          </a:xfrm>
          <a:prstGeom prst="downArrow">
            <a:avLst>
              <a:gd name="adj1" fmla="val 50000"/>
              <a:gd name="adj2" fmla="val 1604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dirty="0" err="1" smtClean="0"/>
              <a:t>Упаравление</a:t>
            </a:r>
            <a:r>
              <a:rPr lang="ru-RU" dirty="0" smtClean="0"/>
              <a:t> транзакциями</a:t>
            </a:r>
            <a:endParaRPr lang="ru-RU" dirty="0"/>
          </a:p>
        </p:txBody>
      </p:sp>
      <p:sp>
        <p:nvSpPr>
          <p:cNvPr id="8" name="Стрелка: вниз 5">
            <a:extLst>
              <a:ext uri="{FF2B5EF4-FFF2-40B4-BE49-F238E27FC236}">
                <a16:creationId xmlns:a16="http://schemas.microsoft.com/office/drawing/2014/main" id="{C05CF847-D1F8-478B-3C9A-EBF38FC34EBB}"/>
              </a:ext>
            </a:extLst>
          </p:cNvPr>
          <p:cNvSpPr/>
          <p:nvPr/>
        </p:nvSpPr>
        <p:spPr>
          <a:xfrm>
            <a:off x="6803685" y="2141083"/>
            <a:ext cx="1149134" cy="1835467"/>
          </a:xfrm>
          <a:prstGeom prst="downArrow">
            <a:avLst>
              <a:gd name="adj1" fmla="val 50000"/>
              <a:gd name="adj2" fmla="val 2703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dirty="0"/>
              <a:t>Декомпозиция </a:t>
            </a:r>
            <a:r>
              <a:rPr lang="ru-RU" dirty="0" smtClean="0"/>
              <a:t>транзакции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8663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CB2DE1-C541-9C0B-5D1E-EB2AB50A6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Внутритранзакционный</a:t>
            </a:r>
            <a:r>
              <a:rPr lang="ru-RU" dirty="0"/>
              <a:t> параллелизм: </a:t>
            </a:r>
            <a:r>
              <a:rPr lang="ru-RU" dirty="0" err="1"/>
              <a:t>внутризапросный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8BCF55-F5AB-C7A8-AD83-6024687EB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57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39D634F-5E7F-277C-B46F-DB159692969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91" y="3717032"/>
            <a:ext cx="8208912" cy="20714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Объект 7">
            <a:extLst>
              <a:ext uri="{FF2B5EF4-FFF2-40B4-BE49-F238E27FC236}">
                <a16:creationId xmlns:a16="http://schemas.microsoft.com/office/drawing/2014/main" id="{51277917-50FF-A33E-9A76-1B0C0C64D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1484313"/>
            <a:ext cx="7848600" cy="2160711"/>
          </a:xfrm>
        </p:spPr>
        <p:txBody>
          <a:bodyPr anchor="t">
            <a:normAutofit/>
          </a:bodyPr>
          <a:lstStyle/>
          <a:p>
            <a:r>
              <a:rPr lang="ru-RU" dirty="0"/>
              <a:t>Параллельное выполнение отдельного оператора (запроса). Виды:</a:t>
            </a:r>
          </a:p>
          <a:p>
            <a:pPr lvl="1"/>
            <a:r>
              <a:rPr lang="ru-RU" dirty="0"/>
              <a:t>Основанный </a:t>
            </a:r>
            <a:br>
              <a:rPr lang="ru-RU" dirty="0"/>
            </a:br>
            <a:r>
              <a:rPr lang="ru-RU" dirty="0"/>
              <a:t>на разделении данных</a:t>
            </a:r>
          </a:p>
          <a:p>
            <a:pPr lvl="1"/>
            <a:r>
              <a:rPr lang="ru-RU" dirty="0"/>
              <a:t>Основанный </a:t>
            </a:r>
            <a:br>
              <a:rPr lang="ru-RU" dirty="0"/>
            </a:br>
            <a:r>
              <a:rPr lang="ru-RU" dirty="0"/>
              <a:t>на распараллеливании операций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7322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6D98C-F2A1-B28F-3D62-69DA8E10C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Параллельный план запроса и стратегия разделения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13F23A-62DD-C08D-5700-41609F506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992888" cy="4752528"/>
          </a:xfrm>
        </p:spPr>
        <p:txBody>
          <a:bodyPr anchor="t">
            <a:normAutofit/>
          </a:bodyPr>
          <a:lstStyle/>
          <a:p>
            <a:r>
              <a:rPr lang="ru-RU" sz="1800" dirty="0"/>
              <a:t>Запрос разбивается на подзапросы для параллельного выполнения</a:t>
            </a:r>
          </a:p>
          <a:p>
            <a:r>
              <a:rPr lang="ru-RU" sz="1800" dirty="0"/>
              <a:t>Используется в распределенных средах и средах с параллелизмом</a:t>
            </a:r>
          </a:p>
          <a:p>
            <a:pPr lvl="1"/>
            <a:r>
              <a:rPr lang="ru-RU" sz="1600" dirty="0"/>
              <a:t>Пример стратегии разделения: </a:t>
            </a:r>
            <a:r>
              <a:rPr lang="ru-RU" sz="1600" b="1" i="1" dirty="0"/>
              <a:t>декомпозиция запроса</a:t>
            </a:r>
          </a:p>
          <a:p>
            <a:endParaRPr lang="ru-RU" sz="1800" b="1" i="1" dirty="0"/>
          </a:p>
          <a:p>
            <a:pPr lvl="0"/>
            <a:r>
              <a:rPr lang="ru-RU" sz="1800" dirty="0"/>
              <a:t>Методы</a:t>
            </a:r>
          </a:p>
          <a:p>
            <a:pPr lvl="1"/>
            <a:r>
              <a:rPr lang="ru-RU" sz="1600" b="1" dirty="0"/>
              <a:t>Отделение</a:t>
            </a:r>
            <a:r>
              <a:rPr lang="ru-RU" sz="1600" dirty="0"/>
              <a:t>.</a:t>
            </a:r>
          </a:p>
          <a:p>
            <a:pPr lvl="1"/>
            <a:r>
              <a:rPr lang="ru-RU" sz="1600" b="1" dirty="0"/>
              <a:t>Подстановка кортежа</a:t>
            </a:r>
            <a:r>
              <a:rPr lang="ru-RU" sz="1600" dirty="0"/>
              <a:t>.</a:t>
            </a:r>
          </a:p>
          <a:p>
            <a:endParaRPr lang="ru-RU" sz="1800" dirty="0"/>
          </a:p>
          <a:p>
            <a:r>
              <a:rPr lang="ru-RU" sz="2000" dirty="0"/>
              <a:t>Основная задача процесса оптимизации на каждом этапе вычисления</a:t>
            </a:r>
          </a:p>
          <a:p>
            <a:pPr lvl="2"/>
            <a:r>
              <a:rPr lang="ru-RU" sz="1600" b="1" i="1" dirty="0"/>
              <a:t>избежать выполнения декартовых произведений</a:t>
            </a:r>
            <a:r>
              <a:rPr lang="ru-RU" sz="1600" dirty="0"/>
              <a:t> </a:t>
            </a:r>
          </a:p>
          <a:p>
            <a:pPr lvl="2"/>
            <a:r>
              <a:rPr lang="ru-RU" sz="1600" b="1" i="1" dirty="0"/>
              <a:t>минимизировать количество сканируемых кортежей</a:t>
            </a:r>
            <a:r>
              <a:rPr lang="ru-RU" sz="1600" dirty="0"/>
              <a:t>.</a:t>
            </a:r>
          </a:p>
          <a:p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EE37B2F-FBF0-0D71-20DB-53845E1BD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3062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4DAB92-94D4-9186-0DB3-43E0BD38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декомпозиции запроса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9EC31C-098F-123E-CE10-9C6263434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59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B0B3FEF4-6976-5AC4-6A92-16E345D3C9E7}"/>
              </a:ext>
            </a:extLst>
          </p:cNvPr>
          <p:cNvSpPr txBox="1">
            <a:spLocks/>
          </p:cNvSpPr>
          <p:nvPr/>
        </p:nvSpPr>
        <p:spPr>
          <a:xfrm>
            <a:off x="393836" y="1484785"/>
            <a:ext cx="8570652" cy="122413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i="1" dirty="0"/>
              <a:t>"</a:t>
            </a:r>
            <a:r>
              <a:rPr lang="ru-RU" sz="1800" dirty="0"/>
              <a:t>Определить имена поставщиков из Лондона, поставляющих некоторые детали красного цвета весом меньше 25 фунтов в количестве больше 200 штук". </a:t>
            </a:r>
          </a:p>
          <a:p>
            <a:pPr marL="0" indent="0">
              <a:buNone/>
            </a:pPr>
            <a:endParaRPr lang="ru-RU" sz="18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0D467AA-EB9E-8A1C-DBC1-C57EBA0A35B7}"/>
              </a:ext>
            </a:extLst>
          </p:cNvPr>
          <p:cNvSpPr/>
          <p:nvPr/>
        </p:nvSpPr>
        <p:spPr>
          <a:xfrm>
            <a:off x="179512" y="2276872"/>
            <a:ext cx="4038600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GB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SELECT</a:t>
            </a: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 ( S.SNAME)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S, SP, P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WHERE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S.CITY = 'London'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S.SN = SP.SN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SP.QTY &gt; 200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SP.PN = P.PN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P.COLOR = 'Red'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P.WEIGHT &lt; 25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4242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4DAB92-94D4-9186-0DB3-43E0BD38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декомпозиции запроса: разбиение (1)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9EC31C-098F-123E-CE10-9C6263434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60</a:t>
            </a:fld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C428102-58F0-7B1E-947F-F58067D1A859}"/>
              </a:ext>
            </a:extLst>
          </p:cNvPr>
          <p:cNvSpPr/>
          <p:nvPr/>
        </p:nvSpPr>
        <p:spPr>
          <a:xfrm>
            <a:off x="317482" y="1355007"/>
            <a:ext cx="3412671" cy="2970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latin typeface="CourierNewPSMT"/>
                <a:ea typeface="Calibri" panose="020F0502020204030204" pitchFamily="34" charset="0"/>
                <a:cs typeface="CourierNewPSMT"/>
              </a:rPr>
              <a:t>Q: </a:t>
            </a:r>
            <a:endParaRPr lang="ru-RU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GB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SELECT</a:t>
            </a: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 ( S.SNAME) 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S, SP, P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WHERE 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S.CITY = 'London'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S.SN = SP.SN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SP.QTY &gt; 200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SP.PN = P.PN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P.COLOR = 'Red'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P.WEIGHT &lt; 25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3" name="Стрелка вправо 18">
            <a:extLst>
              <a:ext uri="{FF2B5EF4-FFF2-40B4-BE49-F238E27FC236}">
                <a16:creationId xmlns:a16="http://schemas.microsoft.com/office/drawing/2014/main" id="{51EA1DA1-24DD-FA4D-23B3-45565310DEA2}"/>
              </a:ext>
            </a:extLst>
          </p:cNvPr>
          <p:cNvSpPr/>
          <p:nvPr/>
        </p:nvSpPr>
        <p:spPr>
          <a:xfrm>
            <a:off x="4151078" y="1519743"/>
            <a:ext cx="996043" cy="5220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A1E3C9B-D09A-F731-0346-2BCCA4372519}"/>
              </a:ext>
            </a:extLst>
          </p:cNvPr>
          <p:cNvSpPr/>
          <p:nvPr/>
        </p:nvSpPr>
        <p:spPr>
          <a:xfrm>
            <a:off x="5200831" y="1333871"/>
            <a:ext cx="376365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latin typeface="CourierNewPSMT"/>
                <a:ea typeface="Calibri" panose="020F0502020204030204" pitchFamily="34" charset="0"/>
                <a:cs typeface="CourierNewPSMT"/>
              </a:rPr>
              <a:t>D</a:t>
            </a:r>
            <a:r>
              <a:rPr lang="ru-RU" sz="1400" b="1" dirty="0">
                <a:latin typeface="CourierNewPSMT"/>
                <a:ea typeface="Calibri" panose="020F0502020204030204" pitchFamily="34" charset="0"/>
                <a:cs typeface="CourierNewPSMT"/>
              </a:rPr>
              <a:t>1</a:t>
            </a:r>
            <a:r>
              <a:rPr lang="en-US" sz="1400" b="1" dirty="0">
                <a:latin typeface="CourierNewPSMT"/>
                <a:ea typeface="Calibri" panose="020F0502020204030204" pitchFamily="34" charset="0"/>
                <a:cs typeface="CourierNewPSMT"/>
              </a:rPr>
              <a:t>:</a:t>
            </a:r>
            <a:r>
              <a:rPr lang="en-US" sz="1400" dirty="0">
                <a:latin typeface="CourierNewPSMT"/>
                <a:ea typeface="Calibri" panose="020F0502020204030204" pitchFamily="34" charset="0"/>
                <a:cs typeface="CourierNewPSMT"/>
              </a:rPr>
              <a:t> P1 = </a:t>
            </a:r>
            <a:r>
              <a:rPr lang="en-GB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SELECT</a:t>
            </a: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 ( </a:t>
            </a:r>
            <a:r>
              <a:rPr lang="en-GB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P</a:t>
            </a: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.PN) 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P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WHERE P.COLOR = 'Red' AND P.WEIGHT &lt; 25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2251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4DAB92-94D4-9186-0DB3-43E0BD38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декомпозиции запроса: разбиение (2)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9EC31C-098F-123E-CE10-9C6263434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61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1F9BC6A-495F-C951-1B62-48BCF3E82236}"/>
              </a:ext>
            </a:extLst>
          </p:cNvPr>
          <p:cNvSpPr/>
          <p:nvPr/>
        </p:nvSpPr>
        <p:spPr>
          <a:xfrm>
            <a:off x="309560" y="4778329"/>
            <a:ext cx="3332045" cy="176971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Q2:  SELECT (S.SNAME) 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S, SP1, P1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WHERE 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S.CITY = 'London'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S.SN = SP1.SN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SP</a:t>
            </a:r>
            <a:r>
              <a:rPr lang="ru-RU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1.</a:t>
            </a: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PN</a:t>
            </a:r>
            <a:r>
              <a:rPr lang="ru-RU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 = </a:t>
            </a: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P</a:t>
            </a:r>
            <a:r>
              <a:rPr lang="ru-RU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1.</a:t>
            </a: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PN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9" name="Стрелка вправо 13">
            <a:extLst>
              <a:ext uri="{FF2B5EF4-FFF2-40B4-BE49-F238E27FC236}">
                <a16:creationId xmlns:a16="http://schemas.microsoft.com/office/drawing/2014/main" id="{71235916-1C3E-0630-1C8D-F53368B4CAA2}"/>
              </a:ext>
            </a:extLst>
          </p:cNvPr>
          <p:cNvSpPr/>
          <p:nvPr/>
        </p:nvSpPr>
        <p:spPr>
          <a:xfrm rot="10800000">
            <a:off x="3954057" y="4650422"/>
            <a:ext cx="996043" cy="5220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право 14">
            <a:extLst>
              <a:ext uri="{FF2B5EF4-FFF2-40B4-BE49-F238E27FC236}">
                <a16:creationId xmlns:a16="http://schemas.microsoft.com/office/drawing/2014/main" id="{28DDD2C3-4DC0-3286-47A8-A2342BAAF938}"/>
              </a:ext>
            </a:extLst>
          </p:cNvPr>
          <p:cNvSpPr/>
          <p:nvPr/>
        </p:nvSpPr>
        <p:spPr>
          <a:xfrm rot="5400000">
            <a:off x="6281577" y="5125747"/>
            <a:ext cx="559276" cy="5220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FD59CB3-F5E7-2EDF-67C8-161EE3FCD0E0}"/>
              </a:ext>
            </a:extLst>
          </p:cNvPr>
          <p:cNvSpPr/>
          <p:nvPr/>
        </p:nvSpPr>
        <p:spPr>
          <a:xfrm>
            <a:off x="5262553" y="2662458"/>
            <a:ext cx="3413903" cy="235449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</a:rPr>
              <a:t>Q</a:t>
            </a:r>
            <a:r>
              <a:rPr lang="ru-RU" sz="1400" b="1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endParaRPr lang="ru-RU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SELECT (S.SNAME) 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S, SP, P1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WHERE 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S.CITY = 'London'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S.SN = SP.SN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SP.QTY &gt; 200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SP.PN = P1.PN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C428102-58F0-7B1E-947F-F58067D1A859}"/>
              </a:ext>
            </a:extLst>
          </p:cNvPr>
          <p:cNvSpPr/>
          <p:nvPr/>
        </p:nvSpPr>
        <p:spPr>
          <a:xfrm>
            <a:off x="317482" y="1355007"/>
            <a:ext cx="3412671" cy="2970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latin typeface="CourierNewPSMT"/>
                <a:ea typeface="Calibri" panose="020F0502020204030204" pitchFamily="34" charset="0"/>
                <a:cs typeface="CourierNewPSMT"/>
              </a:rPr>
              <a:t>Q: </a:t>
            </a:r>
            <a:endParaRPr lang="ru-RU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GB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SELECT</a:t>
            </a: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 ( S.SNAME) 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S, SP, P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WHERE 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S.CITY = 'London'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S.SN = SP.SN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SP.QTY &gt; 200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SP.PN = P.PN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P.COLOR = 'Red'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P.WEIGHT &lt; 25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3" name="Стрелка вправо 18">
            <a:extLst>
              <a:ext uri="{FF2B5EF4-FFF2-40B4-BE49-F238E27FC236}">
                <a16:creationId xmlns:a16="http://schemas.microsoft.com/office/drawing/2014/main" id="{51EA1DA1-24DD-FA4D-23B3-45565310DEA2}"/>
              </a:ext>
            </a:extLst>
          </p:cNvPr>
          <p:cNvSpPr/>
          <p:nvPr/>
        </p:nvSpPr>
        <p:spPr>
          <a:xfrm>
            <a:off x="4151078" y="1519743"/>
            <a:ext cx="996043" cy="5220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право 19">
            <a:extLst>
              <a:ext uri="{FF2B5EF4-FFF2-40B4-BE49-F238E27FC236}">
                <a16:creationId xmlns:a16="http://schemas.microsoft.com/office/drawing/2014/main" id="{3B8B86B7-D33C-A02C-D1A7-B786FECB7191}"/>
              </a:ext>
            </a:extLst>
          </p:cNvPr>
          <p:cNvSpPr/>
          <p:nvPr/>
        </p:nvSpPr>
        <p:spPr>
          <a:xfrm>
            <a:off x="4073978" y="2906953"/>
            <a:ext cx="996043" cy="5220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B71F3F0-D40B-E0BD-919E-E00E4B9C7E2B}"/>
              </a:ext>
            </a:extLst>
          </p:cNvPr>
          <p:cNvSpPr/>
          <p:nvPr/>
        </p:nvSpPr>
        <p:spPr>
          <a:xfrm>
            <a:off x="4751615" y="5666171"/>
            <a:ext cx="6096000" cy="89255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D2: SP1=SELECT (SP.SN, SP.PN) 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SP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WHERE </a:t>
            </a: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SP.QTY &gt; 200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A1E3C9B-D09A-F731-0346-2BCCA4372519}"/>
              </a:ext>
            </a:extLst>
          </p:cNvPr>
          <p:cNvSpPr/>
          <p:nvPr/>
        </p:nvSpPr>
        <p:spPr>
          <a:xfrm>
            <a:off x="5200831" y="1333871"/>
            <a:ext cx="376365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latin typeface="CourierNewPSMT"/>
                <a:ea typeface="Calibri" panose="020F0502020204030204" pitchFamily="34" charset="0"/>
                <a:cs typeface="CourierNewPSMT"/>
              </a:rPr>
              <a:t>D</a:t>
            </a:r>
            <a:r>
              <a:rPr lang="ru-RU" sz="1400" b="1" dirty="0">
                <a:latin typeface="CourierNewPSMT"/>
                <a:ea typeface="Calibri" panose="020F0502020204030204" pitchFamily="34" charset="0"/>
                <a:cs typeface="CourierNewPSMT"/>
              </a:rPr>
              <a:t>1</a:t>
            </a:r>
            <a:r>
              <a:rPr lang="en-US" sz="1400" b="1" dirty="0">
                <a:latin typeface="CourierNewPSMT"/>
                <a:ea typeface="Calibri" panose="020F0502020204030204" pitchFamily="34" charset="0"/>
                <a:cs typeface="CourierNewPSMT"/>
              </a:rPr>
              <a:t>:</a:t>
            </a:r>
            <a:r>
              <a:rPr lang="en-US" sz="1400" dirty="0">
                <a:latin typeface="CourierNewPSMT"/>
                <a:ea typeface="Calibri" panose="020F0502020204030204" pitchFamily="34" charset="0"/>
                <a:cs typeface="CourierNewPSMT"/>
              </a:rPr>
              <a:t> P1 = </a:t>
            </a:r>
            <a:r>
              <a:rPr lang="en-GB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SELECT</a:t>
            </a: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 ( </a:t>
            </a:r>
            <a:r>
              <a:rPr lang="en-GB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P</a:t>
            </a: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.PN) 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P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WHERE P.COLOR = 'Red' AND P.WEIGHT &lt; 25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1235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965125-19FB-1035-0E27-A218B22B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декомпозиции запроса: разбиение (3)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C647BD-62E9-CA76-0074-063487E66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62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F499122-C68D-A1EB-3BFB-E15E68DD6F66}"/>
              </a:ext>
            </a:extLst>
          </p:cNvPr>
          <p:cNvSpPr/>
          <p:nvPr/>
        </p:nvSpPr>
        <p:spPr>
          <a:xfrm>
            <a:off x="200611" y="1420878"/>
            <a:ext cx="3492522" cy="195438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Q2:  SELECT (S.SNAME)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S, SP1, P1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WHERE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S.CITY = 'London'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S.SN = SP1.SN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SP</a:t>
            </a:r>
            <a:r>
              <a:rPr lang="ru-RU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1.</a:t>
            </a: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PN</a:t>
            </a:r>
            <a:r>
              <a:rPr lang="ru-RU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 = </a:t>
            </a: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P</a:t>
            </a:r>
            <a:r>
              <a:rPr lang="ru-RU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1.</a:t>
            </a: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PN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6" name="Стрелка вправо 13">
            <a:extLst>
              <a:ext uri="{FF2B5EF4-FFF2-40B4-BE49-F238E27FC236}">
                <a16:creationId xmlns:a16="http://schemas.microsoft.com/office/drawing/2014/main" id="{EE55D404-81C3-61BD-4343-107679A04400}"/>
              </a:ext>
            </a:extLst>
          </p:cNvPr>
          <p:cNvSpPr/>
          <p:nvPr/>
        </p:nvSpPr>
        <p:spPr>
          <a:xfrm>
            <a:off x="4026483" y="1470651"/>
            <a:ext cx="996043" cy="5220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2A9E616-C760-EE97-7989-96A02B4F4FB4}"/>
              </a:ext>
            </a:extLst>
          </p:cNvPr>
          <p:cNvSpPr/>
          <p:nvPr/>
        </p:nvSpPr>
        <p:spPr>
          <a:xfrm>
            <a:off x="4987262" y="1484866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D3: S1=SELECT (S.SNAME)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S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WHERE S.CITY = 'London'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1733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965125-19FB-1035-0E27-A218B22B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декомпозиции запроса: разбиение (4)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C647BD-62E9-CA76-0074-063487E66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63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F499122-C68D-A1EB-3BFB-E15E68DD6F66}"/>
              </a:ext>
            </a:extLst>
          </p:cNvPr>
          <p:cNvSpPr/>
          <p:nvPr/>
        </p:nvSpPr>
        <p:spPr>
          <a:xfrm>
            <a:off x="200611" y="1420878"/>
            <a:ext cx="3492522" cy="195438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Q2:  SELECT (S.SNAME)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S, SP1, P1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WHERE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S.CITY = 'London'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S.SN = SP1.SN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SP</a:t>
            </a:r>
            <a:r>
              <a:rPr lang="ru-RU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1.</a:t>
            </a: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PN</a:t>
            </a:r>
            <a:r>
              <a:rPr lang="ru-RU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 = </a:t>
            </a: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P</a:t>
            </a:r>
            <a:r>
              <a:rPr lang="ru-RU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1.</a:t>
            </a: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PN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6" name="Стрелка вправо 13">
            <a:extLst>
              <a:ext uri="{FF2B5EF4-FFF2-40B4-BE49-F238E27FC236}">
                <a16:creationId xmlns:a16="http://schemas.microsoft.com/office/drawing/2014/main" id="{EE55D404-81C3-61BD-4343-107679A04400}"/>
              </a:ext>
            </a:extLst>
          </p:cNvPr>
          <p:cNvSpPr/>
          <p:nvPr/>
        </p:nvSpPr>
        <p:spPr>
          <a:xfrm>
            <a:off x="4026483" y="1470651"/>
            <a:ext cx="996043" cy="5220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 вправо 14">
            <a:extLst>
              <a:ext uri="{FF2B5EF4-FFF2-40B4-BE49-F238E27FC236}">
                <a16:creationId xmlns:a16="http://schemas.microsoft.com/office/drawing/2014/main" id="{60E5777D-3D05-473C-E5A0-D57707CEFD4E}"/>
              </a:ext>
            </a:extLst>
          </p:cNvPr>
          <p:cNvSpPr/>
          <p:nvPr/>
        </p:nvSpPr>
        <p:spPr>
          <a:xfrm rot="3131383">
            <a:off x="4026482" y="2664865"/>
            <a:ext cx="996043" cy="5220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2A9E616-C760-EE97-7989-96A02B4F4FB4}"/>
              </a:ext>
            </a:extLst>
          </p:cNvPr>
          <p:cNvSpPr/>
          <p:nvPr/>
        </p:nvSpPr>
        <p:spPr>
          <a:xfrm>
            <a:off x="4987262" y="1484866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D3: S1=SELECT (S.SNAME)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S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WHERE S.CITY = 'London'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30F5712-1A56-E764-F429-9E377626A146}"/>
              </a:ext>
            </a:extLst>
          </p:cNvPr>
          <p:cNvSpPr/>
          <p:nvPr/>
        </p:nvSpPr>
        <p:spPr>
          <a:xfrm>
            <a:off x="2423629" y="3533937"/>
            <a:ext cx="5481733" cy="101566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Q3: SELECT (S1.SNAME)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S1, SP1, P1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WHERE </a:t>
            </a: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S1.SN = SP1.SN AND SP1.PN = P1.PN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53E0757-F74F-581A-EF61-6F07DF6547BE}"/>
              </a:ext>
            </a:extLst>
          </p:cNvPr>
          <p:cNvSpPr/>
          <p:nvPr/>
        </p:nvSpPr>
        <p:spPr>
          <a:xfrm>
            <a:off x="323528" y="5604801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D4: SP2=SELECT (S</a:t>
            </a:r>
            <a:r>
              <a:rPr lang="en-GB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P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1.SN)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SP1, P1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	WHERE </a:t>
            </a: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SP1.PN = P1.PN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3" name="Стрелка вниз 15">
            <a:extLst>
              <a:ext uri="{FF2B5EF4-FFF2-40B4-BE49-F238E27FC236}">
                <a16:creationId xmlns:a16="http://schemas.microsoft.com/office/drawing/2014/main" id="{99A23CFC-2C15-4E20-4F50-099D09565584}"/>
              </a:ext>
            </a:extLst>
          </p:cNvPr>
          <p:cNvSpPr/>
          <p:nvPr/>
        </p:nvSpPr>
        <p:spPr>
          <a:xfrm rot="3671837">
            <a:off x="1819567" y="4666489"/>
            <a:ext cx="506186" cy="9199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82811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965125-19FB-1035-0E27-A218B22B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декомпозиции запроса: разбиение (5)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C647BD-62E9-CA76-0074-063487E66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64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F499122-C68D-A1EB-3BFB-E15E68DD6F66}"/>
              </a:ext>
            </a:extLst>
          </p:cNvPr>
          <p:cNvSpPr/>
          <p:nvPr/>
        </p:nvSpPr>
        <p:spPr>
          <a:xfrm>
            <a:off x="200611" y="1420878"/>
            <a:ext cx="3492522" cy="195438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Q2:  SELECT (S.SNAME)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S, SP1, P1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WHERE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S.CITY = 'London'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S.SN = SP1.SN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SP</a:t>
            </a:r>
            <a:r>
              <a:rPr lang="ru-RU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1.</a:t>
            </a: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PN</a:t>
            </a:r>
            <a:r>
              <a:rPr lang="ru-RU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 = </a:t>
            </a: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P</a:t>
            </a:r>
            <a:r>
              <a:rPr lang="ru-RU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1.</a:t>
            </a: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PN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6" name="Стрелка вправо 13">
            <a:extLst>
              <a:ext uri="{FF2B5EF4-FFF2-40B4-BE49-F238E27FC236}">
                <a16:creationId xmlns:a16="http://schemas.microsoft.com/office/drawing/2014/main" id="{EE55D404-81C3-61BD-4343-107679A04400}"/>
              </a:ext>
            </a:extLst>
          </p:cNvPr>
          <p:cNvSpPr/>
          <p:nvPr/>
        </p:nvSpPr>
        <p:spPr>
          <a:xfrm>
            <a:off x="4026483" y="1470651"/>
            <a:ext cx="996043" cy="5220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 вправо 14">
            <a:extLst>
              <a:ext uri="{FF2B5EF4-FFF2-40B4-BE49-F238E27FC236}">
                <a16:creationId xmlns:a16="http://schemas.microsoft.com/office/drawing/2014/main" id="{60E5777D-3D05-473C-E5A0-D57707CEFD4E}"/>
              </a:ext>
            </a:extLst>
          </p:cNvPr>
          <p:cNvSpPr/>
          <p:nvPr/>
        </p:nvSpPr>
        <p:spPr>
          <a:xfrm rot="3131383">
            <a:off x="4026482" y="2664865"/>
            <a:ext cx="996043" cy="5220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2A9E616-C760-EE97-7989-96A02B4F4FB4}"/>
              </a:ext>
            </a:extLst>
          </p:cNvPr>
          <p:cNvSpPr/>
          <p:nvPr/>
        </p:nvSpPr>
        <p:spPr>
          <a:xfrm>
            <a:off x="4987262" y="1484866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D3: S1=SELECT (S.SNAME)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S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WHERE S.CITY = 'London'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30F5712-1A56-E764-F429-9E377626A146}"/>
              </a:ext>
            </a:extLst>
          </p:cNvPr>
          <p:cNvSpPr/>
          <p:nvPr/>
        </p:nvSpPr>
        <p:spPr>
          <a:xfrm>
            <a:off x="2423629" y="3533937"/>
            <a:ext cx="5481733" cy="101566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Q3: SELECT (S1.SNAME)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S1, SP1, P1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WHERE </a:t>
            </a: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S1.SN = SP1.SN AND SP1.PN = P1.PN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53E0757-F74F-581A-EF61-6F07DF6547BE}"/>
              </a:ext>
            </a:extLst>
          </p:cNvPr>
          <p:cNvSpPr/>
          <p:nvPr/>
        </p:nvSpPr>
        <p:spPr>
          <a:xfrm>
            <a:off x="323528" y="5604801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D4: SP2=SELECT (S</a:t>
            </a:r>
            <a:r>
              <a:rPr lang="en-GB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P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1.SN)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SP1, P1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	WHERE </a:t>
            </a: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SP1.PN = P1.PN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CAF9DD2-B9B2-ACC8-90EC-BCE154065FDE}"/>
              </a:ext>
            </a:extLst>
          </p:cNvPr>
          <p:cNvSpPr/>
          <p:nvPr/>
        </p:nvSpPr>
        <p:spPr>
          <a:xfrm>
            <a:off x="4345735" y="5552085"/>
            <a:ext cx="3466626" cy="101566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Q4: SELECT (S1.SNAME)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S1, SP2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WHERE </a:t>
            </a:r>
            <a:r>
              <a:rPr lang="en-US" sz="160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S1.SN = SP2.SN N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2" name="Стрелка вниз 9">
            <a:extLst>
              <a:ext uri="{FF2B5EF4-FFF2-40B4-BE49-F238E27FC236}">
                <a16:creationId xmlns:a16="http://schemas.microsoft.com/office/drawing/2014/main" id="{2874F38A-B2BF-6DCD-1B1B-25809FAEAE8D}"/>
              </a:ext>
            </a:extLst>
          </p:cNvPr>
          <p:cNvSpPr/>
          <p:nvPr/>
        </p:nvSpPr>
        <p:spPr>
          <a:xfrm>
            <a:off x="5292080" y="4683061"/>
            <a:ext cx="506186" cy="7491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трелка вниз 15">
            <a:extLst>
              <a:ext uri="{FF2B5EF4-FFF2-40B4-BE49-F238E27FC236}">
                <a16:creationId xmlns:a16="http://schemas.microsoft.com/office/drawing/2014/main" id="{99A23CFC-2C15-4E20-4F50-099D09565584}"/>
              </a:ext>
            </a:extLst>
          </p:cNvPr>
          <p:cNvSpPr/>
          <p:nvPr/>
        </p:nvSpPr>
        <p:spPr>
          <a:xfrm rot="3671837">
            <a:off x="1819567" y="4666489"/>
            <a:ext cx="506186" cy="9199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6704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DF3B2-E8F2-2551-858E-ACCA3D8B4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Логический план запроса с подзапросами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ECE72D-32BA-F3A5-A30C-F70F67BBF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65</a:t>
            </a:fld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57E21356-0A47-F06D-2253-35261E1F85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52" y="1482900"/>
            <a:ext cx="5080710" cy="508481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644008" y="1484784"/>
            <a:ext cx="4176464" cy="2408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050" b="1" dirty="0">
                <a:latin typeface="CourierNewPSMT"/>
                <a:ea typeface="Calibri" panose="020F0502020204030204" pitchFamily="34" charset="0"/>
                <a:cs typeface="CourierNewPSMT"/>
              </a:rPr>
              <a:t>Q: </a:t>
            </a:r>
            <a:endParaRPr lang="ru-RU" sz="11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GB" sz="105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SELECT</a:t>
            </a:r>
            <a:r>
              <a:rPr lang="en-US" sz="105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 ( S.SNAME) </a:t>
            </a:r>
            <a:endParaRPr lang="ru-RU" sz="11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05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FROM S, SP, P</a:t>
            </a:r>
            <a:endParaRPr lang="ru-RU" sz="11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05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WHERE </a:t>
            </a:r>
            <a:endParaRPr lang="ru-RU" sz="11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05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S.CITY = 'London'</a:t>
            </a:r>
            <a:endParaRPr lang="ru-RU" sz="11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05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S.SN = SP.SN</a:t>
            </a:r>
            <a:endParaRPr lang="ru-RU" sz="11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05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SP.QTY &gt; 200</a:t>
            </a:r>
            <a:endParaRPr lang="ru-RU" sz="11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05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SP.PN = P.PN</a:t>
            </a:r>
            <a:endParaRPr lang="ru-RU" sz="11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05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P.COLOR = 'Red'</a:t>
            </a:r>
            <a:endParaRPr lang="ru-RU" sz="11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just">
              <a:spcBef>
                <a:spcPts val="600"/>
              </a:spcBef>
              <a:spcAft>
                <a:spcPts val="0"/>
              </a:spcAft>
            </a:pPr>
            <a:r>
              <a:rPr lang="en-US" sz="1050" dirty="0">
                <a:latin typeface="Cambria Math" panose="02040503050406030204" pitchFamily="18" charset="0"/>
                <a:ea typeface="Calibri" panose="020F0502020204030204" pitchFamily="34" charset="0"/>
                <a:cs typeface="CourierNewPSMT"/>
              </a:rPr>
              <a:t>AND P.WEIGHT &lt; 25</a:t>
            </a:r>
            <a:endParaRPr lang="ru-RU" sz="1100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5641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Физический и логический планы запроса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66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712763"/>
            <a:ext cx="7848600" cy="42960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825898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A44B8-87A5-4FE6-FF2F-60B0F5646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параллелизма при управлении данными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06BD0E-B327-32FF-A75B-9D204BAAA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A7A03F-E173-E0DE-3BB4-6EC8BD639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0" y="2264580"/>
            <a:ext cx="8496944" cy="4155536"/>
          </a:xfrm>
          <a:prstGeom prst="rect">
            <a:avLst/>
          </a:prstGeom>
        </p:spPr>
      </p:pic>
      <p:sp>
        <p:nvSpPr>
          <p:cNvPr id="6" name="Стрелка: вниз 5">
            <a:extLst>
              <a:ext uri="{FF2B5EF4-FFF2-40B4-BE49-F238E27FC236}">
                <a16:creationId xmlns:a16="http://schemas.microsoft.com/office/drawing/2014/main" id="{C05CF847-D1F8-478B-3C9A-EBF38FC34EBB}"/>
              </a:ext>
            </a:extLst>
          </p:cNvPr>
          <p:cNvSpPr/>
          <p:nvPr/>
        </p:nvSpPr>
        <p:spPr>
          <a:xfrm>
            <a:off x="8244408" y="3971567"/>
            <a:ext cx="864095" cy="1835467"/>
          </a:xfrm>
          <a:prstGeom prst="downArrow">
            <a:avLst>
              <a:gd name="adj1" fmla="val 71819"/>
              <a:gd name="adj2" fmla="val 2703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dirty="0" smtClean="0"/>
              <a:t>Конвейер выполнения</a:t>
            </a:r>
            <a:endParaRPr lang="ru-RU" dirty="0"/>
          </a:p>
        </p:txBody>
      </p:sp>
      <p:sp>
        <p:nvSpPr>
          <p:cNvPr id="7" name="Стрелка: вниз 6">
            <a:extLst>
              <a:ext uri="{FF2B5EF4-FFF2-40B4-BE49-F238E27FC236}">
                <a16:creationId xmlns:a16="http://schemas.microsoft.com/office/drawing/2014/main" id="{FF222C18-F060-AB0A-813B-C04C1B0D0D60}"/>
              </a:ext>
            </a:extLst>
          </p:cNvPr>
          <p:cNvSpPr/>
          <p:nvPr/>
        </p:nvSpPr>
        <p:spPr>
          <a:xfrm>
            <a:off x="107504" y="1268760"/>
            <a:ext cx="1166056" cy="1763459"/>
          </a:xfrm>
          <a:prstGeom prst="downArrow">
            <a:avLst>
              <a:gd name="adj1" fmla="val 50000"/>
              <a:gd name="adj2" fmla="val 1604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dirty="0" err="1" smtClean="0"/>
              <a:t>Упаравление</a:t>
            </a:r>
            <a:r>
              <a:rPr lang="ru-RU" dirty="0" smtClean="0"/>
              <a:t> транзакциями</a:t>
            </a:r>
            <a:endParaRPr lang="ru-RU" dirty="0"/>
          </a:p>
        </p:txBody>
      </p:sp>
      <p:sp>
        <p:nvSpPr>
          <p:cNvPr id="8" name="Стрелка: вниз 5">
            <a:extLst>
              <a:ext uri="{FF2B5EF4-FFF2-40B4-BE49-F238E27FC236}">
                <a16:creationId xmlns:a16="http://schemas.microsoft.com/office/drawing/2014/main" id="{C05CF847-D1F8-478B-3C9A-EBF38FC34EBB}"/>
              </a:ext>
            </a:extLst>
          </p:cNvPr>
          <p:cNvSpPr/>
          <p:nvPr/>
        </p:nvSpPr>
        <p:spPr>
          <a:xfrm>
            <a:off x="6803685" y="2141083"/>
            <a:ext cx="1149134" cy="1835467"/>
          </a:xfrm>
          <a:prstGeom prst="downArrow">
            <a:avLst>
              <a:gd name="adj1" fmla="val 50000"/>
              <a:gd name="adj2" fmla="val 2703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dirty="0"/>
              <a:t>Декомпозиция </a:t>
            </a:r>
            <a:r>
              <a:rPr lang="ru-RU" dirty="0" smtClean="0"/>
              <a:t>транзакции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7958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CB2DE1-C541-9C0B-5D1E-EB2AB50A6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Внутризапросный</a:t>
            </a:r>
            <a:r>
              <a:rPr lang="ru-RU" dirty="0"/>
              <a:t> </a:t>
            </a:r>
            <a:r>
              <a:rPr lang="ru-RU" dirty="0" err="1"/>
              <a:t>парралелизм</a:t>
            </a:r>
            <a:endParaRPr lang="ru-RU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E4FF45D-63CD-83DA-D6D5-2E39D6F6D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2819716"/>
            <a:ext cx="7848872" cy="3887691"/>
          </a:xfrm>
        </p:spPr>
        <p:txBody>
          <a:bodyPr anchor="t">
            <a:normAutofit lnSpcReduction="10000"/>
          </a:bodyPr>
          <a:lstStyle/>
          <a:p>
            <a:r>
              <a:rPr lang="ru-RU" dirty="0"/>
              <a:t>Горизонтальный (кустовой) параллелизм </a:t>
            </a:r>
          </a:p>
          <a:p>
            <a:pPr lvl="1"/>
            <a:r>
              <a:rPr lang="ru-RU" dirty="0"/>
              <a:t>Параллельное выполнение независимых поддеревьев дерева запроса. </a:t>
            </a:r>
          </a:p>
          <a:p>
            <a:pPr lvl="1"/>
            <a:r>
              <a:rPr lang="ru-RU" dirty="0"/>
              <a:t>Требование:</a:t>
            </a:r>
          </a:p>
          <a:p>
            <a:pPr lvl="2"/>
            <a:r>
              <a:rPr lang="ru-RU" dirty="0"/>
              <a:t>Две ветви плана (подзапросы) начали генерировать выходные данные </a:t>
            </a:r>
          </a:p>
          <a:p>
            <a:pPr lvl="3"/>
            <a:r>
              <a:rPr lang="ru-RU" dirty="0"/>
              <a:t>в определенное время </a:t>
            </a:r>
          </a:p>
          <a:p>
            <a:pPr lvl="3"/>
            <a:r>
              <a:rPr lang="ru-RU" dirty="0"/>
              <a:t>в правильном темпе. </a:t>
            </a:r>
          </a:p>
          <a:p>
            <a:r>
              <a:rPr lang="ru-RU" dirty="0"/>
              <a:t>Вертикальный (конвейерный) параллелизм  </a:t>
            </a:r>
          </a:p>
          <a:p>
            <a:pPr lvl="1"/>
            <a:r>
              <a:rPr lang="ru-RU" dirty="0"/>
              <a:t>Параллельное выполнение различных операций плана запроса на базе конвейера. </a:t>
            </a:r>
          </a:p>
          <a:p>
            <a:pPr lvl="2"/>
            <a:r>
              <a:rPr lang="ru-RU" b="1" i="1" dirty="0"/>
              <a:t>Синхронный конвейер</a:t>
            </a:r>
            <a:r>
              <a:rPr lang="ru-RU" dirty="0"/>
              <a:t> </a:t>
            </a:r>
          </a:p>
          <a:p>
            <a:pPr lvl="2"/>
            <a:r>
              <a:rPr lang="ru-RU" b="1" i="1" dirty="0"/>
              <a:t>Асинхронный конвейер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8BCF55-F5AB-C7A8-AD83-6024687EB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68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39D634F-5E7F-277C-B46F-DB159692969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7516"/>
            <a:ext cx="5184576" cy="12073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2083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F8D6BF-5479-748D-05E6-DB9885DEF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выполнения плана запроса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FE564B-1AC0-9912-609C-1BAB9FC71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69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194F83-3252-9AB6-466C-ED60880CA1CD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496" y="1934598"/>
            <a:ext cx="4276504" cy="479336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BE95E873-A277-FBF8-3028-DE2A4D910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555" y="1372203"/>
            <a:ext cx="4326445" cy="252730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SELECT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Имя_П</a:t>
            </a:r>
            <a:endParaRPr lang="ru-RU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FROM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П, ПД, Д</a:t>
            </a:r>
          </a:p>
          <a:p>
            <a:pPr marL="0" indent="0">
              <a:buNone/>
            </a:pP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WHERE Город = 'Москва'</a:t>
            </a:r>
          </a:p>
          <a:p>
            <a:pPr marL="0" indent="0">
              <a:buNone/>
            </a:pP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AND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П.Код_П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ПД.Код_П</a:t>
            </a:r>
            <a:endParaRPr lang="ru-RU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AND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ПД.Код_Д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Д.Код_Д</a:t>
            </a:r>
            <a:endParaRPr lang="ru-RU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AND Цвет = 'Красный';</a:t>
            </a:r>
          </a:p>
          <a:p>
            <a:pPr marL="0" indent="0">
              <a:buNone/>
            </a:pPr>
            <a:endParaRPr lang="ru-RU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9799CF8-ADBA-776F-E43D-FDE1EF1F5BDC}"/>
              </a:ext>
            </a:extLst>
          </p:cNvPr>
          <p:cNvSpPr/>
          <p:nvPr/>
        </p:nvSpPr>
        <p:spPr>
          <a:xfrm>
            <a:off x="4524277" y="3886200"/>
            <a:ext cx="46209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Организация исполнения </a:t>
            </a:r>
            <a:r>
              <a:rPr lang="ru-RU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последовательных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планов включает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7A605A6-78F4-273B-0031-5C271AEFCE51}"/>
              </a:ext>
            </a:extLst>
          </p:cNvPr>
          <p:cNvSpPr/>
          <p:nvPr/>
        </p:nvSpPr>
        <p:spPr>
          <a:xfrm>
            <a:off x="4817555" y="4768598"/>
            <a:ext cx="3751360" cy="1304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Синхронный конвейер</a:t>
            </a:r>
          </a:p>
          <a:p>
            <a:pPr marL="800100" lvl="1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Итераторная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модель</a:t>
            </a:r>
          </a:p>
          <a:p>
            <a:pPr marL="800100" lvl="1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Скобочный шаблон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CECD99B-79B9-9515-D61D-642125DFAED6}"/>
              </a:ext>
            </a:extLst>
          </p:cNvPr>
          <p:cNvSpPr/>
          <p:nvPr/>
        </p:nvSpPr>
        <p:spPr>
          <a:xfrm>
            <a:off x="517128" y="1357392"/>
            <a:ext cx="3891927" cy="44659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Последовательный план запроса</a:t>
            </a:r>
          </a:p>
        </p:txBody>
      </p:sp>
    </p:spTree>
    <p:extLst>
      <p:ext uri="{BB962C8B-B14F-4D97-AF65-F5344CB8AC3E}">
        <p14:creationId xmlns:p14="http://schemas.microsoft.com/office/powerpoint/2010/main" val="36866422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74F894-F569-4A08-36D0-E7365C852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Синхронный </a:t>
            </a:r>
            <a:r>
              <a:rPr lang="ru-RU" dirty="0" smtClean="0"/>
              <a:t>и асинхронный конвейер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9D98A0C-EB2C-1209-CE0B-55DB42900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70</a:t>
            </a:fld>
            <a:endParaRPr lang="ru-RU"/>
          </a:p>
        </p:txBody>
      </p:sp>
      <p:pic>
        <p:nvPicPr>
          <p:cNvPr id="5" name="Рисунок 4" descr="https://pdbs.susu.ru/CourseManual.files/image006.jpg">
            <a:extLst>
              <a:ext uri="{FF2B5EF4-FFF2-40B4-BE49-F238E27FC236}">
                <a16:creationId xmlns:a16="http://schemas.microsoft.com/office/drawing/2014/main" id="{6B1311AE-7452-BBB1-4531-D21441F0E7D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420" y="1214805"/>
            <a:ext cx="3645213" cy="523191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AD77DBF-71F1-872C-C258-73FA66D63DED}"/>
              </a:ext>
            </a:extLst>
          </p:cNvPr>
          <p:cNvSpPr/>
          <p:nvPr/>
        </p:nvSpPr>
        <p:spPr>
          <a:xfrm>
            <a:off x="4573961" y="1674674"/>
            <a:ext cx="454415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>
              <a:spcBef>
                <a:spcPts val="600"/>
              </a:spcBef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Асинхронный конвейер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 - организация между операцией-производителем и операцией-потребителем </a:t>
            </a:r>
            <a:r>
              <a:rPr lang="ru-RU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склада (специального буфера)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 для хранения некоторого количества кортежей промежуточного отношения</a:t>
            </a:r>
          </a:p>
        </p:txBody>
      </p:sp>
    </p:spTree>
    <p:extLst>
      <p:ext uri="{BB962C8B-B14F-4D97-AF65-F5344CB8AC3E}">
        <p14:creationId xmlns:p14="http://schemas.microsoft.com/office/powerpoint/2010/main" val="17263355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Резюме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ru-RU" dirty="0" smtClean="0"/>
              <a:t>Качество оптимизации запросов определяет производительность СУБД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(не зависимо от квалификации </a:t>
            </a:r>
            <a:r>
              <a:rPr lang="en-US" dirty="0" smtClean="0"/>
              <a:t>DBA</a:t>
            </a:r>
            <a:r>
              <a:rPr lang="ru-RU" dirty="0" smtClean="0"/>
              <a:t>)</a:t>
            </a:r>
            <a:endParaRPr lang="en-US" dirty="0" smtClean="0"/>
          </a:p>
          <a:p>
            <a:r>
              <a:rPr lang="ru-RU" dirty="0" smtClean="0"/>
              <a:t>Автоматическая оптимизация запросов базируется на математическом аппарате и оценках стоимости</a:t>
            </a:r>
            <a:br>
              <a:rPr lang="ru-RU" dirty="0" smtClean="0"/>
            </a:br>
            <a:r>
              <a:rPr lang="ru-RU" dirty="0" smtClean="0"/>
              <a:t>(реляционная алгебра)</a:t>
            </a:r>
          </a:p>
          <a:p>
            <a:r>
              <a:rPr lang="ru-RU" dirty="0" smtClean="0"/>
              <a:t>Выбор плана выполнения – задача многокритериальной оптимизации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0595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CB2DE1-C541-9C0B-5D1E-EB2AB50A6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Внутритранзакционный</a:t>
            </a:r>
            <a:r>
              <a:rPr lang="ru-RU" dirty="0"/>
              <a:t> параллелизм: </a:t>
            </a:r>
            <a:r>
              <a:rPr lang="ru-RU" dirty="0" err="1"/>
              <a:t>межзапросный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8BCF55-F5AB-C7A8-AD83-6024687EB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72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55F28D9-8C13-CBE1-AF00-027305079449}"/>
              </a:ext>
            </a:extLst>
          </p:cNvPr>
          <p:cNvSpPr txBox="1">
            <a:spLocks/>
          </p:cNvSpPr>
          <p:nvPr/>
        </p:nvSpPr>
        <p:spPr>
          <a:xfrm>
            <a:off x="467544" y="1483010"/>
            <a:ext cx="7625026" cy="236701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Параллельное выполнении операторов языка запросов (например, SQL), принадлежащих одной и той же транзакции. </a:t>
            </a:r>
          </a:p>
          <a:p>
            <a:r>
              <a:rPr lang="ru-RU" dirty="0"/>
              <a:t>Требует явной спецификации меж операторных зависимостей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BC879B1-F8D0-4E52-573D-BDC1FCCAB79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87" y="3356992"/>
            <a:ext cx="7625025" cy="27620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9157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CC">
  <a:themeElements>
    <a:clrScheme name="Политех">
      <a:dk1>
        <a:srgbClr val="575756"/>
      </a:dk1>
      <a:lt1>
        <a:srgbClr val="FFFFFF"/>
      </a:lt1>
      <a:dk2>
        <a:srgbClr val="575756"/>
      </a:dk2>
      <a:lt2>
        <a:srgbClr val="BCBCBC"/>
      </a:lt2>
      <a:accent1>
        <a:srgbClr val="369461"/>
      </a:accent1>
      <a:accent2>
        <a:srgbClr val="DB3519"/>
      </a:accent2>
      <a:accent3>
        <a:srgbClr val="007789"/>
      </a:accent3>
      <a:accent4>
        <a:srgbClr val="90984F"/>
      </a:accent4>
      <a:accent5>
        <a:srgbClr val="2FA0E1"/>
      </a:accent5>
      <a:accent6>
        <a:srgbClr val="F0961D"/>
      </a:accent6>
      <a:hlink>
        <a:srgbClr val="E25A0B"/>
      </a:hlink>
      <a:folHlink>
        <a:srgbClr val="850006"/>
      </a:folHlink>
    </a:clrScheme>
    <a:fontScheme name="Политех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politech_new</Template>
  <TotalTime>26110</TotalTime>
  <Words>3963</Words>
  <Application>Microsoft Office PowerPoint</Application>
  <PresentationFormat>Экран (4:3)</PresentationFormat>
  <Paragraphs>628</Paragraphs>
  <Slides>72</Slides>
  <Notes>9</Notes>
  <HiddenSlides>1</HiddenSlides>
  <MMClips>0</MMClips>
  <ScaleCrop>false</ScaleCrop>
  <HeadingPairs>
    <vt:vector size="8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72</vt:i4>
      </vt:variant>
    </vt:vector>
  </HeadingPairs>
  <TitlesOfParts>
    <vt:vector size="85" baseType="lpstr">
      <vt:lpstr>Arial</vt:lpstr>
      <vt:lpstr>Calibri</vt:lpstr>
      <vt:lpstr>Cambria Math</vt:lpstr>
      <vt:lpstr>Courier New</vt:lpstr>
      <vt:lpstr>CourierNewPSMT</vt:lpstr>
      <vt:lpstr>Menlo</vt:lpstr>
      <vt:lpstr>PT Sans</vt:lpstr>
      <vt:lpstr>Symbol</vt:lpstr>
      <vt:lpstr>Times New Roman</vt:lpstr>
      <vt:lpstr>Wingdings 3</vt:lpstr>
      <vt:lpstr>SCC</vt:lpstr>
      <vt:lpstr>Microsoft Visio 2000/2002 Drawing</vt:lpstr>
      <vt:lpstr>Microsoft Visio 2003-2010 Drawing</vt:lpstr>
      <vt:lpstr>СУБД для специалиста  по информационной безопасности</vt:lpstr>
      <vt:lpstr>Темы лекции</vt:lpstr>
      <vt:lpstr>Физическая оптимизация  запросов</vt:lpstr>
      <vt:lpstr>Порядок построения физического плана</vt:lpstr>
      <vt:lpstr>Сопоставление физического и логического планов</vt:lpstr>
      <vt:lpstr>Презентация PowerPoint</vt:lpstr>
      <vt:lpstr>Порядок построения физического плана</vt:lpstr>
      <vt:lpstr>Метод оптимизации, основанный на синтаксисе</vt:lpstr>
      <vt:lpstr>Ранги путей доступа: пример</vt:lpstr>
      <vt:lpstr>Метод оптимизации, основанный на стоимости</vt:lpstr>
      <vt:lpstr>Методы выбора записей  Чтение всех записей и их фильтрация</vt:lpstr>
      <vt:lpstr>Методы выбора записей  Чтение записей с помощью индекса и их фильтрация</vt:lpstr>
      <vt:lpstr>Оценка промежуточной таблицы Q</vt:lpstr>
      <vt:lpstr>Порядок соединения таблиц</vt:lpstr>
      <vt:lpstr>Каналы обработки</vt:lpstr>
      <vt:lpstr>Методы соединения таблиц</vt:lpstr>
      <vt:lpstr>Методы соединения таблиц: оценка стоимости</vt:lpstr>
      <vt:lpstr>Метод вложенных циклов  (NLJ – Nested Loop Join)</vt:lpstr>
      <vt:lpstr>Метод вложенных циклов  (NLJ – Nested Loop Join) – назначение буферов</vt:lpstr>
      <vt:lpstr>Метод вложенных циклов  (NLJ – Nested Loop Join) - Стоимости</vt:lpstr>
      <vt:lpstr>Метод сортировки-слияния (SMJ – Sort Merge Join)</vt:lpstr>
      <vt:lpstr>Метод сортировки-слияния (SMJ – Sort Merge Join) – схема назначения буферов</vt:lpstr>
      <vt:lpstr>Метод сортировки-слияния (SMJ – Sort Merge Join) – оценка стоимости</vt:lpstr>
      <vt:lpstr>Метод хешированного соединения (HJ – Hash Join)</vt:lpstr>
      <vt:lpstr>Метод хешированного соединения (HJ – Hash Join) – пример соединения в виде таблицы</vt:lpstr>
      <vt:lpstr>Метод хешированного соединения (HJ – Hash Join) – варианты реализации</vt:lpstr>
      <vt:lpstr>Особенность HJ</vt:lpstr>
      <vt:lpstr>Учет характеристик данных</vt:lpstr>
      <vt:lpstr>Учет распределений данных в столбцах</vt:lpstr>
      <vt:lpstr>Учет распределений данных в столбцах</vt:lpstr>
      <vt:lpstr>Планы выполнения запросов в СУБД</vt:lpstr>
      <vt:lpstr>Планы выполнения запросов PostgreSQL (оценочный)</vt:lpstr>
      <vt:lpstr>Планы выполнения запросов PostgreSQL (реальный)</vt:lpstr>
      <vt:lpstr>Планы выполнения запросов PostgreSQL (соединение)</vt:lpstr>
      <vt:lpstr>План выполнения запроса: представление</vt:lpstr>
      <vt:lpstr>План выполнения запроса: статистика</vt:lpstr>
      <vt:lpstr>План выполнения сложного запроса: графика</vt:lpstr>
      <vt:lpstr>План выполнения сложного запроса: текст</vt:lpstr>
      <vt:lpstr>План выполнения сложного запроса: статистика</vt:lpstr>
      <vt:lpstr>Планы выполнения запросов PostgreSQL (графика)</vt:lpstr>
      <vt:lpstr>Пример плана с соединением (оболочка PostgreSQL)</vt:lpstr>
      <vt:lpstr>Пример плана в СУБД (MS SQL Server)</vt:lpstr>
      <vt:lpstr>Пример плана в СУБД MS SQL  для индексов разной плотности</vt:lpstr>
      <vt:lpstr>Сервисы анализа планов</vt:lpstr>
      <vt:lpstr>Оптимизация запросов в PostgreSQL</vt:lpstr>
      <vt:lpstr>Сложности операций PostgreSQL</vt:lpstr>
      <vt:lpstr>Сложности операций PostgreSQL</vt:lpstr>
      <vt:lpstr>Сложности операций PostgreSQL</vt:lpstr>
      <vt:lpstr>Примерное соотношение затратности операций</vt:lpstr>
      <vt:lpstr>Работа планировщика PostgreSQL</vt:lpstr>
      <vt:lpstr>Работа PostgreSQL с конкурентными планами</vt:lpstr>
      <vt:lpstr>Возможности контроля и влияния</vt:lpstr>
      <vt:lpstr>Пример влияния через запрет операторов</vt:lpstr>
      <vt:lpstr>Атаки на производительность</vt:lpstr>
      <vt:lpstr>Выполнение запросов  и параллелизм</vt:lpstr>
      <vt:lpstr>Виды параллелизма при управлении данными</vt:lpstr>
      <vt:lpstr>Внутритранзакционный параллелизм: внутризапросный</vt:lpstr>
      <vt:lpstr>Параллельный план запроса и стратегия разделения</vt:lpstr>
      <vt:lpstr>Пример декомпозиции запроса</vt:lpstr>
      <vt:lpstr>Пример декомпозиции запроса: разбиение (1)</vt:lpstr>
      <vt:lpstr>Пример декомпозиции запроса: разбиение (2)</vt:lpstr>
      <vt:lpstr>Пример декомпозиции запроса: разбиение (3)</vt:lpstr>
      <vt:lpstr>Пример декомпозиции запроса: разбиение (4)</vt:lpstr>
      <vt:lpstr>Пример декомпозиции запроса: разбиение (5)</vt:lpstr>
      <vt:lpstr>Логический план запроса с подзапросами</vt:lpstr>
      <vt:lpstr>Физический и логический планы запроса</vt:lpstr>
      <vt:lpstr>Виды параллелизма при управлении данными</vt:lpstr>
      <vt:lpstr>Внутризапросный парралелизм</vt:lpstr>
      <vt:lpstr>Реализация выполнения плана запроса</vt:lpstr>
      <vt:lpstr>Синхронный и асинхронный конвейер</vt:lpstr>
      <vt:lpstr>Резюме</vt:lpstr>
      <vt:lpstr>Внутритранзакционный параллелизм: межзапросный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 UNIX: Архитектура ОС. Стандарт POSIX</dc:title>
  <dc:creator>Василий</dc:creator>
  <cp:lastModifiedBy>Maria</cp:lastModifiedBy>
  <cp:revision>1347</cp:revision>
  <dcterms:created xsi:type="dcterms:W3CDTF">2018-04-03T06:05:28Z</dcterms:created>
  <dcterms:modified xsi:type="dcterms:W3CDTF">2024-04-16T12:54:36Z</dcterms:modified>
</cp:coreProperties>
</file>