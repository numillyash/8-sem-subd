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7"/>
  </p:notesMasterIdLst>
  <p:sldIdLst>
    <p:sldId id="381" r:id="rId2"/>
    <p:sldId id="387" r:id="rId3"/>
    <p:sldId id="393" r:id="rId4"/>
    <p:sldId id="485" r:id="rId5"/>
    <p:sldId id="559" r:id="rId6"/>
    <p:sldId id="560" r:id="rId7"/>
    <p:sldId id="491" r:id="rId8"/>
    <p:sldId id="564" r:id="rId9"/>
    <p:sldId id="500" r:id="rId10"/>
    <p:sldId id="501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479" r:id="rId19"/>
    <p:sldId id="492" r:id="rId20"/>
    <p:sldId id="493" r:id="rId21"/>
    <p:sldId id="498" r:id="rId22"/>
    <p:sldId id="499" r:id="rId23"/>
    <p:sldId id="509" r:id="rId24"/>
    <p:sldId id="486" r:id="rId25"/>
    <p:sldId id="487" r:id="rId26"/>
    <p:sldId id="488" r:id="rId27"/>
    <p:sldId id="489" r:id="rId28"/>
    <p:sldId id="510" r:id="rId29"/>
    <p:sldId id="490" r:id="rId30"/>
    <p:sldId id="511" r:id="rId31"/>
    <p:sldId id="562" r:id="rId32"/>
    <p:sldId id="561" r:id="rId33"/>
    <p:sldId id="565" r:id="rId34"/>
    <p:sldId id="512" r:id="rId35"/>
    <p:sldId id="513" r:id="rId36"/>
    <p:sldId id="494" r:id="rId37"/>
    <p:sldId id="495" r:id="rId38"/>
    <p:sldId id="497" r:id="rId39"/>
    <p:sldId id="514" r:id="rId40"/>
    <p:sldId id="515" r:id="rId41"/>
    <p:sldId id="516" r:id="rId42"/>
    <p:sldId id="517" r:id="rId43"/>
    <p:sldId id="518" r:id="rId44"/>
    <p:sldId id="519" r:id="rId45"/>
    <p:sldId id="520" r:id="rId46"/>
    <p:sldId id="563" r:id="rId47"/>
    <p:sldId id="523" r:id="rId48"/>
    <p:sldId id="521" r:id="rId49"/>
    <p:sldId id="566" r:id="rId50"/>
    <p:sldId id="554" r:id="rId51"/>
    <p:sldId id="555" r:id="rId52"/>
    <p:sldId id="556" r:id="rId53"/>
    <p:sldId id="557" r:id="rId54"/>
    <p:sldId id="558" r:id="rId55"/>
    <p:sldId id="522" r:id="rId5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 Полтавцева" initials="МП" lastIdx="2" clrIdx="0">
    <p:extLst>
      <p:ext uri="{19B8F6BF-5375-455C-9EA6-DF929625EA0E}">
        <p15:presenceInfo xmlns:p15="http://schemas.microsoft.com/office/powerpoint/2012/main" userId="30c9d96cf1c6a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461"/>
    <a:srgbClr val="DB3519"/>
    <a:srgbClr val="FFCCCC"/>
    <a:srgbClr val="7030A0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1834" autoAdjust="0"/>
  </p:normalViewPr>
  <p:slideViewPr>
    <p:cSldViewPr snapToObjects="1">
      <p:cViewPr varScale="1">
        <p:scale>
          <a:sx n="95" d="100"/>
          <a:sy n="95" d="100"/>
        </p:scale>
        <p:origin x="38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154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0092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021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112568"/>
          </a:xfrm>
        </p:spPr>
        <p:txBody>
          <a:bodyPr anchor="t">
            <a:normAutofit/>
          </a:bodyPr>
          <a:lstStyle/>
          <a:p>
            <a:r>
              <a:rPr lang="ru-RU" dirty="0"/>
              <a:t>Параллельные СУБД</a:t>
            </a:r>
          </a:p>
          <a:p>
            <a:pPr lvl="1"/>
            <a:r>
              <a:rPr lang="ru-RU" dirty="0"/>
              <a:t>Архитектуры</a:t>
            </a:r>
          </a:p>
          <a:p>
            <a:pPr lvl="1"/>
            <a:r>
              <a:rPr lang="ru-RU" dirty="0"/>
              <a:t>Распараллеливание операций</a:t>
            </a:r>
          </a:p>
          <a:p>
            <a:pPr lvl="1"/>
            <a:r>
              <a:rPr lang="ru-RU" dirty="0"/>
              <a:t>Распараллеливание данных</a:t>
            </a:r>
          </a:p>
          <a:p>
            <a:r>
              <a:rPr lang="ru-RU" dirty="0"/>
              <a:t>Распределенные СУБД</a:t>
            </a:r>
          </a:p>
          <a:p>
            <a:pPr lvl="1"/>
            <a:r>
              <a:rPr lang="ru-RU" dirty="0"/>
              <a:t>Понятие, принципы построения</a:t>
            </a:r>
          </a:p>
          <a:p>
            <a:pPr lvl="1"/>
            <a:r>
              <a:rPr lang="ru-RU" dirty="0"/>
              <a:t>Архитектура</a:t>
            </a:r>
          </a:p>
          <a:p>
            <a:pPr lvl="1"/>
            <a:r>
              <a:rPr lang="ru-RU" dirty="0"/>
              <a:t>Распределенное управление данными</a:t>
            </a:r>
          </a:p>
          <a:p>
            <a:pPr lvl="1"/>
            <a:r>
              <a:rPr lang="en-US" dirty="0"/>
              <a:t>BASE </a:t>
            </a:r>
            <a:r>
              <a:rPr lang="ru-RU" dirty="0"/>
              <a:t>и </a:t>
            </a:r>
            <a:r>
              <a:rPr lang="en-US" dirty="0"/>
              <a:t>CAP</a:t>
            </a:r>
            <a:endParaRPr lang="ru-RU" dirty="0"/>
          </a:p>
          <a:p>
            <a:pPr lvl="1"/>
            <a:r>
              <a:rPr lang="ru-RU" dirty="0"/>
              <a:t>Управление транзакциями</a:t>
            </a:r>
          </a:p>
          <a:p>
            <a:pPr lvl="1"/>
            <a:r>
              <a:rPr lang="ru-RU" dirty="0"/>
              <a:t>Оптимизация</a:t>
            </a:r>
          </a:p>
          <a:p>
            <a:pPr lvl="1"/>
            <a:r>
              <a:rPr lang="ru-RU" dirty="0"/>
              <a:t>Распределенная фиксация</a:t>
            </a:r>
          </a:p>
          <a:p>
            <a:pPr lvl="1"/>
            <a:r>
              <a:rPr lang="ru-RU" dirty="0"/>
              <a:t>Восстановление: коммуникационные сбои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Параллельные СУБД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систем обработки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1" y="1473764"/>
            <a:ext cx="8795247" cy="260330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ru-RU" dirty="0"/>
              <a:t>Локальные системы управления данными</a:t>
            </a:r>
          </a:p>
          <a:p>
            <a:pPr lvl="0"/>
            <a:r>
              <a:rPr lang="ru-RU" dirty="0"/>
              <a:t>Многопоточные (параллельные) системы управления данными. Характеристики:</a:t>
            </a:r>
          </a:p>
          <a:p>
            <a:pPr lvl="1"/>
            <a:r>
              <a:rPr lang="ru-RU" dirty="0"/>
              <a:t>Вертикальное масштабирование – как требование</a:t>
            </a:r>
          </a:p>
          <a:p>
            <a:pPr lvl="1"/>
            <a:r>
              <a:rPr lang="ru-RU" dirty="0"/>
              <a:t>Параллельные СУБД, Параллельные архитектуры управления транзакциями.</a:t>
            </a:r>
          </a:p>
          <a:p>
            <a:pPr lvl="1"/>
            <a:r>
              <a:rPr lang="ru-RU" dirty="0"/>
              <a:t>Организация параллельной обработки запросов.</a:t>
            </a:r>
          </a:p>
          <a:p>
            <a:pPr lvl="0"/>
            <a:r>
              <a:rPr lang="ru-RU" dirty="0"/>
              <a:t>Распределенные</a:t>
            </a:r>
          </a:p>
          <a:p>
            <a:pPr lvl="0"/>
            <a:r>
              <a:rPr lang="ru-RU" dirty="0"/>
              <a:t>Сочетание распределенных и многопоточных решений – системы управления Большими данными.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077072"/>
            <a:ext cx="4320480" cy="26635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0186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76DE5-22BC-C72E-CF1A-1261331E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Альтернативные варианты реализации СУБД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B085039-CD65-0D10-5E95-B9A682F74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1268760"/>
            <a:ext cx="6787021" cy="475297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C1F631-D246-7802-3233-27DCA3487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45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D49F9-2109-2306-6F66-4E5F7428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Эталонная клиент – серверная архитектура</a:t>
            </a:r>
          </a:p>
        </p:txBody>
      </p:sp>
      <p:pic>
        <p:nvPicPr>
          <p:cNvPr id="24" name="Объект 23">
            <a:extLst>
              <a:ext uri="{FF2B5EF4-FFF2-40B4-BE49-F238E27FC236}">
                <a16:creationId xmlns:a16="http://schemas.microsoft.com/office/drawing/2014/main" id="{E3AFC905-B2B1-6519-FDED-DADDED831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768" y="1317537"/>
            <a:ext cx="4176464" cy="528931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F3E438-B049-7184-3DB1-BF0779FAB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03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Параллельные системы баз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организации СУБД используется распараллеливание заданий для повышения производительности аналогично другим параллельным системам</a:t>
            </a:r>
          </a:p>
          <a:p>
            <a:r>
              <a:rPr lang="ru-RU" dirty="0"/>
              <a:t>Области применения параллельных алгоритмов и подходов в СУБД:</a:t>
            </a:r>
          </a:p>
          <a:p>
            <a:pPr lvl="1"/>
            <a:r>
              <a:rPr lang="ru-RU" dirty="0"/>
              <a:t>Параллельный ввод/вывод;</a:t>
            </a:r>
          </a:p>
          <a:p>
            <a:pPr lvl="1"/>
            <a:r>
              <a:rPr lang="ru-RU" dirty="0"/>
              <a:t>Параллельные средства администрирования;</a:t>
            </a:r>
          </a:p>
          <a:p>
            <a:pPr lvl="1"/>
            <a:r>
              <a:rPr lang="ru-RU" dirty="0"/>
              <a:t>Параллельная обработка запросов</a:t>
            </a:r>
          </a:p>
          <a:p>
            <a:endParaRPr lang="ru-RU" dirty="0"/>
          </a:p>
          <a:p>
            <a:r>
              <a:rPr lang="ru-RU" dirty="0"/>
              <a:t>Параллельный ввод – вывод осуществляется за счет операций</a:t>
            </a:r>
          </a:p>
          <a:p>
            <a:pPr lvl="1"/>
            <a:r>
              <a:rPr lang="ru-RU" dirty="0"/>
              <a:t>репликации </a:t>
            </a:r>
          </a:p>
          <a:p>
            <a:pPr lvl="1"/>
            <a:r>
              <a:rPr lang="ru-RU" dirty="0"/>
              <a:t>фрагментации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38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82D48-21E5-1E56-38E6-6E956483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архитектура параллельной СУБД</a:t>
            </a:r>
          </a:p>
        </p:txBody>
      </p:sp>
      <p:pic>
        <p:nvPicPr>
          <p:cNvPr id="31" name="Объект 30">
            <a:extLst>
              <a:ext uri="{FF2B5EF4-FFF2-40B4-BE49-F238E27FC236}">
                <a16:creationId xmlns:a16="http://schemas.microsoft.com/office/drawing/2014/main" id="{A82F68E8-F5B0-B682-1F63-72EAA2640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3" y="1587075"/>
            <a:ext cx="7848600" cy="454745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295E77-AC86-F983-A134-2901A92DD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918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Архитектуры параллельных систем баз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dirty="0"/>
              <a:t>Сильно связанные системы </a:t>
            </a:r>
          </a:p>
          <a:p>
            <a:pPr lvl="1"/>
            <a:r>
              <a:rPr lang="ru-RU" dirty="0"/>
              <a:t>Образуют единое вычислительное пространство, включающее наборы узлов интегрированные общей памятью (внешней, оперативной или обоими). </a:t>
            </a:r>
          </a:p>
          <a:p>
            <a:pPr lvl="1"/>
            <a:r>
              <a:rPr lang="ru-RU" dirty="0"/>
              <a:t>Симметричные многопроцессорные системы (</a:t>
            </a:r>
            <a:r>
              <a:rPr lang="en-US" dirty="0"/>
              <a:t>SMP</a:t>
            </a:r>
            <a:r>
              <a:rPr lang="ru-RU" dirty="0"/>
              <a:t> – платформа). Это системы с общей оперативной памятью и (часто) дисковой подсистемой.</a:t>
            </a:r>
          </a:p>
          <a:p>
            <a:pPr lvl="0"/>
            <a:r>
              <a:rPr lang="ru-RU" b="1" dirty="0"/>
              <a:t>Слабо связанные системы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Совокупность самостоятельных компьютеров, объединенных для решения общей задачи быстродействующей сетью. Возможно использование общей дисковой подсистемы. </a:t>
            </a:r>
          </a:p>
          <a:p>
            <a:pPr lvl="1"/>
            <a:r>
              <a:rPr lang="ru-RU" dirty="0"/>
              <a:t>Системы с массовым параллелизмом (MPP - платформа) - системы с сотнями и тысячами процессоров, детали их реализации могут значительно различаться.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779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Одноуровневые архитектуры</a:t>
            </a:r>
            <a:br>
              <a:rPr lang="ru-RU" dirty="0"/>
            </a:br>
            <a:r>
              <a:rPr lang="en-US" sz="1200" i="1" dirty="0"/>
              <a:t>SE (Shared-Everything)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95936" y="1484784"/>
            <a:ext cx="4536504" cy="4752528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</a:pPr>
            <a:r>
              <a:rPr lang="ru-RU" dirty="0"/>
              <a:t>Все процессоры разделяют общую оперативную память.</a:t>
            </a:r>
          </a:p>
          <a:p>
            <a:pPr>
              <a:spcBef>
                <a:spcPts val="1200"/>
              </a:spcBef>
            </a:pPr>
            <a:r>
              <a:rPr lang="ru-RU" dirty="0"/>
              <a:t>Все диски напрямую доступны всем процессорам с одинаковым временем доступа.</a:t>
            </a:r>
          </a:p>
          <a:p>
            <a:pPr>
              <a:spcBef>
                <a:spcPts val="1200"/>
              </a:spcBef>
            </a:pPr>
            <a:r>
              <a:rPr lang="ru-RU" dirty="0"/>
              <a:t>Межпроцессорные коммуникации осуществляются через общую оперативную память.</a:t>
            </a:r>
          </a:p>
          <a:p>
            <a:pPr>
              <a:spcBef>
                <a:spcPts val="1200"/>
              </a:spcBef>
            </a:pPr>
            <a:r>
              <a:rPr lang="ru-RU" dirty="0"/>
              <a:t>Каждый процессор в SE системе имеет собственную кэш-память.</a:t>
            </a:r>
          </a:p>
          <a:p>
            <a:pPr>
              <a:spcBef>
                <a:spcPts val="12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Аппаратная платформа: Симметричная многопроцессорная обработка 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/>
              <a:t>Symmetric </a:t>
            </a:r>
            <a:r>
              <a:rPr lang="en-US" dirty="0" err="1"/>
              <a:t>MultiProcessing</a:t>
            </a:r>
            <a:r>
              <a:rPr lang="ru-RU" dirty="0"/>
              <a:t> - </a:t>
            </a:r>
            <a:r>
              <a:rPr lang="en-US" dirty="0"/>
              <a:t>SMP</a:t>
            </a:r>
            <a:r>
              <a:rPr lang="ru-RU" dirty="0"/>
              <a:t>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64123"/>
            <a:ext cx="3709081" cy="35298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119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Одноуровневые архитектуры</a:t>
            </a:r>
            <a:br>
              <a:rPr lang="ru-RU" dirty="0"/>
            </a:br>
            <a:r>
              <a:rPr lang="en-US" sz="1200" i="1" dirty="0"/>
              <a:t>SD (Shared-Disks)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95936" y="1484784"/>
            <a:ext cx="4536504" cy="475252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ru-RU" dirty="0"/>
              <a:t>Каждый процессор имеет свою приватную оперативную память.</a:t>
            </a:r>
          </a:p>
          <a:p>
            <a:pPr>
              <a:spcBef>
                <a:spcPts val="1200"/>
              </a:spcBef>
            </a:pPr>
            <a:r>
              <a:rPr lang="ru-RU" dirty="0"/>
              <a:t>Все диски доступны всем процессорам с одинаковым временем доступа.</a:t>
            </a:r>
          </a:p>
          <a:p>
            <a:pPr>
              <a:spcBef>
                <a:spcPts val="1200"/>
              </a:spcBef>
            </a:pPr>
            <a:r>
              <a:rPr lang="ru-RU" dirty="0"/>
              <a:t>Межпроцессорные коммуникации осуществляются через высокоскоростную соединительную сеть.</a:t>
            </a:r>
          </a:p>
          <a:p>
            <a:pPr>
              <a:spcBef>
                <a:spcPts val="12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Аппаратная платформа: </a:t>
            </a:r>
            <a:br>
              <a:rPr lang="ru-RU" dirty="0"/>
            </a:br>
            <a:r>
              <a:rPr lang="ru-RU" dirty="0"/>
              <a:t>MPP (</a:t>
            </a:r>
            <a:r>
              <a:rPr lang="ru-RU" dirty="0" err="1"/>
              <a:t>Massively</a:t>
            </a:r>
            <a:r>
              <a:rPr lang="ru-RU" dirty="0"/>
              <a:t> </a:t>
            </a:r>
            <a:r>
              <a:rPr lang="ru-RU" dirty="0" err="1"/>
              <a:t>Parallel</a:t>
            </a:r>
            <a:r>
              <a:rPr lang="ru-RU" dirty="0"/>
              <a:t> </a:t>
            </a:r>
            <a:r>
              <a:rPr lang="ru-RU" dirty="0" err="1"/>
              <a:t>Processing</a:t>
            </a:r>
            <a:r>
              <a:rPr lang="ru-RU" dirty="0"/>
              <a:t> - вычисления с массовым параллелизмом ) или кластеры с разделяемыми дисками.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0" y="1988840"/>
            <a:ext cx="3888432" cy="3816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938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Одноуровневые архитектуры</a:t>
            </a:r>
            <a:br>
              <a:rPr lang="ru-RU" dirty="0"/>
            </a:br>
            <a:r>
              <a:rPr lang="en-US" sz="1200" i="1" dirty="0"/>
              <a:t>SN (Shared-Nothing)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95650" y="1473764"/>
            <a:ext cx="3816424" cy="4752528"/>
          </a:xfrm>
        </p:spPr>
        <p:txBody>
          <a:bodyPr>
            <a:normAutofit/>
          </a:bodyPr>
          <a:lstStyle/>
          <a:p>
            <a:r>
              <a:rPr lang="ru-RU" sz="1800" dirty="0"/>
              <a:t>Каждый процессор имеет свою приватную оперативную память и диск.</a:t>
            </a:r>
          </a:p>
          <a:p>
            <a:r>
              <a:rPr lang="ru-RU" sz="1800" dirty="0"/>
              <a:t>Межпроцессорные коммуникации осуществляются через высокоскоростную соединительную сеть.</a:t>
            </a:r>
          </a:p>
          <a:p>
            <a:endParaRPr lang="ru-RU" sz="1800" dirty="0"/>
          </a:p>
          <a:p>
            <a:r>
              <a:rPr lang="ru-RU" sz="1800" dirty="0"/>
              <a:t>Аппаратная платформа: </a:t>
            </a:r>
            <a:br>
              <a:rPr lang="ru-RU" sz="1800" dirty="0"/>
            </a:br>
            <a:r>
              <a:rPr lang="ru-RU" sz="1800" dirty="0"/>
              <a:t>MPP или кластеры с распределенными дисками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90" y="1930400"/>
            <a:ext cx="3672597" cy="35470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36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Одноуровневые архитектуры</a:t>
            </a:r>
            <a:br>
              <a:rPr lang="ru-RU" dirty="0"/>
            </a:br>
            <a:r>
              <a:rPr lang="ru-RU" sz="1200" i="1" dirty="0"/>
              <a:t>Сопоставление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  <p:graphicFrame>
        <p:nvGraphicFramePr>
          <p:cNvPr id="5" name="Объект 6"/>
          <p:cNvGraphicFramePr>
            <a:graphicFrameLocks noGrp="1"/>
          </p:cNvGraphicFramePr>
          <p:nvPr>
            <p:ph idx="1"/>
          </p:nvPr>
        </p:nvGraphicFramePr>
        <p:xfrm>
          <a:off x="127301" y="1340768"/>
          <a:ext cx="8549155" cy="3200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8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29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Характеристика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SD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34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Оперативная память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Общая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Индивидуальная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Индивидуальная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96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Диски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Общие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Общие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Индивидуальные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35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Межпроцессные</a:t>
                      </a:r>
                      <a:r>
                        <a:rPr lang="ru-RU" sz="1800" dirty="0">
                          <a:effectLst/>
                        </a:rPr>
                        <a:t> коммуникации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Общая оперативная память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Соединительная сеть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Соединительная сеть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241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Платформа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SMP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MPP</a:t>
                      </a:r>
                      <a:r>
                        <a:rPr lang="ru-RU" sz="1800">
                          <a:effectLst/>
                        </a:rPr>
                        <a:t>, кластер с разделяемыми дисками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MPP</a:t>
                      </a:r>
                      <a:r>
                        <a:rPr lang="ru-RU" sz="1800" dirty="0">
                          <a:effectLst/>
                        </a:rPr>
                        <a:t>, кластер с распределенными дисками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Рисунок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046" y="4694994"/>
            <a:ext cx="1942440" cy="1931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682192"/>
            <a:ext cx="1844675" cy="191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671845"/>
            <a:ext cx="1702435" cy="19316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9154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Двухуровневые (иерархические) архитектуры</a:t>
            </a:r>
            <a:br>
              <a:rPr lang="ru-RU" dirty="0"/>
            </a:br>
            <a:r>
              <a:rPr lang="en-US" sz="1400" i="1" dirty="0"/>
              <a:t>CE (Clustered-Everything)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5024864"/>
            <a:ext cx="7848872" cy="158417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SЕ кластеры объединены по принципу SN</a:t>
            </a:r>
          </a:p>
          <a:p>
            <a:r>
              <a:rPr lang="ru-RU" dirty="0" err="1"/>
              <a:t>Межкластерные</a:t>
            </a:r>
            <a:r>
              <a:rPr lang="ru-RU" dirty="0"/>
              <a:t> коммуникации осуществляются через высокоскоростную соединительную сеть.</a:t>
            </a:r>
          </a:p>
          <a:p>
            <a:r>
              <a:rPr lang="ru-RU" dirty="0"/>
              <a:t>Межпроцессорные коммуникации внутри SЕ кластера осуществляются через общую оперативную память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556792"/>
            <a:ext cx="5736842" cy="3246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9419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Двухуровневые (иерархические) архитектуры</a:t>
            </a:r>
            <a:br>
              <a:rPr lang="ru-RU" dirty="0"/>
            </a:br>
            <a:r>
              <a:rPr lang="en-US" sz="1400" i="1" dirty="0"/>
              <a:t>CD (Clustered-Disk</a:t>
            </a:r>
            <a:r>
              <a:rPr lang="ru-RU" sz="1400" i="1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4293096"/>
            <a:ext cx="7848872" cy="194421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SD кластеры объединены по принципу SN</a:t>
            </a:r>
          </a:p>
          <a:p>
            <a:r>
              <a:rPr lang="ru-RU" dirty="0"/>
              <a:t>Граница SD кластеров распространены на общую (глобальную) соединительную сеть, так как в них может присутствовать собственная (локальная) соединительная сеть.</a:t>
            </a:r>
          </a:p>
          <a:p>
            <a:r>
              <a:rPr lang="ru-RU" dirty="0"/>
              <a:t>Межпроцессорные коммуникации осуществляются через высокоскоростную соединительную сеть.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84784"/>
            <a:ext cx="4824536" cy="26085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6098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Двухуровневые (иерархические) архитектуры</a:t>
            </a:r>
            <a:br>
              <a:rPr lang="ru-RU" dirty="0"/>
            </a:br>
            <a:r>
              <a:rPr lang="ru-RU" sz="1200" i="1" dirty="0"/>
              <a:t>Сопоставление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16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391006" y="3363708"/>
          <a:ext cx="8467769" cy="25092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5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02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Характеристика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 кластеров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</a:t>
                      </a:r>
                      <a:endParaRPr lang="ru-RU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</a:t>
                      </a:r>
                      <a:endParaRPr lang="ru-RU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Принцип объединения кластеров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Межпроцессные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коммуникации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Общая оперативная память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«локальная» высокоскоростная сеть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Межкластерные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коммуникации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Высокоскоростная сеть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«глобальная» высокоскоростная сеть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Рисунок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556792"/>
            <a:ext cx="2520280" cy="1384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525177"/>
            <a:ext cx="2736304" cy="1384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7350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Сопоставление всех видов архитектур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7" y="1506558"/>
            <a:ext cx="8516729" cy="501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66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DF3B2-E8F2-2551-858E-ACCA3D8B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Параллельное выполнение операций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ECE72D-32BA-F3A5-A30C-F70F67BBF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7E21356-0A47-F06D-2253-35261E1F8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473540"/>
            <a:ext cx="3456384" cy="3459177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428102-58F0-7B1E-947F-F58067D1A859}"/>
              </a:ext>
            </a:extLst>
          </p:cNvPr>
          <p:cNvSpPr/>
          <p:nvPr/>
        </p:nvSpPr>
        <p:spPr>
          <a:xfrm>
            <a:off x="4572000" y="1718106"/>
            <a:ext cx="2860761" cy="297004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latin typeface="CourierNewPSMT"/>
                <a:ea typeface="Calibri" panose="020F0502020204030204" pitchFamily="34" charset="0"/>
                <a:cs typeface="CourierNewPSMT"/>
              </a:rPr>
              <a:t>Q: </a:t>
            </a:r>
            <a:endParaRPr lang="ru-RU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GB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SELECT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( S.SNAME)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SP, P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WHERE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S.CITY = 'London'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SP.SN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SP.QTY &gt; 200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SP.PN = P.PN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P.COLOR = 'Red'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P.WEIGHT &lt; 25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F82709-7076-4819-C5B5-DE0A32A0D122}"/>
              </a:ext>
            </a:extLst>
          </p:cNvPr>
          <p:cNvSpPr/>
          <p:nvPr/>
        </p:nvSpPr>
        <p:spPr>
          <a:xfrm>
            <a:off x="383084" y="5397023"/>
            <a:ext cx="8208912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450215" algn="ctr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отвечает требованию</a:t>
            </a: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по обеспечению вариативности аналитических запросов, </a:t>
            </a: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но не обеспечивает (и не предполагает изначально) </a:t>
            </a:r>
          </a:p>
          <a:p>
            <a:pPr indent="450215"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механизма распараллеливания этих запросов. 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648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Распараллеливание данных: Репликация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3384376"/>
          </a:xfrm>
        </p:spPr>
        <p:txBody>
          <a:bodyPr>
            <a:normAutofit/>
          </a:bodyPr>
          <a:lstStyle/>
          <a:p>
            <a:r>
              <a:rPr lang="ru-RU" dirty="0"/>
              <a:t>Репликация – создание нескольких физических копий данных, хранимых на параллельных носителях информации (например, физических дисках, организованных в </a:t>
            </a:r>
            <a:r>
              <a:rPr lang="en-US" b="1" dirty="0"/>
              <a:t>RAID</a:t>
            </a:r>
            <a:r>
              <a:rPr lang="ru-RU" b="1" dirty="0"/>
              <a:t> – массив</a:t>
            </a:r>
            <a:r>
              <a:rPr lang="ru-RU" dirty="0"/>
              <a:t>). </a:t>
            </a:r>
            <a:endParaRPr lang="ru-RU" i="1" dirty="0"/>
          </a:p>
          <a:p>
            <a:r>
              <a:rPr lang="ru-RU" dirty="0"/>
              <a:t>Основными целями репликации являются:</a:t>
            </a:r>
          </a:p>
          <a:p>
            <a:pPr lvl="1"/>
            <a:r>
              <a:rPr lang="ru-RU" dirty="0"/>
              <a:t>повышение производительности, за счет распределения запросов чтения между серверами;</a:t>
            </a:r>
          </a:p>
          <a:p>
            <a:pPr lvl="1"/>
            <a:r>
              <a:rPr lang="ru-RU" dirty="0"/>
              <a:t>повышение доступности, так как реплицированный объект остается доступным для обработки (по крайней мере, на чтение) пока хотя бы одна его реплика остается в системе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289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Распараллеливание данных: Фрагментация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728192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ru-RU" b="1" dirty="0" err="1"/>
              <a:t>Фрагментирование</a:t>
            </a:r>
            <a:r>
              <a:rPr lang="ru-RU" b="1" dirty="0"/>
              <a:t> </a:t>
            </a:r>
            <a:r>
              <a:rPr lang="ru-RU" dirty="0"/>
              <a:t>– разделение данных на части, с последующим хранением фрагментов на разных физических дисках для балансировки нагрузки ввода – вывода. </a:t>
            </a:r>
          </a:p>
          <a:p>
            <a:pPr>
              <a:spcBef>
                <a:spcPts val="1200"/>
              </a:spcBef>
            </a:pPr>
            <a:r>
              <a:rPr lang="ru-RU" dirty="0"/>
              <a:t>Повышает эффективность операций записи и операций чтения.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378248"/>
            <a:ext cx="5958867" cy="3384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2834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Горизонтальная фрагментация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7" y="1484784"/>
            <a:ext cx="8291191" cy="1008112"/>
          </a:xfrm>
        </p:spPr>
        <p:txBody>
          <a:bodyPr/>
          <a:lstStyle/>
          <a:p>
            <a:r>
              <a:rPr lang="ru-RU" dirty="0"/>
              <a:t>Секционирование набора данных путем разделения множества ключей на основании </a:t>
            </a:r>
            <a:r>
              <a:rPr lang="ru-RU" b="1" i="1" dirty="0"/>
              <a:t>предиката фрагментации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766333"/>
            <a:ext cx="7088188" cy="31975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6513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Вертикальная фрагментация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76064"/>
          </a:xfrm>
        </p:spPr>
        <p:txBody>
          <a:bodyPr/>
          <a:lstStyle/>
          <a:p>
            <a:r>
              <a:rPr lang="ru-RU" dirty="0"/>
              <a:t>Разделение набора данных по атрибутам</a:t>
            </a:r>
            <a:endParaRPr lang="ru-RU" b="1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76872"/>
            <a:ext cx="6822758" cy="271938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/>
          <p:cNvSpPr/>
          <p:nvPr/>
        </p:nvSpPr>
        <p:spPr>
          <a:xfrm>
            <a:off x="662608" y="5445224"/>
            <a:ext cx="720375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отношении модели ключ – значение или других агрегатных моделей применение вертикальной фрагментации не имеет смысла, так как нарушается целостность агрегата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189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к распределенным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988840"/>
            <a:ext cx="7848872" cy="4248472"/>
          </a:xfrm>
        </p:spPr>
        <p:txBody>
          <a:bodyPr>
            <a:normAutofit/>
          </a:bodyPr>
          <a:lstStyle/>
          <a:p>
            <a:pPr lvl="0">
              <a:spcBef>
                <a:spcPts val="1200"/>
              </a:spcBef>
              <a:buFont typeface="+mj-lt"/>
              <a:buAutoNum type="arabicPeriod"/>
            </a:pPr>
            <a:r>
              <a:rPr lang="ru-RU" b="1" dirty="0"/>
              <a:t>Механизмы меж транзакционного взаимодействия </a:t>
            </a:r>
            <a:r>
              <a:rPr lang="ru-RU" dirty="0"/>
              <a:t>или </a:t>
            </a:r>
            <a:r>
              <a:rPr lang="ru-RU" i="1" dirty="0" smtClean="0"/>
              <a:t>распараллеливание </a:t>
            </a:r>
            <a:r>
              <a:rPr lang="ru-RU" i="1" dirty="0"/>
              <a:t>по данным</a:t>
            </a:r>
            <a:r>
              <a:rPr lang="ru-RU" dirty="0"/>
              <a:t> (</a:t>
            </a:r>
            <a:r>
              <a:rPr lang="ru-RU" dirty="0" err="1"/>
              <a:t>фрагментмеханизмы</a:t>
            </a:r>
            <a:r>
              <a:rPr lang="ru-RU" dirty="0"/>
              <a:t> сериализации транзакций, в том числе, по модели </a:t>
            </a:r>
            <a:r>
              <a:rPr lang="en-US" dirty="0"/>
              <a:t>ACID</a:t>
            </a:r>
            <a:r>
              <a:rPr lang="ru-RU" dirty="0"/>
              <a:t> (распределенные транзакции).</a:t>
            </a:r>
          </a:p>
          <a:p>
            <a:pPr lvl="0">
              <a:spcBef>
                <a:spcPts val="1200"/>
              </a:spcBef>
              <a:buFont typeface="+mj-lt"/>
              <a:buAutoNum type="arabicPeriod"/>
            </a:pPr>
            <a:r>
              <a:rPr lang="ru-RU" b="1" dirty="0"/>
              <a:t>Механизмы распараллеливания</a:t>
            </a:r>
            <a:r>
              <a:rPr lang="ru-RU" dirty="0"/>
              <a:t>, в частности:</a:t>
            </a:r>
          </a:p>
          <a:p>
            <a:pPr lvl="1">
              <a:spcBef>
                <a:spcPts val="1200"/>
              </a:spcBef>
            </a:pPr>
            <a:r>
              <a:rPr lang="ru-RU" i="1" dirty="0" err="1"/>
              <a:t>Внутритранзакционное</a:t>
            </a:r>
            <a:r>
              <a:rPr lang="ru-RU" i="1" dirty="0"/>
              <a:t> </a:t>
            </a:r>
            <a:r>
              <a:rPr lang="ru-RU" dirty="0" err="1" smtClean="0"/>
              <a:t>ация</a:t>
            </a:r>
            <a:r>
              <a:rPr lang="ru-RU" dirty="0"/>
              <a:t>)</a:t>
            </a:r>
          </a:p>
          <a:p>
            <a:pPr lvl="1">
              <a:spcBef>
                <a:spcPts val="1200"/>
              </a:spcBef>
            </a:pPr>
            <a:r>
              <a:rPr lang="ru-RU" i="1" dirty="0" err="1"/>
              <a:t>Внутритранзакционное</a:t>
            </a:r>
            <a:r>
              <a:rPr lang="ru-RU" i="1" dirty="0"/>
              <a:t> распараллеливание операций</a:t>
            </a:r>
            <a:r>
              <a:rPr lang="ru-RU" dirty="0"/>
              <a:t> (потоковая обработка данных)</a:t>
            </a:r>
          </a:p>
          <a:p>
            <a:pPr lvl="0">
              <a:spcBef>
                <a:spcPts val="1200"/>
              </a:spcBef>
              <a:buFont typeface="+mj-lt"/>
              <a:buAutoNum type="arabicPeriod"/>
            </a:pPr>
            <a:r>
              <a:rPr lang="ru-RU" b="1" dirty="0"/>
              <a:t>Механизмы управления данными </a:t>
            </a:r>
            <a:r>
              <a:rPr lang="ru-RU" dirty="0"/>
              <a:t>(репликация, фрагментация), позволяющие выбирать место выполнения запроса исходя из загруженности компонентов кластера.</a:t>
            </a:r>
          </a:p>
          <a:p>
            <a:pPr>
              <a:spcBef>
                <a:spcPts val="1200"/>
              </a:spcBef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75550" y="1473427"/>
            <a:ext cx="810090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dirty="0"/>
              <a:t>В распределенную среду из многопоточной переносятся:</a:t>
            </a:r>
          </a:p>
        </p:txBody>
      </p:sp>
    </p:spTree>
    <p:extLst>
      <p:ext uri="{BB962C8B-B14F-4D97-AF65-F5344CB8AC3E}">
        <p14:creationId xmlns:p14="http://schemas.microsoft.com/office/powerpoint/2010/main" val="1070684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Распределенные СУБД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Распределенная и многопоточная обработка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184576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200"/>
              </a:spcBef>
            </a:pPr>
            <a:r>
              <a:rPr lang="ru-RU" b="1" dirty="0"/>
              <a:t>Особенности распределенной обработки по сравнению с многопоточной:</a:t>
            </a:r>
            <a:endParaRPr lang="ru-RU" dirty="0"/>
          </a:p>
          <a:p>
            <a:pPr lvl="1">
              <a:spcBef>
                <a:spcPts val="1200"/>
              </a:spcBef>
            </a:pPr>
            <a:r>
              <a:rPr lang="ru-RU" dirty="0"/>
              <a:t>Отсутствие общей памяти (разделяемого ресурса);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Появление аппаратных отказов и сбои узлов – участников процесса;</a:t>
            </a:r>
          </a:p>
          <a:p>
            <a:pPr>
              <a:spcBef>
                <a:spcPts val="12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b="1" dirty="0"/>
              <a:t>Требования к организации распределенных данных</a:t>
            </a:r>
            <a:br>
              <a:rPr lang="ru-RU" b="1" dirty="0"/>
            </a:br>
            <a:r>
              <a:rPr lang="ru-RU" dirty="0"/>
              <a:t>Минимизация числа распределенных транзакций при имеющейся рабочей нагрузке.</a:t>
            </a:r>
          </a:p>
          <a:p>
            <a:pPr lvl="1">
              <a:spcBef>
                <a:spcPts val="1200"/>
              </a:spcBef>
            </a:pPr>
            <a:r>
              <a:rPr lang="ru-RU" b="1" i="1" dirty="0"/>
              <a:t>Следствие:</a:t>
            </a:r>
            <a:r>
              <a:rPr lang="ru-RU" dirty="0"/>
              <a:t> при изменении рабочей нагрузки приходится перераспределять данные.</a:t>
            </a:r>
          </a:p>
          <a:p>
            <a:pPr lvl="1">
              <a:spcBef>
                <a:spcPts val="1200"/>
              </a:spcBef>
            </a:pPr>
            <a:r>
              <a:rPr lang="ru-RU" b="1" i="1" dirty="0"/>
              <a:t>Следствие:</a:t>
            </a:r>
            <a:r>
              <a:rPr lang="ru-RU" dirty="0"/>
              <a:t> разделение данных в аналитической СУБД зависит от специфики запросов и системы становятся зависимыми от запросов по производительности.</a:t>
            </a:r>
          </a:p>
          <a:p>
            <a:pPr>
              <a:spcBef>
                <a:spcPts val="1200"/>
              </a:spcBef>
            </a:pPr>
            <a:r>
              <a:rPr lang="ru-RU" b="1" dirty="0"/>
              <a:t>Требования к системе обработки</a:t>
            </a:r>
          </a:p>
          <a:p>
            <a:pPr lvl="1">
              <a:spcBef>
                <a:spcPts val="1200"/>
              </a:spcBef>
            </a:pPr>
            <a:r>
              <a:rPr lang="ru-RU" b="1" dirty="0"/>
              <a:t>Оптимизация алгоритмов и операций;</a:t>
            </a:r>
          </a:p>
          <a:p>
            <a:pPr lvl="1">
              <a:spcBef>
                <a:spcPts val="1200"/>
              </a:spcBef>
            </a:pPr>
            <a:r>
              <a:rPr lang="ru-RU" b="1" dirty="0" err="1">
                <a:solidFill>
                  <a:schemeClr val="accent1"/>
                </a:solidFill>
              </a:rPr>
              <a:t>Многопоточность</a:t>
            </a:r>
            <a:r>
              <a:rPr lang="ru-RU" b="1" dirty="0">
                <a:solidFill>
                  <a:schemeClr val="accent1"/>
                </a:solidFill>
              </a:rPr>
              <a:t> + асинхронность</a:t>
            </a:r>
            <a:r>
              <a:rPr lang="ru-RU" b="1" dirty="0"/>
              <a:t>;</a:t>
            </a:r>
          </a:p>
          <a:p>
            <a:pPr lvl="1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</a:rPr>
              <a:t>Распределенность</a:t>
            </a:r>
            <a:r>
              <a:rPr lang="ru-RU" b="1" dirty="0">
                <a:solidFill>
                  <a:srgbClr val="C00000"/>
                </a:solidFill>
              </a:rPr>
              <a:t>.</a:t>
            </a:r>
          </a:p>
          <a:p>
            <a:pPr>
              <a:spcBef>
                <a:spcPts val="1200"/>
              </a:spcBef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587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</a:t>
            </a:r>
            <a:r>
              <a:rPr lang="ru-RU" dirty="0" err="1"/>
              <a:t>РаспрСУБД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12776"/>
            <a:ext cx="7848872" cy="5159984"/>
          </a:xfrm>
        </p:spPr>
        <p:txBody>
          <a:bodyPr>
            <a:normAutofit fontScale="92500" lnSpcReduction="20000"/>
          </a:bodyPr>
          <a:lstStyle/>
          <a:p>
            <a:pPr lvl="0">
              <a:spcBef>
                <a:spcPts val="1200"/>
              </a:spcBef>
            </a:pPr>
            <a:r>
              <a:rPr lang="ru-RU" b="1" dirty="0"/>
              <a:t>Локальная независимость узлов</a:t>
            </a:r>
            <a:r>
              <a:rPr lang="ru-RU" dirty="0"/>
              <a:t>. Полная локальная независимость на сегодня считается недостижимой для РСУБД.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Отсутствие зависимости от центрального узла.</a:t>
            </a:r>
            <a:r>
              <a:rPr lang="ru-RU" dirty="0"/>
              <a:t> 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Непрерывное функционирование</a:t>
            </a:r>
            <a:r>
              <a:rPr lang="ru-RU" dirty="0"/>
              <a:t>. Заключается в обеспечении высокого уровня надежности и доступности. 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Независимость от расположения.</a:t>
            </a:r>
            <a:r>
              <a:rPr lang="ru-RU" dirty="0"/>
              <a:t> Пользователь должен иметь возможность обращаться к данным вне зависимости от реального физического расположения или перемещения.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Независимость от фрагментации.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Независимость от репликации. </a:t>
            </a:r>
          </a:p>
          <a:p>
            <a:pPr>
              <a:spcBef>
                <a:spcPts val="1200"/>
              </a:spcBef>
            </a:pPr>
            <a:r>
              <a:rPr lang="ru-RU" b="1" dirty="0"/>
              <a:t>Оптимизация распределенных запросов</a:t>
            </a:r>
            <a:r>
              <a:rPr lang="ru-RU" dirty="0"/>
              <a:t>.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Поддержание должного уровня согласованности данных </a:t>
            </a:r>
            <a:r>
              <a:rPr lang="ru-RU" dirty="0"/>
              <a:t>(от </a:t>
            </a:r>
            <a:r>
              <a:rPr lang="en-US" dirty="0"/>
              <a:t>ACID</a:t>
            </a:r>
            <a:r>
              <a:rPr lang="ru-RU" dirty="0"/>
              <a:t> и ниже). 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Независимость от платформы.</a:t>
            </a:r>
            <a:endParaRPr lang="ru-RU" dirty="0"/>
          </a:p>
          <a:p>
            <a:pPr lvl="0">
              <a:spcBef>
                <a:spcPts val="1200"/>
              </a:spcBef>
            </a:pPr>
            <a:r>
              <a:rPr lang="ru-RU" b="1" dirty="0"/>
              <a:t>Независимость от СУБД.</a:t>
            </a:r>
            <a:r>
              <a:rPr lang="ru-RU" dirty="0"/>
              <a:t> Возможность совмещать несколько различных СУБД.</a:t>
            </a:r>
          </a:p>
          <a:p>
            <a:pPr>
              <a:spcBef>
                <a:spcPts val="1200"/>
              </a:spcBef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075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построения </a:t>
            </a:r>
            <a:r>
              <a:rPr lang="ru-RU" dirty="0" err="1"/>
              <a:t>РаспрСУБД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spcBef>
                <a:spcPts val="1200"/>
              </a:spcBef>
            </a:pPr>
            <a:r>
              <a:rPr lang="ru-RU" b="1" dirty="0"/>
              <a:t>Перенос вычислений как можно ближе к данным; </a:t>
            </a:r>
            <a:br>
              <a:rPr lang="ru-RU" b="1" dirty="0"/>
            </a:br>
            <a:r>
              <a:rPr lang="ru-RU" b="1" dirty="0"/>
              <a:t>(</a:t>
            </a:r>
            <a:r>
              <a:rPr lang="en-US" b="1" dirty="0"/>
              <a:t>VS </a:t>
            </a:r>
            <a:r>
              <a:rPr lang="ru-RU" b="1" dirty="0"/>
              <a:t>данные к вычислениям)</a:t>
            </a:r>
            <a:endParaRPr lang="ru-RU" dirty="0"/>
          </a:p>
          <a:p>
            <a:pPr lvl="1">
              <a:spcBef>
                <a:spcPts val="1200"/>
              </a:spcBef>
            </a:pPr>
            <a:r>
              <a:rPr lang="ru-RU" dirty="0"/>
              <a:t>Минимизируется пересылка данных по узлам вычислительной системы: вычисления над данными должны производиться там, где эти данные располагаются.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Приложение баз данных переносится целиком или частично на сторону сервера.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Использование архитектуры без совместно используемых ресурсов </a:t>
            </a:r>
            <a:endParaRPr lang="ru-RU" dirty="0"/>
          </a:p>
          <a:p>
            <a:pPr lvl="1">
              <a:spcBef>
                <a:spcPts val="1200"/>
              </a:spcBef>
            </a:pPr>
            <a:r>
              <a:rPr lang="ru-RU" dirty="0"/>
              <a:t>Декларируется отсутствие общих ресурсов между узлами вычислительной системы. </a:t>
            </a:r>
            <a:br>
              <a:rPr lang="ru-RU" dirty="0"/>
            </a:br>
            <a:r>
              <a:rPr lang="ru-RU" dirty="0"/>
              <a:t>Зачем? – меньше конфликтов; выше скорость работы. </a:t>
            </a:r>
          </a:p>
          <a:p>
            <a:pPr lvl="1">
              <a:spcBef>
                <a:spcPts val="1200"/>
              </a:spcBef>
            </a:pPr>
            <a:r>
              <a:rPr lang="ru-RU" b="1" i="1" dirty="0"/>
              <a:t>Следствие</a:t>
            </a:r>
            <a:r>
              <a:rPr lang="ru-RU" dirty="0"/>
              <a:t> – повышение эффективности распараллеливания операций между частями системы (но сложности согласования).</a:t>
            </a:r>
          </a:p>
          <a:p>
            <a:pPr>
              <a:spcBef>
                <a:spcPts val="1200"/>
              </a:spcBef>
            </a:pPr>
            <a:r>
              <a:rPr lang="ru-RU" b="1" dirty="0"/>
              <a:t>Эффективное разделение данных по узлам вычислительной системы с возможностью их репликации в нескольких узлах.</a:t>
            </a:r>
            <a:endParaRPr lang="ru-RU" dirty="0"/>
          </a:p>
          <a:p>
            <a:pPr lvl="1">
              <a:spcBef>
                <a:spcPts val="1200"/>
              </a:spcBef>
            </a:pPr>
            <a:r>
              <a:rPr lang="ru-RU" dirty="0"/>
              <a:t>Необходимо для параллельной обработки транзакций (распараллеливания транзакций и запросов) при обработке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136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распределенной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1200"/>
              </a:spcBef>
            </a:pPr>
            <a:r>
              <a:rPr lang="ru-RU" b="1" dirty="0"/>
              <a:t>Распределенная база данных (DDB - </a:t>
            </a:r>
            <a:r>
              <a:rPr lang="ru-RU" b="1" dirty="0" err="1"/>
              <a:t>distributed</a:t>
            </a:r>
            <a:r>
              <a:rPr lang="ru-RU" b="1" dirty="0"/>
              <a:t> </a:t>
            </a:r>
            <a:r>
              <a:rPr lang="ru-RU" b="1" dirty="0" err="1"/>
              <a:t>database</a:t>
            </a:r>
            <a:r>
              <a:rPr lang="ru-RU" b="1" dirty="0"/>
              <a:t>) </a:t>
            </a:r>
            <a:r>
              <a:rPr lang="ru-RU" dirty="0"/>
              <a:t>- это совокупность множества взаимосвязанных баз данных, распределенных в компьютерной сети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Несколько узлов под общим управлением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Виртуальная база данных, компоненты которой физически хранятся в нескольких различных реальных базах данных на нескольких различных узлах.</a:t>
            </a:r>
          </a:p>
          <a:p>
            <a:pPr>
              <a:spcBef>
                <a:spcPts val="1200"/>
              </a:spcBef>
            </a:pPr>
            <a:r>
              <a:rPr lang="ru-RU" dirty="0"/>
              <a:t>Распределенная база данных состоит из набора узлов (</a:t>
            </a:r>
            <a:r>
              <a:rPr lang="ru-RU" dirty="0" err="1"/>
              <a:t>site</a:t>
            </a:r>
            <a:r>
              <a:rPr lang="ru-RU" dirty="0"/>
              <a:t>), связанных коммуникационной сетью, в которой: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каждый узел — это полноценная СУБД сама по себе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узлы взаимодействуют между собой таким образом, что пользователь любого из них может получить доступ к любым данным в сети так, как будто они находятся на его собственном узле.</a:t>
            </a:r>
          </a:p>
          <a:p>
            <a:pPr>
              <a:spcBef>
                <a:spcPts val="1200"/>
              </a:spcBef>
            </a:pPr>
            <a:r>
              <a:rPr lang="ru-RU" dirty="0"/>
              <a:t>Поддерживаются виды прозрачности: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прозрачность от расположения (сети);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прозрачность репликации;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прозрачность фрагментации.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454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Уточнение понятия </a:t>
            </a:r>
            <a:r>
              <a:rPr lang="ru-RU" dirty="0" err="1"/>
              <a:t>РаспрСУБД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ru-RU" dirty="0"/>
              <a:t>Идентифицирующие характеристики параллельных и распределенных СУБД: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Распределенная /параллельная база данных - это именно база данных, а не "коллекция" файлов, индивидуально хранимых на разных узлах сети.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Система обладает полной функциональностью СУБД. </a:t>
            </a:r>
            <a:br>
              <a:rPr lang="ru-RU" dirty="0"/>
            </a:br>
            <a:r>
              <a:rPr lang="ru-RU" dirty="0"/>
              <a:t>Она не сводится по своим возможностям ни к распределенным файловым системам, ни к системам обработки транзакций.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Распределение (включая фрагментацию и репликацию) данных по множеству узлов невидимо для пользователей (</a:t>
            </a:r>
            <a:r>
              <a:rPr lang="ru-RU" i="1" dirty="0"/>
              <a:t>прозрачность </a:t>
            </a:r>
            <a:r>
              <a:rPr lang="ru-RU" dirty="0"/>
              <a:t>).</a:t>
            </a:r>
          </a:p>
          <a:p>
            <a:pPr>
              <a:spcBef>
                <a:spcPts val="1200"/>
              </a:spcBef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342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(исследовательские) задачи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395536" y="1408058"/>
          <a:ext cx="7908038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Задача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Проблематика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Как хранить данные?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Принцип локальности данных → увеличение количества реплик → страдают обновления; </a:t>
                      </a:r>
                    </a:p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Ручной труд администратора по </a:t>
                      </a:r>
                      <a:r>
                        <a:rPr lang="ru-RU" sz="1400" dirty="0" err="1">
                          <a:effectLst/>
                        </a:rPr>
                        <a:t>фрагментированию</a:t>
                      </a:r>
                      <a:r>
                        <a:rPr lang="ru-RU" sz="1400" dirty="0">
                          <a:effectLst/>
                        </a:rPr>
                        <a:t>; </a:t>
                      </a:r>
                    </a:p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Распределение ресурсов: статическое и динамическое;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Как при обновлениях синхронизировать копии?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Протоколы кворума; </a:t>
                      </a:r>
                    </a:p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Семантика одной копии; </a:t>
                      </a:r>
                    </a:p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Распространения обновлений: «ленивые» методы;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Как осуществлять координацию и коммуникации между узлами при исполнении запроса?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Разрезать (декомпозировать) план запроса; </a:t>
                      </a:r>
                    </a:p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Стоимость коммуникации высока;</a:t>
                      </a:r>
                    </a:p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Нужна глобальная изоляция → нужна глобальная </a:t>
                      </a:r>
                      <a:r>
                        <a:rPr lang="ru-RU" sz="1400" dirty="0" err="1">
                          <a:effectLst/>
                        </a:rPr>
                        <a:t>упорядочиваемость</a:t>
                      </a:r>
                      <a:r>
                        <a:rPr lang="ru-RU" sz="1400" dirty="0">
                          <a:effectLst/>
                        </a:rPr>
                        <a:t> транзакций → протоколы d2PL, </a:t>
                      </a:r>
                      <a:r>
                        <a:rPr lang="ru-RU" sz="1400" dirty="0" err="1">
                          <a:effectLst/>
                        </a:rPr>
                        <a:t>мультиверсионные</a:t>
                      </a:r>
                      <a:r>
                        <a:rPr lang="ru-RU" sz="1400" dirty="0">
                          <a:effectLst/>
                        </a:rPr>
                        <a:t> на временных метках;</a:t>
                      </a:r>
                    </a:p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Координация очень дорога;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Как обеспечивать надежность?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Протоколы синхронизации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9531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2561CE-EC0E-81F2-1AB5-1C0F10F3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B562AE-873B-3B49-0906-D8A4B1042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F602FEE9-4ADD-013F-E5CD-61EE300EE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96" y="1428293"/>
            <a:ext cx="7812360" cy="529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78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2273C-0808-9174-B9D1-65E37CD2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РСУБД с посредниками/оболочками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9740709-4D9A-D175-8E8D-B183764D8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1492697"/>
            <a:ext cx="5784513" cy="475297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01BD30-BDAC-6F10-C765-4F1C3D043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304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20BBAB-DBD3-6F87-FDBB-E80AC05A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Эталонная архитектура однорангового узла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5577B3C-35E9-252F-EED9-FC35779C2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3" y="1500634"/>
            <a:ext cx="7848600" cy="472033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5A8E8B-EAF4-668F-A59B-567F94E51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375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распределенным каталогом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Bef>
                <a:spcPts val="1200"/>
              </a:spcBef>
            </a:pPr>
            <a:r>
              <a:rPr lang="ru-RU" dirty="0"/>
              <a:t>Каталог включает</a:t>
            </a:r>
          </a:p>
          <a:p>
            <a:pPr lvl="1">
              <a:spcBef>
                <a:spcPts val="1200"/>
              </a:spcBef>
            </a:pPr>
            <a:r>
              <a:rPr lang="ru-RU" b="1" dirty="0"/>
              <a:t>Обычные для каталога данные</a:t>
            </a:r>
            <a:r>
              <a:rPr lang="ru-RU" dirty="0"/>
              <a:t>, касающиеся базовых переменных отношения, представлений, ограничений целостности, полномочий и т.д., </a:t>
            </a:r>
          </a:p>
          <a:p>
            <a:pPr lvl="1">
              <a:spcBef>
                <a:spcPts val="1200"/>
              </a:spcBef>
            </a:pPr>
            <a:r>
              <a:rPr lang="ru-RU" b="1" dirty="0"/>
              <a:t>Управляющую информацию</a:t>
            </a:r>
            <a:r>
              <a:rPr lang="ru-RU" dirty="0"/>
              <a:t>, которая позволит системе обеспечить независимость от размещения, фрагментации и репликации. </a:t>
            </a:r>
          </a:p>
          <a:p>
            <a:pPr>
              <a:spcBef>
                <a:spcPts val="1200"/>
              </a:spcBef>
            </a:pPr>
            <a:r>
              <a:rPr lang="ru-RU" dirty="0"/>
              <a:t>Организация каталога</a:t>
            </a:r>
          </a:p>
          <a:p>
            <a:pPr marL="800100" lvl="1" indent="-342900">
              <a:spcBef>
                <a:spcPts val="1200"/>
              </a:spcBef>
              <a:buFont typeface="+mj-lt"/>
              <a:buAutoNum type="arabicPeriod"/>
            </a:pPr>
            <a:r>
              <a:rPr lang="ru-RU" b="1" dirty="0"/>
              <a:t>Централизованное хранение</a:t>
            </a:r>
            <a:r>
              <a:rPr lang="ru-RU" dirty="0"/>
              <a:t>. Единственный общий каталог хранится на отдельном центральном узле. (узкое место)</a:t>
            </a:r>
          </a:p>
          <a:p>
            <a:pPr marL="800100" lvl="1" indent="-342900">
              <a:spcBef>
                <a:spcPts val="1200"/>
              </a:spcBef>
              <a:buFont typeface="+mj-lt"/>
              <a:buAutoNum type="arabicPeriod"/>
            </a:pPr>
            <a:r>
              <a:rPr lang="ru-RU" b="1" dirty="0"/>
              <a:t>Полная репликация. </a:t>
            </a:r>
            <a:r>
              <a:rPr lang="ru-RU" dirty="0"/>
              <a:t>Общий каталог целиком хранится на каждом узле. (узлы теряют независимость)</a:t>
            </a:r>
          </a:p>
          <a:p>
            <a:pPr marL="800100" lvl="1" indent="-342900">
              <a:spcBef>
                <a:spcPts val="1200"/>
              </a:spcBef>
              <a:buFont typeface="+mj-lt"/>
              <a:buAutoNum type="arabicPeriod"/>
            </a:pPr>
            <a:r>
              <a:rPr lang="ru-RU" b="1" dirty="0"/>
              <a:t>Частичное секционирование</a:t>
            </a:r>
            <a:r>
              <a:rPr lang="ru-RU" dirty="0"/>
              <a:t>. Каждый узел поддерживает собственный каталог для объектов, которые на нем хранятся. Общий каталог представляет собой объединение всех этих непересекающихся локальных каталогов. (дорогие не локальные операции)</a:t>
            </a:r>
          </a:p>
          <a:p>
            <a:pPr marL="800100" lvl="1" indent="-342900">
              <a:spcBef>
                <a:spcPts val="1200"/>
              </a:spcBef>
              <a:buFont typeface="+mj-lt"/>
              <a:buAutoNum type="arabicPeriod"/>
            </a:pPr>
            <a:r>
              <a:rPr lang="ru-RU" b="1" dirty="0"/>
              <a:t>Сочетание подходов</a:t>
            </a:r>
            <a:r>
              <a:rPr lang="ru-RU" dirty="0"/>
              <a:t>. На каждом узле поддерживается свой локальный каталог. Отдельный центральный узел сопровождает объединенную копию всех этих локальных каталогов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380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управлению распределенными данными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ru-RU" dirty="0" err="1"/>
              <a:t>РаспрСУБД</a:t>
            </a:r>
            <a:r>
              <a:rPr lang="ru-RU" dirty="0"/>
              <a:t> бывают:</a:t>
            </a:r>
          </a:p>
          <a:p>
            <a:pPr lvl="1">
              <a:spcBef>
                <a:spcPts val="1200"/>
              </a:spcBef>
            </a:pPr>
            <a:r>
              <a:rPr lang="ru-RU" b="1" dirty="0"/>
              <a:t>Полностью реплицированные</a:t>
            </a:r>
            <a:r>
              <a:rPr lang="ru-RU" dirty="0"/>
              <a:t>: на каждом узле есть вся база;</a:t>
            </a:r>
          </a:p>
          <a:p>
            <a:pPr lvl="1">
              <a:spcBef>
                <a:spcPts val="1200"/>
              </a:spcBef>
            </a:pPr>
            <a:r>
              <a:rPr lang="ru-RU" b="1" dirty="0"/>
              <a:t>Полностью фрагментированные</a:t>
            </a:r>
            <a:r>
              <a:rPr lang="ru-RU" dirty="0"/>
              <a:t>: каждый узел содержит свой уникальный фрагмент, фрагменты попарно не пересекаются, объединение дает всю базу;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Что-то среднее.</a:t>
            </a:r>
          </a:p>
          <a:p>
            <a:pPr lvl="1">
              <a:spcBef>
                <a:spcPts val="12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Поддержка согласованности копий или их синхронизации в распределенной системе строится на решении ряда типовых конфликтов, характерных и для параллельных систем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Конфликт запись – запись (w/w). В этом случае запись одних и тех же данных проводится на разные узлы с разными значениями.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Конфликт чтение – запись (r/w)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Конфликт запись – чтение (w/r)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488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Распределенная репликация ведущий – ведомый</a:t>
            </a:r>
            <a:br>
              <a:rPr lang="ru-RU" dirty="0"/>
            </a:br>
            <a:r>
              <a:rPr lang="en-GB" sz="1200" i="1" dirty="0"/>
              <a:t>Master-Slave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080120"/>
          </a:xfrm>
        </p:spPr>
        <p:txBody>
          <a:bodyPr>
            <a:normAutofit fontScale="85000" lnSpcReduction="20000"/>
          </a:bodyPr>
          <a:lstStyle/>
          <a:p>
            <a:pPr lvl="0">
              <a:spcBef>
                <a:spcPts val="1200"/>
              </a:spcBef>
            </a:pPr>
            <a:r>
              <a:rPr lang="ru-RU" dirty="0"/>
              <a:t>Все операции изменения и записи сначала направляются на ведущий сервер, потом все изменения переносятся на ведомые. </a:t>
            </a:r>
          </a:p>
          <a:p>
            <a:pPr lvl="0">
              <a:spcBef>
                <a:spcPts val="1200"/>
              </a:spcBef>
            </a:pPr>
            <a:r>
              <a:rPr lang="ru-RU" dirty="0"/>
              <a:t>Запросы на чтение могут быть направлены к любому серверу, вне зависимости от его роли.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36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80928"/>
            <a:ext cx="5472608" cy="39604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Объект 2"/>
          <p:cNvSpPr txBox="1">
            <a:spLocks/>
          </p:cNvSpPr>
          <p:nvPr/>
        </p:nvSpPr>
        <p:spPr>
          <a:xfrm>
            <a:off x="5226050" y="2564905"/>
            <a:ext cx="3450406" cy="10657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ru-RU" sz="1200" dirty="0"/>
              <a:t>Повышает отказоустойчивость и производительность операций чтения</a:t>
            </a:r>
          </a:p>
          <a:p>
            <a:pPr>
              <a:buFont typeface="+mj-lt"/>
              <a:buAutoNum type="arabicPeriod"/>
            </a:pPr>
            <a:r>
              <a:rPr lang="ru-RU" sz="1200" dirty="0">
                <a:solidFill>
                  <a:srgbClr val="C00000"/>
                </a:solidFill>
              </a:rPr>
              <a:t>Не влияет</a:t>
            </a:r>
            <a:r>
              <a:rPr lang="ru-RU" sz="1200" dirty="0"/>
              <a:t> на производительность и отказоустойчивость </a:t>
            </a:r>
            <a:r>
              <a:rPr lang="ru-RU" sz="1200" dirty="0">
                <a:solidFill>
                  <a:srgbClr val="C00000"/>
                </a:solidFill>
              </a:rPr>
              <a:t>операций записи</a:t>
            </a: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5684260" y="4188915"/>
            <a:ext cx="3120206" cy="1930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sz="1100" dirty="0">
                <a:solidFill>
                  <a:srgbClr val="C00000"/>
                </a:solidFill>
              </a:rPr>
              <a:t>Операции чтения и записи должны производиться в разные сессии </a:t>
            </a:r>
          </a:p>
          <a:p>
            <a:pPr lvl="1"/>
            <a:r>
              <a:rPr lang="ru-RU" sz="1050" i="1" dirty="0">
                <a:solidFill>
                  <a:schemeClr val="tx1"/>
                </a:solidFill>
              </a:rPr>
              <a:t>Решение редко поддерживается стандартными библиотеками.</a:t>
            </a:r>
            <a:r>
              <a:rPr lang="ru-RU" sz="1050" dirty="0">
                <a:solidFill>
                  <a:schemeClr val="tx1"/>
                </a:solidFill>
              </a:rPr>
              <a:t> </a:t>
            </a:r>
          </a:p>
          <a:p>
            <a:pPr lvl="0"/>
            <a:r>
              <a:rPr lang="ru-RU" sz="1100" dirty="0">
                <a:solidFill>
                  <a:srgbClr val="C00000"/>
                </a:solidFill>
              </a:rPr>
              <a:t>Из-за разной скорости обновления данных возможны моменты несогласованности данных в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13044183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Распределенная репликация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792088"/>
          </a:xfrm>
        </p:spPr>
        <p:txBody>
          <a:bodyPr/>
          <a:lstStyle/>
          <a:p>
            <a:r>
              <a:rPr lang="ru-RU" dirty="0"/>
              <a:t>все сервера – участники являются равноправными и могут принимать запросы обоих типов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37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51275"/>
            <a:ext cx="5214356" cy="39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Объект 2"/>
          <p:cNvSpPr txBox="1">
            <a:spLocks/>
          </p:cNvSpPr>
          <p:nvPr/>
        </p:nvSpPr>
        <p:spPr>
          <a:xfrm>
            <a:off x="5004048" y="2318797"/>
            <a:ext cx="3960440" cy="13221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ru-RU" sz="1400" dirty="0"/>
              <a:t>Повышает отказоустойчивость и производительность операций чтения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Повышает отказоустойчивость и производительность операций записи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580112" y="3798708"/>
            <a:ext cx="3240360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1600" dirty="0"/>
              <a:t>Проблема поддержания согласованности данных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5580112" y="4541285"/>
            <a:ext cx="3394647" cy="19300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Конфликты: </a:t>
            </a:r>
          </a:p>
          <a:p>
            <a:pPr lvl="1"/>
            <a:r>
              <a:rPr lang="en-US" sz="1400" dirty="0"/>
              <a:t>r</a:t>
            </a:r>
            <a:r>
              <a:rPr lang="ru-RU" sz="1400" dirty="0"/>
              <a:t>/</a:t>
            </a:r>
            <a:r>
              <a:rPr lang="en-US" sz="1400" dirty="0"/>
              <a:t>w</a:t>
            </a:r>
            <a:r>
              <a:rPr lang="ru-RU" sz="1400" dirty="0"/>
              <a:t>, </a:t>
            </a:r>
            <a:r>
              <a:rPr lang="en-US" sz="1400" dirty="0"/>
              <a:t>w</a:t>
            </a:r>
            <a:r>
              <a:rPr lang="ru-RU" sz="1400" dirty="0"/>
              <a:t>/</a:t>
            </a:r>
            <a:r>
              <a:rPr lang="en-US" sz="1400" dirty="0"/>
              <a:t>r</a:t>
            </a:r>
            <a:r>
              <a:rPr lang="ru-RU" sz="1400" dirty="0"/>
              <a:t> – время распространения изменений (преодолеваемо). </a:t>
            </a:r>
          </a:p>
          <a:p>
            <a:pPr lvl="1"/>
            <a:r>
              <a:rPr lang="en-US" sz="1400" dirty="0"/>
              <a:t>w</a:t>
            </a:r>
            <a:r>
              <a:rPr lang="ru-RU" sz="1400" dirty="0"/>
              <a:t>/</a:t>
            </a:r>
            <a:r>
              <a:rPr lang="en-US" sz="1400" dirty="0"/>
              <a:t>w</a:t>
            </a:r>
            <a:r>
              <a:rPr lang="ru-RU" sz="1400" dirty="0"/>
              <a:t> на разные узлы разные значения одних данных (эффективно не преодолеваемо)</a:t>
            </a:r>
          </a:p>
        </p:txBody>
      </p:sp>
    </p:spTree>
    <p:extLst>
      <p:ext uri="{BB962C8B-B14F-4D97-AF65-F5344CB8AC3E}">
        <p14:creationId xmlns:p14="http://schemas.microsoft.com/office/powerpoint/2010/main" val="2262322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Синхронная и асинхронная репликация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38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436099" y="1372174"/>
          <a:ext cx="8240358" cy="4663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</a:rPr>
                        <a:t>Одноранговая</a:t>
                      </a:r>
                      <a:r>
                        <a:rPr lang="ru-RU" sz="1400" dirty="0">
                          <a:effectLst/>
                        </a:rPr>
                        <a:t> репликация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Репликация ведущий - ведомый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Синхронное согласование реплик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Возможны два варианта реализации:</a:t>
                      </a: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</a:endParaRP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1400" dirty="0">
                          <a:effectLst/>
                        </a:rPr>
                        <a:t>Запросы на запись одновременно направляются на все сервера – участники. </a:t>
                      </a: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ru-RU" sz="1400" dirty="0">
                        <a:effectLst/>
                      </a:endParaRP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1400" dirty="0">
                          <a:effectLst/>
                        </a:rPr>
                        <a:t>Запрос на запись направляется на один (любой) сервер и для этого запроса он выступает в роли ведущего, согласно модели ведущий – ведомый: тиражирует его немедленно на всех остальных участников.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Запрос на запись поступает на ведущий сервер и немедленно направляется на все ведомые сервера.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Асинхронное согласование реплик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Запрос на запись поступает на один (любой) сервер и направляется на остальные сервера в фоновом режиме.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Запрос на запись поступает на ведущий сервер и направляется на ведомые сервера в фоновом режиме.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305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Понятие и виды согласованности </a:t>
            </a:r>
            <a:br>
              <a:rPr lang="ru-RU" dirty="0"/>
            </a:br>
            <a:r>
              <a:rPr lang="ru-RU" dirty="0"/>
              <a:t>в распределенной системе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ru-RU" sz="1800" dirty="0"/>
              <a:t>Строгая – по ACID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Мгновенная согласованность (</a:t>
            </a:r>
            <a:r>
              <a:rPr lang="ru-RU" sz="1600" dirty="0" err="1"/>
              <a:t>immediate</a:t>
            </a:r>
            <a:r>
              <a:rPr lang="ru-RU" sz="1600" dirty="0"/>
              <a:t> </a:t>
            </a:r>
            <a:r>
              <a:rPr lang="ru-RU" sz="1600" dirty="0" err="1"/>
              <a:t>consistency</a:t>
            </a:r>
            <a:r>
              <a:rPr lang="ru-RU" sz="1600" dirty="0"/>
              <a:t>)</a:t>
            </a:r>
          </a:p>
          <a:p>
            <a:pPr>
              <a:spcBef>
                <a:spcPts val="1200"/>
              </a:spcBef>
            </a:pPr>
            <a:r>
              <a:rPr lang="ru-RU" sz="1800" dirty="0"/>
              <a:t> Не строгая – с отступлениями от ACID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Согласованность в конечном счете  (</a:t>
            </a:r>
            <a:r>
              <a:rPr lang="ru-RU" sz="1600" dirty="0" err="1"/>
              <a:t>eventual</a:t>
            </a:r>
            <a:r>
              <a:rPr lang="ru-RU" sz="1600" dirty="0"/>
              <a:t>  </a:t>
            </a:r>
            <a:r>
              <a:rPr lang="ru-RU" sz="1600" dirty="0" err="1"/>
              <a:t>consistency</a:t>
            </a:r>
            <a:r>
              <a:rPr lang="ru-RU" sz="1600" b="1" i="1" dirty="0"/>
              <a:t>)</a:t>
            </a:r>
            <a:r>
              <a:rPr lang="ru-RU" sz="1600" dirty="0"/>
              <a:t>.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Окно несогласованности (</a:t>
            </a:r>
            <a:r>
              <a:rPr lang="en-US" sz="1600" dirty="0"/>
              <a:t>inconsistency window</a:t>
            </a:r>
            <a:r>
              <a:rPr lang="ru-RU" sz="1600" dirty="0"/>
              <a:t>) – продолжительность времени, когда клиенты могут выполнять несогласованное чтение.</a:t>
            </a:r>
          </a:p>
          <a:p>
            <a:pPr>
              <a:spcBef>
                <a:spcPts val="1200"/>
              </a:spcBef>
            </a:pPr>
            <a:endParaRPr lang="ru-RU" sz="1800" u="sng" dirty="0"/>
          </a:p>
          <a:p>
            <a:pPr>
              <a:spcBef>
                <a:spcPts val="1200"/>
              </a:spcBef>
            </a:pPr>
            <a:r>
              <a:rPr lang="ru-RU" sz="1800" dirty="0"/>
              <a:t>Согласованность разделяют по конфликтам:</a:t>
            </a:r>
          </a:p>
          <a:p>
            <a:pPr lvl="1">
              <a:spcBef>
                <a:spcPts val="1200"/>
              </a:spcBef>
            </a:pPr>
            <a:r>
              <a:rPr lang="ru-RU" sz="1600" b="1" i="1" dirty="0"/>
              <a:t>Согласованность обновлений</a:t>
            </a:r>
            <a:r>
              <a:rPr lang="ru-RU" sz="1600" dirty="0"/>
              <a:t> (означает решение конфликта </a:t>
            </a:r>
            <a:r>
              <a:rPr lang="en-US" sz="1600" dirty="0"/>
              <a:t>w</a:t>
            </a:r>
            <a:r>
              <a:rPr lang="ru-RU" sz="1600" dirty="0"/>
              <a:t>/</a:t>
            </a:r>
            <a:r>
              <a:rPr lang="en-US" sz="1600" dirty="0"/>
              <a:t>w</a:t>
            </a:r>
            <a:r>
              <a:rPr lang="ru-RU" sz="1600" dirty="0"/>
              <a:t>). </a:t>
            </a:r>
            <a:br>
              <a:rPr lang="ru-RU" sz="1600" dirty="0"/>
            </a:br>
            <a:r>
              <a:rPr lang="ru-RU" sz="1600" dirty="0"/>
              <a:t>Заключается в сериализации операций записи. </a:t>
            </a:r>
            <a:br>
              <a:rPr lang="ru-RU" sz="1600" dirty="0"/>
            </a:br>
            <a:r>
              <a:rPr lang="ru-RU" sz="1600" dirty="0"/>
              <a:t>Возникающая проблема – потерянное обновление </a:t>
            </a:r>
            <a:br>
              <a:rPr lang="ru-RU" sz="1600" dirty="0"/>
            </a:br>
            <a:r>
              <a:rPr lang="ru-RU" sz="1600" dirty="0"/>
              <a:t>(при нестрогой согласованности в системе в целом).</a:t>
            </a:r>
          </a:p>
          <a:p>
            <a:pPr lvl="1">
              <a:spcBef>
                <a:spcPts val="1200"/>
              </a:spcBef>
            </a:pPr>
            <a:r>
              <a:rPr lang="ru-RU" sz="1600" b="1" i="1" dirty="0"/>
              <a:t>Согласованность чтения</a:t>
            </a:r>
            <a:r>
              <a:rPr lang="ru-RU" sz="1600" dirty="0"/>
              <a:t>. Достигается распределенными транзакциями в соответствии с </a:t>
            </a:r>
            <a:r>
              <a:rPr lang="en-US" sz="1600" dirty="0"/>
              <a:t>ACID</a:t>
            </a:r>
            <a:r>
              <a:rPr lang="ru-RU" sz="1600" dirty="0"/>
              <a:t>. </a:t>
            </a:r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8890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Конечная и сессионная согласованность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ru-RU" dirty="0"/>
              <a:t>Так как поддержка </a:t>
            </a:r>
            <a:r>
              <a:rPr lang="en-US" dirty="0"/>
              <a:t>ACID</a:t>
            </a:r>
            <a:r>
              <a:rPr lang="ru-RU" dirty="0"/>
              <a:t> влияет на производительность, допускается «</a:t>
            </a:r>
            <a:r>
              <a:rPr lang="ru-RU" b="1" i="1" dirty="0"/>
              <a:t>логическая согласованность чтения</a:t>
            </a:r>
            <a:r>
              <a:rPr lang="ru-RU" dirty="0"/>
              <a:t>» или «</a:t>
            </a:r>
            <a:r>
              <a:rPr lang="ru-RU" b="1" i="1" dirty="0"/>
              <a:t>согласованность в конечном итоге</a:t>
            </a:r>
            <a:r>
              <a:rPr lang="ru-RU" dirty="0"/>
              <a:t>». 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/>
              <a:t>eventually consistency</a:t>
            </a:r>
            <a:r>
              <a:rPr lang="ru-RU" dirty="0"/>
              <a:t>)</a:t>
            </a:r>
          </a:p>
          <a:p>
            <a:pPr marL="342900" lvl="1" indent="-342900"/>
            <a:endParaRPr lang="ru-RU" dirty="0"/>
          </a:p>
          <a:p>
            <a:r>
              <a:rPr lang="ru-RU" b="1" i="1" dirty="0"/>
              <a:t>Сессионная согласованность</a:t>
            </a:r>
            <a:r>
              <a:rPr lang="ru-RU" dirty="0"/>
              <a:t> – согласованность в рамках пользовательской сессии. Достигается за счет:</a:t>
            </a:r>
          </a:p>
          <a:p>
            <a:pPr lvl="1"/>
            <a:r>
              <a:rPr lang="ru-RU" dirty="0"/>
              <a:t>«Липкой» сессии (</a:t>
            </a:r>
            <a:r>
              <a:rPr lang="en-US" dirty="0"/>
              <a:t>sticky session</a:t>
            </a:r>
            <a:r>
              <a:rPr lang="ru-RU" dirty="0"/>
              <a:t>) – сессия привязывается к одному узлу. </a:t>
            </a:r>
            <a:br>
              <a:rPr lang="ru-RU" dirty="0"/>
            </a:br>
            <a:r>
              <a:rPr lang="ru-RU" dirty="0"/>
              <a:t>«+» - достигается сессионная согласованность, </a:t>
            </a:r>
            <a:br>
              <a:rPr lang="ru-RU" dirty="0"/>
            </a:br>
            <a:r>
              <a:rPr lang="ru-RU" dirty="0"/>
              <a:t>«-» - плохо для балансировки нагрузки</a:t>
            </a:r>
          </a:p>
          <a:p>
            <a:pPr lvl="1"/>
            <a:r>
              <a:rPr lang="ru-RU" dirty="0"/>
              <a:t>«Штампы версий». БД содержит для фрагмента данных «штамп» последней версии, доступный в ходе сессии</a:t>
            </a:r>
          </a:p>
          <a:p>
            <a:r>
              <a:rPr lang="ru-RU" dirty="0"/>
              <a:t>Выбор допустимого уровня несогласованности зависит от выполняемых задач </a:t>
            </a:r>
          </a:p>
          <a:p>
            <a:pPr lvl="1"/>
            <a:r>
              <a:rPr lang="ru-RU" dirty="0"/>
              <a:t>С каждым из них связаны свои аномалии </a:t>
            </a:r>
            <a:br>
              <a:rPr lang="ru-RU" dirty="0"/>
            </a:br>
            <a:r>
              <a:rPr lang="ru-RU" dirty="0"/>
              <a:t>(например, не видно собственных изменений).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117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</a:t>
            </a:r>
            <a:r>
              <a:rPr lang="ru-RU" dirty="0"/>
              <a:t> - концепция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936104"/>
          </a:xfrm>
        </p:spPr>
        <p:txBody>
          <a:bodyPr/>
          <a:lstStyle/>
          <a:p>
            <a:r>
              <a:rPr lang="ru-RU" dirty="0"/>
              <a:t>Реальный компромисс: согласованность </a:t>
            </a:r>
            <a:r>
              <a:rPr lang="en-US" dirty="0"/>
              <a:t>VS</a:t>
            </a:r>
            <a:r>
              <a:rPr lang="ru-RU" dirty="0"/>
              <a:t> время ожидания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41</a:t>
            </a:fld>
            <a:endParaRPr lang="ru-RU"/>
          </a:p>
        </p:txBody>
      </p:sp>
      <p:pic>
        <p:nvPicPr>
          <p:cNvPr id="5" name="Picture 2" descr="https://www.janbasktraining.com/blog/uploads/images/2019/04/10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56678"/>
            <a:ext cx="6504479" cy="467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379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 </a:t>
            </a:r>
            <a:r>
              <a:rPr lang="en-US" dirty="0"/>
              <a:t>CAP</a:t>
            </a:r>
            <a:r>
              <a:rPr lang="ru-RU" dirty="0"/>
              <a:t>: понятие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2132856"/>
            <a:ext cx="7848872" cy="396044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ru-RU" sz="1600" b="1" i="1" dirty="0"/>
              <a:t>Согласованность</a:t>
            </a:r>
            <a:r>
              <a:rPr lang="en-US" sz="1600" b="1" i="1" dirty="0"/>
              <a:t> -</a:t>
            </a:r>
            <a:r>
              <a:rPr lang="ru-RU" sz="1600" dirty="0"/>
              <a:t> атомарная, или линеаризуемая согласованность</a:t>
            </a:r>
            <a:r>
              <a:rPr lang="en-US" sz="1600" dirty="0"/>
              <a:t>: </a:t>
            </a:r>
            <a:r>
              <a:rPr lang="ru-RU" sz="1600" dirty="0"/>
              <a:t>свойство системы, все индивидуальные объекты данных которой являются атомарными (линеаризуемыми).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А</a:t>
            </a:r>
            <a:r>
              <a:rPr lang="ru-RU" sz="1600" i="1" dirty="0"/>
              <a:t>томарным объектом</a:t>
            </a:r>
            <a:r>
              <a:rPr lang="ru-RU" sz="1600" dirty="0"/>
              <a:t> называется объект с несколькими операциями, такими что объект не принимает вызов следующей операции до полного завершения предыдущей операции. 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П</a:t>
            </a:r>
            <a:r>
              <a:rPr lang="ru-RU" sz="1600" i="1" dirty="0"/>
              <a:t>орядок приема операций</a:t>
            </a:r>
            <a:r>
              <a:rPr lang="ru-RU" sz="1600" dirty="0"/>
              <a:t> должен быть таким, что если операция типа чтения поступает после выполнения некоторой операции типа записи, то операция чтения должна вернуть значение, записанное этой или какой-либо более поздней операцией записи.  </a:t>
            </a:r>
          </a:p>
          <a:p>
            <a:pPr>
              <a:spcBef>
                <a:spcPts val="1200"/>
              </a:spcBef>
            </a:pPr>
            <a:r>
              <a:rPr lang="ru-RU" sz="1600" b="1" i="1" dirty="0"/>
              <a:t>Распределенная система является постоянно доступной,</a:t>
            </a:r>
            <a:r>
              <a:rPr lang="ru-RU" sz="1600" dirty="0"/>
              <a:t> если на каждый запрос, полученный не отказавшим узлом, должен быть получен ответ. </a:t>
            </a:r>
          </a:p>
          <a:p>
            <a:pPr>
              <a:spcBef>
                <a:spcPts val="1200"/>
              </a:spcBef>
            </a:pPr>
            <a:r>
              <a:rPr lang="ru-RU" sz="1600" b="1" i="1" dirty="0"/>
              <a:t>Устойчивость системы к разделению сети</a:t>
            </a:r>
            <a:r>
              <a:rPr lang="ru-RU" sz="1600" dirty="0"/>
              <a:t> моделируется как сохранение жизнеспособности системы при потере произвольного числа сообщений, посылаемых из одного узла в другой. 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77334" y="1392666"/>
            <a:ext cx="8143138" cy="6223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Из трех свойств распределенных систем (согласованность, доступность, устойчивость к разделению) можно обеспечить одновременно не более 2-х.</a:t>
            </a: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1619672" y="6381328"/>
            <a:ext cx="6711443" cy="26950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itchFamily="34" charset="0"/>
              <a:buNone/>
            </a:pPr>
            <a:r>
              <a:rPr lang="ru-RU" sz="1400" i="1" dirty="0">
                <a:solidFill>
                  <a:srgbClr val="C00000"/>
                </a:solidFill>
              </a:rPr>
              <a:t>Э. </a:t>
            </a:r>
            <a:r>
              <a:rPr lang="ru-RU" sz="1400" i="1" dirty="0" err="1">
                <a:solidFill>
                  <a:srgbClr val="C00000"/>
                </a:solidFill>
              </a:rPr>
              <a:t>Брюэр</a:t>
            </a:r>
            <a:r>
              <a:rPr lang="ru-RU" sz="1400" i="1" dirty="0">
                <a:solidFill>
                  <a:srgbClr val="C00000"/>
                </a:solidFill>
              </a:rPr>
              <a:t>, Н. Линч, формально доказал -  С. Гильберт</a:t>
            </a:r>
          </a:p>
        </p:txBody>
      </p:sp>
    </p:spTree>
    <p:extLst>
      <p:ext uri="{BB962C8B-B14F-4D97-AF65-F5344CB8AC3E}">
        <p14:creationId xmlns:p14="http://schemas.microsoft.com/office/powerpoint/2010/main" val="19631777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 </a:t>
            </a:r>
            <a:r>
              <a:rPr lang="en-US" dirty="0"/>
              <a:t>CAP</a:t>
            </a:r>
            <a:r>
              <a:rPr lang="ru-RU" dirty="0"/>
              <a:t>: корректная формулировка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268760"/>
            <a:ext cx="7848872" cy="3312368"/>
          </a:xfrm>
        </p:spPr>
        <p:txBody>
          <a:bodyPr/>
          <a:lstStyle/>
          <a:p>
            <a:r>
              <a:rPr lang="ru-RU" dirty="0"/>
              <a:t>Доказывается истинность основной теоремы для </a:t>
            </a:r>
            <a:r>
              <a:rPr lang="ru-RU" b="1" i="1" dirty="0"/>
              <a:t>частично синхронной модели сети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в которой в каждом узле присутствуют часы, время, показываемое которыми, увеличивается с одной и той же скоростью, но которые </a:t>
            </a:r>
            <a:r>
              <a:rPr lang="ru-RU" b="1" dirty="0"/>
              <a:t>не синхронизованы</a:t>
            </a:r>
            <a:r>
              <a:rPr lang="ru-RU" dirty="0"/>
              <a:t>, т.е. могут показывать разное время в один и тот же реальный момент.</a:t>
            </a:r>
          </a:p>
          <a:p>
            <a:pPr lvl="1"/>
            <a:endParaRPr lang="ru-RU" dirty="0"/>
          </a:p>
          <a:p>
            <a:r>
              <a:rPr lang="ru-RU" i="1" dirty="0"/>
              <a:t>В асинхронной модели сети </a:t>
            </a:r>
            <a:r>
              <a:rPr lang="ru-RU" b="1" i="1" dirty="0"/>
              <a:t>отсутствуют часы</a:t>
            </a:r>
            <a:r>
              <a:rPr lang="ru-RU" i="1" dirty="0"/>
              <a:t>, и в узлах должны приниматься решения только на основе получаемых сообщений и локальных вычислений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4941168"/>
            <a:ext cx="7288429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/>
              <a:t>В </a:t>
            </a:r>
            <a:r>
              <a:rPr lang="ru-RU" b="1" dirty="0"/>
              <a:t>асинхронной модели сети </a:t>
            </a:r>
            <a:r>
              <a:rPr lang="ru-RU" dirty="0"/>
              <a:t>невозможно реализовать объект данных с операциями чтения и записи, </a:t>
            </a:r>
          </a:p>
          <a:p>
            <a:r>
              <a:rPr lang="ru-RU" i="1" dirty="0"/>
              <a:t>гарантирующий обеспечение свойств </a:t>
            </a:r>
            <a:r>
              <a:rPr lang="ru-RU" i="1" dirty="0">
                <a:solidFill>
                  <a:srgbClr val="C00000"/>
                </a:solidFill>
              </a:rPr>
              <a:t>доступности</a:t>
            </a:r>
            <a:r>
              <a:rPr lang="ru-RU" i="1" dirty="0"/>
              <a:t> и </a:t>
            </a:r>
            <a:r>
              <a:rPr lang="ru-RU" i="1" dirty="0">
                <a:solidFill>
                  <a:srgbClr val="C00000"/>
                </a:solidFill>
              </a:rPr>
              <a:t>атомарной согласованности </a:t>
            </a:r>
            <a:r>
              <a:rPr lang="ru-RU" i="1" dirty="0"/>
              <a:t>для всех допустимых выполнений</a:t>
            </a:r>
          </a:p>
          <a:p>
            <a:r>
              <a:rPr lang="ru-RU" dirty="0"/>
              <a:t>(включая те, в которых теряются сообщения).</a:t>
            </a:r>
          </a:p>
        </p:txBody>
      </p:sp>
    </p:spTree>
    <p:extLst>
      <p:ext uri="{BB962C8B-B14F-4D97-AF65-F5344CB8AC3E}">
        <p14:creationId xmlns:p14="http://schemas.microsoft.com/office/powerpoint/2010/main" val="29557389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 систем по </a:t>
            </a:r>
            <a:r>
              <a:rPr lang="en-GB" dirty="0"/>
              <a:t>CAP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44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56655" y="1292301"/>
          <a:ext cx="8568952" cy="527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33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Тип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Описание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Примеры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098">
                <a:tc>
                  <a:txBody>
                    <a:bodyPr/>
                    <a:lstStyle/>
                    <a:p>
                      <a:r>
                        <a:rPr lang="en-US" sz="1400" dirty="0"/>
                        <a:t>CA (Availability + Consistency — </a:t>
                      </a:r>
                      <a:r>
                        <a:rPr lang="en-US" sz="1400" dirty="0" err="1"/>
                        <a:t>Parition</a:t>
                      </a:r>
                      <a:r>
                        <a:rPr lang="en-US" sz="1400" dirty="0"/>
                        <a:t> tolerance</a:t>
                      </a:r>
                      <a:r>
                        <a:rPr lang="ru-RU" sz="1400" dirty="0"/>
                        <a:t>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Это означает, что </a:t>
                      </a: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реплики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одной и той же информации, распределенные по разным серверам </a:t>
                      </a: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друг другу, не противоречат 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друг другу и любой запрос к распределённой системе завершается корректным откликом </a:t>
                      </a: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ACID –</a:t>
                      </a: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системы)</a:t>
                      </a:r>
                      <a:endParaRPr lang="ru-RU" sz="1400" b="1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PostgreSQL</a:t>
                      </a:r>
                      <a:r>
                        <a:rPr lang="en-US" sz="1400" dirty="0"/>
                        <a:t>, MySQL, </a:t>
                      </a:r>
                      <a:r>
                        <a:rPr lang="en-US" sz="1400" dirty="0" err="1"/>
                        <a:t>MariaDB</a:t>
                      </a:r>
                      <a:r>
                        <a:rPr lang="en-US" sz="1400" dirty="0"/>
                        <a:t>, MS SQL Server</a:t>
                      </a:r>
                      <a:endParaRPr lang="ru-RU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2854">
                <a:tc>
                  <a:txBody>
                    <a:bodyPr/>
                    <a:lstStyle/>
                    <a:p>
                      <a:r>
                        <a:rPr lang="en-US" sz="1400" dirty="0"/>
                        <a:t>CP-</a:t>
                      </a:r>
                      <a:r>
                        <a:rPr lang="ru-RU" sz="1400" dirty="0"/>
                        <a:t>система (</a:t>
                      </a:r>
                      <a:r>
                        <a:rPr lang="en-US" sz="1400" dirty="0"/>
                        <a:t>Consistency + Partition tolerance — Availability)</a:t>
                      </a:r>
                      <a:endParaRPr lang="ru-RU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Устойчивость к разделению требует дублирования изменений во всех узлах системы, что реализуется с помощью </a:t>
                      </a:r>
                      <a:r>
                        <a:rPr lang="ru-RU" sz="14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распределённых пессимистических блокировок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для сохранения целостности. 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это система с </a:t>
                      </a: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несколькими синхронно обновляемыми мастер-базами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Она всегда корректна, отрабатывая транзакцию, только в том случае, </a:t>
                      </a:r>
                      <a:r>
                        <a:rPr lang="ru-RU" sz="14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если изменения удалось распространить по всем серверам. </a:t>
                      </a:r>
                    </a:p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Она продолжает корректно читать данные даже </a:t>
                      </a: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отказе одного из узлов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кластера. Но в этом </a:t>
                      </a:r>
                      <a:r>
                        <a:rPr lang="ru-RU" sz="14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случае запись будет обрываться или сильно задерживаться,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пока система не убедится в своей целостности и согласованности (</a:t>
                      </a:r>
                      <a:r>
                        <a:rPr lang="ru-RU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консистентности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ru-RU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Apache </a:t>
                      </a:r>
                      <a:r>
                        <a:rPr lang="en-US" sz="1400" dirty="0" err="1"/>
                        <a:t>HBase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MongoDB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Redis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MemcasheDB</a:t>
                      </a:r>
                      <a:r>
                        <a:rPr lang="en-US" sz="1400" dirty="0"/>
                        <a:t>, Berkley DB, </a:t>
                      </a:r>
                      <a:r>
                        <a:rPr lang="en-US" sz="1400" dirty="0" err="1"/>
                        <a:t>HyperTable</a:t>
                      </a:r>
                      <a:r>
                        <a:rPr lang="en-US" sz="1400" dirty="0"/>
                        <a:t> </a:t>
                      </a:r>
                      <a:r>
                        <a:rPr lang="ru-RU" sz="1400" dirty="0"/>
                        <a:t>и </a:t>
                      </a:r>
                      <a:r>
                        <a:rPr lang="en-US" sz="1400" dirty="0"/>
                        <a:t>Google Big Table</a:t>
                      </a:r>
                      <a:endParaRPr lang="ru-RU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401">
                <a:tc>
                  <a:txBody>
                    <a:bodyPr/>
                    <a:lstStyle/>
                    <a:p>
                      <a:r>
                        <a:rPr lang="en-US" sz="1400" dirty="0"/>
                        <a:t>AP-</a:t>
                      </a:r>
                      <a:r>
                        <a:rPr lang="ru-RU" sz="1400" dirty="0"/>
                        <a:t>система (</a:t>
                      </a:r>
                      <a:r>
                        <a:rPr lang="en-US" sz="1400" dirty="0"/>
                        <a:t>Availability + Partition tolerance — Consistency)</a:t>
                      </a:r>
                      <a:endParaRPr lang="ru-RU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ru-RU" sz="1400" b="0" dirty="0"/>
                        <a:t>Не гарантирует целостность </a:t>
                      </a:r>
                      <a:r>
                        <a:rPr lang="ru-RU" sz="1400" dirty="0"/>
                        <a:t>данных, обеспечивая их доступность и устойчивость к разделению</a:t>
                      </a:r>
                      <a:r>
                        <a:rPr lang="ru-RU" sz="1400" baseline="0" dirty="0"/>
                        <a:t> (</a:t>
                      </a:r>
                      <a:r>
                        <a:rPr lang="ru-RU" sz="1400" dirty="0"/>
                        <a:t>в распределённых веб-кэшах,</a:t>
                      </a:r>
                      <a:r>
                        <a:rPr lang="ru-RU" sz="1400" baseline="0" dirty="0"/>
                        <a:t> </a:t>
                      </a:r>
                      <a:r>
                        <a:rPr lang="ru-RU" sz="1400" dirty="0"/>
                        <a:t>DNS)</a:t>
                      </a:r>
                    </a:p>
                    <a:p>
                      <a:r>
                        <a:rPr lang="ru-RU" sz="1400" b="1" dirty="0"/>
                        <a:t>Согласованность данных в конечном счете </a:t>
                      </a:r>
                      <a:r>
                        <a:rPr lang="ru-RU" sz="1400" dirty="0"/>
                        <a:t>(</a:t>
                      </a:r>
                      <a:r>
                        <a:rPr lang="ru-RU" sz="1400" dirty="0" err="1"/>
                        <a:t>eventually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consistent</a:t>
                      </a:r>
                      <a:r>
                        <a:rPr lang="ru-RU" sz="1400" dirty="0"/>
                        <a:t>). </a:t>
                      </a:r>
                    </a:p>
                    <a:p>
                      <a:r>
                        <a:rPr lang="ru-RU" sz="1400" dirty="0"/>
                        <a:t>AP-система может быть представлена кластером из нескольких узлов, каждый из которых может принимать данные, но не обязуется в тот же момент распространять их на другие сервера. 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CoucheDB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Cassandra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Riak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Amazon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DynamoDB</a:t>
                      </a:r>
                      <a:endParaRPr lang="ru-RU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1062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Распределенная обработка запросов </a:t>
            </a:r>
            <a:br>
              <a:rPr lang="ru-RU" dirty="0"/>
            </a:br>
            <a:r>
              <a:rPr lang="ru-RU" dirty="0"/>
              <a:t>и управление транзакциями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4032448" cy="4752528"/>
          </a:xfrm>
        </p:spPr>
        <p:txBody>
          <a:bodyPr>
            <a:normAutofit/>
          </a:bodyPr>
          <a:lstStyle/>
          <a:p>
            <a:r>
              <a:rPr lang="ru-RU" sz="1800" dirty="0"/>
              <a:t>Управление транзакциями</a:t>
            </a:r>
          </a:p>
          <a:p>
            <a:pPr lvl="1"/>
            <a:r>
              <a:rPr lang="ru-RU" sz="1600" dirty="0"/>
              <a:t>Управление параллельностью обработки </a:t>
            </a:r>
          </a:p>
          <a:p>
            <a:pPr lvl="1"/>
            <a:r>
              <a:rPr lang="ru-RU" sz="1600" dirty="0"/>
              <a:t>Управление восстановлением  </a:t>
            </a:r>
          </a:p>
          <a:p>
            <a:pPr lvl="1"/>
            <a:endParaRPr lang="ru-RU" sz="1600" dirty="0"/>
          </a:p>
          <a:p>
            <a:r>
              <a:rPr lang="en-US" sz="1800" dirty="0" err="1"/>
              <a:t>Порядок</a:t>
            </a:r>
            <a:r>
              <a:rPr lang="en-US" sz="1800" dirty="0"/>
              <a:t> </a:t>
            </a:r>
            <a:r>
              <a:rPr lang="en-US" sz="1800" dirty="0" err="1"/>
              <a:t>оптимизации</a:t>
            </a:r>
            <a:r>
              <a:rPr lang="en-US" sz="1800" dirty="0"/>
              <a:t>:</a:t>
            </a:r>
            <a:endParaRPr lang="ru-RU" sz="1800" dirty="0"/>
          </a:p>
          <a:p>
            <a:pPr lvl="1"/>
            <a:r>
              <a:rPr lang="ru-RU" sz="1600" dirty="0"/>
              <a:t>Глобальная</a:t>
            </a:r>
          </a:p>
          <a:p>
            <a:pPr lvl="1"/>
            <a:r>
              <a:rPr lang="ru-RU" sz="1600" dirty="0"/>
              <a:t>Локальная</a:t>
            </a:r>
          </a:p>
          <a:p>
            <a:r>
              <a:rPr lang="ru-RU" sz="1800" dirty="0"/>
              <a:t>Дополнительно учитывается: </a:t>
            </a:r>
          </a:p>
          <a:p>
            <a:pPr lvl="1"/>
            <a:r>
              <a:rPr lang="ru-RU" sz="1600" dirty="0"/>
              <a:t>Скорость обмена сообщениями</a:t>
            </a:r>
          </a:p>
          <a:p>
            <a:pPr lvl="1"/>
            <a:r>
              <a:rPr lang="ru-RU" sz="1600" dirty="0"/>
              <a:t>Задержки доступа</a:t>
            </a:r>
          </a:p>
          <a:p>
            <a:pPr lvl="1"/>
            <a:r>
              <a:rPr lang="ru-RU" sz="1600" dirty="0"/>
              <a:t>Объем передаваемых данных.</a:t>
            </a:r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45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924" y="2056667"/>
            <a:ext cx="4154538" cy="35867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90375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640FB-D426-3167-CBA4-9AEF6B01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распределенной обработки запроса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CF99D16-FF87-48CD-9B3B-43CB9809EC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483" y="1553136"/>
            <a:ext cx="8288973" cy="451277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665364-F794-620C-B6B8-FBAE38B52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6543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моделей оценки стоимости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944216"/>
          </a:xfrm>
        </p:spPr>
        <p:txBody>
          <a:bodyPr anchor="t"/>
          <a:lstStyle/>
          <a:p>
            <a:r>
              <a:rPr lang="ru-RU" dirty="0"/>
              <a:t>Модель потребления ресурсов</a:t>
            </a:r>
          </a:p>
          <a:p>
            <a:pPr lvl="1"/>
            <a:r>
              <a:rPr lang="ru-RU" dirty="0"/>
              <a:t>Локальная СУБД:  </a:t>
            </a:r>
            <a:r>
              <a:rPr lang="en-US" dirty="0">
                <a:solidFill>
                  <a:schemeClr val="accent1"/>
                </a:solidFill>
              </a:rPr>
              <a:t>CPU </a:t>
            </a:r>
            <a:r>
              <a:rPr lang="ru-RU" dirty="0">
                <a:solidFill>
                  <a:schemeClr val="accent1"/>
                </a:solidFill>
              </a:rPr>
              <a:t>+</a:t>
            </a:r>
            <a:r>
              <a:rPr lang="en-US" dirty="0">
                <a:solidFill>
                  <a:schemeClr val="accent1"/>
                </a:solidFill>
              </a:rPr>
              <a:t> I/O disk</a:t>
            </a:r>
          </a:p>
          <a:p>
            <a:pPr lvl="1"/>
            <a:r>
              <a:rPr lang="ru-RU" dirty="0"/>
              <a:t>Распределенная СУБД: </a:t>
            </a:r>
            <a:r>
              <a:rPr lang="en-US" dirty="0">
                <a:solidFill>
                  <a:schemeClr val="accent1"/>
                </a:solidFill>
              </a:rPr>
              <a:t>CPU </a:t>
            </a:r>
            <a:r>
              <a:rPr lang="ru-RU" dirty="0">
                <a:solidFill>
                  <a:schemeClr val="accent1"/>
                </a:solidFill>
              </a:rPr>
              <a:t>+</a:t>
            </a:r>
            <a:r>
              <a:rPr lang="en-US" dirty="0">
                <a:solidFill>
                  <a:schemeClr val="accent1"/>
                </a:solidFill>
              </a:rPr>
              <a:t> I/O disk</a:t>
            </a:r>
            <a:r>
              <a:rPr lang="ru-RU" dirty="0">
                <a:solidFill>
                  <a:schemeClr val="accent1"/>
                </a:solidFill>
              </a:rPr>
              <a:t> </a:t>
            </a:r>
            <a:r>
              <a:rPr lang="ru-RU" dirty="0">
                <a:solidFill>
                  <a:srgbClr val="C00000"/>
                </a:solidFill>
              </a:rPr>
              <a:t>+ </a:t>
            </a:r>
            <a:r>
              <a:rPr lang="en-US" dirty="0">
                <a:solidFill>
                  <a:srgbClr val="C00000"/>
                </a:solidFill>
              </a:rPr>
              <a:t>net + pack/unpack</a:t>
            </a:r>
          </a:p>
          <a:p>
            <a:pPr lvl="1"/>
            <a:r>
              <a:rPr lang="ru-RU" dirty="0"/>
              <a:t>Комбинация с весами (рангами).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47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986808"/>
            <a:ext cx="6264696" cy="36825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72141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оценки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088232"/>
          </a:xfrm>
        </p:spPr>
        <p:txBody>
          <a:bodyPr>
            <a:normAutofit fontScale="85000" lnSpcReduction="20000"/>
          </a:bodyPr>
          <a:lstStyle/>
          <a:p>
            <a:pPr lvl="0">
              <a:spcBef>
                <a:spcPts val="1200"/>
              </a:spcBef>
            </a:pPr>
            <a:r>
              <a:rPr lang="ru-RU" dirty="0"/>
              <a:t>Вычисляем сколько потребит каждый оператор в отдельности;</a:t>
            </a:r>
          </a:p>
          <a:p>
            <a:pPr lvl="0">
              <a:spcBef>
                <a:spcPts val="1200"/>
              </a:spcBef>
            </a:pPr>
            <a:r>
              <a:rPr lang="ru-RU" dirty="0"/>
              <a:t>Вычисляется использование разделяемого ресурса всеми операторами работающими параллельно. </a:t>
            </a:r>
            <a:r>
              <a:rPr lang="ru-RU" i="1" dirty="0"/>
              <a:t>Это делается для каждого ресурса</a:t>
            </a:r>
            <a:r>
              <a:rPr lang="ru-RU" dirty="0"/>
              <a:t>. </a:t>
            </a:r>
            <a:br>
              <a:rPr lang="ru-RU" dirty="0"/>
            </a:br>
            <a:r>
              <a:rPr lang="ru-RU" sz="1600" i="1" dirty="0">
                <a:solidFill>
                  <a:schemeClr val="accent1"/>
                </a:solidFill>
              </a:rPr>
              <a:t>Пример: сеть. </a:t>
            </a:r>
            <a:br>
              <a:rPr lang="ru-RU" sz="1600" i="1" dirty="0">
                <a:solidFill>
                  <a:schemeClr val="accent1"/>
                </a:solidFill>
              </a:rPr>
            </a:br>
            <a:r>
              <a:rPr lang="ru-RU" sz="1600" dirty="0">
                <a:solidFill>
                  <a:schemeClr val="accent1"/>
                </a:solidFill>
              </a:rPr>
              <a:t>Пропускная способность сети делится на объем переданных данных всеми операторами.</a:t>
            </a:r>
          </a:p>
          <a:p>
            <a:pPr lvl="0">
              <a:spcBef>
                <a:spcPts val="1200"/>
              </a:spcBef>
            </a:pPr>
            <a:r>
              <a:rPr lang="ru-RU" dirty="0"/>
              <a:t>Время ответа группы операторов вычисляется как максимум по потреблению ресурсов </a:t>
            </a:r>
            <a:r>
              <a:rPr lang="ru-RU" sz="1900" dirty="0"/>
              <a:t>отдельных</a:t>
            </a:r>
            <a:r>
              <a:rPr lang="ru-RU" dirty="0"/>
              <a:t> операторов.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755576" y="4293096"/>
            <a:ext cx="7776864" cy="136815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342900" lvl="0" indent="-342900">
              <a:spcBef>
                <a:spcPts val="12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sz="1600" dirty="0"/>
              <a:t>Поблочная передача данных </a:t>
            </a:r>
            <a:br>
              <a:rPr lang="ru-RU" sz="1600" dirty="0"/>
            </a:br>
            <a:r>
              <a:rPr lang="ru-RU" sz="1600" dirty="0"/>
              <a:t>(</a:t>
            </a:r>
            <a:r>
              <a:rPr lang="ru-RU" sz="1600" i="1" dirty="0"/>
              <a:t>нужно настраивать под размер сообщения и проч</a:t>
            </a:r>
            <a:r>
              <a:rPr lang="ru-RU" sz="1600" dirty="0"/>
              <a:t>.); </a:t>
            </a:r>
          </a:p>
          <a:p>
            <a:r>
              <a:rPr lang="ru-RU" sz="1600" dirty="0"/>
              <a:t>Оптимизация </a:t>
            </a:r>
            <a:r>
              <a:rPr lang="ru-RU" sz="1600" dirty="0" err="1"/>
              <a:t>мультикастов</a:t>
            </a:r>
            <a:r>
              <a:rPr lang="ru-RU" sz="1600" dirty="0"/>
              <a:t>: выбор оптимального маршрута передачи; </a:t>
            </a:r>
          </a:p>
          <a:p>
            <a:r>
              <a:rPr lang="ru-RU" sz="1600" dirty="0"/>
              <a:t>Уместное использование </a:t>
            </a:r>
            <a:r>
              <a:rPr lang="ru-RU" sz="1600" dirty="0" err="1"/>
              <a:t>многопоточности</a:t>
            </a:r>
            <a:endParaRPr lang="ru-RU" sz="16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661504" y="3609020"/>
            <a:ext cx="3528392" cy="64807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Дополнительно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11560" y="5949280"/>
            <a:ext cx="7776864" cy="64807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Распределенное управление транзакциями – в следующем блоке</a:t>
            </a:r>
          </a:p>
          <a:p>
            <a:pPr algn="ctr"/>
            <a:r>
              <a:rPr lang="ru-RU" dirty="0"/>
              <a:t>(после локального)</a:t>
            </a:r>
          </a:p>
        </p:txBody>
      </p:sp>
    </p:spTree>
    <p:extLst>
      <p:ext uri="{BB962C8B-B14F-4D97-AF65-F5344CB8AC3E}">
        <p14:creationId xmlns:p14="http://schemas.microsoft.com/office/powerpoint/2010/main" val="18952249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Еще вопросы управления транзакциями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ru-RU" dirty="0" smtClean="0"/>
              <a:t>Сериализация (упорядочивание) транзакций</a:t>
            </a:r>
          </a:p>
          <a:p>
            <a:r>
              <a:rPr lang="ru-RU" dirty="0" smtClean="0"/>
              <a:t>Корректное завершение транзакции в распределенной среде</a:t>
            </a:r>
          </a:p>
          <a:p>
            <a:r>
              <a:rPr lang="ru-RU" dirty="0" smtClean="0"/>
              <a:t>Восстановление после сбоев</a:t>
            </a:r>
          </a:p>
          <a:p>
            <a:r>
              <a:rPr lang="ru-RU" dirty="0" smtClean="0"/>
              <a:t>Безопасность мульти баз данных и систем больших данных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5" name="Стрелка вниз 4"/>
          <p:cNvSpPr/>
          <p:nvPr/>
        </p:nvSpPr>
        <p:spPr>
          <a:xfrm>
            <a:off x="3707904" y="3165952"/>
            <a:ext cx="1224136" cy="1368152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195736" y="4725144"/>
            <a:ext cx="4248472" cy="97394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II </a:t>
            </a:r>
            <a:r>
              <a:rPr lang="ru-RU" dirty="0" smtClean="0"/>
              <a:t>семестр </a:t>
            </a:r>
            <a:br>
              <a:rPr lang="ru-RU" dirty="0" smtClean="0"/>
            </a:br>
            <a:r>
              <a:rPr lang="ru-RU" dirty="0" smtClean="0"/>
              <a:t>в соответствующих темах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0718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транзакциями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Требуется не только упорядочить транзакции на каждом отдельном узле, но и преодолеть рассогласование между узлами.</a:t>
            </a:r>
          </a:p>
          <a:p>
            <a:endParaRPr lang="ru-RU" dirty="0"/>
          </a:p>
          <a:p>
            <a:r>
              <a:rPr lang="ru-RU" b="1" i="1" dirty="0"/>
              <a:t>Свойство глобальной </a:t>
            </a:r>
            <a:r>
              <a:rPr lang="ru-RU" b="1" i="1" dirty="0" err="1"/>
              <a:t>сериализуемости</a:t>
            </a:r>
            <a:r>
              <a:rPr lang="ru-RU" b="1" i="1" dirty="0"/>
              <a:t>. </a:t>
            </a:r>
            <a:endParaRPr lang="ru-RU" dirty="0"/>
          </a:p>
          <a:p>
            <a:pPr lvl="1"/>
            <a:r>
              <a:rPr lang="ru-RU" dirty="0"/>
              <a:t>Выполнение множества распределенных транзакций сериализуемо тогда и только тогда, когда:</a:t>
            </a:r>
          </a:p>
          <a:p>
            <a:pPr marL="1257300" lvl="2" indent="-342900">
              <a:buFont typeface="+mj-lt"/>
              <a:buAutoNum type="arabicPeriod"/>
            </a:pPr>
            <a:r>
              <a:rPr lang="ru-RU" dirty="0"/>
              <a:t>выполнение этого множества транзакций сериализуемо на каждом узле;</a:t>
            </a:r>
          </a:p>
          <a:p>
            <a:pPr marL="1257300" lvl="2" indent="-342900">
              <a:buFont typeface="+mj-lt"/>
              <a:buAutoNum type="arabicPeriod"/>
            </a:pPr>
            <a:r>
              <a:rPr lang="ru-RU" dirty="0"/>
              <a:t>упорядочение транзакций на всех узлах одинаково.</a:t>
            </a:r>
          </a:p>
          <a:p>
            <a:pPr lvl="1"/>
            <a:r>
              <a:rPr lang="ru-RU" dirty="0"/>
              <a:t>В алгоритмах, основанных на блокировании, для этого применяется один из трех методов:</a:t>
            </a:r>
          </a:p>
          <a:p>
            <a:pPr lvl="2"/>
            <a:r>
              <a:rPr lang="ru-RU" dirty="0"/>
              <a:t>централизованное блокирование;</a:t>
            </a:r>
          </a:p>
          <a:p>
            <a:pPr lvl="2"/>
            <a:r>
              <a:rPr lang="ru-RU" dirty="0"/>
              <a:t>блокирование первичной копии;</a:t>
            </a:r>
          </a:p>
          <a:p>
            <a:pPr lvl="2"/>
            <a:r>
              <a:rPr lang="ru-RU" dirty="0"/>
              <a:t>распределенное блокирование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940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(алгоритмы) глобальной сериализации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51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184646" y="1424933"/>
          <a:ext cx="8640961" cy="45788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0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9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96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Достоинства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16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Централи-</a:t>
                      </a:r>
                      <a:r>
                        <a:rPr lang="ru-RU" sz="1200" dirty="0" err="1"/>
                        <a:t>зованное</a:t>
                      </a:r>
                      <a:r>
                        <a:rPr lang="ru-RU" sz="1200" dirty="0"/>
                        <a:t> блокирование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effectLst/>
                        </a:rPr>
                        <a:t>Для всей распределенной базы данных поддерживается единая таблица блокировок, которая располагается на одном из узлов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kern="1200" dirty="0">
                          <a:effectLst/>
                        </a:rPr>
                        <a:t>Простота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Центральный узел и менеджер блокировок - узкие места системы;</a:t>
                      </a:r>
                    </a:p>
                    <a:p>
                      <a:r>
                        <a:rPr lang="ru-RU" sz="1200" dirty="0"/>
                        <a:t>Снижается отказоустойчивость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747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Блокирование первичной копии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Одна из копий выделяется как первичная и для доступа к любому элементу данных необходимо установить блокировку на его первичную копию. </a:t>
                      </a:r>
                    </a:p>
                    <a:p>
                      <a:endParaRPr lang="ru-RU" sz="1200" dirty="0"/>
                    </a:p>
                    <a:p>
                      <a:r>
                        <a:rPr lang="ru-RU" sz="1200" dirty="0"/>
                        <a:t>Какая копия является первичной для каждого из элементов данных известно каждому узлу распределенной системы.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Более высокая надежность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Необходимость поддержки распределенного реестра первичных копий</a:t>
                      </a:r>
                    </a:p>
                    <a:p>
                      <a:r>
                        <a:rPr lang="ru-RU" sz="1200" dirty="0"/>
                        <a:t>Недоступность копии – недоступность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053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err="1"/>
                        <a:t>Распреде</a:t>
                      </a:r>
                      <a:r>
                        <a:rPr lang="ru-RU" sz="1200" dirty="0"/>
                        <a:t>-ленное блокирование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 каждом узле функционирует менеджер блокировок, координирующий свою работу с аналогичными менеджерами на других узлах. </a:t>
                      </a:r>
                    </a:p>
                    <a:p>
                      <a:endParaRPr lang="ru-RU" sz="1200" dirty="0"/>
                    </a:p>
                    <a:p>
                      <a:r>
                        <a:rPr lang="ru-RU" sz="1200" dirty="0"/>
                        <a:t>Блокировки в этом случае устанавливаются на всех узлах, данные которых участвуют в транзакции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Самая</a:t>
                      </a:r>
                      <a:r>
                        <a:rPr lang="ru-RU" sz="1200" baseline="0" dirty="0"/>
                        <a:t> </a:t>
                      </a:r>
                      <a:r>
                        <a:rPr lang="ru-RU" sz="1200" dirty="0"/>
                        <a:t>высокая надежность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Сложность;</a:t>
                      </a:r>
                    </a:p>
                    <a:p>
                      <a:r>
                        <a:rPr lang="ru-RU" sz="1200" dirty="0"/>
                        <a:t>Высокие коммуникационные затраты;</a:t>
                      </a:r>
                    </a:p>
                    <a:p>
                      <a:r>
                        <a:rPr lang="ru-RU" sz="1200" dirty="0"/>
                        <a:t>Зависимость надежности от организации коммуникаций между менеджерами блокировок: чтобы выход из строя одного из менеджеров не приводил к сбоям в работе остальных.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84646" y="5969038"/>
            <a:ext cx="8167343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0" indent="-640080" algn="just">
              <a:spcBef>
                <a:spcPts val="1200"/>
              </a:spcBef>
              <a:spcAft>
                <a:spcPts val="300"/>
              </a:spcAft>
            </a:pPr>
            <a:r>
              <a:rPr lang="ru-RU" sz="1400" b="1" i="1" u="sng" dirty="0">
                <a:latin typeface="Times New Roman" panose="02020603050405020304" pitchFamily="18" charset="0"/>
              </a:rPr>
              <a:t>Неблокирующие алгоритмы глобальной сериализации</a:t>
            </a:r>
          </a:p>
          <a:p>
            <a:pPr indent="450215" algn="just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Алгоритмы на базе временных меток</a:t>
            </a:r>
          </a:p>
          <a:p>
            <a:pPr indent="450215" algn="just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Алгоритмы оптимистичного управления одновременным доступом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003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Распределенная фиксация транзакции</a:t>
            </a:r>
            <a:br>
              <a:rPr lang="ru-RU" dirty="0"/>
            </a:br>
            <a:r>
              <a:rPr lang="ru-RU" sz="1200" i="1" dirty="0"/>
              <a:t>2PC - 2 </a:t>
            </a:r>
            <a:r>
              <a:rPr lang="ru-RU" sz="1200" i="1" dirty="0" err="1"/>
              <a:t>Phase</a:t>
            </a:r>
            <a:r>
              <a:rPr lang="ru-RU" sz="1200" i="1" dirty="0"/>
              <a:t> </a:t>
            </a:r>
            <a:r>
              <a:rPr lang="ru-RU" sz="1200" i="1" dirty="0" err="1"/>
              <a:t>Commit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52</a:t>
            </a:fld>
            <a:endParaRPr lang="ru-RU"/>
          </a:p>
        </p:txBody>
      </p:sp>
      <p:pic>
        <p:nvPicPr>
          <p:cNvPr id="5" name="Picture 2" descr="https://lig-membres.imag.fr/krakowia/Files/MW-Book/Chapters/Transact/Chapters/Transact/Figs/two-pc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03751"/>
            <a:ext cx="7992888" cy="463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Прямая соединительная линия 6"/>
          <p:cNvCxnSpPr/>
          <p:nvPr/>
        </p:nvCxnSpPr>
        <p:spPr>
          <a:xfrm>
            <a:off x="436315" y="4149080"/>
            <a:ext cx="8024117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280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</a:t>
            </a:r>
            <a:r>
              <a:rPr lang="ru-RU" dirty="0" err="1"/>
              <a:t>терминирования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53</a:t>
            </a:fld>
            <a:endParaRPr lang="ru-RU"/>
          </a:p>
        </p:txBody>
      </p:sp>
      <p:graphicFrame>
        <p:nvGraphicFramePr>
          <p:cNvPr id="5" name="Объект 5"/>
          <p:cNvGraphicFramePr>
            <a:graphicFrameLocks noGrp="1"/>
          </p:cNvGraphicFramePr>
          <p:nvPr>
            <p:ph idx="1"/>
          </p:nvPr>
        </p:nvGraphicFramePr>
        <p:xfrm>
          <a:off x="261908" y="1381148"/>
          <a:ext cx="8712851" cy="408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78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6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Сбой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Действие оптимистичное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Действие пессимистичное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effectLst/>
                        </a:rPr>
                        <a:t>Сбой</a:t>
                      </a:r>
                      <a:r>
                        <a:rPr lang="ru-RU" sz="1600" kern="1200" baseline="0" dirty="0">
                          <a:effectLst/>
                        </a:rPr>
                        <a:t> </a:t>
                      </a:r>
                      <a:r>
                        <a:rPr lang="ru-RU" sz="1600" kern="1200" dirty="0">
                          <a:effectLst/>
                        </a:rPr>
                        <a:t>перед рассылкой сообщений о состоянии готовности</a:t>
                      </a:r>
                      <a:endParaRPr lang="ru-RU" sz="1600" dirty="0"/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effectLst/>
                        </a:rPr>
                        <a:t>система ожидает восстановления координатора (или узла – участника)</a:t>
                      </a:r>
                      <a:endParaRPr lang="ru-RU" sz="1600" dirty="0"/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effectLst/>
                        </a:rPr>
                        <a:t>по истечению таймаута все узлы осуществляют откат транзакции</a:t>
                      </a:r>
                      <a:endParaRPr lang="ru-RU" sz="1600" dirty="0"/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effectLst/>
                        </a:rPr>
                        <a:t>Координатор отказал, находясь в состоянии готовности</a:t>
                      </a:r>
                      <a:endParaRPr lang="ru-RU" sz="1600" dirty="0"/>
                    </a:p>
                  </a:txBody>
                  <a:tcPr marL="137160" marR="137160" marT="137160" marB="137160"/>
                </a:tc>
                <a:tc gridSpan="2">
                  <a:txBody>
                    <a:bodyPr/>
                    <a:lstStyle/>
                    <a:p>
                      <a:r>
                        <a:rPr lang="ru-RU" sz="1600" kern="1200" dirty="0">
                          <a:effectLst/>
                        </a:rPr>
                        <a:t>все участники ожидают его восстановления и завершения фиксации</a:t>
                      </a:r>
                      <a:endParaRPr lang="ru-RU" sz="1600" dirty="0"/>
                    </a:p>
                  </a:txBody>
                  <a:tcPr marL="137160" marR="137160" marT="137160" marB="137160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effectLst/>
                        </a:rPr>
                        <a:t>Сбой произошел после отсылки сообщений о завершении транзакции</a:t>
                      </a:r>
                      <a:endParaRPr lang="ru-RU" sz="1600" dirty="0"/>
                    </a:p>
                  </a:txBody>
                  <a:tcPr marL="137160" marR="137160" marT="137160" marB="137160"/>
                </a:tc>
                <a:tc gridSpan="2">
                  <a:txBody>
                    <a:bodyPr/>
                    <a:lstStyle/>
                    <a:p>
                      <a:r>
                        <a:rPr lang="ru-RU" sz="1600" kern="1200" dirty="0">
                          <a:effectLst/>
                        </a:rPr>
                        <a:t>все участники самостоятельно фиксируют транзакции</a:t>
                      </a:r>
                      <a:endParaRPr lang="ru-RU" sz="1600" dirty="0"/>
                    </a:p>
                  </a:txBody>
                  <a:tcPr marL="137160" marR="137160" marT="137160" marB="137160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257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Обеспечение надежности </a:t>
            </a:r>
            <a:br>
              <a:rPr lang="ru-RU" dirty="0"/>
            </a:br>
            <a:r>
              <a:rPr lang="ru-RU" dirty="0"/>
              <a:t>и восстановление после сбоев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466318" y="1412776"/>
            <a:ext cx="7706081" cy="1783471"/>
          </a:xfrm>
        </p:spPr>
        <p:txBody>
          <a:bodyPr>
            <a:normAutofit/>
          </a:bodyPr>
          <a:lstStyle/>
          <a:p>
            <a:pPr lvl="0">
              <a:buFont typeface="+mj-lt"/>
              <a:buAutoNum type="arabicPeriod"/>
            </a:pPr>
            <a:r>
              <a:rPr lang="ru-RU" sz="1600" dirty="0"/>
              <a:t>Индивидуальный сбой транзакции;</a:t>
            </a:r>
          </a:p>
          <a:p>
            <a:pPr lvl="0">
              <a:buFont typeface="+mj-lt"/>
              <a:buAutoNum type="arabicPeriod"/>
            </a:pPr>
            <a:r>
              <a:rPr lang="ru-RU" sz="1600" dirty="0"/>
              <a:t>Индивидуальный сбой узла  («мягкий» сбой в рамках одного узла системы);</a:t>
            </a:r>
          </a:p>
          <a:p>
            <a:pPr lvl="0">
              <a:buFont typeface="+mj-lt"/>
              <a:buAutoNum type="arabicPeriod"/>
            </a:pPr>
            <a:r>
              <a:rPr lang="ru-RU" sz="1600" dirty="0"/>
              <a:t>Сбой носителя («жесткий» сбой в рамках одного узла системы);</a:t>
            </a:r>
          </a:p>
          <a:p>
            <a:pPr lvl="0">
              <a:buFont typeface="+mj-lt"/>
              <a:buAutoNum type="arabicPeriod"/>
            </a:pPr>
            <a:r>
              <a:rPr lang="ru-RU" sz="1600" b="1" dirty="0"/>
              <a:t>Сбой коммуникационной линии.</a:t>
            </a:r>
            <a:endParaRPr lang="ru-RU" sz="1600" dirty="0"/>
          </a:p>
          <a:p>
            <a:pPr>
              <a:buFont typeface="+mj-lt"/>
              <a:buAutoNum type="arabicPeriod"/>
            </a:pPr>
            <a:endParaRPr lang="ru-RU" sz="1600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2915816" y="3484082"/>
            <a:ext cx="5315502" cy="10459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ru-RU" dirty="0"/>
              <a:t>Решение о доступности</a:t>
            </a:r>
          </a:p>
          <a:p>
            <a:pPr>
              <a:buFont typeface="+mj-lt"/>
              <a:buAutoNum type="arabicPeriod"/>
            </a:pPr>
            <a:r>
              <a:rPr lang="ru-RU" dirty="0"/>
              <a:t>Использование реплик</a:t>
            </a:r>
          </a:p>
          <a:p>
            <a:pPr>
              <a:buFont typeface="+mj-lt"/>
              <a:buAutoNum type="arabicPeriod"/>
            </a:pP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860032" y="4817865"/>
            <a:ext cx="354505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Принятая модель согласованности</a:t>
            </a:r>
          </a:p>
        </p:txBody>
      </p:sp>
      <p:sp>
        <p:nvSpPr>
          <p:cNvPr id="8" name="Стрелка углом 7"/>
          <p:cNvSpPr/>
          <p:nvPr/>
        </p:nvSpPr>
        <p:spPr>
          <a:xfrm rot="10800000" flipH="1">
            <a:off x="1619870" y="3196247"/>
            <a:ext cx="1139483" cy="87219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трелка углом 9"/>
          <p:cNvSpPr/>
          <p:nvPr/>
        </p:nvSpPr>
        <p:spPr>
          <a:xfrm rot="10800000" flipH="1">
            <a:off x="3419872" y="4544863"/>
            <a:ext cx="1139483" cy="87219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766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Многопоточность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55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79" y="2060848"/>
            <a:ext cx="8352928" cy="332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2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29179</TotalTime>
  <Words>3300</Words>
  <Application>Microsoft Office PowerPoint</Application>
  <PresentationFormat>Экран (4:3)</PresentationFormat>
  <Paragraphs>462</Paragraphs>
  <Slides>55</Slides>
  <Notes>4</Notes>
  <HiddenSlides>6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63" baseType="lpstr">
      <vt:lpstr>Arial</vt:lpstr>
      <vt:lpstr>Calibri</vt:lpstr>
      <vt:lpstr>Cambria Math</vt:lpstr>
      <vt:lpstr>CourierNewPSMT</vt:lpstr>
      <vt:lpstr>PT Sans</vt:lpstr>
      <vt:lpstr>Times New Roman</vt:lpstr>
      <vt:lpstr>Wingdings 3</vt:lpstr>
      <vt:lpstr>SCC</vt:lpstr>
      <vt:lpstr>СУБД для специалиста  по информационной безопасности</vt:lpstr>
      <vt:lpstr>Темы лекции</vt:lpstr>
      <vt:lpstr>Параллельные СУБД</vt:lpstr>
      <vt:lpstr>Эволюция систем обработки данных</vt:lpstr>
      <vt:lpstr>Альтернативные варианты реализации СУБД</vt:lpstr>
      <vt:lpstr>Эталонная клиент – серверная архитектура</vt:lpstr>
      <vt:lpstr>Параллельные системы баз данных</vt:lpstr>
      <vt:lpstr>Общая архитектура параллельной СУБД</vt:lpstr>
      <vt:lpstr>Архитектуры параллельных систем баз данных</vt:lpstr>
      <vt:lpstr>Одноуровневые архитектуры SE (Shared-Everything)</vt:lpstr>
      <vt:lpstr>Одноуровневые архитектуры SD (Shared-Disks)</vt:lpstr>
      <vt:lpstr>Одноуровневые архитектуры SN (Shared-Nothing)</vt:lpstr>
      <vt:lpstr>Одноуровневые архитектуры Сопоставление</vt:lpstr>
      <vt:lpstr>Двухуровневые (иерархические) архитектуры CE (Clustered-Everything)</vt:lpstr>
      <vt:lpstr>Двухуровневые (иерархические) архитектуры CD (Clustered-Disk)</vt:lpstr>
      <vt:lpstr>Двухуровневые (иерархические) архитектуры Сопоставление</vt:lpstr>
      <vt:lpstr>Сопоставление всех видов архитектур</vt:lpstr>
      <vt:lpstr>Параллельное выполнение операций</vt:lpstr>
      <vt:lpstr>Распараллеливание данных: Репликация</vt:lpstr>
      <vt:lpstr>Распараллеливание данных: Фрагментация</vt:lpstr>
      <vt:lpstr>Горизонтальная фрагментация</vt:lpstr>
      <vt:lpstr>Вертикальная фрагментация</vt:lpstr>
      <vt:lpstr>Переход к распределенным СУБД</vt:lpstr>
      <vt:lpstr>Распределенные СУБД</vt:lpstr>
      <vt:lpstr>Распределенная и многопоточная обработка данных</vt:lpstr>
      <vt:lpstr>Требования к РаспрСУБД</vt:lpstr>
      <vt:lpstr>Принципы построения РаспрСУБД</vt:lpstr>
      <vt:lpstr>Понятие распределенной СУБД</vt:lpstr>
      <vt:lpstr>Уточнение понятия РаспрСУБД</vt:lpstr>
      <vt:lpstr>Основные (исследовательские) задачи</vt:lpstr>
      <vt:lpstr>Презентация PowerPoint</vt:lpstr>
      <vt:lpstr>Архитектура РСУБД с посредниками/оболочками</vt:lpstr>
      <vt:lpstr>Эталонная архитектура однорангового узла</vt:lpstr>
      <vt:lpstr>Управление распределенным каталогом</vt:lpstr>
      <vt:lpstr>Подходы к управлению распределенными данными</vt:lpstr>
      <vt:lpstr>Распределенная репликация ведущий – ведомый Master-Slave</vt:lpstr>
      <vt:lpstr>Распределенная репликация</vt:lpstr>
      <vt:lpstr>Синхронная и асинхронная репликация</vt:lpstr>
      <vt:lpstr>Понятие и виды согласованности  в распределенной системе</vt:lpstr>
      <vt:lpstr>Конечная и сессионная согласованность</vt:lpstr>
      <vt:lpstr>BASE - концепция</vt:lpstr>
      <vt:lpstr>Теорема CAP: понятие</vt:lpstr>
      <vt:lpstr>Теорема CAP: корректная формулировка</vt:lpstr>
      <vt:lpstr>Практика систем по CAP</vt:lpstr>
      <vt:lpstr>Распределенная обработка запросов  и управление транзакциями</vt:lpstr>
      <vt:lpstr>Уровни распределенной обработки запроса</vt:lpstr>
      <vt:lpstr>Сравнение моделей оценки стоимости</vt:lpstr>
      <vt:lpstr>Модели оценки</vt:lpstr>
      <vt:lpstr>Еще вопросы управления транзакциями</vt:lpstr>
      <vt:lpstr>Управление транзакциями</vt:lpstr>
      <vt:lpstr>Виды (алгоритмы) глобальной сериализации</vt:lpstr>
      <vt:lpstr>Распределенная фиксация транзакции 2PC - 2 Phase Commit</vt:lpstr>
      <vt:lpstr>Протокол терминирования</vt:lpstr>
      <vt:lpstr>Обеспечение надежности  и восстановление после сбоев</vt:lpstr>
      <vt:lpstr>Многопоточность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1614</cp:revision>
  <dcterms:created xsi:type="dcterms:W3CDTF">2018-04-03T06:05:28Z</dcterms:created>
  <dcterms:modified xsi:type="dcterms:W3CDTF">2024-02-20T11:57:29Z</dcterms:modified>
</cp:coreProperties>
</file>