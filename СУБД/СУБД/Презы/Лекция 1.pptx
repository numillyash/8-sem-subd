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gif" ContentType="image/gif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32"/>
  </p:notesMasterIdLst>
  <p:sldIdLst>
    <p:sldId id="381" r:id="rId2"/>
    <p:sldId id="382" r:id="rId3"/>
    <p:sldId id="384" r:id="rId4"/>
    <p:sldId id="385" r:id="rId5"/>
    <p:sldId id="420" r:id="rId6"/>
    <p:sldId id="386" r:id="rId7"/>
    <p:sldId id="383" r:id="rId8"/>
    <p:sldId id="387" r:id="rId9"/>
    <p:sldId id="290" r:id="rId10"/>
    <p:sldId id="291" r:id="rId11"/>
    <p:sldId id="292" r:id="rId12"/>
    <p:sldId id="293" r:id="rId13"/>
    <p:sldId id="390" r:id="rId14"/>
    <p:sldId id="389" r:id="rId15"/>
    <p:sldId id="289" r:id="rId16"/>
    <p:sldId id="391" r:id="rId17"/>
    <p:sldId id="402" r:id="rId18"/>
    <p:sldId id="403" r:id="rId19"/>
    <p:sldId id="297" r:id="rId20"/>
    <p:sldId id="298" r:id="rId21"/>
    <p:sldId id="413" r:id="rId22"/>
    <p:sldId id="414" r:id="rId23"/>
    <p:sldId id="415" r:id="rId24"/>
    <p:sldId id="416" r:id="rId25"/>
    <p:sldId id="417" r:id="rId26"/>
    <p:sldId id="418" r:id="rId27"/>
    <p:sldId id="272" r:id="rId28"/>
    <p:sldId id="419" r:id="rId29"/>
    <p:sldId id="412" r:id="rId30"/>
    <p:sldId id="411" r:id="rId31"/>
  </p:sldIdLst>
  <p:sldSz cx="9144000" cy="6858000" type="screen4x3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B3519"/>
    <a:srgbClr val="7030A0"/>
    <a:srgbClr val="FFCCCC"/>
    <a:srgbClr val="F4AC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1912" autoAdjust="0"/>
    <p:restoredTop sz="74971" autoAdjust="0"/>
  </p:normalViewPr>
  <p:slideViewPr>
    <p:cSldViewPr snapToObjects="1">
      <p:cViewPr varScale="1">
        <p:scale>
          <a:sx n="77" d="100"/>
          <a:sy n="77" d="100"/>
        </p:scale>
        <p:origin x="1044" y="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9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AFFA48-8607-4707-BB18-CF413BACD2EA}" type="datetimeFigureOut">
              <a:rPr lang="ru-RU" smtClean="0"/>
              <a:pPr/>
              <a:t>07.02.2024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19E5D1D-64DB-439F-9BA6-342FDC2CD81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06990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934455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950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781738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5761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871813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5754842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C23E9AA-7A97-420D-A5BE-35FCDD62F704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0105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Отличия от системы управления файлами:</a:t>
            </a:r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 Система управления файлами </a:t>
            </a:r>
            <a:r>
              <a:rPr lang="ru-RU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 имеет никаких сведений о внутренней структуре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хранимых записей и, следовательно, не способна обрабатывать запросы, требую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щие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знания этой структуры.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 Как правило, подобные системы предоставляют </a:t>
            </a:r>
            <a:r>
              <a:rPr lang="ru-RU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слабую поддержку ограничений защиты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поддержки </a:t>
            </a:r>
            <a:r>
              <a:rPr lang="ru-RU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целостности данных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или же вообще ее не предоставляют.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 Обычно такие системы предоставляют </a:t>
            </a:r>
            <a:r>
              <a:rPr lang="ru-RU" sz="1200" u="sng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недостаточную поддержку управления восстановлением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данных и параллельным доступом к ним или же не предоставляют ее вовсе.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 На уровне диспетчера файлов не существует концепции настоящего </a:t>
            </a:r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словаря данных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 Вообще говоря, эти системы обеспечивают </a:t>
            </a:r>
            <a:r>
              <a:rPr lang="ru-RU" sz="1200" b="1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независимость от данных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гораздо хуже по сравнению с СУБД.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■ Как правило, отдельные файлы не являются "интегрированными" или "разделяемыми" в том смысле, который вкладывается в эти понятия применительно к базам данных. (Обычно они являются собственными файлами пользователя или приложения.)</a:t>
            </a:r>
          </a:p>
          <a:p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Сам словарь данных вполне можно считать самостоятельной базой данных (но не пользовательской, а системной). Словарь содержит "данные о данных" (иногда называемые метаданными или дескрипторами), т.е. в нем находятся определения других объектов системы, а не просто обычные данные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6CDA3E-6054-427F-B73D-898DF947DECA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707127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solidFill>
                  <a:srgbClr val="0070C0"/>
                </a:solidFill>
              </a:rPr>
              <a:t>+ </a:t>
            </a:r>
            <a:r>
              <a:rPr lang="ru-RU" dirty="0">
                <a:solidFill>
                  <a:srgbClr val="0070C0"/>
                </a:solidFill>
              </a:rPr>
              <a:t>Структуры данных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ru-RU" dirty="0">
                <a:solidFill>
                  <a:srgbClr val="0070C0"/>
                </a:solidFill>
              </a:rPr>
              <a:t>Целостность данных</a:t>
            </a:r>
            <a:r>
              <a:rPr lang="en-US" dirty="0">
                <a:solidFill>
                  <a:srgbClr val="0070C0"/>
                </a:solidFill>
              </a:rPr>
              <a:t>,</a:t>
            </a:r>
            <a:r>
              <a:rPr lang="en-US" baseline="0" dirty="0">
                <a:solidFill>
                  <a:srgbClr val="0070C0"/>
                </a:solidFill>
              </a:rPr>
              <a:t> </a:t>
            </a:r>
            <a:r>
              <a:rPr lang="ru-RU" dirty="0">
                <a:solidFill>
                  <a:srgbClr val="0070C0"/>
                </a:solidFill>
              </a:rPr>
              <a:t>Языки запросов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ru-RU" dirty="0">
                <a:solidFill>
                  <a:srgbClr val="0070C0"/>
                </a:solidFill>
              </a:rPr>
              <a:t>Транзакции, журнализация и многопользовательский режим</a:t>
            </a:r>
            <a:endParaRPr lang="en-US" dirty="0">
              <a:solidFill>
                <a:srgbClr val="0070C0"/>
              </a:solidFill>
            </a:endParaRPr>
          </a:p>
          <a:p>
            <a:r>
              <a:rPr lang="ru-RU" dirty="0">
                <a:solidFill>
                  <a:srgbClr val="FF0000"/>
                </a:solidFill>
              </a:rPr>
              <a:t>- большие объемы данных (тысячи, миллионы и более строк)</a:t>
            </a:r>
          </a:p>
          <a:p>
            <a:r>
              <a:rPr lang="ru-RU" dirty="0">
                <a:solidFill>
                  <a:srgbClr val="FF0000"/>
                </a:solidFill>
              </a:rPr>
              <a:t>- высокая скорость обработки </a:t>
            </a:r>
          </a:p>
          <a:p>
            <a:pPr lvl="1"/>
            <a:r>
              <a:rPr lang="ru-RU" i="1" dirty="0">
                <a:solidFill>
                  <a:srgbClr val="FF0000"/>
                </a:solidFill>
              </a:rPr>
              <a:t>	- в ОП нельзя держать все данные (не входит)</a:t>
            </a:r>
            <a:endParaRPr lang="ru-RU" dirty="0">
              <a:solidFill>
                <a:srgbClr val="FF0000"/>
              </a:solidFill>
            </a:endParaRPr>
          </a:p>
          <a:p>
            <a:pPr lvl="1"/>
            <a:r>
              <a:rPr lang="ru-RU" i="1" dirty="0">
                <a:solidFill>
                  <a:srgbClr val="FF0000"/>
                </a:solidFill>
              </a:rPr>
              <a:t>	- на дисках медленный доступ</a:t>
            </a:r>
            <a:endParaRPr lang="ru-RU" dirty="0">
              <a:solidFill>
                <a:srgbClr val="FF0000"/>
              </a:solidFill>
            </a:endParaRPr>
          </a:p>
          <a:p>
            <a:pPr lvl="1"/>
            <a:r>
              <a:rPr lang="ru-RU" i="1" dirty="0">
                <a:solidFill>
                  <a:srgbClr val="FF0000"/>
                </a:solidFill>
              </a:rPr>
              <a:t>	- последовательный характер работы процессоров (даже в многопроцессорной системе)</a:t>
            </a:r>
            <a:endParaRPr lang="ru-RU" dirty="0">
              <a:solidFill>
                <a:srgbClr val="FF0000"/>
              </a:solidFill>
            </a:endParaRPr>
          </a:p>
          <a:p>
            <a:endParaRPr lang="ru-RU" dirty="0">
              <a:solidFill>
                <a:srgbClr val="0070C0"/>
              </a:solidFill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6CDA3E-6054-427F-B73D-898DF947DECA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077157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1" indent="0" algn="l">
              <a:buNone/>
            </a:pPr>
            <a:r>
              <a:rPr lang="en-US" dirty="0"/>
              <a:t>+ </a:t>
            </a:r>
            <a:r>
              <a:rPr lang="ru-RU" sz="2000" b="1" dirty="0">
                <a:solidFill>
                  <a:srgbClr val="0070C0"/>
                </a:solidFill>
              </a:rPr>
              <a:t>Индексы, ключи</a:t>
            </a:r>
            <a:r>
              <a:rPr lang="en-US" sz="2000" b="1" dirty="0">
                <a:solidFill>
                  <a:srgbClr val="0070C0"/>
                </a:solidFill>
              </a:rPr>
              <a:t>, </a:t>
            </a:r>
            <a:r>
              <a:rPr lang="ru-RU" dirty="0">
                <a:solidFill>
                  <a:srgbClr val="0070C0"/>
                </a:solidFill>
              </a:rPr>
              <a:t>Многоступенчатость поиска 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ru-RU" dirty="0" err="1">
                <a:solidFill>
                  <a:srgbClr val="0070C0"/>
                </a:solidFill>
              </a:rPr>
              <a:t>Препроцессорность</a:t>
            </a:r>
            <a:r>
              <a:rPr lang="ru-RU" dirty="0">
                <a:solidFill>
                  <a:srgbClr val="0070C0"/>
                </a:solidFill>
              </a:rPr>
              <a:t> поиска </a:t>
            </a:r>
            <a:r>
              <a:rPr lang="en-US" dirty="0">
                <a:solidFill>
                  <a:srgbClr val="0070C0"/>
                </a:solidFill>
              </a:rPr>
              <a:t>, </a:t>
            </a:r>
            <a:r>
              <a:rPr lang="ru-RU" dirty="0">
                <a:solidFill>
                  <a:srgbClr val="0070C0"/>
                </a:solidFill>
              </a:rPr>
              <a:t>Структурирование данных при поиске</a:t>
            </a:r>
            <a:endParaRPr lang="en-US" dirty="0">
              <a:solidFill>
                <a:srgbClr val="0070C0"/>
              </a:solidFill>
            </a:endParaRPr>
          </a:p>
          <a:p>
            <a:pPr marL="0" lvl="1" indent="0" algn="l">
              <a:buNone/>
            </a:pPr>
            <a:endParaRPr lang="ru-RU" dirty="0">
              <a:solidFill>
                <a:srgbClr val="0070C0"/>
              </a:solidFill>
            </a:endParaRPr>
          </a:p>
          <a:p>
            <a:pPr lvl="0"/>
            <a:r>
              <a:rPr lang="en-US" dirty="0">
                <a:solidFill>
                  <a:srgbClr val="FF0000"/>
                </a:solidFill>
              </a:rPr>
              <a:t>- </a:t>
            </a:r>
            <a:r>
              <a:rPr lang="ru-RU" dirty="0">
                <a:solidFill>
                  <a:srgbClr val="FF0000"/>
                </a:solidFill>
              </a:rPr>
              <a:t>Повторение функционала СУБД в разных ИС (или как встраивать готовую СУБД в ИС?)</a:t>
            </a:r>
          </a:p>
          <a:p>
            <a:r>
              <a:rPr lang="en-US" dirty="0">
                <a:solidFill>
                  <a:srgbClr val="FF0000"/>
                </a:solidFill>
              </a:rPr>
              <a:t>- </a:t>
            </a:r>
            <a:r>
              <a:rPr lang="ru-RU" dirty="0">
                <a:solidFill>
                  <a:srgbClr val="FF0000"/>
                </a:solidFill>
              </a:rPr>
              <a:t>Связанность на конкретной СУБД метаданных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6CDA3E-6054-427F-B73D-898DF947DECA}" type="slidenum">
              <a:rPr lang="ru-RU" smtClean="0"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60977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b="1" dirty="0"/>
              <a:t>База данных</a:t>
            </a:r>
            <a:r>
              <a:rPr lang="ru-RU" dirty="0"/>
              <a:t> — представленная в объективной форме совокупность самостоятельных материалов, систематизированных таким образом, чтобы эти материалы могли быть найдены и обработаны с помощью электронной вычислительной машины (ЭВМ)</a:t>
            </a:r>
          </a:p>
          <a:p>
            <a:r>
              <a:rPr lang="ru-RU" b="1" dirty="0"/>
              <a:t>Система баз данных</a:t>
            </a:r>
            <a:r>
              <a:rPr lang="ru-RU" dirty="0"/>
              <a:t> — это компьютеризированная система хранения однотипных записей. </a:t>
            </a:r>
          </a:p>
          <a:p>
            <a:r>
              <a:rPr lang="ru-RU" b="1" dirty="0"/>
              <a:t>Система управления базами данных, СУБД (англ. </a:t>
            </a:r>
            <a:r>
              <a:rPr lang="en-US" b="1" dirty="0"/>
              <a:t>Database Management System</a:t>
            </a:r>
            <a:r>
              <a:rPr lang="ru-RU" b="1" dirty="0"/>
              <a:t>, DBMS)</a:t>
            </a:r>
            <a:r>
              <a:rPr lang="ru-RU" dirty="0"/>
              <a:t> — совокупность программных и лингвистических средств общего или специального назначения, обеспечивающих управление созданием и использованием баз данных</a:t>
            </a:r>
          </a:p>
          <a:p>
            <a:r>
              <a:rPr lang="ru-RU" b="1" dirty="0"/>
              <a:t>СУБД </a:t>
            </a:r>
            <a:r>
              <a:rPr lang="ru-RU" i="1" dirty="0"/>
              <a:t>(в практическом понимании)</a:t>
            </a:r>
            <a:r>
              <a:rPr lang="ru-RU" dirty="0"/>
              <a:t> — комплекс программ, позволяющих создать базу данных (БД) и манипулировать данными (вставлять, обновлять, удалять и выбирать). Система обеспечивает безопасность, надёжность хранения и целостность данных, а также предоставляет средства для администрирования БД 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6CDA3E-6054-427F-B73D-898DF947DECA}" type="slidenum">
              <a:rPr lang="ru-RU" smtClean="0"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650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Ядро СУБД (</a:t>
            </a:r>
            <a:r>
              <a:rPr lang="ru-RU" dirty="0" err="1"/>
              <a:t>Data</a:t>
            </a:r>
            <a:r>
              <a:rPr lang="ru-RU" dirty="0"/>
              <a:t> </a:t>
            </a:r>
            <a:r>
              <a:rPr lang="ru-RU" dirty="0" err="1"/>
              <a:t>Base</a:t>
            </a:r>
            <a:r>
              <a:rPr lang="ru-RU" dirty="0"/>
              <a:t> </a:t>
            </a:r>
            <a:r>
              <a:rPr lang="ru-RU" dirty="0" err="1"/>
              <a:t>Engine</a:t>
            </a:r>
            <a:r>
              <a:rPr lang="ru-RU" dirty="0"/>
              <a:t>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Компилятор языка БД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Подсистема поддержки времени выполнения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ru-RU" dirty="0"/>
              <a:t>Набор утилит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6CDA3E-6054-427F-B73D-898DF947DECA}" type="slidenum">
              <a:rPr lang="ru-RU" smtClean="0"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45679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Интерфейсы баз данных</a:t>
            </a:r>
          </a:p>
          <a:p>
            <a:pPr lvl="1"/>
            <a:r>
              <a:rPr lang="ru-RU" dirty="0"/>
              <a:t>Программные библиотеки</a:t>
            </a:r>
          </a:p>
          <a:p>
            <a:pPr lvl="1"/>
            <a:r>
              <a:rPr lang="ru-RU" dirty="0"/>
              <a:t>Драйвера</a:t>
            </a:r>
          </a:p>
          <a:p>
            <a:r>
              <a:rPr lang="ru-RU" dirty="0"/>
              <a:t>Взаимодействие</a:t>
            </a:r>
          </a:p>
          <a:p>
            <a:pPr lvl="1"/>
            <a:r>
              <a:rPr lang="ru-RU" dirty="0"/>
              <a:t>Подключение</a:t>
            </a:r>
          </a:p>
          <a:p>
            <a:pPr lvl="1"/>
            <a:r>
              <a:rPr lang="ru-RU" dirty="0"/>
              <a:t>Выполнение запросов</a:t>
            </a:r>
          </a:p>
          <a:p>
            <a:pPr lvl="1"/>
            <a:r>
              <a:rPr lang="ru-RU" dirty="0"/>
              <a:t>Получение данных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6CDA3E-6054-427F-B73D-898DF947DECA}" type="slidenum">
              <a:rPr lang="ru-RU" smtClean="0"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084576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19E5D1D-64DB-439F-9BA6-342FDC2CD81E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8949642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Все СУБД имеют программные интерфейсы, которые позволяют подключаться к ним из сторонних приложений.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Эти интерфейсы могут иметь вид программных библиотек различного уровня сложности и/или абстракции, а могут представлять собой драйверы для распространенных систем взаимодействия с СУБД, как например JDBC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Connectivity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или ODBC (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Open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Database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ru-RU" sz="120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Connectivity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).</a:t>
            </a:r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6CDA3E-6054-427F-B73D-898DF947DECA}" type="slidenum">
              <a:rPr lang="ru-RU" smtClean="0"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804198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b="1" dirty="0"/>
              <a:t>data definition language</a:t>
            </a:r>
            <a:r>
              <a:rPr lang="ru-RU" b="1" dirty="0"/>
              <a:t> (</a:t>
            </a:r>
            <a:r>
              <a:rPr lang="en-US" b="1" dirty="0"/>
              <a:t>DDL</a:t>
            </a:r>
            <a:r>
              <a:rPr lang="ru-RU" b="1" dirty="0"/>
              <a:t>)</a:t>
            </a:r>
            <a:r>
              <a:rPr lang="ru-RU" dirty="0"/>
              <a:t> – используется для определения данных (работы со схемой)</a:t>
            </a:r>
          </a:p>
          <a:p>
            <a:pPr lvl="1"/>
            <a:r>
              <a:rPr lang="en-US" b="1" dirty="0"/>
              <a:t>storage definition language</a:t>
            </a:r>
            <a:r>
              <a:rPr lang="ru-RU" b="1" dirty="0"/>
              <a:t> (</a:t>
            </a:r>
            <a:r>
              <a:rPr lang="en-US" b="1" dirty="0"/>
              <a:t>SDL</a:t>
            </a:r>
            <a:r>
              <a:rPr lang="ru-RU" b="1" dirty="0"/>
              <a:t>)</a:t>
            </a:r>
            <a:r>
              <a:rPr lang="ru-RU" dirty="0"/>
              <a:t> – используется для спецификации внутренней схемы (</a:t>
            </a:r>
            <a:r>
              <a:rPr lang="en-US" i="1" u="sng" dirty="0"/>
              <a:t>In most relational DBMSs today</a:t>
            </a:r>
            <a:r>
              <a:rPr lang="ru-RU" i="1" u="sng" dirty="0"/>
              <a:t>, </a:t>
            </a:r>
            <a:r>
              <a:rPr lang="en-US" i="1" u="sng" dirty="0"/>
              <a:t>there is no specific language that performs the role of SDL</a:t>
            </a:r>
            <a:r>
              <a:rPr lang="ru-RU" dirty="0"/>
              <a:t>) Физическая схема определяется набором функций, параметров и спецификаций связанных с хранилищем.</a:t>
            </a:r>
          </a:p>
          <a:p>
            <a:pPr lvl="1"/>
            <a:r>
              <a:rPr lang="ru-RU" b="1" dirty="0"/>
              <a:t>view definition language (VDL)</a:t>
            </a:r>
            <a:r>
              <a:rPr lang="ru-RU" dirty="0"/>
              <a:t> – используется для определения представлений и отображений пользовательского уровня. </a:t>
            </a:r>
            <a:r>
              <a:rPr lang="en-US" dirty="0"/>
              <a:t>(</a:t>
            </a:r>
            <a:r>
              <a:rPr lang="en-US" i="1" u="sng" dirty="0"/>
              <a:t>the DDL is used to define both conceptual and external schemas</a:t>
            </a:r>
            <a:r>
              <a:rPr lang="en-US" dirty="0"/>
              <a:t>)</a:t>
            </a:r>
            <a:endParaRPr lang="ru-RU" dirty="0"/>
          </a:p>
          <a:p>
            <a:pPr lvl="1"/>
            <a:r>
              <a:rPr lang="en-US" b="1" dirty="0"/>
              <a:t>data manipulation language (DML)</a:t>
            </a:r>
            <a:r>
              <a:rPr lang="en-US" dirty="0"/>
              <a:t> – </a:t>
            </a:r>
            <a:r>
              <a:rPr lang="ru-RU" dirty="0"/>
              <a:t>манипулирование </a:t>
            </a:r>
            <a:r>
              <a:rPr lang="ru-RU" dirty="0" err="1"/>
              <a:t>данныеми</a:t>
            </a:r>
            <a:endParaRPr lang="ru-RU" dirty="0"/>
          </a:p>
          <a:p>
            <a:pPr marL="0" indent="0">
              <a:buNone/>
            </a:pPr>
            <a:r>
              <a:rPr lang="ru-RU" i="1" dirty="0"/>
              <a:t>Для всех видов РСУБД используется один интегрированный язык </a:t>
            </a:r>
            <a:r>
              <a:rPr lang="en-US" i="1" dirty="0"/>
              <a:t>SQL</a:t>
            </a:r>
            <a:r>
              <a:rPr lang="ru-RU" i="1" dirty="0"/>
              <a:t> (</a:t>
            </a:r>
            <a:r>
              <a:rPr lang="en-US" i="1" dirty="0"/>
              <a:t>DDL</a:t>
            </a:r>
            <a:r>
              <a:rPr lang="ru-RU" i="1" dirty="0"/>
              <a:t>, </a:t>
            </a:r>
            <a:r>
              <a:rPr lang="en-US" i="1" dirty="0"/>
              <a:t>VDL</a:t>
            </a:r>
            <a:r>
              <a:rPr lang="ru-RU" i="1" dirty="0"/>
              <a:t>, </a:t>
            </a:r>
            <a:r>
              <a:rPr lang="en-US" i="1" dirty="0"/>
              <a:t>DML</a:t>
            </a:r>
            <a:r>
              <a:rPr lang="ru-RU" i="1" dirty="0"/>
              <a:t> – </a:t>
            </a:r>
            <a:r>
              <a:rPr lang="en-US" i="1" dirty="0"/>
              <a:t>SDL</a:t>
            </a:r>
            <a:r>
              <a:rPr lang="ru-RU" i="1" dirty="0"/>
              <a:t> был в ранних версиях но потом удален).В не реляционных СУБД ситуация может отличаться.</a:t>
            </a:r>
          </a:p>
          <a:p>
            <a:pPr lvl="1"/>
            <a:r>
              <a:rPr lang="ru-RU" dirty="0"/>
              <a:t> </a:t>
            </a:r>
            <a:r>
              <a:rPr lang="en-US" b="1" dirty="0"/>
              <a:t>A high</a:t>
            </a:r>
            <a:r>
              <a:rPr lang="ru-RU" b="1" dirty="0"/>
              <a:t>-</a:t>
            </a:r>
            <a:r>
              <a:rPr lang="en-US" b="1" dirty="0"/>
              <a:t>level or nonprocedural DML</a:t>
            </a:r>
            <a:r>
              <a:rPr lang="ru-RU" dirty="0"/>
              <a:t> – описывает комплексные операции над базой данных. Может быть включен в интегрированный язык или отсутствовать.</a:t>
            </a:r>
          </a:p>
          <a:p>
            <a:pPr lvl="1"/>
            <a:r>
              <a:rPr lang="ru-RU" b="1" dirty="0"/>
              <a:t>A low-level or procedural DML</a:t>
            </a:r>
            <a:r>
              <a:rPr lang="ru-RU" dirty="0"/>
              <a:t> – должен быть включен в интегрированный язык – включает манипуляцию индивидуальными объектами, записями, значениями и т.д.</a:t>
            </a:r>
          </a:p>
          <a:p>
            <a:pPr marL="0" indent="0">
              <a:buNone/>
            </a:pPr>
            <a:endParaRPr lang="ru-RU" dirty="0"/>
          </a:p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C6CDA3E-6054-427F-B73D-898DF947DECA}" type="slidenum">
              <a:rPr lang="ru-RU" smtClean="0"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49189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4" Type="http://schemas.microsoft.com/office/2007/relationships/hdphoto" Target="../media/hdphoto2.wdp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-15303" y="1307734"/>
            <a:ext cx="9171156" cy="3840943"/>
          </a:xfrm>
          <a:prstGeom prst="rect">
            <a:avLst/>
          </a:prstGeom>
        </p:spPr>
      </p:pic>
      <p:sp>
        <p:nvSpPr>
          <p:cNvPr id="10" name="Прямоугольник 9"/>
          <p:cNvSpPr/>
          <p:nvPr/>
        </p:nvSpPr>
        <p:spPr>
          <a:xfrm>
            <a:off x="-15302" y="0"/>
            <a:ext cx="9171156" cy="137974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793304" y="2384884"/>
            <a:ext cx="7772400" cy="1899643"/>
          </a:xfrm>
          <a:solidFill>
            <a:srgbClr val="FFFFFF">
              <a:alpha val="69804"/>
            </a:srgbClr>
          </a:solidFill>
        </p:spPr>
        <p:txBody>
          <a:bodyPr lIns="144000" rIns="144000">
            <a:normAutofit/>
          </a:bodyPr>
          <a:lstStyle>
            <a:lvl1pPr>
              <a:defRPr sz="3200" b="1" cap="small" baseline="0">
                <a:solidFill>
                  <a:schemeClr val="accent1"/>
                </a:solidFill>
                <a:latin typeface="PT Sans" panose="020B0503020203020204" pitchFamily="34" charset="-52"/>
              </a:defRPr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3815916" y="5337212"/>
            <a:ext cx="5072608" cy="1332148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2"/>
                </a:solidFill>
                <a:latin typeface="PT Sans" panose="020B0503020203020204" pitchFamily="34" charset="-52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ru-RU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-15302" y="1307734"/>
            <a:ext cx="9171156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Прямоугольник 8"/>
          <p:cNvSpPr/>
          <p:nvPr/>
        </p:nvSpPr>
        <p:spPr>
          <a:xfrm>
            <a:off x="-15304" y="5080882"/>
            <a:ext cx="9171157" cy="7200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colorTemperature colorTemp="47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9513" y="404664"/>
            <a:ext cx="2333625" cy="620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92757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 tIns="108000" bIns="108000">
            <a:normAutofit/>
          </a:bodyPr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47525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ru-RU" dirty="0"/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5002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22313" y="4406904"/>
            <a:ext cx="7772400" cy="1362075"/>
          </a:xfrm>
        </p:spPr>
        <p:txBody>
          <a:bodyPr anchor="t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>
            <a:normAutofit/>
          </a:bodyPr>
          <a:lstStyle>
            <a:lvl1pPr marL="0" indent="0">
              <a:buNone/>
              <a:defRPr sz="28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34004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457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648200" y="1600204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7495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4645027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4645027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10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535002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6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0142347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Прямоугольник 4"/>
          <p:cNvSpPr/>
          <p:nvPr/>
        </p:nvSpPr>
        <p:spPr>
          <a:xfrm>
            <a:off x="107504" y="404664"/>
            <a:ext cx="8928992" cy="18002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08569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666615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5617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Заголовок, текст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Текст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210050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4743450" y="1219200"/>
            <a:ext cx="4211638" cy="491331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8" name="Заголовок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23650705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microsoft.com/office/2007/relationships/hdphoto" Target="../media/hdphoto1.wdp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/>
          <p:cNvSpPr/>
          <p:nvPr/>
        </p:nvSpPr>
        <p:spPr>
          <a:xfrm>
            <a:off x="1043608" y="1484784"/>
            <a:ext cx="7770041" cy="489654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prstClr val="white"/>
              </a:solidFill>
            </a:endParaRP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1043608" y="1484784"/>
            <a:ext cx="7082705" cy="4752528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rmAutofit/>
          </a:bodyPr>
          <a:lstStyle/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76456" y="6597352"/>
            <a:ext cx="298303" cy="260648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lvl1pPr algn="r">
              <a:defRPr sz="700" b="1">
                <a:solidFill>
                  <a:schemeClr val="bg1"/>
                </a:solidFill>
              </a:defRPr>
            </a:lvl1pPr>
          </a:lstStyle>
          <a:p>
            <a:fld id="{C87B2790-9B43-4903-B0A0-A4941B7FD28D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 rotWithShape="1">
          <a:blip r:embed="rId12" cstate="screen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sharpenSoften amount="25000"/>
                    </a14:imgEffect>
                    <a14:imgEffect>
                      <a14:colorTemperature colorTemp="4700"/>
                    </a14:imgEffect>
                    <a14:imgEffect>
                      <a14:saturation sat="66000"/>
                    </a14:imgEffect>
                    <a14:imgEffect>
                      <a14:brightnessContrast contras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30717" y="427403"/>
            <a:ext cx="752523" cy="693657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1043608" y="437884"/>
            <a:ext cx="7920880" cy="664820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108000" rIns="91440" bIns="108000" rtlCol="0" anchor="ctr">
            <a:normAutofit/>
          </a:bodyPr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251520" y="1196752"/>
            <a:ext cx="8712968" cy="457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91872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2000" b="0" i="0" kern="1200" cap="sm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postgrespro.ru/education" TargetMode="External"/><Relationship Id="rId4" Type="http://schemas.openxmlformats.org/officeDocument/2006/relationships/hyperlink" Target="http://citforum.ru/database/advanced_intro/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g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gif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9.emf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4" Type="http://schemas.microsoft.com/office/2007/relationships/hdphoto" Target="../media/hdphoto3.wdp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pPr algn="ctr">
              <a:lnSpc>
                <a:spcPct val="150000"/>
              </a:lnSpc>
            </a:pPr>
            <a:r>
              <a:rPr lang="ru-RU" sz="40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СУБД</a:t>
            </a: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/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для специалиста </a:t>
            </a:r>
            <a:b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по информационной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8880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0"/>
          <p:cNvSpPr txBox="1">
            <a:spLocks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2D11E6-00E0-437A-AD36-F15796A4C828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2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284" y="586203"/>
            <a:ext cx="1800200" cy="49268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88ED6-B853-EB03-1DEE-B8F26F5A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437884"/>
            <a:ext cx="5904656" cy="664820"/>
          </a:xfrm>
        </p:spPr>
        <p:txBody>
          <a:bodyPr/>
          <a:lstStyle/>
          <a:p>
            <a:r>
              <a:rPr lang="ru-RU" dirty="0"/>
              <a:t>Курс СУБД - основы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7AA9D2-2B2F-4C08-2088-FB4FCF829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536" y="1484784"/>
            <a:ext cx="8136904" cy="5112568"/>
          </a:xfrm>
        </p:spPr>
        <p:txBody>
          <a:bodyPr anchor="t">
            <a:normAutofit fontScale="85000" lnSpcReduction="20000"/>
          </a:bodyPr>
          <a:lstStyle/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ru-RU" dirty="0"/>
              <a:t>СУБД как программно-аппаратный комплекс управления данными. История, эволюция, </a:t>
            </a:r>
            <a:r>
              <a:rPr lang="ru-RU" dirty="0">
                <a:solidFill>
                  <a:schemeClr val="accent1"/>
                </a:solidFill>
              </a:rPr>
              <a:t>атаки и защита</a:t>
            </a:r>
            <a:r>
              <a:rPr lang="ru-RU" dirty="0"/>
              <a:t>.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ru-RU" dirty="0"/>
              <a:t>Как данные организованы на примере промышленного реляционного сервера. Понятие модели данных</a:t>
            </a:r>
            <a:r>
              <a:rPr lang="ru-RU" dirty="0" smtClean="0"/>
              <a:t>. Виды моделей. </a:t>
            </a:r>
            <a:r>
              <a:rPr lang="en-US" dirty="0" smtClean="0"/>
              <a:t>NoSQL</a:t>
            </a:r>
            <a:endParaRPr lang="ru-RU" dirty="0" smtClean="0"/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ru-RU" dirty="0" smtClean="0"/>
              <a:t>Реляционная модели данных. Понятие функциональных зависимостей и нормализации</a:t>
            </a:r>
            <a:endParaRPr lang="ru-RU" dirty="0"/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ru-RU" dirty="0">
                <a:solidFill>
                  <a:schemeClr val="accent1"/>
                </a:solidFill>
              </a:rPr>
              <a:t>Доступ к данным: организация, грануляция, контроль средствами СУБД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ru-RU" dirty="0" smtClean="0"/>
              <a:t>Операции </a:t>
            </a:r>
            <a:r>
              <a:rPr lang="ru-RU" dirty="0"/>
              <a:t>с данными (управление запросами), особенности построения запросов, динамический и статический </a:t>
            </a:r>
            <a:r>
              <a:rPr lang="en-US" dirty="0"/>
              <a:t>SQL</a:t>
            </a:r>
            <a:endParaRPr lang="ru-RU" dirty="0"/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ru-RU" dirty="0">
                <a:solidFill>
                  <a:schemeClr val="accent1"/>
                </a:solidFill>
              </a:rPr>
              <a:t>Уязвимости операций: инъекции в языки запросов и вызовы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ru-RU" dirty="0"/>
              <a:t>Объекты сервера (триггеры, процедуры, представления). </a:t>
            </a:r>
            <a:r>
              <a:rPr lang="ru-RU" dirty="0">
                <a:solidFill>
                  <a:schemeClr val="accent1"/>
                </a:solidFill>
              </a:rPr>
              <a:t>Использование в безопасности. Организация пользовательского аудита.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ru-RU" dirty="0">
                <a:solidFill>
                  <a:schemeClr val="accent1"/>
                </a:solidFill>
              </a:rPr>
              <a:t>Атаки повышения привилегий. Расширенное управление доступом.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ru-RU" dirty="0"/>
              <a:t>Физическое хранение данных. Методы доступа. Производительность и </a:t>
            </a:r>
            <a:r>
              <a:rPr lang="ru-RU" dirty="0">
                <a:solidFill>
                  <a:schemeClr val="accent1"/>
                </a:solidFill>
              </a:rPr>
              <a:t>где еще «видно» данные. 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ru-RU" dirty="0">
                <a:solidFill>
                  <a:srgbClr val="7030A0"/>
                </a:solidFill>
              </a:rPr>
              <a:t>Выполнение и оптимизация запросов</a:t>
            </a:r>
          </a:p>
          <a:p>
            <a:pPr marL="457200" indent="-457200">
              <a:spcBef>
                <a:spcPts val="800"/>
              </a:spcBef>
              <a:buFont typeface="+mj-lt"/>
              <a:buAutoNum type="arabicPeriod"/>
            </a:pPr>
            <a:r>
              <a:rPr lang="ru-RU" dirty="0" smtClean="0">
                <a:solidFill>
                  <a:srgbClr val="7030A0"/>
                </a:solidFill>
              </a:rPr>
              <a:t>Организация </a:t>
            </a:r>
            <a:r>
              <a:rPr lang="ru-RU" dirty="0">
                <a:solidFill>
                  <a:srgbClr val="7030A0"/>
                </a:solidFill>
              </a:rPr>
              <a:t>работы со слабо структурированными данными (деревья, графы, временные ряды, </a:t>
            </a:r>
            <a:r>
              <a:rPr lang="en-US" dirty="0">
                <a:solidFill>
                  <a:srgbClr val="7030A0"/>
                </a:solidFill>
              </a:rPr>
              <a:t>XML, JSON</a:t>
            </a:r>
            <a:r>
              <a:rPr lang="ru-RU" dirty="0">
                <a:solidFill>
                  <a:srgbClr val="7030A0"/>
                </a:solidFill>
              </a:rPr>
              <a:t>, ОРМ…)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1A196DF3-D9A7-EDC7-556B-7E77DEC68C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507308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108"/>
    </mc:Choice>
    <mc:Fallback xmlns="">
      <p:transition spd="slow" advTm="250108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0"/>
          <p:cNvSpPr txBox="1">
            <a:spLocks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2D11E6-00E0-437A-AD36-F15796A4C828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3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284" y="586203"/>
            <a:ext cx="1800200" cy="49268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88ED6-B853-EB03-1DEE-B8F26F5A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437884"/>
            <a:ext cx="5904656" cy="664820"/>
          </a:xfrm>
        </p:spPr>
        <p:txBody>
          <a:bodyPr/>
          <a:lstStyle/>
          <a:p>
            <a:r>
              <a:rPr lang="ru-RU" dirty="0"/>
              <a:t>Курс ОПЗБД – погружение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7AA9D2-2B2F-4C08-2088-FB4FCF829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5112568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База данных как организованный массив (</a:t>
            </a:r>
            <a:r>
              <a:rPr lang="ru-RU" i="1" dirty="0"/>
              <a:t>не только в СУБД</a:t>
            </a:r>
            <a:r>
              <a:rPr lang="ru-RU" dirty="0"/>
              <a:t>), </a:t>
            </a:r>
            <a:br>
              <a:rPr lang="ru-RU" dirty="0"/>
            </a:br>
            <a:r>
              <a:rPr lang="ru-RU" dirty="0">
                <a:solidFill>
                  <a:schemeClr val="accent1"/>
                </a:solidFill>
              </a:rPr>
              <a:t>особенности как объекта защиты</a:t>
            </a:r>
            <a:r>
              <a:rPr lang="ru-RU" dirty="0"/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>
                <a:solidFill>
                  <a:schemeClr val="tx2"/>
                </a:solidFill>
              </a:rPr>
              <a:t>Управление транзакциями. Аномалии, уровни изоляции, протоколы сериализации.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>
                <a:solidFill>
                  <a:schemeClr val="tx2"/>
                </a:solidFill>
              </a:rPr>
              <a:t>Безопасность </a:t>
            </a:r>
            <a:r>
              <a:rPr lang="ru-RU" dirty="0">
                <a:solidFill>
                  <a:schemeClr val="tx2"/>
                </a:solidFill>
              </a:rPr>
              <a:t>баз данных под управлением СУБД</a:t>
            </a:r>
          </a:p>
          <a:p>
            <a:pPr lvl="1"/>
            <a:r>
              <a:rPr lang="ru-RU" dirty="0">
                <a:solidFill>
                  <a:schemeClr val="accent1"/>
                </a:solidFill>
              </a:rPr>
              <a:t>Где еще «видно» данные при обработке</a:t>
            </a:r>
            <a:r>
              <a:rPr lang="ru-RU" dirty="0"/>
              <a:t>. Журнализация</a:t>
            </a:r>
          </a:p>
          <a:p>
            <a:pPr lvl="1"/>
            <a:r>
              <a:rPr lang="ru-RU" dirty="0">
                <a:solidFill>
                  <a:schemeClr val="accent1"/>
                </a:solidFill>
              </a:rPr>
              <a:t>Восстановление</a:t>
            </a:r>
            <a:r>
              <a:rPr lang="ru-RU" dirty="0"/>
              <a:t> СУБД после сбоев</a:t>
            </a:r>
          </a:p>
          <a:p>
            <a:pPr lvl="1"/>
            <a:r>
              <a:rPr lang="ru-RU" dirty="0">
                <a:solidFill>
                  <a:schemeClr val="accent1"/>
                </a:solidFill>
              </a:rPr>
              <a:t>Шифрование данных </a:t>
            </a:r>
            <a:r>
              <a:rPr lang="ru-RU" dirty="0"/>
              <a:t>при обработке</a:t>
            </a:r>
          </a:p>
          <a:p>
            <a:pPr lvl="1"/>
            <a:r>
              <a:rPr lang="ru-RU" dirty="0" err="1">
                <a:solidFill>
                  <a:schemeClr val="accent1"/>
                </a:solidFill>
              </a:rPr>
              <a:t>Форензика</a:t>
            </a:r>
            <a:r>
              <a:rPr lang="ru-RU" dirty="0">
                <a:solidFill>
                  <a:schemeClr val="accent1"/>
                </a:solidFill>
              </a:rPr>
              <a:t> в СУБД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Концепция ключа в моделировании данных, </a:t>
            </a:r>
            <a:r>
              <a:rPr lang="ru-RU" dirty="0">
                <a:solidFill>
                  <a:schemeClr val="accent1"/>
                </a:solidFill>
              </a:rPr>
              <a:t>атака с использованием конфликта ключей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 smtClean="0">
                <a:solidFill>
                  <a:schemeClr val="accent1"/>
                </a:solidFill>
              </a:rPr>
              <a:t>Атаки </a:t>
            </a:r>
            <a:r>
              <a:rPr lang="ru-RU" dirty="0">
                <a:solidFill>
                  <a:schemeClr val="accent1"/>
                </a:solidFill>
              </a:rPr>
              <a:t>логического вывода над СУБД. Связь с технологиями </a:t>
            </a:r>
            <a:r>
              <a:rPr lang="en-US" dirty="0">
                <a:solidFill>
                  <a:schemeClr val="accent1"/>
                </a:solidFill>
              </a:rPr>
              <a:t>OSINT</a:t>
            </a:r>
            <a:r>
              <a:rPr lang="ru-RU" dirty="0">
                <a:solidFill>
                  <a:schemeClr val="accent1"/>
                </a:solidFill>
              </a:rPr>
              <a:t>.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accent1"/>
                </a:solidFill>
              </a:rPr>
              <a:t>Математическое моделирование данных и логический вывод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accent1"/>
                </a:solidFill>
              </a:rPr>
              <a:t>Общие подходы к защите от атак логического вывода. СОВ в СУБД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accent1"/>
                </a:solidFill>
              </a:rPr>
              <a:t>Технологии маскирования данных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accent1"/>
                </a:solidFill>
              </a:rPr>
              <a:t>Атаки идентификации и анонимизация данных. Техники </a:t>
            </a:r>
            <a:r>
              <a:rPr lang="en-US" dirty="0">
                <a:solidFill>
                  <a:schemeClr val="accent1"/>
                </a:solidFill>
              </a:rPr>
              <a:t>k-</a:t>
            </a:r>
            <a:r>
              <a:rPr lang="ru-RU" dirty="0">
                <a:solidFill>
                  <a:schemeClr val="accent1"/>
                </a:solidFill>
              </a:rPr>
              <a:t>анонимизации и дифференциальной приватности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>
                <a:solidFill>
                  <a:schemeClr val="tx2"/>
                </a:solidFill>
              </a:rPr>
              <a:t>Распределенные и параллельные СУБД, </a:t>
            </a:r>
            <a:r>
              <a:rPr lang="ru-RU" dirty="0">
                <a:solidFill>
                  <a:schemeClr val="accent1"/>
                </a:solidFill>
              </a:rPr>
              <a:t>безопасность Больших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E4894A51-5318-CF92-5760-D8859A7BE5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303644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108"/>
    </mc:Choice>
    <mc:Fallback xmlns="">
      <p:transition spd="slow" advTm="250108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0"/>
          <p:cNvSpPr txBox="1">
            <a:spLocks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2D11E6-00E0-437A-AD36-F15796A4C828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4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284" y="586203"/>
            <a:ext cx="1800200" cy="49268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88ED6-B853-EB03-1DEE-B8F26F5A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437884"/>
            <a:ext cx="5904656" cy="664820"/>
          </a:xfrm>
        </p:spPr>
        <p:txBody>
          <a:bodyPr/>
          <a:lstStyle/>
          <a:p>
            <a:r>
              <a:rPr lang="ru-RU" dirty="0"/>
              <a:t>Курс СУБД – теория </a:t>
            </a:r>
            <a:r>
              <a:rPr lang="ru-RU"/>
              <a:t>и практика</a:t>
            </a:r>
            <a:endParaRPr lang="ru-RU" dirty="0"/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39442539-EE20-1CA6-4AEC-A27B20DCD0D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45978829"/>
              </p:ext>
            </p:extLst>
          </p:nvPr>
        </p:nvGraphicFramePr>
        <p:xfrm>
          <a:off x="684213" y="1484313"/>
          <a:ext cx="7848600" cy="4546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35459">
                  <a:extLst>
                    <a:ext uri="{9D8B030D-6E8A-4147-A177-3AD203B41FA5}">
                      <a16:colId xmlns:a16="http://schemas.microsoft.com/office/drawing/2014/main" val="2347762640"/>
                    </a:ext>
                  </a:extLst>
                </a:gridCol>
                <a:gridCol w="2988841">
                  <a:extLst>
                    <a:ext uri="{9D8B030D-6E8A-4147-A177-3AD203B41FA5}">
                      <a16:colId xmlns:a16="http://schemas.microsoft.com/office/drawing/2014/main" val="2925509001"/>
                    </a:ext>
                  </a:extLst>
                </a:gridCol>
                <a:gridCol w="755575">
                  <a:extLst>
                    <a:ext uri="{9D8B030D-6E8A-4147-A177-3AD203B41FA5}">
                      <a16:colId xmlns:a16="http://schemas.microsoft.com/office/drawing/2014/main" val="3612713766"/>
                    </a:ext>
                  </a:extLst>
                </a:gridCol>
                <a:gridCol w="3168725">
                  <a:extLst>
                    <a:ext uri="{9D8B030D-6E8A-4147-A177-3AD203B41FA5}">
                      <a16:colId xmlns:a16="http://schemas.microsoft.com/office/drawing/2014/main" val="3076906386"/>
                    </a:ext>
                  </a:extLst>
                </a:gridCol>
              </a:tblGrid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Теория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dirty="0"/>
                        <a:t>Практика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193889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Темы 1-3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Организация данных в реляционном сервере. Организация и контроль доступа.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ЛР1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Создание схемы данных и базовое разграничение доступа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802329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/>
                        <a:t>Тема 4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Моделирование данных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/>
                        <a:t>ЛР10</a:t>
                      </a:r>
                      <a:r>
                        <a:rPr lang="en-US" sz="1400" dirty="0" smtClean="0"/>
                        <a:t>*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 smtClean="0"/>
                        <a:t>Моделирование данных в реляционном сервере. Нормализация схемы данных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51397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Темы </a:t>
                      </a:r>
                      <a:r>
                        <a:rPr lang="ru-RU" sz="1400" dirty="0" smtClean="0"/>
                        <a:t>5,6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Операции с данными. </a:t>
                      </a:r>
                      <a:r>
                        <a:rPr lang="ru-RU" sz="1400" dirty="0" smtClean="0"/>
                        <a:t/>
                      </a:r>
                      <a:br>
                        <a:rPr lang="ru-RU" sz="1400" dirty="0" smtClean="0"/>
                      </a:br>
                      <a:r>
                        <a:rPr lang="ru-RU" sz="1400" dirty="0" smtClean="0"/>
                        <a:t>Запросы </a:t>
                      </a:r>
                      <a:r>
                        <a:rPr lang="ru-RU" sz="1400" dirty="0"/>
                        <a:t>и </a:t>
                      </a:r>
                      <a:r>
                        <a:rPr lang="en-US" sz="1400" dirty="0" err="1" smtClean="0"/>
                        <a:t>SQLi</a:t>
                      </a:r>
                      <a:r>
                        <a:rPr lang="ru-RU" sz="1400" dirty="0" smtClean="0"/>
                        <a:t>. </a:t>
                      </a:r>
                      <a:endParaRPr lang="en-US" sz="1400" dirty="0" smtClean="0"/>
                    </a:p>
                    <a:p>
                      <a:r>
                        <a:rPr lang="ru-RU" sz="1400" dirty="0" smtClean="0">
                          <a:solidFill>
                            <a:srgbClr val="C00000"/>
                          </a:solidFill>
                        </a:rPr>
                        <a:t>Контрольная</a:t>
                      </a:r>
                      <a:r>
                        <a:rPr lang="ru-RU" sz="1400" baseline="0" dirty="0" smtClean="0">
                          <a:solidFill>
                            <a:srgbClr val="C00000"/>
                          </a:solidFill>
                        </a:rPr>
                        <a:t> по </a:t>
                      </a:r>
                      <a:r>
                        <a:rPr lang="en-US" sz="1400" baseline="0" dirty="0" smtClean="0">
                          <a:solidFill>
                            <a:srgbClr val="C00000"/>
                          </a:solidFill>
                        </a:rPr>
                        <a:t>SQL</a:t>
                      </a:r>
                      <a:endParaRPr lang="ru-RU" sz="1400" dirty="0">
                        <a:solidFill>
                          <a:srgbClr val="C0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/>
                        <a:t>ЛР</a:t>
                      </a:r>
                      <a:r>
                        <a:rPr lang="en-US" sz="1400" dirty="0" smtClean="0"/>
                        <a:t>3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Разработка запросов и </a:t>
                      </a:r>
                      <a:r>
                        <a:rPr lang="en-US" sz="1400" dirty="0"/>
                        <a:t>SQLi</a:t>
                      </a:r>
                      <a:endParaRPr lang="ru-RU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42918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Темы </a:t>
                      </a:r>
                      <a:r>
                        <a:rPr lang="en-US" sz="1400" dirty="0" smtClean="0"/>
                        <a:t>7</a:t>
                      </a:r>
                      <a:r>
                        <a:rPr lang="ru-RU" sz="1400" dirty="0" smtClean="0"/>
                        <a:t>,</a:t>
                      </a:r>
                      <a:r>
                        <a:rPr lang="en-US" sz="1400" dirty="0" smtClean="0"/>
                        <a:t>8</a:t>
                      </a:r>
                      <a:endParaRPr lang="ru-RU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Объекты сервера. Аудит и расширенное управление доступом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 smtClean="0"/>
                        <a:t>ЛР</a:t>
                      </a:r>
                      <a:r>
                        <a:rPr lang="en-US" sz="1400" dirty="0" smtClean="0"/>
                        <a:t>2</a:t>
                      </a:r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Представления и триггеры. Расширенное управление доступом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10473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/>
                        <a:t>Темы </a:t>
                      </a:r>
                      <a:r>
                        <a:rPr lang="en-US" sz="1400" dirty="0" smtClean="0"/>
                        <a:t>9</a:t>
                      </a:r>
                      <a:endParaRPr lang="ru-RU" sz="1400" dirty="0"/>
                    </a:p>
                    <a:p>
                      <a:endParaRPr lang="ru-RU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Физическое хранение данных. Методы доступа. Производительность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ЛР4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/>
                        <a:t>Хранение и индексация данных. Управление нагрузкой.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0161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Темы </a:t>
                      </a:r>
                      <a:r>
                        <a:rPr lang="en-US" sz="1400" dirty="0" smtClean="0">
                          <a:solidFill>
                            <a:srgbClr val="7030A0"/>
                          </a:solidFill>
                        </a:rPr>
                        <a:t>10</a:t>
                      </a:r>
                      <a:endParaRPr lang="ru-RU" sz="1400" dirty="0">
                        <a:solidFill>
                          <a:srgbClr val="7030A0"/>
                        </a:solidFill>
                      </a:endParaRPr>
                    </a:p>
                    <a:p>
                      <a:endParaRPr lang="ru-RU" sz="1400" dirty="0">
                        <a:solidFill>
                          <a:srgbClr val="7030A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Оптимизация запросов </a:t>
                      </a:r>
                      <a:endParaRPr lang="ru-RU" sz="1400" dirty="0">
                        <a:solidFill>
                          <a:srgbClr val="7030A0"/>
                        </a:solidFill>
                        <a:sym typeface="Wingdings" panose="05000000000000000000" pitchFamily="2" charset="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ЛР5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400" dirty="0">
                          <a:solidFill>
                            <a:srgbClr val="7030A0"/>
                          </a:solidFill>
                        </a:rPr>
                        <a:t>Оптимизация запросов. Данные в оперативной памяти СУБД.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85754050"/>
                  </a:ext>
                </a:extLst>
              </a:tr>
            </a:tbl>
          </a:graphicData>
        </a:graphic>
      </p:graphicFrame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2E4FDC78-C240-5BF9-0136-6235F280B5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3" name="TextBox 2"/>
          <p:cNvSpPr txBox="1"/>
          <p:nvPr/>
        </p:nvSpPr>
        <p:spPr>
          <a:xfrm>
            <a:off x="755576" y="6227304"/>
            <a:ext cx="4062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 smtClean="0"/>
              <a:t>*ЛР11 – дополнительно по желанию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6139902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108"/>
    </mc:Choice>
    <mc:Fallback xmlns="">
      <p:transition spd="slow" advTm="250108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48787" y="5781756"/>
            <a:ext cx="1009862" cy="947671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6669" y="5804644"/>
            <a:ext cx="1009862" cy="947671"/>
          </a:xfrm>
          <a:prstGeom prst="rect">
            <a:avLst/>
          </a:prstGeom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Отчетность по курсу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idx="1"/>
          </p:nvPr>
        </p:nvSpPr>
        <p:spPr>
          <a:xfrm>
            <a:off x="457200" y="1290608"/>
            <a:ext cx="4040188" cy="639762"/>
          </a:xfrm>
        </p:spPr>
        <p:txBody>
          <a:bodyPr anchor="ctr"/>
          <a:lstStyle/>
          <a:p>
            <a:r>
              <a:rPr lang="ru-RU" dirty="0"/>
              <a:t>Бакалавры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half" idx="2"/>
          </p:nvPr>
        </p:nvSpPr>
        <p:spPr>
          <a:xfrm>
            <a:off x="457199" y="1930370"/>
            <a:ext cx="3477075" cy="3951288"/>
          </a:xfrm>
        </p:spPr>
        <p:txBody>
          <a:bodyPr anchor="t">
            <a:normAutofit fontScale="85000" lnSpcReduction="20000"/>
          </a:bodyPr>
          <a:lstStyle/>
          <a:p>
            <a:r>
              <a:rPr lang="ru-RU" dirty="0"/>
              <a:t>Лабораторные работы</a:t>
            </a:r>
          </a:p>
          <a:p>
            <a:pPr lvl="1"/>
            <a:r>
              <a:rPr lang="ru-RU" dirty="0"/>
              <a:t>Раньше срока можно сделать меньше </a:t>
            </a:r>
            <a:br>
              <a:rPr lang="ru-RU" dirty="0"/>
            </a:br>
            <a:r>
              <a:rPr lang="ru-RU" dirty="0"/>
              <a:t>(допуск к зачету – 12 баллов или 5 «обязательных» работ)</a:t>
            </a:r>
          </a:p>
          <a:p>
            <a:r>
              <a:rPr lang="ru-RU" dirty="0"/>
              <a:t>Зачет</a:t>
            </a:r>
          </a:p>
          <a:p>
            <a:pPr lvl="1"/>
            <a:r>
              <a:rPr lang="ru-RU" dirty="0"/>
              <a:t>Устный зачет после получения допуска по вопросам (+ зачет по </a:t>
            </a:r>
            <a:r>
              <a:rPr lang="ru-RU" dirty="0" smtClean="0"/>
              <a:t>КР или задача)</a:t>
            </a:r>
            <a:endParaRPr lang="ru-RU" dirty="0"/>
          </a:p>
          <a:p>
            <a:pPr lvl="1"/>
            <a:r>
              <a:rPr lang="ru-RU" dirty="0"/>
              <a:t>«Автомат» </a:t>
            </a:r>
            <a:r>
              <a:rPr lang="ru-RU" dirty="0" smtClean="0"/>
              <a:t>– возможен  </a:t>
            </a:r>
            <a:r>
              <a:rPr lang="ru-RU" dirty="0"/>
              <a:t>выполнившим 5 обязательных и одну дополнительную </a:t>
            </a:r>
            <a:r>
              <a:rPr lang="ru-RU" dirty="0" smtClean="0"/>
              <a:t>работу + зачет по КР</a:t>
            </a:r>
            <a:endParaRPr lang="ru-RU" dirty="0"/>
          </a:p>
          <a:p>
            <a:endParaRPr lang="ru-RU" dirty="0"/>
          </a:p>
          <a:p>
            <a:endParaRPr lang="ru-RU" dirty="0"/>
          </a:p>
        </p:txBody>
      </p:sp>
      <p:sp>
        <p:nvSpPr>
          <p:cNvPr id="7" name="Текст 6"/>
          <p:cNvSpPr>
            <a:spLocks noGrp="1"/>
          </p:cNvSpPr>
          <p:nvPr>
            <p:ph type="body" sz="quarter" idx="3"/>
          </p:nvPr>
        </p:nvSpPr>
        <p:spPr>
          <a:xfrm>
            <a:off x="4645027" y="1290608"/>
            <a:ext cx="4041775" cy="639762"/>
          </a:xfrm>
        </p:spPr>
        <p:txBody>
          <a:bodyPr anchor="ctr"/>
          <a:lstStyle/>
          <a:p>
            <a:r>
              <a:rPr lang="ru-RU" dirty="0"/>
              <a:t>Специалисты</a:t>
            </a:r>
          </a:p>
        </p:txBody>
      </p:sp>
      <p:sp>
        <p:nvSpPr>
          <p:cNvPr id="8" name="Объект 7"/>
          <p:cNvSpPr>
            <a:spLocks noGrp="1"/>
          </p:cNvSpPr>
          <p:nvPr>
            <p:ph sz="quarter" idx="4"/>
          </p:nvPr>
        </p:nvSpPr>
        <p:spPr>
          <a:xfrm>
            <a:off x="4211960" y="1930369"/>
            <a:ext cx="4752528" cy="3946903"/>
          </a:xfrm>
        </p:spPr>
        <p:txBody>
          <a:bodyPr anchor="t">
            <a:normAutofit fontScale="85000" lnSpcReduction="10000"/>
          </a:bodyPr>
          <a:lstStyle/>
          <a:p>
            <a:r>
              <a:rPr lang="ru-RU" dirty="0"/>
              <a:t>Зачет</a:t>
            </a:r>
          </a:p>
          <a:p>
            <a:pPr lvl="1"/>
            <a:r>
              <a:rPr lang="ru-RU" dirty="0"/>
              <a:t>По лабораторным работам</a:t>
            </a:r>
          </a:p>
          <a:p>
            <a:pPr lvl="1"/>
            <a:r>
              <a:rPr lang="ru-RU" dirty="0"/>
              <a:t>Раньше срока можно сделать меньше </a:t>
            </a:r>
            <a:br>
              <a:rPr lang="ru-RU" dirty="0"/>
            </a:br>
            <a:r>
              <a:rPr lang="ru-RU" dirty="0"/>
              <a:t>(допуск к экзамену – 15 баллов или 6 «обязательных» работ)</a:t>
            </a:r>
          </a:p>
          <a:p>
            <a:pPr lvl="1"/>
            <a:r>
              <a:rPr lang="ru-RU" dirty="0"/>
              <a:t>Число баллов на экзамене влияет на «отлично» (от 14) и «хорошо» (от 10)</a:t>
            </a:r>
          </a:p>
          <a:p>
            <a:r>
              <a:rPr lang="ru-RU" dirty="0"/>
              <a:t>Экзамен</a:t>
            </a:r>
          </a:p>
          <a:p>
            <a:pPr lvl="1"/>
            <a:r>
              <a:rPr lang="ru-RU" dirty="0"/>
              <a:t>«Автоматов» нет </a:t>
            </a:r>
            <a:endParaRPr lang="en-US" dirty="0"/>
          </a:p>
          <a:p>
            <a:pPr lvl="1"/>
            <a:r>
              <a:rPr lang="ru-RU" dirty="0"/>
              <a:t>БИЛЕТ: 2 вопроса (+ зачет по КР </a:t>
            </a:r>
            <a:r>
              <a:rPr lang="ru-RU" dirty="0" smtClean="0"/>
              <a:t>или задача </a:t>
            </a:r>
            <a:r>
              <a:rPr lang="en-US" dirty="0" smtClean="0"/>
              <a:t>SQL</a:t>
            </a:r>
            <a:r>
              <a:rPr lang="ru-RU" dirty="0"/>
              <a:t>)</a:t>
            </a:r>
          </a:p>
          <a:p>
            <a:pPr lvl="1"/>
            <a:r>
              <a:rPr lang="ru-RU" dirty="0" smtClean="0"/>
              <a:t>Число </a:t>
            </a:r>
            <a:r>
              <a:rPr lang="ru-RU" dirty="0"/>
              <a:t>баллов имеет значение 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smtClean="0"/>
              <a:t>(</a:t>
            </a:r>
            <a:r>
              <a:rPr lang="ru-RU" dirty="0"/>
              <a:t>см. «зачет»)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294967295"/>
          </p:nvPr>
        </p:nvSpPr>
        <p:spPr>
          <a:xfrm>
            <a:off x="8845550" y="6597650"/>
            <a:ext cx="298450" cy="260350"/>
          </a:xfrm>
        </p:spPr>
        <p:txBody>
          <a:bodyPr/>
          <a:lstStyle/>
          <a:p>
            <a:fld id="{C87B2790-9B43-4903-B0A0-A4941B7FD28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9" name="Скругленный прямоугольник 8"/>
          <p:cNvSpPr/>
          <p:nvPr/>
        </p:nvSpPr>
        <p:spPr>
          <a:xfrm>
            <a:off x="2689729" y="6165987"/>
            <a:ext cx="2287875" cy="486373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Срок сдачи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5836179" y="6148304"/>
            <a:ext cx="2850623" cy="50405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Качество защиты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33369" y="6138722"/>
            <a:ext cx="14045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b="1" dirty="0">
                <a:solidFill>
                  <a:schemeClr val="accent1"/>
                </a:solidFill>
              </a:rPr>
              <a:t>Баллы</a:t>
            </a:r>
          </a:p>
        </p:txBody>
      </p:sp>
    </p:spTree>
    <p:extLst>
      <p:ext uri="{BB962C8B-B14F-4D97-AF65-F5344CB8AC3E}">
        <p14:creationId xmlns:p14="http://schemas.microsoft.com/office/powerpoint/2010/main" val="502975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Номер слайда 30"/>
          <p:cNvSpPr txBox="1">
            <a:spLocks/>
          </p:cNvSpPr>
          <p:nvPr/>
        </p:nvSpPr>
        <p:spPr>
          <a:xfrm>
            <a:off x="0" y="0"/>
            <a:ext cx="0" cy="0"/>
          </a:xfrm>
          <a:prstGeom prst="rect">
            <a:avLst/>
          </a:prstGeom>
          <a:solidFill>
            <a:schemeClr val="accent2"/>
          </a:solidFill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700" b="1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A2D11E6-00E0-437A-AD36-F15796A4C828}" type="slidenum">
              <a:rPr lang="ru-RU" smtClean="0">
                <a:latin typeface="Arial" panose="020B0604020202020204" pitchFamily="34" charset="0"/>
                <a:cs typeface="Arial" panose="020B0604020202020204" pitchFamily="34" charset="0"/>
              </a:rPr>
              <a:pPr/>
              <a:t>6</a:t>
            </a:fld>
            <a:endParaRPr lang="ru-RU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Рисунок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7284" y="586203"/>
            <a:ext cx="1800200" cy="492686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5488ED6-B853-EB03-1DEE-B8F26F5A98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608" y="437884"/>
            <a:ext cx="5904656" cy="664820"/>
          </a:xfrm>
        </p:spPr>
        <p:txBody>
          <a:bodyPr/>
          <a:lstStyle/>
          <a:p>
            <a:r>
              <a:rPr lang="ru-RU" dirty="0"/>
              <a:t>Основная литература по курсу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F7AA9D2-2B2F-4C08-2088-FB4FCF829E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268760"/>
            <a:ext cx="7848872" cy="5328592"/>
          </a:xfrm>
        </p:spPr>
        <p:txBody>
          <a:bodyPr anchor="t">
            <a:normAutofit/>
          </a:bodyPr>
          <a:lstStyle/>
          <a:p>
            <a:r>
              <a:rPr lang="ru-RU" sz="1600" b="1" dirty="0"/>
              <a:t>Литература по СУБД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rabicPeriod"/>
            </a:pPr>
            <a:r>
              <a:rPr lang="ru-RU" sz="1400" dirty="0"/>
              <a:t>Кузнецов С.Д. Базы данных </a:t>
            </a:r>
            <a:r>
              <a:rPr lang="en-US" sz="1400" dirty="0">
                <a:solidFill>
                  <a:srgbClr val="7030A0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http://citforum.ru/database/advanced_intro/</a:t>
            </a:r>
            <a:r>
              <a:rPr lang="ru-RU" sz="1400" dirty="0">
                <a:solidFill>
                  <a:srgbClr val="7030A0"/>
                </a:solidFill>
              </a:rPr>
              <a:t> 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rabicPeriod"/>
            </a:pPr>
            <a:r>
              <a:rPr lang="ru-RU" sz="1400" dirty="0" err="1"/>
              <a:t>Дейт</a:t>
            </a:r>
            <a:r>
              <a:rPr lang="ru-RU" sz="1400" dirty="0"/>
              <a:t>, К. Дж. Введение в системы баз данных, 8-е издание.: Пер. с англ. — М.: Издательский дом "Вильяме", 2005. — 1328 с.: ил. (или любое более позднее издание/редакцию)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rabicPeriod"/>
            </a:pPr>
            <a:r>
              <a:rPr lang="en-US" sz="1400" dirty="0" err="1"/>
              <a:t>Elmasri</a:t>
            </a:r>
            <a:r>
              <a:rPr lang="en-US" sz="1400" dirty="0"/>
              <a:t>, </a:t>
            </a:r>
            <a:r>
              <a:rPr lang="en-US" sz="1400" dirty="0" err="1"/>
              <a:t>Ramez</a:t>
            </a:r>
            <a:r>
              <a:rPr lang="en-US" sz="1400" dirty="0"/>
              <a:t>.</a:t>
            </a:r>
            <a:r>
              <a:rPr lang="ru-RU" sz="1400" dirty="0"/>
              <a:t> </a:t>
            </a:r>
            <a:r>
              <a:rPr lang="en-US" sz="1400" dirty="0"/>
              <a:t>Fundamentals of database systems / </a:t>
            </a:r>
            <a:r>
              <a:rPr lang="en-US" sz="1400" dirty="0" err="1"/>
              <a:t>Ramez</a:t>
            </a:r>
            <a:r>
              <a:rPr lang="en-US" sz="1400" dirty="0"/>
              <a:t> </a:t>
            </a:r>
            <a:r>
              <a:rPr lang="en-US" sz="1400" dirty="0" err="1"/>
              <a:t>Elmasri</a:t>
            </a:r>
            <a:r>
              <a:rPr lang="en-US" sz="1400" dirty="0"/>
              <a:t>, </a:t>
            </a:r>
            <a:r>
              <a:rPr lang="en-US" sz="1400" dirty="0" err="1"/>
              <a:t>Shamkant</a:t>
            </a:r>
            <a:r>
              <a:rPr lang="en-US" sz="1400" dirty="0"/>
              <a:t> B. </a:t>
            </a:r>
            <a:r>
              <a:rPr lang="en-US" sz="1400" dirty="0" err="1"/>
              <a:t>Navathe</a:t>
            </a:r>
            <a:r>
              <a:rPr lang="en-US" sz="1400" dirty="0"/>
              <a:t>.— 6th ed.</a:t>
            </a:r>
            <a:r>
              <a:rPr lang="ru-RU" sz="1400" dirty="0"/>
              <a:t> (или любое более позднее издание/редакцию)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rabicPeriod"/>
            </a:pPr>
            <a:r>
              <a:rPr lang="ru-RU" sz="1400" dirty="0"/>
              <a:t>Тарасов С.В. СУБД для программиста. Базы данных изнутри. – М.: СОЛОН-Пресс, 2015. – 320с. 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rabicPeriod"/>
            </a:pPr>
            <a:r>
              <a:rPr lang="ru-RU" sz="1400" dirty="0">
                <a:solidFill>
                  <a:srgbClr val="7030A0"/>
                </a:solidFill>
              </a:rPr>
              <a:t>Рогов Е. В.</a:t>
            </a:r>
            <a:r>
              <a:rPr lang="en-US" sz="1400" dirty="0">
                <a:solidFill>
                  <a:srgbClr val="7030A0"/>
                </a:solidFill>
              </a:rPr>
              <a:t> </a:t>
            </a:r>
            <a:r>
              <a:rPr lang="ru-RU" sz="1400" dirty="0" err="1">
                <a:solidFill>
                  <a:srgbClr val="7030A0"/>
                </a:solidFill>
              </a:rPr>
              <a:t>PostgreSQL</a:t>
            </a:r>
            <a:r>
              <a:rPr lang="ru-RU" sz="1400" dirty="0">
                <a:solidFill>
                  <a:srgbClr val="7030A0"/>
                </a:solidFill>
              </a:rPr>
              <a:t> 15 изнутри. — М.: ДМК Пресс, 2023. — 662 с.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rabicPeriod"/>
            </a:pPr>
            <a:r>
              <a:rPr lang="ru-RU" sz="1400" dirty="0">
                <a:solidFill>
                  <a:srgbClr val="7030A0"/>
                </a:solidFill>
              </a:rPr>
              <a:t>Открытый раздел по СУБД </a:t>
            </a:r>
            <a:r>
              <a:rPr lang="en-US" sz="1400" dirty="0">
                <a:solidFill>
                  <a:srgbClr val="7030A0"/>
                </a:solidFill>
              </a:rPr>
              <a:t>Postgres Pro (PostgreSQL) </a:t>
            </a:r>
            <a:r>
              <a:rPr lang="en-US" sz="1400" dirty="0">
                <a:solidFill>
                  <a:srgbClr val="7030A0"/>
                </a:solidFill>
                <a:hlinkClick r:id="rId5"/>
              </a:rPr>
              <a:t>https://postgrespro.ru/education</a:t>
            </a:r>
            <a:r>
              <a:rPr lang="en-US" sz="1400" dirty="0">
                <a:solidFill>
                  <a:srgbClr val="7030A0"/>
                </a:solidFill>
              </a:rPr>
              <a:t> 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rabicPeriod"/>
            </a:pPr>
            <a:endParaRPr lang="en-US" sz="1400" dirty="0"/>
          </a:p>
          <a:p>
            <a:pPr>
              <a:spcBef>
                <a:spcPts val="600"/>
              </a:spcBef>
            </a:pPr>
            <a:r>
              <a:rPr lang="ru-RU" sz="1600" b="1" dirty="0"/>
              <a:t>Литература по безопасности баз данных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rabicPeriod"/>
            </a:pPr>
            <a:r>
              <a:rPr lang="ru-RU" sz="1400" dirty="0" err="1"/>
              <a:t>Полтавцева</a:t>
            </a:r>
            <a:r>
              <a:rPr lang="ru-RU" sz="1400" dirty="0"/>
              <a:t> М.А. Безопасность баз данных. / М. А. </a:t>
            </a:r>
            <a:r>
              <a:rPr lang="ru-RU" sz="1400" dirty="0" err="1"/>
              <a:t>Полтавцева</a:t>
            </a:r>
            <a:r>
              <a:rPr lang="ru-RU" sz="1400" dirty="0"/>
              <a:t>; Санкт-Петербургский политехнический университет Петра Великого. — Санкт-Петербург: Изд-во </a:t>
            </a:r>
            <a:r>
              <a:rPr lang="ru-RU" sz="1400" dirty="0" err="1"/>
              <a:t>Политехн</a:t>
            </a:r>
            <a:r>
              <a:rPr lang="ru-RU" sz="1400" dirty="0"/>
              <a:t>. ун-та, 2023</a:t>
            </a:r>
          </a:p>
          <a:p>
            <a:pPr marL="857250" lvl="1" indent="-457200">
              <a:spcBef>
                <a:spcPts val="600"/>
              </a:spcBef>
              <a:buFont typeface="+mj-lt"/>
              <a:buAutoNum type="arabicPeriod"/>
            </a:pPr>
            <a:r>
              <a:rPr lang="ru-RU" sz="1400" dirty="0" smtClean="0"/>
              <a:t>Платонов </a:t>
            </a:r>
            <a:r>
              <a:rPr lang="ru-RU" sz="1400" dirty="0"/>
              <a:t>В.В., Полтавцева М. А. Программно-аппаратные средства защиты информации. М.: Академия. - 2020г.</a:t>
            </a:r>
          </a:p>
          <a:p>
            <a:pPr marL="857250" lvl="1" indent="-457200">
              <a:buFont typeface="+mj-lt"/>
              <a:buAutoNum type="arabicPeriod"/>
            </a:pPr>
            <a:endParaRPr lang="ru-RU" sz="1400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45A39E6-6F55-E374-CEE5-16C6391A45E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06312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50108"/>
    </mc:Choice>
    <mc:Fallback xmlns="">
      <p:transition spd="slow" advTm="250108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50000"/>
              </a:lnSpc>
            </a:pPr>
            <a: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История и организация СУБД</a:t>
            </a:r>
            <a:br>
              <a:rPr lang="ru-RU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ru-RU" sz="2400" dirty="0">
                <a:solidFill>
                  <a:schemeClr val="tx1">
                    <a:lumMod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Эволюция технологий и безопасности</a:t>
            </a:r>
            <a:endParaRPr lang="ru-RU" b="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16216" y="412793"/>
            <a:ext cx="2448272" cy="6700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5026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2151"/>
    </mc:Choice>
    <mc:Fallback xmlns="">
      <p:transition spd="slow" advTm="1215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D5D47EE-59AD-3635-4ABD-37F79EA63A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Темы лекции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BC114BF-7CF3-7B70-F7DF-B77ECF5402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marL="457200" indent="-457200">
              <a:buFont typeface="+mj-lt"/>
              <a:buAutoNum type="arabicPeriod"/>
            </a:pPr>
            <a:r>
              <a:rPr lang="ru-RU" dirty="0"/>
              <a:t>Эволюция технологий управления данными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Современное понятие и функции СУБД 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Классификация современных СУБД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Архитектура СУБД и основные компоненты, интерфейсы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Архитектура СУБД </a:t>
            </a:r>
            <a:r>
              <a:rPr lang="en-US" dirty="0" err="1"/>
              <a:t>Postgres</a:t>
            </a:r>
            <a:endParaRPr lang="ru-RU" dirty="0"/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Специфика СУБД и баз данных как объекта защиты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Эволюция  доверия в системах управления данными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Эволюция методов атаки и защиты в СУБД с развитием технологий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Уязвимости и модель угроз для СУБД и БД</a:t>
            </a:r>
          </a:p>
          <a:p>
            <a:pPr marL="457200" indent="-457200">
              <a:buFont typeface="+mj-lt"/>
              <a:buAutoNum type="arabicPeriod"/>
            </a:pPr>
            <a:r>
              <a:rPr lang="ru-RU" dirty="0"/>
              <a:t>Направления современных исследований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C7EC5E5-F5A9-C307-2886-0AAA6331E27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2456347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История: Базы данных и файловые системы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Общее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>
          <a:xfrm>
            <a:off x="457200" y="2276872"/>
            <a:ext cx="4040188" cy="4143243"/>
          </a:xfrm>
        </p:spPr>
        <p:txBody>
          <a:bodyPr anchor="t">
            <a:normAutofit fontScale="925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ru-RU" dirty="0"/>
              <a:t>Управление внешней памятью. 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Организация физического хранения.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Использование буферов данных. 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Структуризация </a:t>
            </a:r>
            <a:r>
              <a:rPr lang="ru-RU" i="1" dirty="0">
                <a:solidFill>
                  <a:schemeClr val="accent1"/>
                </a:solidFill>
              </a:rPr>
              <a:t>данных </a:t>
            </a:r>
            <a:r>
              <a:rPr lang="ru-RU" dirty="0"/>
              <a:t>для ускорения поиска </a:t>
            </a:r>
            <a:br>
              <a:rPr lang="ru-RU" dirty="0"/>
            </a:br>
            <a:r>
              <a:rPr lang="ru-RU" i="1" dirty="0"/>
              <a:t>в виде деревьев каталогов различной структуры 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</p:txBody>
      </p:sp>
      <p:sp>
        <p:nvSpPr>
          <p:cNvPr id="10" name="Текст 9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ru-RU" dirty="0"/>
              <a:t>Отличия ФС</a:t>
            </a:r>
          </a:p>
        </p:txBody>
      </p:sp>
      <p:sp>
        <p:nvSpPr>
          <p:cNvPr id="11" name="Объект 10"/>
          <p:cNvSpPr>
            <a:spLocks noGrp="1"/>
          </p:cNvSpPr>
          <p:nvPr>
            <p:ph sz="quarter" idx="4"/>
          </p:nvPr>
        </p:nvSpPr>
        <p:spPr>
          <a:xfrm>
            <a:off x="4645027" y="2276873"/>
            <a:ext cx="4041775" cy="4143242"/>
          </a:xfrm>
        </p:spPr>
        <p:txBody>
          <a:bodyPr anchor="t">
            <a:normAutofit fontScale="92500" lnSpcReduction="10000"/>
          </a:bodyPr>
          <a:lstStyle/>
          <a:p>
            <a:pPr marL="457200" lvl="0" indent="-457200">
              <a:buFont typeface="+mj-lt"/>
              <a:buAutoNum type="arabicPeriod"/>
            </a:pPr>
            <a:r>
              <a:rPr lang="ru-RU" dirty="0"/>
              <a:t>Отсутствие «</a:t>
            </a:r>
            <a:r>
              <a:rPr lang="ru-RU" b="1" dirty="0"/>
              <a:t>внутренней»</a:t>
            </a:r>
            <a:r>
              <a:rPr lang="ru-RU" dirty="0"/>
              <a:t> структуризации данных 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Отсутствие поддержки </a:t>
            </a:r>
            <a:r>
              <a:rPr lang="ru-RU" b="1" dirty="0"/>
              <a:t>согласованности</a:t>
            </a:r>
            <a:r>
              <a:rPr lang="ru-RU" dirty="0"/>
              <a:t>  данных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Недостаточное качество восстановления при сбоях  </a:t>
            </a:r>
          </a:p>
          <a:p>
            <a:pPr marL="457200" lvl="0" indent="-457200">
              <a:buFont typeface="+mj-lt"/>
              <a:buAutoNum type="arabicPeriod"/>
            </a:pPr>
            <a:r>
              <a:rPr lang="ru-RU" dirty="0"/>
              <a:t>Недостатки при множественном доступе</a:t>
            </a:r>
            <a:br>
              <a:rPr lang="ru-RU" dirty="0"/>
            </a:br>
            <a:r>
              <a:rPr lang="ru-RU" dirty="0"/>
              <a:t> к «внутренним» данным </a:t>
            </a:r>
          </a:p>
          <a:p>
            <a:pPr marL="457200" indent="-457200">
              <a:buFont typeface="+mj-lt"/>
              <a:buAutoNum type="arabicPeriod"/>
            </a:pPr>
            <a:endParaRPr lang="ru-RU" dirty="0"/>
          </a:p>
        </p:txBody>
      </p:sp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A361CF52-14D2-281C-C6C8-EFE3C6F3F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5292927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История. Этап </a:t>
            </a:r>
            <a:r>
              <a:rPr lang="en-GB"/>
              <a:t>I - </a:t>
            </a:r>
            <a:r>
              <a:rPr lang="ru-RU"/>
              <a:t>Библиотеки ИС</a:t>
            </a:r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sz="half" idx="1"/>
          </p:nvPr>
        </p:nvSpPr>
        <p:spPr>
          <a:xfrm>
            <a:off x="457200" y="4365104"/>
            <a:ext cx="4038600" cy="1761063"/>
          </a:xfrm>
        </p:spPr>
        <p:txBody>
          <a:bodyPr anchor="t">
            <a:normAutofit/>
          </a:bodyPr>
          <a:lstStyle/>
          <a:p>
            <a:r>
              <a:rPr lang="ru-RU" sz="1600" dirty="0"/>
              <a:t>Структуризация и целостность данных</a:t>
            </a:r>
          </a:p>
          <a:p>
            <a:r>
              <a:rPr lang="ru-RU" sz="1600" dirty="0"/>
              <a:t>Языки запросов</a:t>
            </a:r>
          </a:p>
          <a:p>
            <a:r>
              <a:rPr lang="ru-RU" sz="1600" dirty="0"/>
              <a:t>Транзакции</a:t>
            </a:r>
          </a:p>
          <a:p>
            <a:r>
              <a:rPr lang="ru-RU" sz="1600" dirty="0"/>
              <a:t>Журнализация</a:t>
            </a:r>
          </a:p>
          <a:p>
            <a:r>
              <a:rPr lang="ru-RU" sz="1600" dirty="0"/>
              <a:t>Многопользовательский режим</a:t>
            </a:r>
          </a:p>
        </p:txBody>
      </p:sp>
      <p:sp>
        <p:nvSpPr>
          <p:cNvPr id="9" name="Объект 8"/>
          <p:cNvSpPr>
            <a:spLocks noGrp="1"/>
          </p:cNvSpPr>
          <p:nvPr>
            <p:ph sz="half" idx="2"/>
          </p:nvPr>
        </p:nvSpPr>
        <p:spPr>
          <a:xfrm>
            <a:off x="4648200" y="4365104"/>
            <a:ext cx="4038600" cy="1761063"/>
          </a:xfrm>
        </p:spPr>
        <p:txBody>
          <a:bodyPr anchor="t">
            <a:normAutofit/>
          </a:bodyPr>
          <a:lstStyle/>
          <a:p>
            <a:r>
              <a:rPr lang="ru-RU" sz="1600" dirty="0"/>
              <a:t>Низкая скорость обработки больших данных</a:t>
            </a:r>
          </a:p>
          <a:p>
            <a:r>
              <a:rPr lang="ru-RU" sz="1600" dirty="0"/>
              <a:t>Нехватка оперативной памяти для достаточной производительности (всех данных)</a:t>
            </a:r>
          </a:p>
          <a:p>
            <a:endParaRPr lang="ru-RU" sz="1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332D7539-2272-29D7-8B40-70CA7D3377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10" name="Рисунок 9" descr="http://citforum.ru/database/advanced_intro/1_5.gif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192" y="1340768"/>
            <a:ext cx="8424936" cy="280831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2170024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История. Этап </a:t>
            </a:r>
            <a:r>
              <a:rPr lang="en-GB"/>
              <a:t>II - </a:t>
            </a:r>
            <a:r>
              <a:rPr lang="ru-RU"/>
              <a:t>СУБД в составе ИС</a:t>
            </a:r>
            <a:endParaRPr lang="ru-RU" dirty="0"/>
          </a:p>
        </p:txBody>
      </p:sp>
      <p:sp>
        <p:nvSpPr>
          <p:cNvPr id="9" name="Объект 8"/>
          <p:cNvSpPr>
            <a:spLocks noGrp="1"/>
          </p:cNvSpPr>
          <p:nvPr>
            <p:ph sz="half" idx="1"/>
          </p:nvPr>
        </p:nvSpPr>
        <p:spPr>
          <a:xfrm>
            <a:off x="457200" y="3933056"/>
            <a:ext cx="4038600" cy="2193111"/>
          </a:xfrm>
        </p:spPr>
        <p:txBody>
          <a:bodyPr anchor="t">
            <a:normAutofit/>
          </a:bodyPr>
          <a:lstStyle/>
          <a:p>
            <a:r>
              <a:rPr lang="ru-RU" sz="1600" dirty="0"/>
              <a:t>Индексация</a:t>
            </a:r>
          </a:p>
          <a:p>
            <a:r>
              <a:rPr lang="ru-RU" sz="1600" dirty="0" err="1"/>
              <a:t>Препроцессорность</a:t>
            </a:r>
            <a:r>
              <a:rPr lang="ru-RU" sz="1600" dirty="0"/>
              <a:t> поиска</a:t>
            </a:r>
          </a:p>
          <a:p>
            <a:endParaRPr lang="ru-RU" sz="1600" dirty="0"/>
          </a:p>
          <a:p>
            <a:pPr marL="0" indent="0">
              <a:buNone/>
            </a:pPr>
            <a:endParaRPr lang="ru-RU" sz="1600" dirty="0"/>
          </a:p>
          <a:p>
            <a:pPr marL="0" indent="0">
              <a:buNone/>
            </a:pPr>
            <a:r>
              <a:rPr lang="ru-RU" sz="1600" dirty="0"/>
              <a:t>многоступенчатый поиск – ускорение обработки больших данных</a:t>
            </a:r>
          </a:p>
          <a:p>
            <a:endParaRPr lang="ru-RU" sz="1600" dirty="0"/>
          </a:p>
        </p:txBody>
      </p:sp>
      <p:sp>
        <p:nvSpPr>
          <p:cNvPr id="10" name="Объект 9"/>
          <p:cNvSpPr>
            <a:spLocks noGrp="1"/>
          </p:cNvSpPr>
          <p:nvPr>
            <p:ph sz="half" idx="2"/>
          </p:nvPr>
        </p:nvSpPr>
        <p:spPr>
          <a:xfrm>
            <a:off x="4648200" y="3933056"/>
            <a:ext cx="4038600" cy="2193111"/>
          </a:xfrm>
        </p:spPr>
        <p:txBody>
          <a:bodyPr anchor="t">
            <a:normAutofit/>
          </a:bodyPr>
          <a:lstStyle/>
          <a:p>
            <a:r>
              <a:rPr lang="ru-RU" sz="1600" dirty="0"/>
              <a:t>Повторение функционала в каждой ИС</a:t>
            </a:r>
          </a:p>
          <a:p>
            <a:endParaRPr lang="ru-RU" sz="1600" dirty="0"/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C485FAD2-4F67-D261-054A-60F5B04853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8" name="Рисунок 7" descr="http://citforum.ru/database/advanced_intro/1_8.gif"/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1466335"/>
            <a:ext cx="8712968" cy="232270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1730884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История. Этап </a:t>
            </a:r>
            <a:r>
              <a:rPr lang="en-GB"/>
              <a:t>III - </a:t>
            </a:r>
            <a:r>
              <a:rPr lang="ru-RU"/>
              <a:t>СУБД как выделенный компонент</a:t>
            </a:r>
            <a:endParaRPr lang="ru-RU" dirty="0"/>
          </a:p>
        </p:txBody>
      </p:sp>
      <p:sp>
        <p:nvSpPr>
          <p:cNvPr id="8" name="Объект 7"/>
          <p:cNvSpPr>
            <a:spLocks noGrp="1"/>
          </p:cNvSpPr>
          <p:nvPr>
            <p:ph idx="1"/>
          </p:nvPr>
        </p:nvSpPr>
        <p:spPr>
          <a:xfrm>
            <a:off x="683568" y="4869160"/>
            <a:ext cx="7848872" cy="1368152"/>
          </a:xfrm>
        </p:spPr>
        <p:txBody>
          <a:bodyPr/>
          <a:lstStyle/>
          <a:p>
            <a:r>
              <a:rPr lang="ru-RU" dirty="0"/>
              <a:t>Отсутствие дублирования в разных ИС</a:t>
            </a:r>
          </a:p>
          <a:p>
            <a:r>
              <a:rPr lang="ru-RU" dirty="0"/>
              <a:t>Универсальные технологии управления данными для различных ИС</a:t>
            </a:r>
          </a:p>
        </p:txBody>
      </p:sp>
      <p:sp>
        <p:nvSpPr>
          <p:cNvPr id="2" name="Номер слайда 1">
            <a:extLst>
              <a:ext uri="{FF2B5EF4-FFF2-40B4-BE49-F238E27FC236}">
                <a16:creationId xmlns:a16="http://schemas.microsoft.com/office/drawing/2014/main" id="{6DE002D8-6CFD-C5B7-1AAB-6B2E8603D72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9" name="Рисунок 8" descr="http://citforum.ru/database/advanced_intro/1_9.gif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9632" y="1412776"/>
            <a:ext cx="6552728" cy="3312368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0106280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Заголовок 5">
            <a:extLst>
              <a:ext uri="{FF2B5EF4-FFF2-40B4-BE49-F238E27FC236}">
                <a16:creationId xmlns:a16="http://schemas.microsoft.com/office/drawing/2014/main" id="{4EC70FB0-E7B0-1C54-3AB5-6F9CFE9BA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развития СУБД как продукта/технологии</a:t>
            </a:r>
          </a:p>
        </p:txBody>
      </p:sp>
      <p:graphicFrame>
        <p:nvGraphicFramePr>
          <p:cNvPr id="8" name="Объект 7">
            <a:extLst>
              <a:ext uri="{FF2B5EF4-FFF2-40B4-BE49-F238E27FC236}">
                <a16:creationId xmlns:a16="http://schemas.microsoft.com/office/drawing/2014/main" id="{68230A10-A98D-D025-B8D0-DE0E888F4B82}"/>
              </a:ext>
            </a:extLst>
          </p:cNvPr>
          <p:cNvGraphicFramePr>
            <a:graphicFrameLocks noGrp="1" noChangeAspect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46937623"/>
              </p:ext>
            </p:extLst>
          </p:nvPr>
        </p:nvGraphicFramePr>
        <p:xfrm>
          <a:off x="206375" y="1700213"/>
          <a:ext cx="8942388" cy="38163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4" name="Visio" r:id="rId3" imgW="7610651" imgH="3248082" progId="Visio.Drawing.15">
                  <p:embed/>
                </p:oleObj>
              </mc:Choice>
              <mc:Fallback>
                <p:oleObj name="Visio" r:id="rId3" imgW="7610651" imgH="3248082" progId="Visio.Drawing.15">
                  <p:embed/>
                  <p:pic>
                    <p:nvPicPr>
                      <p:cNvPr id="5" name="Объект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/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6375" y="1700213"/>
                        <a:ext cx="8942388" cy="381635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ACBBC989-45EB-5D84-F705-827FEFD2A1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13</a:t>
            </a:fld>
            <a:endParaRPr lang="ru-RU"/>
          </a:p>
        </p:txBody>
      </p:sp>
      <p:sp>
        <p:nvSpPr>
          <p:cNvPr id="2" name="Стрелка влево 1"/>
          <p:cNvSpPr/>
          <p:nvPr/>
        </p:nvSpPr>
        <p:spPr>
          <a:xfrm>
            <a:off x="4788024" y="3409499"/>
            <a:ext cx="3600400" cy="39777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Стрелка влево 6"/>
          <p:cNvSpPr/>
          <p:nvPr/>
        </p:nvSpPr>
        <p:spPr>
          <a:xfrm>
            <a:off x="6732240" y="1844824"/>
            <a:ext cx="1656184" cy="397778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5785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Заголовок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Эволюция технологий СУБД</a:t>
            </a:r>
          </a:p>
        </p:txBody>
      </p:sp>
      <p:graphicFrame>
        <p:nvGraphicFramePr>
          <p:cNvPr id="13" name="Таблица 12">
            <a:extLst>
              <a:ext uri="{FF2B5EF4-FFF2-40B4-BE49-F238E27FC236}">
                <a16:creationId xmlns:a16="http://schemas.microsoft.com/office/drawing/2014/main" id="{56D38F74-6575-04C7-8D18-7AA721FE82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73633161"/>
              </p:ext>
            </p:extLst>
          </p:nvPr>
        </p:nvGraphicFramePr>
        <p:xfrm>
          <a:off x="251520" y="1392617"/>
          <a:ext cx="8568952" cy="50720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30672">
                  <a:extLst>
                    <a:ext uri="{9D8B030D-6E8A-4147-A177-3AD203B41FA5}">
                      <a16:colId xmlns:a16="http://schemas.microsoft.com/office/drawing/2014/main" val="774511637"/>
                    </a:ext>
                  </a:extLst>
                </a:gridCol>
                <a:gridCol w="2997720">
                  <a:extLst>
                    <a:ext uri="{9D8B030D-6E8A-4147-A177-3AD203B41FA5}">
                      <a16:colId xmlns:a16="http://schemas.microsoft.com/office/drawing/2014/main" val="577156445"/>
                    </a:ext>
                  </a:extLst>
                </a:gridCol>
                <a:gridCol w="5040560">
                  <a:extLst>
                    <a:ext uri="{9D8B030D-6E8A-4147-A177-3AD203B41FA5}">
                      <a16:colId xmlns:a16="http://schemas.microsoft.com/office/drawing/2014/main" val="2040062646"/>
                    </a:ext>
                  </a:extLst>
                </a:gridCol>
              </a:tblGrid>
              <a:tr h="508861"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№ 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Этапы эволюции систем управления данными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tc>
                  <a:txBody>
                    <a:bodyPr/>
                    <a:lstStyle/>
                    <a:p>
                      <a:pPr indent="0" algn="ctr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Технологии управления данными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extLst>
                  <a:ext uri="{0D108BD9-81ED-4DB2-BD59-A6C34878D82A}">
                    <a16:rowId xmlns:a16="http://schemas.microsoft.com/office/drawing/2014/main" val="2646636116"/>
                  </a:ext>
                </a:extLst>
              </a:tr>
              <a:tr h="508861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>
                          <a:effectLst/>
                        </a:rPr>
                        <a:t>1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Ранние технологии управления данными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>
                          <a:effectLst/>
                        </a:rPr>
                        <a:t>Файлы, файловые системы, библиотеки и СУБД внутри информационных систем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extLst>
                  <a:ext uri="{0D108BD9-81ED-4DB2-BD59-A6C34878D82A}">
                    <a16:rowId xmlns:a16="http://schemas.microsoft.com/office/drawing/2014/main" val="2457869583"/>
                  </a:ext>
                </a:extLst>
              </a:tr>
              <a:tr h="762675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>
                          <a:effectLst/>
                        </a:rPr>
                        <a:t>2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Формирование базовых технологий СУБД.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Понятие модели данных, Математические основы СУБД, Языки запросов, Управление внешней и оперативной памятью, синхронизация транзакций.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extLst>
                  <a:ext uri="{0D108BD9-81ED-4DB2-BD59-A6C34878D82A}">
                    <a16:rowId xmlns:a16="http://schemas.microsoft.com/office/drawing/2014/main" val="976057081"/>
                  </a:ext>
                </a:extLst>
              </a:tr>
              <a:tr h="508861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>
                          <a:effectLst/>
                        </a:rPr>
                        <a:t>3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>
                          <a:effectLst/>
                        </a:rPr>
                        <a:t>Распределенные и разделяемые хранилища данных.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Распределенные транзакции; индексы и средства ускорения выполнения запросов.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extLst>
                  <a:ext uri="{0D108BD9-81ED-4DB2-BD59-A6C34878D82A}">
                    <a16:rowId xmlns:a16="http://schemas.microsoft.com/office/drawing/2014/main" val="1525648141"/>
                  </a:ext>
                </a:extLst>
              </a:tr>
              <a:tr h="508861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>
                          <a:effectLst/>
                        </a:rPr>
                        <a:t>4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>
                          <a:effectLst/>
                        </a:rPr>
                        <a:t>Аналитические и объектные системы управления данными.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Расширяемые, объектные и аналитические СУБД, </a:t>
                      </a:r>
                      <a:r>
                        <a:rPr lang="en-US" sz="1400" dirty="0">
                          <a:effectLst/>
                        </a:rPr>
                        <a:t>ODBMS</a:t>
                      </a:r>
                      <a:r>
                        <a:rPr lang="ru-RU" sz="1400" dirty="0">
                          <a:effectLst/>
                        </a:rPr>
                        <a:t>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extLst>
                  <a:ext uri="{0D108BD9-81ED-4DB2-BD59-A6C34878D82A}">
                    <a16:rowId xmlns:a16="http://schemas.microsoft.com/office/drawing/2014/main" val="1653199866"/>
                  </a:ext>
                </a:extLst>
              </a:tr>
              <a:tr h="820082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>
                          <a:effectLst/>
                        </a:rPr>
                        <a:t>5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>
                          <a:effectLst/>
                        </a:rPr>
                        <a:t>Интеграция информационных ресурсов в управлении данными. Специализированные СУБД.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Физическая и виртуальная интеграция ресурсов, шлюзы СУБД, комплексы ПО на базе сервера СУБД.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extLst>
                  <a:ext uri="{0D108BD9-81ED-4DB2-BD59-A6C34878D82A}">
                    <a16:rowId xmlns:a16="http://schemas.microsoft.com/office/drawing/2014/main" val="4074353921"/>
                  </a:ext>
                </a:extLst>
              </a:tr>
              <a:tr h="606057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>
                          <a:effectLst/>
                        </a:rPr>
                        <a:t>6</a:t>
                      </a:r>
                      <a:endParaRPr lang="ru-RU" sz="140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 anchor="ctr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Управление большими данными.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Объединение множества распределенных спец. СУБД и программной среды обработки данных.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/>
                </a:tc>
                <a:extLst>
                  <a:ext uri="{0D108BD9-81ED-4DB2-BD59-A6C34878D82A}">
                    <a16:rowId xmlns:a16="http://schemas.microsoft.com/office/drawing/2014/main" val="4155415138"/>
                  </a:ext>
                </a:extLst>
              </a:tr>
              <a:tr h="508861">
                <a:tc>
                  <a:txBody>
                    <a:bodyPr/>
                    <a:lstStyle/>
                    <a:p>
                      <a:pPr indent="0" algn="just">
                        <a:lnSpc>
                          <a:spcPct val="120000"/>
                        </a:lnSpc>
                      </a:pPr>
                      <a:r>
                        <a:rPr lang="ru-RU" sz="1400" dirty="0">
                          <a:effectLst/>
                        </a:rPr>
                        <a:t>7</a:t>
                      </a:r>
                      <a:endParaRPr lang="ru-RU" sz="1400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 anchor="ctr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 i="1" dirty="0">
                          <a:effectLst/>
                        </a:rPr>
                        <a:t>Открытые массовые источники данных</a:t>
                      </a:r>
                      <a:endParaRPr lang="ru-RU" sz="14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indent="0" algn="l">
                        <a:lnSpc>
                          <a:spcPct val="120000"/>
                        </a:lnSpc>
                      </a:pPr>
                      <a:r>
                        <a:rPr lang="ru-RU" sz="1400" i="1" dirty="0">
                          <a:effectLst/>
                        </a:rPr>
                        <a:t>Массовая публикация, интеграция данных в открытые или легкодоступные банки данных.</a:t>
                      </a:r>
                      <a:endParaRPr lang="ru-RU" sz="1400" i="1" dirty="0">
                        <a:effectLst/>
                        <a:latin typeface="Times New Roman" panose="02020603050405020304" pitchFamily="18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52781" marR="52781" marT="26391" marB="26391">
                    <a:solidFill>
                      <a:schemeClr val="tx1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54737044"/>
                  </a:ext>
                </a:extLst>
              </a:tr>
            </a:tbl>
          </a:graphicData>
        </a:graphic>
      </p:graphicFrame>
      <p:sp>
        <p:nvSpPr>
          <p:cNvPr id="14" name="Номер слайда 13">
            <a:extLst>
              <a:ext uri="{FF2B5EF4-FFF2-40B4-BE49-F238E27FC236}">
                <a16:creationId xmlns:a16="http://schemas.microsoft.com/office/drawing/2014/main" id="{D956800E-82BB-6774-352A-C1A16ECD4C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4773676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 dirty="0"/>
              <a:t>Понятие СУБД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E0921B4C-FCB8-4585-D4DF-F29D3E866F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67844" y="4594241"/>
            <a:ext cx="4824536" cy="1944216"/>
          </a:xfrm>
        </p:spPr>
        <p:txBody>
          <a:bodyPr>
            <a:noAutofit/>
          </a:bodyPr>
          <a:lstStyle/>
          <a:p>
            <a:pPr marL="257175" indent="-257175">
              <a:buFont typeface="+mj-lt"/>
              <a:buAutoNum type="arabicPeriod"/>
            </a:pPr>
            <a:r>
              <a:rPr lang="ru-RU" sz="1600" dirty="0"/>
              <a:t>Непосредственное управление данными во внешней памяти</a:t>
            </a:r>
          </a:p>
          <a:p>
            <a:pPr marL="257175" indent="-257175">
              <a:buFont typeface="+mj-lt"/>
              <a:buAutoNum type="arabicPeriod"/>
            </a:pPr>
            <a:r>
              <a:rPr lang="ru-RU" sz="1600" dirty="0"/>
              <a:t>Управление буферами оперативной памяти</a:t>
            </a:r>
          </a:p>
          <a:p>
            <a:pPr marL="257175" indent="-257175">
              <a:buFont typeface="+mj-lt"/>
              <a:buAutoNum type="arabicPeriod"/>
            </a:pPr>
            <a:r>
              <a:rPr lang="ru-RU" sz="1600" dirty="0"/>
              <a:t>Управление транзакциями</a:t>
            </a:r>
          </a:p>
          <a:p>
            <a:pPr marL="257175" indent="-257175">
              <a:buFont typeface="+mj-lt"/>
              <a:buAutoNum type="arabicPeriod"/>
            </a:pPr>
            <a:r>
              <a:rPr lang="ru-RU" sz="1600" dirty="0"/>
              <a:t>Журнализация</a:t>
            </a:r>
          </a:p>
          <a:p>
            <a:pPr marL="257175" indent="-257175">
              <a:buFont typeface="+mj-lt"/>
              <a:buAutoNum type="arabicPeriod"/>
            </a:pPr>
            <a:r>
              <a:rPr lang="ru-RU" sz="1600" dirty="0"/>
              <a:t>Поддержка языков БД</a:t>
            </a:r>
          </a:p>
        </p:txBody>
      </p:sp>
      <p:grpSp>
        <p:nvGrpSpPr>
          <p:cNvPr id="7" name="Группа 6"/>
          <p:cNvGrpSpPr/>
          <p:nvPr/>
        </p:nvGrpSpPr>
        <p:grpSpPr>
          <a:xfrm>
            <a:off x="1058240" y="1390386"/>
            <a:ext cx="6754120" cy="3262750"/>
            <a:chOff x="1340431" y="3959502"/>
            <a:chExt cx="5021732" cy="2766769"/>
          </a:xfrm>
        </p:grpSpPr>
        <p:pic>
          <p:nvPicPr>
            <p:cNvPr id="28674" name="Picture 2" descr="http://nitrosdata.ru/wp-content/uploads/2019/02/p0304-3-1024x576.jpg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40431" y="3959502"/>
              <a:ext cx="4918701" cy="276676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" name="Прямоугольник 4"/>
            <p:cNvSpPr/>
            <p:nvPr/>
          </p:nvSpPr>
          <p:spPr>
            <a:xfrm>
              <a:off x="3219717" y="4200772"/>
              <a:ext cx="3142446" cy="2218594"/>
            </a:xfrm>
            <a:prstGeom prst="rect">
              <a:avLst/>
            </a:prstGeom>
            <a:noFill/>
            <a:ln w="76200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ru-RU" sz="1350"/>
            </a:p>
          </p:txBody>
        </p:sp>
      </p:grp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D4BFCB8B-F4D4-34E9-1B26-169BEA60528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15</a:t>
            </a:fld>
            <a:endParaRPr lang="ru-RU"/>
          </a:p>
        </p:txBody>
      </p:sp>
      <p:sp>
        <p:nvSpPr>
          <p:cNvPr id="3" name="Скругленный прямоугольник 2"/>
          <p:cNvSpPr/>
          <p:nvPr/>
        </p:nvSpPr>
        <p:spPr>
          <a:xfrm>
            <a:off x="467544" y="4687243"/>
            <a:ext cx="2232248" cy="4909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База данных</a:t>
            </a:r>
          </a:p>
        </p:txBody>
      </p:sp>
      <p:sp>
        <p:nvSpPr>
          <p:cNvPr id="10" name="Скругленный прямоугольник 9"/>
          <p:cNvSpPr/>
          <p:nvPr/>
        </p:nvSpPr>
        <p:spPr>
          <a:xfrm>
            <a:off x="467544" y="5322202"/>
            <a:ext cx="2232248" cy="4909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Система баз данных</a:t>
            </a:r>
          </a:p>
        </p:txBody>
      </p:sp>
      <p:sp>
        <p:nvSpPr>
          <p:cNvPr id="11" name="Скругленный прямоугольник 10"/>
          <p:cNvSpPr/>
          <p:nvPr/>
        </p:nvSpPr>
        <p:spPr>
          <a:xfrm>
            <a:off x="467544" y="5957161"/>
            <a:ext cx="2232248" cy="49094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СУБД</a:t>
            </a:r>
          </a:p>
        </p:txBody>
      </p:sp>
    </p:spTree>
    <p:extLst>
      <p:ext uri="{BB962C8B-B14F-4D97-AF65-F5344CB8AC3E}">
        <p14:creationId xmlns:p14="http://schemas.microsoft.com/office/powerpoint/2010/main" val="4236612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161DD8-5BE1-A9A2-86E0-BF99B8C4F0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Модель организации СУБД </a:t>
            </a:r>
            <a:r>
              <a:rPr lang="en-US" dirty="0"/>
              <a:t>ANSI/SPARK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6994E263-DC2F-6EE5-9A0E-5DE7D21DA0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8331" y="1772816"/>
            <a:ext cx="7916117" cy="4104456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CE070E86-33DC-B39B-6BE8-1B75C331C79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386477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F45A478-6451-6069-FB5B-82DC57BEE4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Взаимодействие в архитектуре ANSI/SPARC 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35ED7088-4276-80D4-32FE-DC5BA334CD7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1520" y="1493074"/>
            <a:ext cx="6048672" cy="5064932"/>
          </a:xfrm>
          <a:prstGeom prst="rect">
            <a:avLst/>
          </a:prstGeom>
        </p:spPr>
      </p:pic>
      <p:sp>
        <p:nvSpPr>
          <p:cNvPr id="6" name="Стрелка вправо 2">
            <a:extLst>
              <a:ext uri="{FF2B5EF4-FFF2-40B4-BE49-F238E27FC236}">
                <a16:creationId xmlns:a16="http://schemas.microsoft.com/office/drawing/2014/main" id="{F308F8DD-3323-DEA7-EDE4-767C87D05499}"/>
              </a:ext>
            </a:extLst>
          </p:cNvPr>
          <p:cNvSpPr/>
          <p:nvPr/>
        </p:nvSpPr>
        <p:spPr>
          <a:xfrm rot="10800000">
            <a:off x="7375967" y="3826552"/>
            <a:ext cx="1399062" cy="15154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Правая фигурная скобка 6">
            <a:extLst>
              <a:ext uri="{FF2B5EF4-FFF2-40B4-BE49-F238E27FC236}">
                <a16:creationId xmlns:a16="http://schemas.microsoft.com/office/drawing/2014/main" id="{9995953E-5DCF-D4A5-AA78-63B7AFCE0FC0}"/>
              </a:ext>
            </a:extLst>
          </p:cNvPr>
          <p:cNvSpPr/>
          <p:nvPr/>
        </p:nvSpPr>
        <p:spPr>
          <a:xfrm>
            <a:off x="6455650" y="2969154"/>
            <a:ext cx="764858" cy="3279246"/>
          </a:xfrm>
          <a:prstGeom prst="rightBrace">
            <a:avLst/>
          </a:prstGeom>
          <a:ln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Номер слайда 7">
            <a:extLst>
              <a:ext uri="{FF2B5EF4-FFF2-40B4-BE49-F238E27FC236}">
                <a16:creationId xmlns:a16="http://schemas.microsoft.com/office/drawing/2014/main" id="{B27E4427-9009-FB2D-3CEC-A09B35E692D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18903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EC1C526-7CC5-ABC0-1E9D-8DEF52C509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ADD4EB7-A427-2610-068C-12804B3904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992888" cy="3528392"/>
          </a:xfrm>
        </p:spPr>
        <p:txBody>
          <a:bodyPr/>
          <a:lstStyle/>
          <a:p>
            <a:r>
              <a:rPr lang="ru-RU" b="1" dirty="0"/>
              <a:t>Модель данных (</a:t>
            </a:r>
            <a:r>
              <a:rPr lang="en-US" b="1" dirty="0"/>
              <a:t>Data models</a:t>
            </a:r>
            <a:r>
              <a:rPr lang="ru-RU" b="1" dirty="0"/>
              <a:t>)</a:t>
            </a:r>
            <a:r>
              <a:rPr lang="ru-RU" dirty="0"/>
              <a:t> – набор концепций (</a:t>
            </a:r>
            <a:r>
              <a:rPr lang="ru-RU" i="1" dirty="0"/>
              <a:t>абстракция</a:t>
            </a:r>
            <a:r>
              <a:rPr lang="ru-RU" dirty="0"/>
              <a:t>) описывающая структуру базы данных – </a:t>
            </a:r>
            <a:r>
              <a:rPr lang="ru-RU" dirty="0">
                <a:solidFill>
                  <a:schemeClr val="accent1"/>
                </a:solidFill>
              </a:rPr>
              <a:t>инструмент моделирования данных</a:t>
            </a:r>
          </a:p>
          <a:p>
            <a:r>
              <a:rPr lang="ru-RU" b="1" dirty="0"/>
              <a:t>Схемы (</a:t>
            </a:r>
            <a:r>
              <a:rPr lang="en-US" b="1" dirty="0"/>
              <a:t>Schemas</a:t>
            </a:r>
            <a:r>
              <a:rPr lang="ru-RU" b="1" dirty="0"/>
              <a:t>)</a:t>
            </a:r>
            <a:r>
              <a:rPr lang="ru-RU" dirty="0"/>
              <a:t> – описание базы данных внутри СУБД.</a:t>
            </a:r>
            <a:br>
              <a:rPr lang="ru-RU" dirty="0"/>
            </a:br>
            <a:r>
              <a:rPr lang="ru-RU" dirty="0"/>
              <a:t>Исторические изменения в схеме называют ее эволюцией.</a:t>
            </a:r>
          </a:p>
          <a:p>
            <a:r>
              <a:rPr lang="ru-RU" b="1" dirty="0"/>
              <a:t>Экземпляры (</a:t>
            </a:r>
            <a:r>
              <a:rPr lang="en-US" b="1" dirty="0"/>
              <a:t>Instances</a:t>
            </a:r>
            <a:r>
              <a:rPr lang="ru-RU" b="1" dirty="0"/>
              <a:t>)</a:t>
            </a:r>
            <a:r>
              <a:rPr lang="ru-RU" dirty="0"/>
              <a:t> – снимок базы данных в конкретный момент времени, </a:t>
            </a:r>
            <a:r>
              <a:rPr lang="ru-RU" i="1" dirty="0"/>
              <a:t>включая все хранимые данные и их состояние на этот момент</a:t>
            </a:r>
            <a:endParaRPr lang="ru-RU" dirty="0"/>
          </a:p>
          <a:p>
            <a:r>
              <a:rPr lang="ru-RU" b="1" dirty="0"/>
              <a:t>Метаданные</a:t>
            </a:r>
            <a:r>
              <a:rPr lang="ru-RU" dirty="0"/>
              <a:t> – данные в СУБД, описывающие ее схему и составляющие (</a:t>
            </a:r>
            <a:r>
              <a:rPr lang="ru-RU" i="1" dirty="0"/>
              <a:t>данные о данных</a:t>
            </a:r>
            <a:r>
              <a:rPr lang="ru-RU" dirty="0"/>
              <a:t>).</a:t>
            </a:r>
          </a:p>
          <a:p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E99DA39-EDC2-2F31-9CEC-B57A3DCD4B57}"/>
              </a:ext>
            </a:extLst>
          </p:cNvPr>
          <p:cNvSpPr txBox="1"/>
          <p:nvPr/>
        </p:nvSpPr>
        <p:spPr>
          <a:xfrm>
            <a:off x="2668642" y="4653136"/>
            <a:ext cx="6282444" cy="18819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ru-RU" sz="2000" u="sng" dirty="0"/>
              <a:t>Состояния базы данных:</a:t>
            </a:r>
            <a:endParaRPr lang="ru-RU" sz="20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ru-RU" sz="2000" b="1" dirty="0"/>
              <a:t>Непротиворечивость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endParaRPr lang="ru-RU" sz="2000" b="1" dirty="0"/>
          </a:p>
          <a:p>
            <a:pPr lvl="1">
              <a:lnSpc>
                <a:spcPct val="150000"/>
              </a:lnSpc>
            </a:pPr>
            <a:r>
              <a:rPr lang="ru-RU" sz="2000" dirty="0"/>
              <a:t>- </a:t>
            </a:r>
            <a:r>
              <a:rPr lang="ru-RU" sz="2000" i="1" dirty="0"/>
              <a:t>Истинность</a:t>
            </a:r>
          </a:p>
        </p:txBody>
      </p:sp>
      <p:sp>
        <p:nvSpPr>
          <p:cNvPr id="9" name="Стрелка: вверх-вниз 8">
            <a:extLst>
              <a:ext uri="{FF2B5EF4-FFF2-40B4-BE49-F238E27FC236}">
                <a16:creationId xmlns:a16="http://schemas.microsoft.com/office/drawing/2014/main" id="{4AF49875-677B-D793-33E9-557C73C5E25F}"/>
              </a:ext>
            </a:extLst>
          </p:cNvPr>
          <p:cNvSpPr/>
          <p:nvPr/>
        </p:nvSpPr>
        <p:spPr>
          <a:xfrm>
            <a:off x="4247964" y="5567307"/>
            <a:ext cx="1044116" cy="612068"/>
          </a:xfrm>
          <a:prstGeom prst="upDownArrow">
            <a:avLst>
              <a:gd name="adj1" fmla="val 43117"/>
              <a:gd name="adj2" fmla="val 39676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" name="Номер слайда 9">
            <a:extLst>
              <a:ext uri="{FF2B5EF4-FFF2-40B4-BE49-F238E27FC236}">
                <a16:creationId xmlns:a16="http://schemas.microsoft.com/office/drawing/2014/main" id="{09D4F353-916C-C4E3-3A0F-8904A3BA9E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200725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Функциональная структура СУБД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C9971AA-0FBB-97FC-27B0-265E305EAE3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5593" y="1353097"/>
            <a:ext cx="5952813" cy="4977074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1B89989-0EE1-1EB1-FB76-C62745C6CC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0072143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Схема работы СУБД</a:t>
            </a: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2390D9B-5EF7-4D78-DC5A-E6B5EDEFE3F8}"/>
              </a:ext>
            </a:extLst>
          </p:cNvPr>
          <p:cNvPicPr>
            <a:picLocks noChangeAspect="1"/>
          </p:cNvPicPr>
          <p:nvPr/>
        </p:nvPicPr>
        <p:blipFill>
          <a:blip r:embed="rId3">
            <a:grayscl/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1340768"/>
            <a:ext cx="7920880" cy="5253774"/>
          </a:xfrm>
          <a:prstGeom prst="rect">
            <a:avLst/>
          </a:prstGeom>
        </p:spPr>
      </p:pic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B9242E0-DA83-CAF9-14C0-4D03EB35FE4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361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E229B4-00A3-0B3A-D098-B57DCA1CA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СУБД: по модели данных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2319856E-029B-A174-C3A2-C07E2983EA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1520" y="1268760"/>
            <a:ext cx="8712968" cy="2376264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Иерархические</a:t>
            </a:r>
          </a:p>
          <a:p>
            <a:r>
              <a:rPr lang="ru-RU" dirty="0"/>
              <a:t>Сетевые</a:t>
            </a:r>
          </a:p>
          <a:p>
            <a:r>
              <a:rPr lang="ru-RU" dirty="0"/>
              <a:t>Реляционные</a:t>
            </a:r>
          </a:p>
          <a:p>
            <a:r>
              <a:rPr lang="ru-RU" dirty="0"/>
              <a:t>Объектно – ориентированные</a:t>
            </a:r>
          </a:p>
          <a:p>
            <a:r>
              <a:rPr lang="ru-RU" dirty="0"/>
              <a:t>Ключ-значение</a:t>
            </a:r>
          </a:p>
          <a:p>
            <a:r>
              <a:rPr lang="en-US" dirty="0"/>
              <a:t>XML/JSON (</a:t>
            </a:r>
            <a:r>
              <a:rPr lang="ru-RU" dirty="0"/>
              <a:t>документно-ориентированные)</a:t>
            </a:r>
          </a:p>
          <a:p>
            <a:r>
              <a:rPr lang="ru-RU" dirty="0"/>
              <a:t>….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A5E671E6-C465-6EBE-7FA6-D20BF15FA0E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7362" y="3456605"/>
            <a:ext cx="7941283" cy="3416013"/>
          </a:xfrm>
          <a:prstGeom prst="rect">
            <a:avLst/>
          </a:prstGeom>
          <a:noFill/>
        </p:spPr>
      </p:pic>
      <p:sp>
        <p:nvSpPr>
          <p:cNvPr id="116" name="Номер слайда 115">
            <a:extLst>
              <a:ext uri="{FF2B5EF4-FFF2-40B4-BE49-F238E27FC236}">
                <a16:creationId xmlns:a16="http://schemas.microsoft.com/office/drawing/2014/main" id="{7F3F8D29-DEB2-D9A7-80E6-0F3A16DAD0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21</a:t>
            </a:fld>
            <a:endParaRPr lang="ru-RU"/>
          </a:p>
        </p:txBody>
      </p:sp>
      <p:sp>
        <p:nvSpPr>
          <p:cNvPr id="4" name="Скругленный прямоугольник 3"/>
          <p:cNvSpPr/>
          <p:nvPr/>
        </p:nvSpPr>
        <p:spPr>
          <a:xfrm>
            <a:off x="395536" y="4005064"/>
            <a:ext cx="2160240" cy="1827805"/>
          </a:xfrm>
          <a:prstGeom prst="roundRect">
            <a:avLst/>
          </a:prstGeom>
          <a:solidFill>
            <a:srgbClr val="DB3519">
              <a:alpha val="14902"/>
            </a:srgbClr>
          </a:solidFill>
          <a:ln>
            <a:prstDash val="sysDot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" name="Стрелка вниз 4"/>
          <p:cNvSpPr/>
          <p:nvPr/>
        </p:nvSpPr>
        <p:spPr>
          <a:xfrm>
            <a:off x="899592" y="3290549"/>
            <a:ext cx="576064" cy="1146563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9870980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091C17D-E0A7-4462-3753-4C08410E69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СУБД: по сфере применения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2D02A6F-71EF-E708-06BB-A46BAC643C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ru-RU" b="1" dirty="0"/>
              <a:t>Универсальные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ru-RU" dirty="0"/>
              <a:t>Корпоративные/«промышленные» СУБД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ru-RU" dirty="0"/>
              <a:t>Транзакционные и аналитические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ru-RU" dirty="0"/>
              <a:t>Реляционная модель данных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ru-RU" dirty="0"/>
              <a:t>Разная степень «зрелости»</a:t>
            </a:r>
          </a:p>
          <a:p>
            <a:pPr>
              <a:lnSpc>
                <a:spcPct val="130000"/>
              </a:lnSpc>
              <a:spcBef>
                <a:spcPts val="600"/>
              </a:spcBef>
            </a:pPr>
            <a:r>
              <a:rPr lang="ru-RU" b="1" dirty="0"/>
              <a:t>Специализированные</a:t>
            </a:r>
          </a:p>
          <a:p>
            <a:pPr lvl="1">
              <a:lnSpc>
                <a:spcPct val="130000"/>
              </a:lnSpc>
              <a:spcBef>
                <a:spcPts val="600"/>
              </a:spcBef>
            </a:pPr>
            <a:r>
              <a:rPr lang="ru-RU" i="1" dirty="0"/>
              <a:t>По типу задач </a:t>
            </a:r>
            <a:r>
              <a:rPr lang="ru-RU" dirty="0"/>
              <a:t>(узкие области)</a:t>
            </a:r>
          </a:p>
          <a:p>
            <a:pPr lvl="2">
              <a:lnSpc>
                <a:spcPct val="130000"/>
              </a:lnSpc>
              <a:spcBef>
                <a:spcPts val="600"/>
              </a:spcBef>
            </a:pPr>
            <a:r>
              <a:rPr lang="ru-RU" dirty="0"/>
              <a:t>Платформа, объем хранимых данных</a:t>
            </a:r>
          </a:p>
          <a:p>
            <a:pPr lvl="2">
              <a:lnSpc>
                <a:spcPct val="130000"/>
              </a:lnSpc>
              <a:spcBef>
                <a:spcPts val="600"/>
              </a:spcBef>
            </a:pPr>
            <a:r>
              <a:rPr lang="ru-RU" dirty="0"/>
              <a:t>Чтение или запись</a:t>
            </a:r>
          </a:p>
          <a:p>
            <a:pPr lvl="2">
              <a:lnSpc>
                <a:spcPct val="130000"/>
              </a:lnSpc>
              <a:spcBef>
                <a:spcPts val="600"/>
              </a:spcBef>
            </a:pPr>
            <a:r>
              <a:rPr lang="ru-RU" dirty="0"/>
              <a:t>Типы, структура и скорость входных данных</a:t>
            </a:r>
          </a:p>
          <a:p>
            <a:pPr lvl="2">
              <a:lnSpc>
                <a:spcPct val="130000"/>
              </a:lnSpc>
              <a:spcBef>
                <a:spcPts val="600"/>
              </a:spcBef>
            </a:pPr>
            <a:r>
              <a:rPr lang="ru-RU" dirty="0"/>
              <a:t>Типы запросов к данным: число, вариативность и т.д.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52B8C6EE-4C2F-F4E5-E8B6-B088A2AFBE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9162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57ADD7E-2373-B4B3-A4F0-F5024BE81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СУБД: по архитектуре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6ED158D-9A54-080A-9EDD-ED19A93902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268760"/>
            <a:ext cx="7848872" cy="5328592"/>
          </a:xfrm>
        </p:spPr>
        <p:txBody>
          <a:bodyPr>
            <a:normAutofit/>
          </a:bodyPr>
          <a:lstStyle/>
          <a:p>
            <a:r>
              <a:rPr lang="ru-RU" sz="1600" b="1" dirty="0"/>
              <a:t>Файл-серверные</a:t>
            </a:r>
          </a:p>
          <a:p>
            <a:pPr lvl="1"/>
            <a:r>
              <a:rPr lang="en-US" sz="1400" dirty="0">
                <a:solidFill>
                  <a:schemeClr val="accent1"/>
                </a:solidFill>
              </a:rPr>
              <a:t>Informix SE, Microsoft Access </a:t>
            </a:r>
            <a:r>
              <a:rPr lang="ru-RU" sz="1400" dirty="0">
                <a:solidFill>
                  <a:schemeClr val="accent1"/>
                </a:solidFill>
              </a:rPr>
              <a:t>и т.д.</a:t>
            </a:r>
          </a:p>
          <a:p>
            <a:pPr lvl="1"/>
            <a:r>
              <a:rPr lang="ru-RU" sz="1400" dirty="0"/>
              <a:t>БД хранится на специализированном файл-сервере, а СУБД запускается на каждом клиенте</a:t>
            </a:r>
          </a:p>
          <a:p>
            <a:pPr lvl="1"/>
            <a:r>
              <a:rPr lang="ru-RU" sz="1400" dirty="0"/>
              <a:t>синхронизация многопользовательского доступа реализуется на файл-сервере</a:t>
            </a:r>
          </a:p>
          <a:p>
            <a:pPr lvl="1"/>
            <a:r>
              <a:rPr lang="ru-RU" sz="1400" dirty="0">
                <a:solidFill>
                  <a:srgbClr val="7030A0"/>
                </a:solidFill>
              </a:rPr>
              <a:t>нагрузка на сеть при большом числе клиентов – организация пригодна только при небольшом количестве клиентов</a:t>
            </a:r>
          </a:p>
          <a:p>
            <a:r>
              <a:rPr lang="ru-RU" sz="1600" b="1" dirty="0"/>
              <a:t>Клиент-серверные</a:t>
            </a:r>
          </a:p>
          <a:p>
            <a:pPr lvl="1"/>
            <a:r>
              <a:rPr lang="en-US" sz="1400" dirty="0">
                <a:solidFill>
                  <a:schemeClr val="accent1"/>
                </a:solidFill>
              </a:rPr>
              <a:t>Oracle, DB2, PostgreSQL </a:t>
            </a:r>
            <a:r>
              <a:rPr lang="ru-RU" sz="1400" dirty="0">
                <a:solidFill>
                  <a:schemeClr val="accent1"/>
                </a:solidFill>
              </a:rPr>
              <a:t>и т.д.</a:t>
            </a:r>
          </a:p>
          <a:p>
            <a:pPr lvl="1"/>
            <a:r>
              <a:rPr lang="ru-RU" sz="1400" dirty="0"/>
              <a:t>Компоненты СУБД выполняются на отдельном сервере БД, и на нём же хранится БД</a:t>
            </a:r>
          </a:p>
          <a:p>
            <a:pPr lvl="1"/>
            <a:r>
              <a:rPr lang="ru-RU" sz="1400" dirty="0"/>
              <a:t>На клиенте находится интерфейсная (клиентская) часть СУБД и выполняется код приложения</a:t>
            </a:r>
          </a:p>
          <a:p>
            <a:pPr lvl="1"/>
            <a:r>
              <a:rPr lang="ru-RU" sz="1400" dirty="0">
                <a:solidFill>
                  <a:srgbClr val="7030A0"/>
                </a:solidFill>
              </a:rPr>
              <a:t>Зависимость клиентов от сервера БД, прямое соединение клиент – сервер – </a:t>
            </a:r>
            <a:r>
              <a:rPr lang="ru-RU" sz="1400" dirty="0">
                <a:solidFill>
                  <a:schemeClr val="tx2"/>
                </a:solidFill>
              </a:rPr>
              <a:t>трёхзвенная архитектура</a:t>
            </a:r>
          </a:p>
          <a:p>
            <a:r>
              <a:rPr lang="ru-RU" sz="1600" b="1" dirty="0"/>
              <a:t>Встраиваемые СУБД</a:t>
            </a:r>
          </a:p>
          <a:p>
            <a:pPr lvl="1"/>
            <a:r>
              <a:rPr lang="en-US" sz="1400" dirty="0" err="1">
                <a:solidFill>
                  <a:schemeClr val="accent1"/>
                </a:solidFill>
              </a:rPr>
              <a:t>BerkeleyDB</a:t>
            </a:r>
            <a:r>
              <a:rPr lang="en-US" sz="1400" dirty="0">
                <a:solidFill>
                  <a:schemeClr val="accent1"/>
                </a:solidFill>
              </a:rPr>
              <a:t>, </a:t>
            </a:r>
            <a:r>
              <a:rPr lang="en-US" sz="1400" dirty="0" err="1">
                <a:solidFill>
                  <a:schemeClr val="accent1"/>
                </a:solidFill>
              </a:rPr>
              <a:t>SQlite</a:t>
            </a:r>
            <a:r>
              <a:rPr lang="en-US" sz="1400" dirty="0">
                <a:solidFill>
                  <a:schemeClr val="accent1"/>
                </a:solidFill>
              </a:rPr>
              <a:t> </a:t>
            </a:r>
            <a:r>
              <a:rPr lang="ru-RU" sz="1400" dirty="0">
                <a:solidFill>
                  <a:schemeClr val="accent1"/>
                </a:solidFill>
              </a:rPr>
              <a:t>и т.д.</a:t>
            </a:r>
          </a:p>
          <a:p>
            <a:pPr lvl="1"/>
            <a:r>
              <a:rPr lang="ru-RU" sz="1400" dirty="0"/>
              <a:t>Встраиваются в код приложений (</a:t>
            </a:r>
            <a:r>
              <a:rPr lang="ru-RU" sz="1400" i="1" dirty="0"/>
              <a:t>информационные системы; клиенты</a:t>
            </a:r>
            <a:r>
              <a:rPr lang="ru-RU" sz="1400" dirty="0"/>
              <a:t>) и полностью выполняется на том же компьютере и даже в том же процессе</a:t>
            </a:r>
          </a:p>
          <a:p>
            <a:pPr lvl="1"/>
            <a:r>
              <a:rPr lang="ru-RU" sz="1400" dirty="0">
                <a:solidFill>
                  <a:srgbClr val="7030A0"/>
                </a:solidFill>
              </a:rPr>
              <a:t>Незащищенность БД от клиента, нагрузка на клиента</a:t>
            </a:r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DA1073B9-6C47-94DF-0334-2ACF1BBA99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76371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54F7E24-823F-D1BF-EBDC-1D4EC57679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/>
              <a:t>Классификация СУБД: по организации хранения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A4CFC7B3-7A1E-2C97-366A-29676D6972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3568" y="1484784"/>
            <a:ext cx="7848872" cy="3600400"/>
          </a:xfrm>
        </p:spPr>
        <p:txBody>
          <a:bodyPr anchor="t"/>
          <a:lstStyle/>
          <a:p>
            <a:pPr>
              <a:spcBef>
                <a:spcPts val="1200"/>
              </a:spcBef>
            </a:pPr>
            <a:r>
              <a:rPr lang="ru-RU" dirty="0"/>
              <a:t>Хранение пользовательских данных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Во внешней памяти</a:t>
            </a:r>
          </a:p>
          <a:p>
            <a:pPr lvl="1">
              <a:spcBef>
                <a:spcPts val="1200"/>
              </a:spcBef>
            </a:pPr>
            <a:r>
              <a:rPr lang="ru-RU" dirty="0"/>
              <a:t>В оперативной памяти</a:t>
            </a:r>
          </a:p>
          <a:p>
            <a:pPr lvl="2">
              <a:spcBef>
                <a:spcPts val="1200"/>
              </a:spcBef>
            </a:pPr>
            <a:r>
              <a:rPr lang="ru-RU" dirty="0"/>
              <a:t>Внешняя память вообще не используется, </a:t>
            </a:r>
            <a:br>
              <a:rPr lang="ru-RU" dirty="0"/>
            </a:br>
            <a:r>
              <a:rPr lang="ru-RU" dirty="0"/>
              <a:t>надёжность достигается за счёт хранения реплик БД в разных узлах кластерной системы;</a:t>
            </a:r>
          </a:p>
          <a:p>
            <a:pPr lvl="2">
              <a:spcBef>
                <a:spcPts val="1200"/>
              </a:spcBef>
            </a:pPr>
            <a:r>
              <a:rPr lang="ru-RU" dirty="0"/>
              <a:t>БД хранится целиком в ОП, </a:t>
            </a:r>
            <a:br>
              <a:rPr lang="ru-RU" dirty="0"/>
            </a:br>
            <a:r>
              <a:rPr lang="ru-RU" dirty="0"/>
              <a:t>а журнал изменений во внешней памяти;</a:t>
            </a:r>
          </a:p>
          <a:p>
            <a:pPr lvl="2">
              <a:spcBef>
                <a:spcPts val="1200"/>
              </a:spcBef>
            </a:pPr>
            <a:r>
              <a:rPr lang="ru-RU" dirty="0"/>
              <a:t>БД хранится целиком и в ОП, и во внешней памяти, </a:t>
            </a:r>
            <a:br>
              <a:rPr lang="ru-RU" dirty="0"/>
            </a:br>
            <a:r>
              <a:rPr lang="ru-RU" dirty="0"/>
              <a:t>операция чтения происходит из ОП, а запись - в обе.</a:t>
            </a:r>
          </a:p>
          <a:p>
            <a:pPr>
              <a:spcBef>
                <a:spcPts val="1200"/>
              </a:spcBef>
            </a:pPr>
            <a:endParaRPr lang="ru-RU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A226190-821E-7319-207B-83E9C5BE0A6F}"/>
              </a:ext>
            </a:extLst>
          </p:cNvPr>
          <p:cNvSpPr txBox="1"/>
          <p:nvPr/>
        </p:nvSpPr>
        <p:spPr>
          <a:xfrm>
            <a:off x="696294" y="5517232"/>
            <a:ext cx="7128792" cy="646331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ctr"/>
            <a:r>
              <a:rPr lang="ru-RU" dirty="0"/>
              <a:t>SSD - разница в скорости доступа между внешней памятью на SSD и ОП - всего 2 порядка.</a:t>
            </a:r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351B1C8-AF4F-2C72-2C0D-EF3CC21A845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8333366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B06E076-1C05-BDC3-EE10-13128BADBD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Классификация СУБД: по типу параллельности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48EE3328-DD43-AB76-BAA3-2B2986819E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>
            <a:norm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ru-RU" sz="1600" dirty="0"/>
              <a:t>Однопроцессорные.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600" dirty="0"/>
              <a:t>Параллельные с общей памятью (</a:t>
            </a:r>
            <a:r>
              <a:rPr lang="ru-RU" sz="1600" i="1" dirty="0" err="1"/>
              <a:t>shared-everything</a:t>
            </a:r>
            <a:r>
              <a:rPr lang="ru-RU" sz="16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600" dirty="0"/>
              <a:t>Параллельные с общими дисками (</a:t>
            </a:r>
            <a:r>
              <a:rPr lang="ru-RU" sz="1600" i="1" dirty="0" err="1"/>
              <a:t>shared-disks</a:t>
            </a:r>
            <a:r>
              <a:rPr lang="ru-RU" sz="1600" dirty="0"/>
              <a:t>).</a:t>
            </a:r>
          </a:p>
          <a:p>
            <a:pPr marL="457200" indent="-457200">
              <a:buFont typeface="+mj-lt"/>
              <a:buAutoNum type="arabicPeriod"/>
            </a:pPr>
            <a:r>
              <a:rPr lang="ru-RU" sz="1600" dirty="0"/>
              <a:t>Параллельные без использования общих ресурсов (</a:t>
            </a:r>
            <a:r>
              <a:rPr lang="ru-RU" sz="1600" i="1" dirty="0" err="1"/>
              <a:t>shared-nothing</a:t>
            </a:r>
            <a:r>
              <a:rPr lang="ru-RU" sz="1600" dirty="0"/>
              <a:t>).</a:t>
            </a: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CB5EF39-8A1C-8038-891B-AD7659026796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0152" y="3053961"/>
            <a:ext cx="2368771" cy="2435726"/>
          </a:xfrm>
          <a:prstGeom prst="rect">
            <a:avLst/>
          </a:prstGeom>
          <a:noFill/>
          <a:ln>
            <a:noFill/>
          </a:ln>
        </p:spPr>
      </p:pic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2F37638F-AA10-B9A9-684C-64346B8193ED}"/>
              </a:ext>
            </a:extLst>
          </p:cNvPr>
          <p:cNvPicPr/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075" y="3058269"/>
            <a:ext cx="2355758" cy="2414908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3D3DEBCF-D74B-FD61-887B-8724BED46980}"/>
              </a:ext>
            </a:extLst>
          </p:cNvPr>
          <p:cNvPicPr/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03012" y="3053961"/>
            <a:ext cx="2305092" cy="2435726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Овал 7">
            <a:extLst>
              <a:ext uri="{FF2B5EF4-FFF2-40B4-BE49-F238E27FC236}">
                <a16:creationId xmlns:a16="http://schemas.microsoft.com/office/drawing/2014/main" id="{E8D00CF7-F099-4E27-26AF-1B3011FADDE1}"/>
              </a:ext>
            </a:extLst>
          </p:cNvPr>
          <p:cNvSpPr/>
          <p:nvPr/>
        </p:nvSpPr>
        <p:spPr>
          <a:xfrm>
            <a:off x="1652220" y="5728114"/>
            <a:ext cx="504056" cy="50405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2</a:t>
            </a: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2EAD2740-A4ED-CDA9-37A1-B7BE8B529F3C}"/>
              </a:ext>
            </a:extLst>
          </p:cNvPr>
          <p:cNvSpPr/>
          <p:nvPr/>
        </p:nvSpPr>
        <p:spPr>
          <a:xfrm>
            <a:off x="4108037" y="5744624"/>
            <a:ext cx="504056" cy="50405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3</a:t>
            </a:r>
          </a:p>
        </p:txBody>
      </p:sp>
      <p:sp>
        <p:nvSpPr>
          <p:cNvPr id="10" name="Овал 9">
            <a:extLst>
              <a:ext uri="{FF2B5EF4-FFF2-40B4-BE49-F238E27FC236}">
                <a16:creationId xmlns:a16="http://schemas.microsoft.com/office/drawing/2014/main" id="{A340892B-FD63-38BF-353B-8D6085CD4DF2}"/>
              </a:ext>
            </a:extLst>
          </p:cNvPr>
          <p:cNvSpPr/>
          <p:nvPr/>
        </p:nvSpPr>
        <p:spPr>
          <a:xfrm>
            <a:off x="6872509" y="5744624"/>
            <a:ext cx="504056" cy="504056"/>
          </a:xfrm>
          <a:prstGeom prst="ellipse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dirty="0"/>
              <a:t>4</a:t>
            </a:r>
          </a:p>
        </p:txBody>
      </p:sp>
      <p:sp>
        <p:nvSpPr>
          <p:cNvPr id="11" name="Номер слайда 10">
            <a:extLst>
              <a:ext uri="{FF2B5EF4-FFF2-40B4-BE49-F238E27FC236}">
                <a16:creationId xmlns:a16="http://schemas.microsoft.com/office/drawing/2014/main" id="{65AE6C2E-BF81-CB7B-8462-B48A2E528A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79401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2000"/>
              <a:t>Типовое взаимодействие с СУБД</a:t>
            </a:r>
            <a:endParaRPr lang="ru-RU" sz="2000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90B63B1-A097-CD80-2510-8F68FC7CAFE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26</a:t>
            </a:fld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idx="1"/>
          </p:nvPr>
        </p:nvSpPr>
        <p:spPr>
          <a:xfrm>
            <a:off x="3203848" y="5136504"/>
            <a:ext cx="4824536" cy="1584176"/>
          </a:xfrm>
        </p:spPr>
        <p:txBody>
          <a:bodyPr>
            <a:normAutofit/>
          </a:bodyPr>
          <a:lstStyle/>
          <a:p>
            <a:r>
              <a:rPr lang="ru-RU" sz="1600" dirty="0"/>
              <a:t>Программные библиотеки</a:t>
            </a:r>
          </a:p>
          <a:p>
            <a:r>
              <a:rPr lang="ru-RU" sz="1600" dirty="0"/>
              <a:t>Драйвер </a:t>
            </a:r>
            <a:r>
              <a:rPr lang="en-US" sz="1600" dirty="0"/>
              <a:t>JDBC (Java Database Connectivity) </a:t>
            </a:r>
          </a:p>
          <a:p>
            <a:r>
              <a:rPr lang="ru-RU" sz="1600" dirty="0"/>
              <a:t>Драйвер </a:t>
            </a:r>
            <a:r>
              <a:rPr lang="en-US" sz="1600" dirty="0"/>
              <a:t>ODBC (Open Database Connectivity)</a:t>
            </a:r>
            <a:endParaRPr lang="ru-RU" sz="1600" dirty="0"/>
          </a:p>
          <a:p>
            <a:r>
              <a:rPr lang="ru-RU" sz="1600" dirty="0"/>
              <a:t>…</a:t>
            </a:r>
          </a:p>
        </p:txBody>
      </p:sp>
      <p:pic>
        <p:nvPicPr>
          <p:cNvPr id="60" name="Рисунок 5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527" y="1484784"/>
            <a:ext cx="8323387" cy="3528392"/>
          </a:xfrm>
          <a:prstGeom prst="rect">
            <a:avLst/>
          </a:prstGeom>
        </p:spPr>
      </p:pic>
      <p:sp>
        <p:nvSpPr>
          <p:cNvPr id="61" name="TextBox 60"/>
          <p:cNvSpPr txBox="1"/>
          <p:nvPr/>
        </p:nvSpPr>
        <p:spPr>
          <a:xfrm>
            <a:off x="683568" y="5743926"/>
            <a:ext cx="17461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 dirty="0"/>
              <a:t>Интерфейсы:</a:t>
            </a:r>
          </a:p>
        </p:txBody>
      </p:sp>
      <p:sp>
        <p:nvSpPr>
          <p:cNvPr id="62" name="Левая фигурная скобка 61"/>
          <p:cNvSpPr/>
          <p:nvPr/>
        </p:nvSpPr>
        <p:spPr>
          <a:xfrm>
            <a:off x="2695470" y="5327544"/>
            <a:ext cx="306024" cy="1202096"/>
          </a:xfrm>
          <a:prstGeom prst="leftBrace">
            <a:avLst>
              <a:gd name="adj1" fmla="val 41078"/>
              <a:gd name="adj2" fmla="val 50000"/>
            </a:avLst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7387163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Языки и пользователи СУБД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1749" y="4762824"/>
            <a:ext cx="3960212" cy="1834528"/>
          </a:xfrm>
        </p:spPr>
        <p:txBody>
          <a:bodyPr>
            <a:normAutofit/>
          </a:bodyPr>
          <a:lstStyle/>
          <a:p>
            <a:r>
              <a:rPr lang="ru-RU" sz="1800" dirty="0"/>
              <a:t>Архитектурные языки:</a:t>
            </a:r>
          </a:p>
          <a:p>
            <a:pPr lvl="1"/>
            <a:r>
              <a:rPr lang="en-US" sz="1400" dirty="0"/>
              <a:t>data definition language</a:t>
            </a:r>
            <a:r>
              <a:rPr lang="ru-RU" sz="1400" dirty="0"/>
              <a:t> (</a:t>
            </a:r>
            <a:r>
              <a:rPr lang="en-US" sz="1400" dirty="0"/>
              <a:t>DDL</a:t>
            </a:r>
            <a:r>
              <a:rPr lang="ru-RU" sz="1400" dirty="0"/>
              <a:t>)</a:t>
            </a:r>
          </a:p>
          <a:p>
            <a:pPr lvl="1"/>
            <a:r>
              <a:rPr lang="en-US" sz="1400" i="1" dirty="0"/>
              <a:t>storage definition language</a:t>
            </a:r>
            <a:r>
              <a:rPr lang="ru-RU" sz="1400" i="1" dirty="0"/>
              <a:t> (</a:t>
            </a:r>
            <a:r>
              <a:rPr lang="en-US" sz="1400" i="1" dirty="0"/>
              <a:t>SDL</a:t>
            </a:r>
            <a:r>
              <a:rPr lang="ru-RU" sz="1400" i="1" dirty="0"/>
              <a:t>) </a:t>
            </a:r>
          </a:p>
          <a:p>
            <a:pPr lvl="1"/>
            <a:r>
              <a:rPr lang="ru-RU" sz="1400" i="1" dirty="0"/>
              <a:t>view definition language (VDL)</a:t>
            </a:r>
          </a:p>
          <a:p>
            <a:pPr lvl="1"/>
            <a:r>
              <a:rPr lang="en-US" sz="1400" dirty="0"/>
              <a:t>data manipulation language (DML) </a:t>
            </a:r>
            <a:endParaRPr lang="ru-RU" sz="1400" dirty="0"/>
          </a:p>
          <a:p>
            <a:endParaRPr lang="ru-RU" sz="1800" b="1" i="1" u="sng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r" defTabSz="914400" rtl="0" eaLnBrk="1" latinLnBrk="0" hangingPunct="1">
              <a:defRPr sz="9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027D79F-97CA-4873-BC38-2EA574A6E303}" type="slidenum">
              <a:rPr lang="ru-RU" smtClean="0"/>
              <a:pPr/>
              <a:t>27</a:t>
            </a:fld>
            <a:endParaRPr lang="ru-RU"/>
          </a:p>
        </p:txBody>
      </p:sp>
      <p:pic>
        <p:nvPicPr>
          <p:cNvPr id="5" name="Объект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489" y="1233330"/>
            <a:ext cx="8635999" cy="3529494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1F549449-3090-E34B-D069-CD93D68B9252}"/>
              </a:ext>
            </a:extLst>
          </p:cNvPr>
          <p:cNvSpPr txBox="1"/>
          <p:nvPr/>
        </p:nvSpPr>
        <p:spPr>
          <a:xfrm>
            <a:off x="4478146" y="5044195"/>
            <a:ext cx="467791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defTabSz="914400">
              <a:spcBef>
                <a:spcPct val="20000"/>
              </a:spcBef>
              <a:buFont typeface="Arial" pitchFamily="34" charset="0"/>
            </a:pPr>
            <a:r>
              <a:rPr lang="en-US" sz="1800" dirty="0">
                <a:solidFill>
                  <a:schemeClr val="tx1"/>
                </a:solidFill>
              </a:rPr>
              <a:t>A high</a:t>
            </a:r>
            <a:r>
              <a:rPr lang="ru-RU" sz="1800" dirty="0">
                <a:solidFill>
                  <a:schemeClr val="tx1"/>
                </a:solidFill>
              </a:rPr>
              <a:t>-</a:t>
            </a:r>
            <a:r>
              <a:rPr lang="en-US" sz="1800" dirty="0">
                <a:solidFill>
                  <a:schemeClr val="tx1"/>
                </a:solidFill>
              </a:rPr>
              <a:t>level or nonprocedural DML</a:t>
            </a:r>
            <a:r>
              <a:rPr lang="ru-RU" sz="1800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8B236A9-C7D1-E65A-C092-5CAC5DBDC639}"/>
              </a:ext>
            </a:extLst>
          </p:cNvPr>
          <p:cNvSpPr txBox="1"/>
          <p:nvPr/>
        </p:nvSpPr>
        <p:spPr>
          <a:xfrm>
            <a:off x="4770575" y="5576512"/>
            <a:ext cx="420956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 defTabSz="914400">
              <a:spcBef>
                <a:spcPct val="20000"/>
              </a:spcBef>
              <a:buFont typeface="Arial" pitchFamily="34" charset="0"/>
            </a:pPr>
            <a:r>
              <a:rPr lang="ru-RU" sz="1800" dirty="0">
                <a:solidFill>
                  <a:schemeClr val="tx1"/>
                </a:solidFill>
              </a:rPr>
              <a:t>A low-level or procedural DML</a:t>
            </a:r>
          </a:p>
        </p:txBody>
      </p: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04496AD8-8210-23A4-D0C8-D3E3EFC4D70D}"/>
              </a:ext>
            </a:extLst>
          </p:cNvPr>
          <p:cNvCxnSpPr>
            <a:cxnSpLocks/>
          </p:cNvCxnSpPr>
          <p:nvPr/>
        </p:nvCxnSpPr>
        <p:spPr>
          <a:xfrm flipV="1">
            <a:off x="4034068" y="5228861"/>
            <a:ext cx="897973" cy="8125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Прямая со стрелкой 16">
            <a:extLst>
              <a:ext uri="{FF2B5EF4-FFF2-40B4-BE49-F238E27FC236}">
                <a16:creationId xmlns:a16="http://schemas.microsoft.com/office/drawing/2014/main" id="{BD182CF3-83FC-B4B9-AF8C-14A7EA5D1F11}"/>
              </a:ext>
            </a:extLst>
          </p:cNvPr>
          <p:cNvCxnSpPr>
            <a:cxnSpLocks/>
          </p:cNvCxnSpPr>
          <p:nvPr/>
        </p:nvCxnSpPr>
        <p:spPr>
          <a:xfrm flipV="1">
            <a:off x="4042282" y="5761178"/>
            <a:ext cx="1155944" cy="2801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68811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История современных СУБД: СУБД </a:t>
            </a:r>
            <a:r>
              <a:rPr lang="en-US" dirty="0"/>
              <a:t>Postgres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28</a:t>
            </a:fld>
            <a:endParaRPr lang="ru-RU"/>
          </a:p>
        </p:txBody>
      </p:sp>
      <p:pic>
        <p:nvPicPr>
          <p:cNvPr id="9" name="Рисунок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536" y="1434877"/>
            <a:ext cx="8424936" cy="4609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05643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35D0EAC-A726-A215-2437-529CCCE04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Архитектура </a:t>
            </a:r>
            <a:r>
              <a:rPr lang="en-US" dirty="0"/>
              <a:t>Postgres</a:t>
            </a:r>
            <a:r>
              <a:rPr lang="ru-RU" dirty="0"/>
              <a:t>: основные компоненты сервера</a:t>
            </a:r>
          </a:p>
        </p:txBody>
      </p:sp>
      <p:pic>
        <p:nvPicPr>
          <p:cNvPr id="5" name="Объект 4">
            <a:extLst>
              <a:ext uri="{FF2B5EF4-FFF2-40B4-BE49-F238E27FC236}">
                <a16:creationId xmlns:a16="http://schemas.microsoft.com/office/drawing/2014/main" id="{7EFAB8F9-38D9-F02F-E4AE-0B2DEBAA60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3528" y="1340768"/>
            <a:ext cx="8487592" cy="5079348"/>
          </a:xfrm>
          <a:prstGeom prst="rect">
            <a:avLst/>
          </a:prstGeom>
        </p:spPr>
      </p:pic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DFCD9E0-6123-B7D7-29E5-21A29DD73D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257345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CBBB354-5136-F3CF-03B1-A38F249D76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Архитектура </a:t>
            </a:r>
            <a:r>
              <a:rPr lang="en-US" dirty="0"/>
              <a:t>Postgres</a:t>
            </a:r>
            <a:r>
              <a:rPr lang="ru-RU" dirty="0"/>
              <a:t>: управление памятью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5ABCD8B8-0BB0-BA09-72F9-FFF5B3FEEE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C87B2790-9B43-4903-B0A0-A4941B7FD28D}" type="slidenum">
              <a:rPr lang="ru-RU" smtClean="0"/>
              <a:pPr/>
              <a:t>30</a:t>
            </a:fld>
            <a:endParaRPr lang="ru-RU"/>
          </a:p>
        </p:txBody>
      </p:sp>
      <p:pic>
        <p:nvPicPr>
          <p:cNvPr id="13" name="Объект 12">
            <a:extLst>
              <a:ext uri="{FF2B5EF4-FFF2-40B4-BE49-F238E27FC236}">
                <a16:creationId xmlns:a16="http://schemas.microsoft.com/office/drawing/2014/main" id="{4D57C2DD-5ADE-E09A-32F7-CDB04E76339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9512" y="1340490"/>
            <a:ext cx="8659896" cy="460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81017"/>
      </p:ext>
    </p:extLst>
  </p:cSld>
  <p:clrMapOvr>
    <a:masterClrMapping/>
  </p:clrMapOvr>
</p:sld>
</file>

<file path=ppt/theme/theme1.xml><?xml version="1.0" encoding="utf-8"?>
<a:theme xmlns:a="http://schemas.openxmlformats.org/drawingml/2006/main" name="SCC">
  <a:themeElements>
    <a:clrScheme name="Политех">
      <a:dk1>
        <a:srgbClr val="575756"/>
      </a:dk1>
      <a:lt1>
        <a:srgbClr val="FFFFFF"/>
      </a:lt1>
      <a:dk2>
        <a:srgbClr val="575756"/>
      </a:dk2>
      <a:lt2>
        <a:srgbClr val="BCBCBC"/>
      </a:lt2>
      <a:accent1>
        <a:srgbClr val="369461"/>
      </a:accent1>
      <a:accent2>
        <a:srgbClr val="DB3519"/>
      </a:accent2>
      <a:accent3>
        <a:srgbClr val="007789"/>
      </a:accent3>
      <a:accent4>
        <a:srgbClr val="90984F"/>
      </a:accent4>
      <a:accent5>
        <a:srgbClr val="2FA0E1"/>
      </a:accent5>
      <a:accent6>
        <a:srgbClr val="F0961D"/>
      </a:accent6>
      <a:hlink>
        <a:srgbClr val="E25A0B"/>
      </a:hlink>
      <a:folHlink>
        <a:srgbClr val="850006"/>
      </a:folHlink>
    </a:clrScheme>
    <a:fontScheme name="Политех">
      <a:majorFont>
        <a:latin typeface="PT Sans"/>
        <a:ea typeface=""/>
        <a:cs typeface=""/>
      </a:majorFont>
      <a:minorFont>
        <a:latin typeface="PT Sans"/>
        <a:ea typeface=""/>
        <a:cs typeface="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politech_new</Template>
  <TotalTime>11811</TotalTime>
  <Words>2355</Words>
  <Application>Microsoft Office PowerPoint</Application>
  <PresentationFormat>Экран (4:3)</PresentationFormat>
  <Paragraphs>334</Paragraphs>
  <Slides>30</Slides>
  <Notes>16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1</vt:i4>
      </vt:variant>
      <vt:variant>
        <vt:lpstr>Заголовки слайдов</vt:lpstr>
      </vt:variant>
      <vt:variant>
        <vt:i4>30</vt:i4>
      </vt:variant>
    </vt:vector>
  </HeadingPairs>
  <TitlesOfParts>
    <vt:vector size="37" baseType="lpstr">
      <vt:lpstr>Arial</vt:lpstr>
      <vt:lpstr>Calibri</vt:lpstr>
      <vt:lpstr>PT Sans</vt:lpstr>
      <vt:lpstr>Times New Roman</vt:lpstr>
      <vt:lpstr>Wingdings</vt:lpstr>
      <vt:lpstr>SCC</vt:lpstr>
      <vt:lpstr>Visio</vt:lpstr>
      <vt:lpstr>СУБД для специалиста  по информационной безопасности</vt:lpstr>
      <vt:lpstr>Курс СУБД - основы</vt:lpstr>
      <vt:lpstr>Курс ОПЗБД – погружение</vt:lpstr>
      <vt:lpstr>Курс СУБД – теория и практика</vt:lpstr>
      <vt:lpstr>Отчетность по курсу</vt:lpstr>
      <vt:lpstr>Основная литература по курсу</vt:lpstr>
      <vt:lpstr>История и организация СУБД Эволюция технологий и безопасности</vt:lpstr>
      <vt:lpstr>Темы лекции</vt:lpstr>
      <vt:lpstr>История: Базы данных и файловые системы</vt:lpstr>
      <vt:lpstr>История. Этап I - Библиотеки ИС</vt:lpstr>
      <vt:lpstr>История. Этап II - СУБД в составе ИС</vt:lpstr>
      <vt:lpstr>История. Этап III - СУБД как выделенный компонент</vt:lpstr>
      <vt:lpstr>Схема развития СУБД как продукта/технологии</vt:lpstr>
      <vt:lpstr>Эволюция технологий СУБД</vt:lpstr>
      <vt:lpstr>Понятие СУБД</vt:lpstr>
      <vt:lpstr>Модель организации СУБД ANSI/SPARK</vt:lpstr>
      <vt:lpstr>Взаимодействие в архитектуре ANSI/SPARC </vt:lpstr>
      <vt:lpstr>Презентация PowerPoint</vt:lpstr>
      <vt:lpstr>Функциональная структура СУБД</vt:lpstr>
      <vt:lpstr>Схема работы СУБД</vt:lpstr>
      <vt:lpstr>Классификация СУБД: по модели данных</vt:lpstr>
      <vt:lpstr>Классификация СУБД: по сфере применения</vt:lpstr>
      <vt:lpstr>Классификация СУБД: по архитектуре</vt:lpstr>
      <vt:lpstr>Классификация СУБД: по организации хранения</vt:lpstr>
      <vt:lpstr>Классификация СУБД: по типу параллельности</vt:lpstr>
      <vt:lpstr>Типовое взаимодействие с СУБД</vt:lpstr>
      <vt:lpstr>Языки и пользователи СУБД</vt:lpstr>
      <vt:lpstr>История современных СУБД: СУБД Postgres</vt:lpstr>
      <vt:lpstr>Архитектура Postgres: основные компоненты сервера</vt:lpstr>
      <vt:lpstr>Архитектура Postgres: управление памятью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ОС UNIX: Архитектура ОС. Стандарт POSIX</dc:title>
  <dc:creator>Василий</dc:creator>
  <cp:lastModifiedBy>Maria</cp:lastModifiedBy>
  <cp:revision>563</cp:revision>
  <dcterms:created xsi:type="dcterms:W3CDTF">2018-04-03T06:05:28Z</dcterms:created>
  <dcterms:modified xsi:type="dcterms:W3CDTF">2024-02-07T13:23:14Z</dcterms:modified>
</cp:coreProperties>
</file>