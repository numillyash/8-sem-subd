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6"/>
  </p:notesMasterIdLst>
  <p:sldIdLst>
    <p:sldId id="381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447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448" r:id="rId42"/>
    <p:sldId id="450" r:id="rId43"/>
    <p:sldId id="449" r:id="rId44"/>
    <p:sldId id="451" r:id="rId4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1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89692" autoAdjust="0"/>
  </p:normalViewPr>
  <p:slideViewPr>
    <p:cSldViewPr snapToObjects="1">
      <p:cViewPr varScale="1">
        <p:scale>
          <a:sx n="93" d="100"/>
          <a:sy n="93" d="100"/>
        </p:scale>
        <p:origin x="5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02.04.2024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2826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84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349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240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445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.bin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12568"/>
          </a:xfrm>
        </p:spPr>
        <p:txBody>
          <a:bodyPr anchor="t">
            <a:normAutofit/>
          </a:bodyPr>
          <a:lstStyle/>
          <a:p>
            <a:r>
              <a:rPr lang="ru-RU" dirty="0" smtClean="0"/>
              <a:t>Оптимизация </a:t>
            </a:r>
            <a:r>
              <a:rPr lang="ru-RU" dirty="0"/>
              <a:t>запросов к СУБД</a:t>
            </a:r>
          </a:p>
          <a:p>
            <a:pPr lvl="1"/>
            <a:r>
              <a:rPr lang="ru-RU" dirty="0" smtClean="0"/>
              <a:t>Пример выполнения запроса	</a:t>
            </a:r>
          </a:p>
          <a:p>
            <a:pPr lvl="1"/>
            <a:r>
              <a:rPr lang="ru-RU" dirty="0" smtClean="0"/>
              <a:t>Задача оптимизации запросов к СУБД</a:t>
            </a:r>
          </a:p>
          <a:p>
            <a:pPr lvl="1"/>
            <a:r>
              <a:rPr lang="ru-RU" dirty="0" smtClean="0"/>
              <a:t>Путь обработки запроса в реляционной СУБД</a:t>
            </a:r>
          </a:p>
          <a:p>
            <a:pPr lvl="1"/>
            <a:r>
              <a:rPr lang="ru-RU" dirty="0" smtClean="0"/>
              <a:t>Схема работы оптимизатора</a:t>
            </a:r>
          </a:p>
          <a:p>
            <a:r>
              <a:rPr lang="ru-RU" dirty="0" smtClean="0"/>
              <a:t>Преобразование </a:t>
            </a:r>
            <a:r>
              <a:rPr lang="ru-RU" dirty="0"/>
              <a:t>запроса во внутреннюю форму</a:t>
            </a:r>
          </a:p>
          <a:p>
            <a:r>
              <a:rPr lang="ru-RU" dirty="0"/>
              <a:t>Преобразование запроса в каноническую форму</a:t>
            </a:r>
          </a:p>
          <a:p>
            <a:pPr lvl="1"/>
            <a:r>
              <a:rPr lang="ru-RU" dirty="0" smtClean="0"/>
              <a:t>Понятие канонической формы</a:t>
            </a:r>
          </a:p>
          <a:p>
            <a:pPr lvl="1"/>
            <a:r>
              <a:rPr lang="ru-RU" dirty="0" smtClean="0"/>
              <a:t>Построение логического плана</a:t>
            </a:r>
          </a:p>
          <a:p>
            <a:r>
              <a:rPr lang="ru-RU" dirty="0" smtClean="0"/>
              <a:t>Пример </a:t>
            </a:r>
            <a:r>
              <a:rPr lang="ru-RU" dirty="0"/>
              <a:t>построения логического плана</a:t>
            </a:r>
          </a:p>
          <a:p>
            <a:pPr lvl="1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772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Выполнение запросов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данным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9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5156A-5619-B990-852E-EC22BF36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выполнения запроса: схема и запрос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332A69-D814-62FA-6419-D940EB9D6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C640E70-0E40-D50F-FB77-C13202771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655" y="1635812"/>
            <a:ext cx="5112568" cy="3959358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85D739E-BEA9-785D-D48F-5CACDCE3ABAB}"/>
              </a:ext>
            </a:extLst>
          </p:cNvPr>
          <p:cNvSpPr/>
          <p:nvPr/>
        </p:nvSpPr>
        <p:spPr>
          <a:xfrm>
            <a:off x="2051720" y="1285545"/>
            <a:ext cx="3456384" cy="2575503"/>
          </a:xfrm>
          <a:prstGeom prst="roundRect">
            <a:avLst>
              <a:gd name="adj" fmla="val 8639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5DA602-B94F-9A46-6E0B-29133849F227}"/>
              </a:ext>
            </a:extLst>
          </p:cNvPr>
          <p:cNvSpPr/>
          <p:nvPr/>
        </p:nvSpPr>
        <p:spPr>
          <a:xfrm>
            <a:off x="1547664" y="5778011"/>
            <a:ext cx="4680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S.Name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SP</a:t>
            </a:r>
            <a:r>
              <a:rPr lang="en-US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join S on SPJ.SN=S.SN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SPJ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PN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=’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2’</a:t>
            </a:r>
            <a:endParaRPr lang="ru-RU" sz="20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823CFB-9331-FFB3-8C30-BFFB32B1F80A}"/>
              </a:ext>
            </a:extLst>
          </p:cNvPr>
          <p:cNvSpPr/>
          <p:nvPr/>
        </p:nvSpPr>
        <p:spPr>
          <a:xfrm>
            <a:off x="167724" y="5408679"/>
            <a:ext cx="5807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Определить имена поставщиков детали с номером Р2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E92592-422E-597B-963F-E7545FABB5CB}"/>
              </a:ext>
            </a:extLst>
          </p:cNvPr>
          <p:cNvSpPr/>
          <p:nvPr/>
        </p:nvSpPr>
        <p:spPr>
          <a:xfrm>
            <a:off x="5771987" y="1477492"/>
            <a:ext cx="3168352" cy="12618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Статистические данные:</a:t>
            </a:r>
          </a:p>
          <a:p>
            <a:pPr>
              <a:spcBef>
                <a:spcPts val="1200"/>
              </a:spcBef>
            </a:pP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SPJ -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10 000 поставок деталей,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из них: </a:t>
            </a:r>
            <a:r>
              <a:rPr lang="ru-RU" sz="1600" b="1" dirty="0">
                <a:latin typeface="Times New Roman" panose="02020603050405020304" pitchFamily="18" charset="0"/>
                <a:ea typeface="Calibri" panose="020F0502020204030204" pitchFamily="34" charset="0"/>
              </a:rPr>
              <a:t>50 поставок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включают </a:t>
            </a:r>
            <a:b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1600" b="1" dirty="0">
                <a:latin typeface="Times New Roman" panose="02020603050405020304" pitchFamily="18" charset="0"/>
                <a:ea typeface="Calibri" panose="020F0502020204030204" pitchFamily="34" charset="0"/>
              </a:rPr>
              <a:t>партии деталей с номером Р2</a:t>
            </a:r>
            <a:endParaRPr lang="ru-RU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056C7-7D96-82CE-2EDC-C9C5DAD74DC7}"/>
              </a:ext>
            </a:extLst>
          </p:cNvPr>
          <p:cNvSpPr txBox="1"/>
          <p:nvPr/>
        </p:nvSpPr>
        <p:spPr>
          <a:xfrm>
            <a:off x="4022536" y="1477492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100 записей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655963-51C8-2928-24CB-B1A8A33D13AC}"/>
              </a:ext>
            </a:extLst>
          </p:cNvPr>
          <p:cNvSpPr txBox="1"/>
          <p:nvPr/>
        </p:nvSpPr>
        <p:spPr>
          <a:xfrm>
            <a:off x="2109910" y="1462457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10 000 записей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12DA9-DFC4-47F9-907C-A667E9CD6AEF}"/>
              </a:ext>
            </a:extLst>
          </p:cNvPr>
          <p:cNvSpPr txBox="1"/>
          <p:nvPr/>
        </p:nvSpPr>
        <p:spPr>
          <a:xfrm>
            <a:off x="6011940" y="3114164"/>
            <a:ext cx="2688445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Допустим для простоты:</a:t>
            </a:r>
          </a:p>
          <a:p>
            <a:endParaRPr lang="ru-RU" dirty="0"/>
          </a:p>
          <a:p>
            <a:r>
              <a:rPr lang="ru-RU" sz="1600" dirty="0"/>
              <a:t>Для </a:t>
            </a:r>
            <a:r>
              <a:rPr lang="en-GB" sz="1600" dirty="0"/>
              <a:t>S </a:t>
            </a:r>
            <a:r>
              <a:rPr lang="ru-RU" sz="1600" dirty="0"/>
              <a:t>и </a:t>
            </a:r>
            <a:r>
              <a:rPr lang="en-GB" sz="1600" dirty="0"/>
              <a:t>SP</a:t>
            </a:r>
            <a:r>
              <a:rPr lang="en-US" sz="1600" dirty="0"/>
              <a:t> </a:t>
            </a:r>
            <a:r>
              <a:rPr lang="ru-RU" sz="1600" dirty="0"/>
              <a:t> </a:t>
            </a:r>
            <a:br>
              <a:rPr lang="ru-RU" sz="1600" dirty="0"/>
            </a:br>
            <a:r>
              <a:rPr lang="ru-RU" sz="1600" dirty="0"/>
              <a:t>1 запись – 1 кортеж данных </a:t>
            </a:r>
            <a:br>
              <a:rPr lang="ru-RU" sz="1600" dirty="0"/>
            </a:br>
            <a:r>
              <a:rPr lang="ru-RU" sz="1600" dirty="0"/>
              <a:t>и 1 страница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0054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AE222-36EE-6D90-99AE-FBD371D1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выполнения запроса: вариант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F8E0E9-9F80-0084-CD6A-590FF93C6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F2EAEC-48CE-0555-E168-7B204AA1C324}"/>
              </a:ext>
            </a:extLst>
          </p:cNvPr>
          <p:cNvSpPr/>
          <p:nvPr/>
        </p:nvSpPr>
        <p:spPr>
          <a:xfrm>
            <a:off x="4572000" y="5581689"/>
            <a:ext cx="36106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S.Name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SP</a:t>
            </a:r>
            <a:r>
              <a:rPr lang="en-US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join S on SPJ.SN=S.SN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SPJ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PN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=’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2’</a:t>
            </a:r>
            <a:endParaRPr lang="ru-RU" sz="20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D0E9AD-FFB7-2DF7-0B14-FF8216CF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28800"/>
            <a:ext cx="6212362" cy="467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5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AE222-36EE-6D90-99AE-FBD371D1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выполнения запроса: вариант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F8E0E9-9F80-0084-CD6A-590FF93C6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F2EAEC-48CE-0555-E168-7B204AA1C324}"/>
              </a:ext>
            </a:extLst>
          </p:cNvPr>
          <p:cNvSpPr/>
          <p:nvPr/>
        </p:nvSpPr>
        <p:spPr>
          <a:xfrm>
            <a:off x="4572000" y="5581689"/>
            <a:ext cx="36106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S.Name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SP</a:t>
            </a:r>
            <a:r>
              <a:rPr lang="en-US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join S on SPJ.SN=S.SN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SPJ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PN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=’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2’</a:t>
            </a:r>
            <a:endParaRPr lang="ru-RU" sz="20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ECFA8C4-0615-3E94-1FC6-7C0E2C8A8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15187"/>
            <a:ext cx="4176464" cy="511046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8550891-06D5-4EB0-F2EF-4433E8CF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685" y="1535207"/>
            <a:ext cx="3472668" cy="261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1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B4DCF-AFC8-7427-2D06-484A7D86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оптимизации запросов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CF3590-97B8-BED2-897A-2A9345D5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7" y="1484784"/>
            <a:ext cx="8291191" cy="1944216"/>
          </a:xfrm>
        </p:spPr>
        <p:txBody>
          <a:bodyPr/>
          <a:lstStyle/>
          <a:p>
            <a:r>
              <a:rPr lang="ru-RU" b="1" dirty="0"/>
              <a:t>Цель:</a:t>
            </a:r>
          </a:p>
          <a:p>
            <a:r>
              <a:rPr lang="ru-RU" dirty="0"/>
              <a:t>Увеличение производительности сервера СУБД</a:t>
            </a:r>
          </a:p>
          <a:p>
            <a:endParaRPr lang="ru-RU" dirty="0"/>
          </a:p>
          <a:p>
            <a:r>
              <a:rPr lang="ru-RU" b="1" dirty="0"/>
              <a:t>Метод:</a:t>
            </a:r>
          </a:p>
          <a:p>
            <a:r>
              <a:rPr lang="ru-RU" dirty="0"/>
              <a:t>Выполнение запроса над данными наиболее оптимальным способом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44896D-797C-FE81-AC6C-27E85A758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1C0D52-F8AB-D23A-1149-A18A69394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186812"/>
            <a:ext cx="5940152" cy="239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8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699E4-30D9-98CB-B568-1F9D3276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Автоматическая оптимизация запроса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AD571E-6CEE-9C9C-7A2F-5B20E7A73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74DBD0-E694-B9F8-C1EB-BDFDC1C10E8F}"/>
              </a:ext>
            </a:extLst>
          </p:cNvPr>
          <p:cNvSpPr txBox="1">
            <a:spLocks/>
          </p:cNvSpPr>
          <p:nvPr/>
        </p:nvSpPr>
        <p:spPr>
          <a:xfrm>
            <a:off x="683568" y="1340768"/>
            <a:ext cx="7848872" cy="7200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02D76A8D-1F81-520B-7CC4-BAEFB80207AA}"/>
              </a:ext>
            </a:extLst>
          </p:cNvPr>
          <p:cNvSpPr txBox="1">
            <a:spLocks/>
          </p:cNvSpPr>
          <p:nvPr/>
        </p:nvSpPr>
        <p:spPr>
          <a:xfrm>
            <a:off x="683568" y="1578832"/>
            <a:ext cx="7848872" cy="501852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itchFamily="34" charset="0"/>
              <a:buNone/>
            </a:pPr>
            <a:r>
              <a:rPr lang="ru-RU" b="1" dirty="0"/>
              <a:t>Требование:</a:t>
            </a:r>
          </a:p>
          <a:p>
            <a:pPr>
              <a:spcBef>
                <a:spcPts val="600"/>
              </a:spcBef>
            </a:pPr>
            <a:r>
              <a:rPr lang="ru-RU" dirty="0"/>
              <a:t>Наличие математического аппарата, позволяющего </a:t>
            </a:r>
            <a:r>
              <a:rPr lang="ru-RU" i="1" dirty="0"/>
              <a:t>рассчитать</a:t>
            </a:r>
            <a:r>
              <a:rPr lang="ru-RU" dirty="0"/>
              <a:t> наиболее эффективный способ выполнения запроса</a:t>
            </a:r>
          </a:p>
          <a:p>
            <a:pPr>
              <a:spcBef>
                <a:spcPts val="600"/>
              </a:spcBef>
            </a:pP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b="1" dirty="0"/>
              <a:t>Преимущества: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Учет статистических данных: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количество различных значений каждого типа;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текущее количество кортежей в каждой базовой переменной отношения;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текущее количество различающихся значений для каждого атрибута в каждой базовой переменной отношения;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количество вхождений каждого значения в каждом из атрибутов и т.п.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Автоматическая </a:t>
            </a:r>
            <a:r>
              <a:rPr lang="ru-RU" dirty="0" err="1"/>
              <a:t>реоптмизация</a:t>
            </a:r>
            <a:r>
              <a:rPr lang="ru-RU" dirty="0"/>
              <a:t> при изменениях.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Число оцениваемых вариаций (сотни +).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Не зависит от квалификации оператора.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177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999A2-B160-2C90-64CD-A3777E2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69568"/>
            <a:ext cx="7920880" cy="664820"/>
          </a:xfrm>
        </p:spPr>
        <p:txBody>
          <a:bodyPr>
            <a:normAutofit/>
          </a:bodyPr>
          <a:lstStyle/>
          <a:p>
            <a:r>
              <a:rPr lang="ru-RU" dirty="0"/>
              <a:t>Путь обработки </a:t>
            </a:r>
            <a:r>
              <a:rPr lang="ru-RU"/>
              <a:t>запроса в </a:t>
            </a:r>
            <a:r>
              <a:rPr lang="ru-RU" dirty="0"/>
              <a:t>реляционной СУБД</a:t>
            </a:r>
          </a:p>
        </p:txBody>
      </p:sp>
      <p:pic>
        <p:nvPicPr>
          <p:cNvPr id="23" name="Объект 22">
            <a:extLst>
              <a:ext uri="{FF2B5EF4-FFF2-40B4-BE49-F238E27FC236}">
                <a16:creationId xmlns:a16="http://schemas.microsoft.com/office/drawing/2014/main" id="{C6DC2476-55E9-3464-9037-771FA90CA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624" y="1340768"/>
            <a:ext cx="6560904" cy="504766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568FB4-A55F-F7E9-C3FF-B8C89CFB1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81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7623A-8795-C06E-8A95-C1A7AEAB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оптимизация запроса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31458-CEB5-7116-E889-D7DAAC68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820" y="1484784"/>
            <a:ext cx="3888432" cy="3432491"/>
          </a:xfrm>
        </p:spPr>
        <p:txBody>
          <a:bodyPr anchor="t">
            <a:normAutofit/>
          </a:bodyPr>
          <a:lstStyle/>
          <a:p>
            <a:r>
              <a:rPr lang="ru-RU" dirty="0"/>
              <a:t>Внутренняя форма запроса</a:t>
            </a:r>
          </a:p>
          <a:p>
            <a:r>
              <a:rPr lang="ru-RU" dirty="0"/>
              <a:t>Приведение к канонической форме</a:t>
            </a:r>
          </a:p>
          <a:p>
            <a:pPr lvl="1"/>
            <a:r>
              <a:rPr lang="ru-RU" dirty="0"/>
              <a:t>Каноническая форма реляционного выражения</a:t>
            </a:r>
          </a:p>
          <a:p>
            <a:pPr lvl="1"/>
            <a:r>
              <a:rPr lang="ru-RU" dirty="0"/>
              <a:t>Каноническая форма выражений в запросе</a:t>
            </a:r>
          </a:p>
          <a:p>
            <a:pPr lvl="1"/>
            <a:r>
              <a:rPr lang="ru-RU" dirty="0"/>
              <a:t>Каноническая форма подзапросов</a:t>
            </a:r>
          </a:p>
          <a:p>
            <a:r>
              <a:rPr lang="ru-RU" dirty="0"/>
              <a:t>Семантическая оптимизация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E2C8FB-EFEB-FD80-AF47-4BE86D33B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D43073-A8B1-DF60-E2DD-B1FA8148D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1" y="1602221"/>
            <a:ext cx="4932769" cy="485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3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165FE-759E-D97E-B2B1-DA6DEEDD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Внутренняя форма запроса</a:t>
            </a:r>
            <a:r>
              <a:rPr lang="en-US" dirty="0"/>
              <a:t>: </a:t>
            </a:r>
            <a:r>
              <a:rPr lang="ru-RU" dirty="0"/>
              <a:t>дерево запроса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CBAFA-BFEB-541C-896D-E8D00C6EA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/>
              <a:t>Согласование синтаксиса</a:t>
            </a:r>
          </a:p>
          <a:p>
            <a:r>
              <a:rPr lang="ru-RU" dirty="0"/>
              <a:t>Обработка представлений/переменных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4082F-AC92-137F-9AF5-A7CFD2A15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70EB12-EDB7-C54A-6A40-D39DA5850692}"/>
              </a:ext>
            </a:extLst>
          </p:cNvPr>
          <p:cNvSpPr/>
          <p:nvPr/>
        </p:nvSpPr>
        <p:spPr>
          <a:xfrm>
            <a:off x="5074597" y="2834364"/>
            <a:ext cx="36106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S.Name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SP</a:t>
            </a:r>
            <a:r>
              <a:rPr lang="en-US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join S on SPJ.SN=S.SN</a:t>
            </a:r>
            <a:endParaRPr lang="ru-RU" sz="20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SPJ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PN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=’</a:t>
            </a:r>
            <a:r>
              <a:rPr lang="en-GB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0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2’</a:t>
            </a:r>
            <a:endParaRPr lang="ru-RU" sz="20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C6E0E1-8E28-C6CD-A9A4-58C15E3C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41" y="2526130"/>
            <a:ext cx="4752528" cy="407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43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E14F7-3D80-E673-2534-A8400716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канонической формы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7AEDF3-0122-1EBB-09D3-49932BCB1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145" y="2676679"/>
            <a:ext cx="8460940" cy="2877536"/>
          </a:xfrm>
        </p:spPr>
        <p:txBody>
          <a:bodyPr anchor="t">
            <a:no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dirty="0">
                <a:ea typeface="Calibri" panose="020F0502020204030204" pitchFamily="34" charset="0"/>
              </a:rPr>
              <a:t>Пусть Q — множество объектов (запросов) и пусть существует понятие об их эквивалентности (</a:t>
            </a:r>
            <a:r>
              <a:rPr lang="ru-RU" sz="1600" b="1" dirty="0">
                <a:solidFill>
                  <a:schemeClr val="accent2"/>
                </a:solidFill>
                <a:ea typeface="Calibri" panose="020F0502020204030204" pitchFamily="34" charset="0"/>
              </a:rPr>
              <a:t>а именно, запросы </a:t>
            </a:r>
            <a:r>
              <a:rPr lang="ru-RU" sz="1600" b="1" dirty="0" err="1">
                <a:solidFill>
                  <a:schemeClr val="accent2"/>
                </a:solidFill>
                <a:ea typeface="Calibri" panose="020F0502020204030204" pitchFamily="34" charset="0"/>
              </a:rPr>
              <a:t>ql</a:t>
            </a:r>
            <a:r>
              <a:rPr lang="ru-RU" sz="1600" b="1" dirty="0">
                <a:solidFill>
                  <a:schemeClr val="accent2"/>
                </a:solidFill>
                <a:ea typeface="Calibri" panose="020F0502020204030204" pitchFamily="34" charset="0"/>
              </a:rPr>
              <a:t> и q2 эквивалентны тогда и только тогда, когда дают идентичные результаты</a:t>
            </a:r>
            <a:r>
              <a:rPr lang="ru-RU" sz="1600" dirty="0">
                <a:ea typeface="Calibri" panose="020F0502020204030204" pitchFamily="34" charset="0"/>
              </a:rPr>
              <a:t>). 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endParaRPr lang="ru-RU" sz="1600" dirty="0"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dirty="0">
                <a:ea typeface="Calibri" panose="020F0502020204030204" pitchFamily="34" charset="0"/>
              </a:rPr>
              <a:t>Тогда подмножество С множества Q является </a:t>
            </a:r>
            <a:r>
              <a:rPr lang="ru-RU" sz="1600" b="1" dirty="0">
                <a:ea typeface="Calibri" panose="020F0502020204030204" pitchFamily="34" charset="0"/>
              </a:rPr>
              <a:t>множеством канонических форм</a:t>
            </a:r>
            <a:r>
              <a:rPr lang="ru-RU" sz="1600" dirty="0">
                <a:ea typeface="Calibri" panose="020F0502020204030204" pitchFamily="34" charset="0"/>
              </a:rPr>
              <a:t> для запросов из множества Q в смысле определенной выше эквивалентности тогда и только тогда, когда каждому объекту </a:t>
            </a:r>
            <a:r>
              <a:rPr lang="ru-RU" sz="1600" b="1" dirty="0">
                <a:ea typeface="Calibri" panose="020F0502020204030204" pitchFamily="34" charset="0"/>
              </a:rPr>
              <a:t>q</a:t>
            </a:r>
            <a:r>
              <a:rPr lang="ru-RU" sz="1600" dirty="0">
                <a:ea typeface="Calibri" panose="020F0502020204030204" pitchFamily="34" charset="0"/>
              </a:rPr>
              <a:t> из множества Q соответствует только один объект </a:t>
            </a:r>
            <a:r>
              <a:rPr lang="ru-RU" sz="1600" b="1" dirty="0">
                <a:ea typeface="Calibri" panose="020F0502020204030204" pitchFamily="34" charset="0"/>
              </a:rPr>
              <a:t>с</a:t>
            </a:r>
            <a:r>
              <a:rPr lang="ru-RU" sz="1600" dirty="0">
                <a:ea typeface="Calibri" panose="020F0502020204030204" pitchFamily="34" charset="0"/>
              </a:rPr>
              <a:t> из множества С. </a:t>
            </a:r>
          </a:p>
          <a:p>
            <a:pPr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i="1" dirty="0">
                <a:ea typeface="Calibri" panose="020F0502020204030204" pitchFamily="34" charset="0"/>
              </a:rPr>
              <a:t>В этом случае говорят, что объект </a:t>
            </a:r>
            <a:r>
              <a:rPr lang="ru-RU" sz="1400" b="1" i="1" dirty="0">
                <a:ea typeface="Calibri" panose="020F0502020204030204" pitchFamily="34" charset="0"/>
              </a:rPr>
              <a:t>с</a:t>
            </a:r>
            <a:r>
              <a:rPr lang="ru-RU" sz="1400" i="1" dirty="0">
                <a:ea typeface="Calibri" panose="020F0502020204030204" pitchFamily="34" charset="0"/>
              </a:rPr>
              <a:t> является канонической формой объекта q. </a:t>
            </a:r>
            <a:endParaRPr lang="ru-RU" sz="1400" i="1" dirty="0">
              <a:effectLst/>
              <a:ea typeface="Calibri" panose="020F0502020204030204" pitchFamily="34" charset="0"/>
            </a:endParaRP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38E7DD-3691-465F-B6C5-F06F50AD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F4D0839-F635-91BB-9A09-EB0127EE5A94}"/>
              </a:ext>
            </a:extLst>
          </p:cNvPr>
          <p:cNvSpPr txBox="1">
            <a:spLocks/>
          </p:cNvSpPr>
          <p:nvPr/>
        </p:nvSpPr>
        <p:spPr>
          <a:xfrm>
            <a:off x="544145" y="1287458"/>
            <a:ext cx="8388932" cy="12933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Цель:</a:t>
            </a:r>
          </a:p>
          <a:p>
            <a:pPr lvl="1"/>
            <a:r>
              <a:rPr lang="ru-RU" sz="1600" dirty="0"/>
              <a:t>Исключение внешних различий в эквивалентных представлениях запроса; </a:t>
            </a:r>
          </a:p>
          <a:p>
            <a:pPr lvl="1"/>
            <a:r>
              <a:rPr lang="ru-RU" sz="1600" dirty="0"/>
              <a:t>Поиск представления запроса, в некотором смысле более эффективного по сравнению с исходным представлением</a:t>
            </a:r>
          </a:p>
          <a:p>
            <a:endParaRPr lang="ru-RU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59DB7-E0D6-6E90-FE10-E759AFBAD24C}"/>
              </a:ext>
            </a:extLst>
          </p:cNvPr>
          <p:cNvSpPr txBox="1"/>
          <p:nvPr/>
        </p:nvSpPr>
        <p:spPr>
          <a:xfrm>
            <a:off x="544144" y="5445224"/>
            <a:ext cx="8388931" cy="984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8600" indent="-228600">
              <a:spcBef>
                <a:spcPts val="1200"/>
              </a:spcBef>
              <a:buFont typeface="+mj-lt"/>
              <a:buAutoNum type="arabicPeriod"/>
            </a:pPr>
            <a:r>
              <a:rPr lang="ru-RU" sz="1600" dirty="0"/>
              <a:t>Все интересующие свойства, которыми обладает объект q, присущи также объекту с. </a:t>
            </a:r>
          </a:p>
          <a:p>
            <a:pPr marL="228600" indent="-228600">
              <a:spcBef>
                <a:spcPts val="1200"/>
              </a:spcBef>
              <a:buFont typeface="+mj-lt"/>
              <a:buAutoNum type="arabicPeriod"/>
            </a:pPr>
            <a:r>
              <a:rPr lang="ru-RU" sz="1600" dirty="0"/>
              <a:t>Чтобы доказать различные положения, достаточно изучить менее мощное множество объектов С, а не более мощное множество Q.</a:t>
            </a:r>
          </a:p>
        </p:txBody>
      </p:sp>
    </p:spTree>
    <p:extLst>
      <p:ext uri="{BB962C8B-B14F-4D97-AF65-F5344CB8AC3E}">
        <p14:creationId xmlns:p14="http://schemas.microsoft.com/office/powerpoint/2010/main" val="3594103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165FE-759E-D97E-B2B1-DA6DEEDD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форма запроса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CBAFA-BFEB-541C-896D-E8D00C6EA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C00000"/>
                </a:solidFill>
              </a:rPr>
              <a:t>Оператор </a:t>
            </a:r>
            <a:r>
              <a:rPr lang="en-US" dirty="0">
                <a:solidFill>
                  <a:srgbClr val="C00000"/>
                </a:solidFill>
              </a:rPr>
              <a:t>SELECT </a:t>
            </a:r>
            <a:r>
              <a:rPr lang="ru-RU" dirty="0">
                <a:solidFill>
                  <a:srgbClr val="C00000"/>
                </a:solidFill>
              </a:rPr>
              <a:t>языка </a:t>
            </a:r>
            <a:r>
              <a:rPr lang="en-US" dirty="0">
                <a:solidFill>
                  <a:srgbClr val="C00000"/>
                </a:solidFill>
              </a:rPr>
              <a:t>SQL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× R</a:t>
            </a:r>
            <a:r>
              <a:rPr lang="en-US" sz="20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× …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×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декартово произведение отношений (таблиц), указанных за ключевым словом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FROM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σ</a:t>
            </a:r>
            <a:r>
              <a:rPr lang="en-US" sz="2000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операция селекции (выборки) кортежей </a:t>
            </a:r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декартова произведения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в соответствии с условием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π</a:t>
            </a:r>
            <a:r>
              <a:rPr lang="en-US" sz="20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проекция селекции (выборки) на множество атрибутов А, перечисленных за ключевым словом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SELECT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4082F-AC92-137F-9AF5-A7CFD2A15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5C51BA-21D6-0EAA-5E4C-B2D55D77EC64}"/>
              </a:ext>
            </a:extLst>
          </p:cNvPr>
          <p:cNvSpPr/>
          <p:nvPr/>
        </p:nvSpPr>
        <p:spPr>
          <a:xfrm>
            <a:off x="1763688" y="2531363"/>
            <a:ext cx="59766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π</a:t>
            </a:r>
            <a:r>
              <a:rPr lang="en-US" sz="32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A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σ</a:t>
            </a:r>
            <a:r>
              <a:rPr lang="en-US" sz="3200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(R</a:t>
            </a:r>
            <a:r>
              <a:rPr lang="en-US" sz="32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× R</a:t>
            </a:r>
            <a:r>
              <a:rPr lang="en-US" sz="32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× … × R</a:t>
            </a:r>
            <a:r>
              <a:rPr lang="en-US" sz="32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)) 	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09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165FE-759E-D97E-B2B1-DA6DEEDD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внутренняя форма запроса -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CBAFA-BFEB-541C-896D-E8D00C6E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368152"/>
          </a:xfrm>
        </p:spPr>
        <p:txBody>
          <a:bodyPr anchor="t"/>
          <a:lstStyle/>
          <a:p>
            <a:pPr marL="0" indent="0" algn="just">
              <a:spcAft>
                <a:spcPts val="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369461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фамилия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b="1" dirty="0">
                <a:solidFill>
                  <a:srgbClr val="369461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пользователь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369461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код_пользователя</a:t>
            </a:r>
            <a:r>
              <a:rPr lang="ru-RU" dirty="0">
                <a:solidFill>
                  <a:srgbClr val="369461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4082F-AC92-137F-9AF5-A7CFD2A15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94F1819B-DE78-6E90-CFAD-E807032E4526}"/>
                  </a:ext>
                </a:extLst>
              </p:cNvPr>
              <p:cNvSpPr txBox="1"/>
              <p:nvPr/>
            </p:nvSpPr>
            <p:spPr bwMode="auto">
              <a:xfrm>
                <a:off x="860497" y="5517232"/>
                <a:ext cx="7120165" cy="64807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ru-RU" sz="2800" b="1" i="1" smtClean="0">
                              <a:solidFill>
                                <a:srgbClr val="369461"/>
                              </a:solidFill>
                              <a:latin typeface="Cambria Math" panose="02040503050406030204" pitchFamily="18" charset="0"/>
                            </a:rPr>
                            <m:t>фамилия</m:t>
                          </m:r>
                        </m:sub>
                      </m:sSub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u-RU" sz="2800" b="1" i="1" smtClean="0">
                              <a:solidFill>
                                <a:srgbClr val="369461"/>
                              </a:solidFill>
                              <a:latin typeface="Cambria Math" panose="02040503050406030204" pitchFamily="18" charset="0"/>
                            </a:rPr>
                            <m:t>код_пользователя</m:t>
                          </m:r>
                          <m:r>
                            <a:rPr lang="ru-RU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b="1" i="1" smtClean="0">
                          <a:solidFill>
                            <a:srgbClr val="369461"/>
                          </a:solidFill>
                          <a:latin typeface="Cambria Math" panose="02040503050406030204" pitchFamily="18" charset="0"/>
                        </a:rPr>
                        <m:t>пользователь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ru-RU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94F1819B-DE78-6E90-CFAD-E807032E4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497" y="5517232"/>
                <a:ext cx="7120165" cy="648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F54301E0-8F10-6ACE-151F-1EFF40CA3B8A}"/>
              </a:ext>
            </a:extLst>
          </p:cNvPr>
          <p:cNvSpPr/>
          <p:nvPr/>
        </p:nvSpPr>
        <p:spPr>
          <a:xfrm>
            <a:off x="3358750" y="2995377"/>
            <a:ext cx="864096" cy="2232248"/>
          </a:xfrm>
          <a:prstGeom prst="downArrow">
            <a:avLst>
              <a:gd name="adj1" fmla="val 3725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3D605C6-4CD7-CF5D-C289-CD3150EAC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310" y="2880111"/>
            <a:ext cx="2895050" cy="256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56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Канонические формы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выражений и подзапросов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8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2FB7F-6F9D-69A4-C747-B116D3FD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Каноническая форма логических выражений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9DD9-2E67-E62A-3D11-843572DBE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b="1" dirty="0"/>
              <a:t>Д</a:t>
            </a:r>
            <a:r>
              <a:rPr lang="ru-RU" b="1" i="1" dirty="0"/>
              <a:t>изъюнктивная нормальная форма</a:t>
            </a:r>
            <a:endParaRPr lang="ru-RU" dirty="0"/>
          </a:p>
          <a:p>
            <a:r>
              <a:rPr lang="ru-RU" b="1" i="1" dirty="0"/>
              <a:t>Конъюнктивная нормальная форма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При приведении логического условия к каноническому представлению:</a:t>
            </a:r>
          </a:p>
          <a:p>
            <a:pPr lvl="1"/>
            <a:r>
              <a:rPr lang="ru-RU" b="1" dirty="0"/>
              <a:t>поиск общих предикатов</a:t>
            </a:r>
            <a:r>
              <a:rPr lang="ru-RU" dirty="0"/>
              <a:t> </a:t>
            </a:r>
          </a:p>
          <a:p>
            <a:pPr lvl="1"/>
            <a:r>
              <a:rPr lang="ru-RU" b="1" dirty="0"/>
              <a:t>упрощение логического выражения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EF7B6F-968F-75E8-1AAA-C8974E3BB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171307-051D-21D8-C882-B2353D74064B}"/>
              </a:ext>
            </a:extLst>
          </p:cNvPr>
          <p:cNvSpPr/>
          <p:nvPr/>
        </p:nvSpPr>
        <p:spPr>
          <a:xfrm>
            <a:off x="701642" y="4945009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...(A&gt;B)AND(B=5)...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sp>
        <p:nvSpPr>
          <p:cNvPr id="9" name="Стрелка вправо 5">
            <a:extLst>
              <a:ext uri="{FF2B5EF4-FFF2-40B4-BE49-F238E27FC236}">
                <a16:creationId xmlns:a16="http://schemas.microsoft.com/office/drawing/2014/main" id="{A5DCF9CF-B89A-2AEB-58A0-9BBCBEA49F86}"/>
              </a:ext>
            </a:extLst>
          </p:cNvPr>
          <p:cNvSpPr/>
          <p:nvPr/>
        </p:nvSpPr>
        <p:spPr>
          <a:xfrm>
            <a:off x="3181833" y="4810849"/>
            <a:ext cx="928687" cy="616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95E740F-5A9D-E313-C6E3-5AEC812937F1}"/>
              </a:ext>
            </a:extLst>
          </p:cNvPr>
          <p:cNvSpPr/>
          <p:nvPr/>
        </p:nvSpPr>
        <p:spPr>
          <a:xfrm>
            <a:off x="4383055" y="4945009"/>
            <a:ext cx="1154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...(A&gt;5)...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sp>
        <p:nvSpPr>
          <p:cNvPr id="11" name="Стрелка вправо 7">
            <a:extLst>
              <a:ext uri="{FF2B5EF4-FFF2-40B4-BE49-F238E27FC236}">
                <a16:creationId xmlns:a16="http://schemas.microsoft.com/office/drawing/2014/main" id="{DE38EDBF-4856-6D45-003F-546FA7C864EA}"/>
              </a:ext>
            </a:extLst>
          </p:cNvPr>
          <p:cNvSpPr/>
          <p:nvPr/>
        </p:nvSpPr>
        <p:spPr>
          <a:xfrm>
            <a:off x="5810073" y="4827387"/>
            <a:ext cx="928687" cy="616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2BA5E-DCF8-5630-CE3D-99E80C5A6BB2}"/>
              </a:ext>
            </a:extLst>
          </p:cNvPr>
          <p:cNvSpPr txBox="1"/>
          <p:nvPr/>
        </p:nvSpPr>
        <p:spPr>
          <a:xfrm>
            <a:off x="6985671" y="4765344"/>
            <a:ext cx="1452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Отсутствие</a:t>
            </a:r>
          </a:p>
          <a:p>
            <a:pPr algn="ctr"/>
            <a:r>
              <a:rPr lang="ru-RU" dirty="0"/>
              <a:t>соединения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0E21E6A-FEE2-4A98-B915-1730E007F3A6}"/>
              </a:ext>
            </a:extLst>
          </p:cNvPr>
          <p:cNvSpPr/>
          <p:nvPr/>
        </p:nvSpPr>
        <p:spPr>
          <a:xfrm>
            <a:off x="562856" y="4541153"/>
            <a:ext cx="8099067" cy="109471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199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B85A3-0303-1894-A361-B555D379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оптимизация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B5FC1-F821-F87B-7B2D-2452A42D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/>
              <a:t>Семантические методы оптимизации основаны на учете семантики конкретной БД</a:t>
            </a:r>
          </a:p>
          <a:p>
            <a:endParaRPr lang="ru-RU" dirty="0"/>
          </a:p>
          <a:p>
            <a:pPr lvl="0"/>
            <a:r>
              <a:rPr lang="ru-RU" b="1" dirty="0"/>
              <a:t>Преобразование запросов с учетом семантической информации</a:t>
            </a:r>
            <a:r>
              <a:rPr lang="ru-RU" dirty="0"/>
              <a:t>.  Это прежде всего относится к запросам, которые выполняются над представлениями. </a:t>
            </a:r>
          </a:p>
          <a:p>
            <a:pPr lvl="0"/>
            <a:endParaRPr lang="ru-RU" dirty="0"/>
          </a:p>
          <a:p>
            <a:pPr lvl="0"/>
            <a:r>
              <a:rPr lang="ru-RU" b="1" dirty="0"/>
              <a:t>Использование ограничений целостности при анализе запросов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C51C67-A54F-C8F6-5342-883D6E210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70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FC1D6-0870-BFEE-9EA2-48679D5E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Каноническая форма арифметических выражений (тип 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F2C05B-6A54-698E-0FCA-759BE3EA3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352212A-3179-FC1F-3B56-8C041A03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492128"/>
            <a:ext cx="8596668" cy="1327150"/>
          </a:xfrm>
        </p:spPr>
        <p:txBody>
          <a:bodyPr anchor="t"/>
          <a:lstStyle/>
          <a:p>
            <a:r>
              <a:rPr lang="ru-RU" dirty="0"/>
              <a:t>Предикаты вида</a:t>
            </a:r>
          </a:p>
          <a:p>
            <a:pPr lvl="1"/>
            <a:r>
              <a:rPr lang="en-GB" dirty="0"/>
              <a:t>&lt;</a:t>
            </a:r>
            <a:r>
              <a:rPr lang="ru-RU" dirty="0"/>
              <a:t>арифметическое выражение</a:t>
            </a:r>
            <a:r>
              <a:rPr lang="en-GB" dirty="0"/>
              <a:t>&gt;</a:t>
            </a:r>
            <a:r>
              <a:rPr lang="ru-RU" dirty="0"/>
              <a:t> </a:t>
            </a:r>
            <a:r>
              <a:rPr lang="ru-RU" b="1" dirty="0" err="1"/>
              <a:t>op</a:t>
            </a:r>
            <a:r>
              <a:rPr lang="ru-RU" dirty="0"/>
              <a:t> </a:t>
            </a:r>
            <a:r>
              <a:rPr lang="en-GB" dirty="0"/>
              <a:t>&lt;</a:t>
            </a:r>
            <a:r>
              <a:rPr lang="ru-RU" dirty="0"/>
              <a:t>арифметическое выражение</a:t>
            </a:r>
            <a:r>
              <a:rPr lang="en-GB" dirty="0"/>
              <a:t>&gt;</a:t>
            </a:r>
            <a:endParaRPr lang="ru-RU" dirty="0"/>
          </a:p>
          <a:p>
            <a:r>
              <a:rPr lang="ru-RU" dirty="0"/>
              <a:t>арифметическое выражение содержит поля БД и константы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0B39118-B060-3B02-42E0-75D14742BEB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5665" y="2708920"/>
          <a:ext cx="834079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Тип предиката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Каноническая форма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Одно</a:t>
                      </a:r>
                      <a:r>
                        <a:rPr lang="ru-RU" sz="1600" baseline="0" dirty="0"/>
                        <a:t> имя поля в предикате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имя поля </a:t>
                      </a:r>
                    </a:p>
                    <a:p>
                      <a:r>
                        <a:rPr lang="ru-RU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константное арифметическое выражение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CBAC186-CB82-2B73-D93C-1A3E539A552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7368" y="4365104"/>
          <a:ext cx="8319090" cy="12852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70416">
                  <a:extLst>
                    <a:ext uri="{9D8B030D-6E8A-4147-A177-3AD203B41FA5}">
                      <a16:colId xmlns:a16="http://schemas.microsoft.com/office/drawing/2014/main" val="4017109879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612427693"/>
                    </a:ext>
                  </a:extLst>
                </a:gridCol>
                <a:gridCol w="3600402">
                  <a:extLst>
                    <a:ext uri="{9D8B030D-6E8A-4147-A177-3AD203B41FA5}">
                      <a16:colId xmlns:a16="http://schemas.microsoft.com/office/drawing/2014/main" val="289027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предиката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Исходное выражение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Каноническая форма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45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Одно имя поля</a:t>
                      </a:r>
                    </a:p>
                    <a:p>
                      <a:r>
                        <a:rPr lang="ru-RU" dirty="0"/>
                        <a:t>А</a:t>
                      </a:r>
                      <a:r>
                        <a:rPr lang="ru-RU" baseline="0" dirty="0"/>
                        <a:t>, </a:t>
                      </a:r>
                      <a:r>
                        <a:rPr lang="en-GB" baseline="0" dirty="0"/>
                        <a:t>B</a:t>
                      </a:r>
                      <a:r>
                        <a:rPr lang="ru-RU" baseline="0" dirty="0"/>
                        <a:t>– поле</a:t>
                      </a:r>
                    </a:p>
                    <a:p>
                      <a:r>
                        <a:rPr lang="en-GB" baseline="0" dirty="0" err="1"/>
                        <a:t>a,b</a:t>
                      </a:r>
                      <a:r>
                        <a:rPr lang="en-GB" baseline="0" dirty="0"/>
                        <a:t> - </a:t>
                      </a:r>
                      <a:r>
                        <a:rPr lang="ru-RU" baseline="0" dirty="0"/>
                        <a:t>переменные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effectLst/>
                        </a:rPr>
                        <a:t>(a+5)*A </a:t>
                      </a:r>
                      <a:r>
                        <a:rPr lang="ru-RU" sz="1800" kern="1200" dirty="0" err="1">
                          <a:effectLst/>
                        </a:rPr>
                        <a:t>op</a:t>
                      </a:r>
                      <a:r>
                        <a:rPr lang="ru-RU" sz="1800" kern="1200" dirty="0">
                          <a:effectLst/>
                        </a:rPr>
                        <a:t>  36 </a:t>
                      </a:r>
                      <a:endParaRPr lang="ru-RU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op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36/(a+5)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50442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0A72437-7D55-7381-9820-34BCF3D3CD89}"/>
              </a:ext>
            </a:extLst>
          </p:cNvPr>
          <p:cNvSpPr/>
          <p:nvPr/>
        </p:nvSpPr>
        <p:spPr>
          <a:xfrm>
            <a:off x="7164288" y="1197081"/>
            <a:ext cx="23544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А, </a:t>
            </a:r>
            <a:r>
              <a:rPr lang="en-GB" dirty="0"/>
              <a:t>B</a:t>
            </a:r>
            <a:r>
              <a:rPr lang="ru-RU" dirty="0"/>
              <a:t>– поле</a:t>
            </a:r>
          </a:p>
          <a:p>
            <a:r>
              <a:rPr lang="en-GB" dirty="0" err="1"/>
              <a:t>a,b</a:t>
            </a:r>
            <a:r>
              <a:rPr lang="en-GB" dirty="0"/>
              <a:t> - </a:t>
            </a:r>
            <a:r>
              <a:rPr lang="ru-RU" dirty="0"/>
              <a:t>переменные</a:t>
            </a:r>
          </a:p>
        </p:txBody>
      </p:sp>
    </p:spTree>
    <p:extLst>
      <p:ext uri="{BB962C8B-B14F-4D97-AF65-F5344CB8AC3E}">
        <p14:creationId xmlns:p14="http://schemas.microsoft.com/office/powerpoint/2010/main" val="1991634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FC1D6-0870-BFEE-9EA2-48679D5E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Каноническая форма арифметических выражений (тип 2)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F2C05B-6A54-698E-0FCA-759BE3EA3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352212A-3179-FC1F-3B56-8C041A03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492128"/>
            <a:ext cx="8596668" cy="1327150"/>
          </a:xfrm>
        </p:spPr>
        <p:txBody>
          <a:bodyPr anchor="t"/>
          <a:lstStyle/>
          <a:p>
            <a:r>
              <a:rPr lang="ru-RU" dirty="0"/>
              <a:t>Предикаты вида</a:t>
            </a:r>
          </a:p>
          <a:p>
            <a:pPr lvl="1"/>
            <a:r>
              <a:rPr lang="en-GB" dirty="0"/>
              <a:t>&lt;</a:t>
            </a:r>
            <a:r>
              <a:rPr lang="ru-RU" dirty="0"/>
              <a:t>арифметическое выражение</a:t>
            </a:r>
            <a:r>
              <a:rPr lang="en-GB" dirty="0"/>
              <a:t>&gt;</a:t>
            </a:r>
            <a:r>
              <a:rPr lang="ru-RU" dirty="0"/>
              <a:t> </a:t>
            </a:r>
            <a:r>
              <a:rPr lang="ru-RU" b="1" dirty="0" err="1"/>
              <a:t>op</a:t>
            </a:r>
            <a:r>
              <a:rPr lang="ru-RU" dirty="0"/>
              <a:t> </a:t>
            </a:r>
            <a:r>
              <a:rPr lang="en-GB" dirty="0"/>
              <a:t>&lt;</a:t>
            </a:r>
            <a:r>
              <a:rPr lang="ru-RU" dirty="0"/>
              <a:t>арифметическое выражение</a:t>
            </a:r>
            <a:r>
              <a:rPr lang="en-GB" dirty="0"/>
              <a:t>&gt;</a:t>
            </a:r>
            <a:endParaRPr lang="ru-RU" dirty="0"/>
          </a:p>
          <a:p>
            <a:r>
              <a:rPr lang="ru-RU" dirty="0"/>
              <a:t>арифметическое выражение содержит поля БД и константы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0B39118-B060-3B02-42E0-75D14742BEB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5665" y="2708920"/>
          <a:ext cx="834079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Тип предиката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Каноническая форма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Одно</a:t>
                      </a:r>
                      <a:r>
                        <a:rPr lang="ru-RU" sz="1600" baseline="0" dirty="0"/>
                        <a:t> имя поля в предикате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имя поля </a:t>
                      </a:r>
                    </a:p>
                    <a:p>
                      <a:r>
                        <a:rPr lang="ru-RU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константное арифметическое выражение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В предикате в точности два имени поля разных отношений (или двух разных вхождений одного отношения)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имя поля </a:t>
                      </a:r>
                    </a:p>
                    <a:p>
                      <a:r>
                        <a:rPr lang="ru-RU" sz="1600" dirty="0" err="1"/>
                        <a:t>op</a:t>
                      </a:r>
                      <a:r>
                        <a:rPr lang="ru-RU" sz="1600" dirty="0"/>
                        <a:t> </a:t>
                      </a:r>
                    </a:p>
                    <a:p>
                      <a:r>
                        <a:rPr lang="ru-RU" sz="1600" dirty="0"/>
                        <a:t>арифметическое выражение (</a:t>
                      </a:r>
                      <a:r>
                        <a:rPr lang="ru-RU" sz="16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арифметическое выражение в правой части включает только константы и второе имя поля </a:t>
                      </a:r>
                      <a:r>
                        <a:rPr lang="ru-RU" sz="1600" u="non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C55D40-DFF3-348E-D599-3D498FA2A172}"/>
              </a:ext>
            </a:extLst>
          </p:cNvPr>
          <p:cNvSpPr/>
          <p:nvPr/>
        </p:nvSpPr>
        <p:spPr>
          <a:xfrm>
            <a:off x="7025417" y="1188506"/>
            <a:ext cx="1971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А, </a:t>
            </a:r>
            <a:r>
              <a:rPr lang="en-GB" dirty="0"/>
              <a:t>B</a:t>
            </a:r>
            <a:r>
              <a:rPr lang="ru-RU" dirty="0"/>
              <a:t>– поле</a:t>
            </a:r>
          </a:p>
          <a:p>
            <a:r>
              <a:rPr lang="en-GB" dirty="0" err="1"/>
              <a:t>a,b</a:t>
            </a:r>
            <a:r>
              <a:rPr lang="en-GB" dirty="0"/>
              <a:t> - </a:t>
            </a:r>
            <a:r>
              <a:rPr lang="ru-RU" dirty="0"/>
              <a:t>переменные</a:t>
            </a:r>
          </a:p>
        </p:txBody>
      </p:sp>
      <p:graphicFrame>
        <p:nvGraphicFramePr>
          <p:cNvPr id="6" name="Объект 4">
            <a:extLst>
              <a:ext uri="{FF2B5EF4-FFF2-40B4-BE49-F238E27FC236}">
                <a16:creationId xmlns:a16="http://schemas.microsoft.com/office/drawing/2014/main" id="{47B9A60B-5FAB-EB80-CD95-C560AA04FC84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146" y="5298440"/>
          <a:ext cx="8596311" cy="1559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предиката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Исходное выражение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Каноническая форма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Два имени поля разных отношений (или двух разных вхождений одного отношения)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5*A-a*B </a:t>
                      </a:r>
                      <a:r>
                        <a:rPr lang="ru-RU" dirty="0"/>
                        <a:t>	</a:t>
                      </a:r>
                      <a:r>
                        <a:rPr lang="en-US" dirty="0"/>
                        <a:t>op</a:t>
                      </a:r>
                      <a:r>
                        <a:rPr lang="ru-RU" dirty="0"/>
                        <a:t>   </a:t>
                      </a:r>
                      <a:r>
                        <a:rPr lang="en-US" dirty="0"/>
                        <a:t> 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op (</a:t>
                      </a:r>
                      <a:r>
                        <a:rPr lang="en-US" dirty="0" err="1"/>
                        <a:t>b+a</a:t>
                      </a:r>
                      <a:r>
                        <a:rPr lang="en-US" dirty="0"/>
                        <a:t>*B)/5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9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FC1D6-0870-BFEE-9EA2-48679D5E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Каноническая форма арифметических выражений (тип 3)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F2C05B-6A54-698E-0FCA-759BE3EA3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352212A-3179-FC1F-3B56-8C041A03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313189"/>
            <a:ext cx="8596668" cy="1327150"/>
          </a:xfrm>
        </p:spPr>
        <p:txBody>
          <a:bodyPr anchor="t"/>
          <a:lstStyle/>
          <a:p>
            <a:r>
              <a:rPr lang="ru-RU" dirty="0"/>
              <a:t>Предикаты вида</a:t>
            </a:r>
          </a:p>
          <a:p>
            <a:pPr lvl="1"/>
            <a:r>
              <a:rPr lang="en-GB" dirty="0"/>
              <a:t>&lt;</a:t>
            </a:r>
            <a:r>
              <a:rPr lang="ru-RU" dirty="0"/>
              <a:t>арифметическое выражение</a:t>
            </a:r>
            <a:r>
              <a:rPr lang="en-GB" dirty="0"/>
              <a:t>&gt;</a:t>
            </a:r>
            <a:r>
              <a:rPr lang="ru-RU" dirty="0"/>
              <a:t> </a:t>
            </a:r>
            <a:r>
              <a:rPr lang="ru-RU" b="1" dirty="0" err="1"/>
              <a:t>op</a:t>
            </a:r>
            <a:r>
              <a:rPr lang="ru-RU" dirty="0"/>
              <a:t> </a:t>
            </a:r>
            <a:r>
              <a:rPr lang="en-GB" dirty="0"/>
              <a:t>&lt;</a:t>
            </a:r>
            <a:r>
              <a:rPr lang="ru-RU" dirty="0"/>
              <a:t>арифметическое выражение</a:t>
            </a:r>
            <a:r>
              <a:rPr lang="en-GB" dirty="0"/>
              <a:t>&gt;</a:t>
            </a:r>
            <a:endParaRPr lang="ru-RU" dirty="0"/>
          </a:p>
          <a:p>
            <a:r>
              <a:rPr lang="ru-RU" dirty="0"/>
              <a:t>арифметическое выражение содержит поля БД и константы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0B39118-B060-3B02-42E0-75D14742BEB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5665" y="2420888"/>
          <a:ext cx="8340792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Тип предиката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Каноническая форма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Одно</a:t>
                      </a:r>
                      <a:r>
                        <a:rPr lang="ru-RU" sz="1600" baseline="0" dirty="0"/>
                        <a:t> имя поля в предикате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имя поля </a:t>
                      </a:r>
                    </a:p>
                    <a:p>
                      <a:r>
                        <a:rPr lang="ru-RU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константное арифметическое выражение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В предикате в точности два имени поля разных отношений (или двух разных вхождений одного отношения)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имя поля </a:t>
                      </a:r>
                    </a:p>
                    <a:p>
                      <a:r>
                        <a:rPr lang="ru-RU" sz="1600" dirty="0" err="1"/>
                        <a:t>op</a:t>
                      </a:r>
                      <a:r>
                        <a:rPr lang="ru-RU" sz="1600" dirty="0"/>
                        <a:t> </a:t>
                      </a:r>
                    </a:p>
                    <a:p>
                      <a:r>
                        <a:rPr lang="ru-RU" sz="1600" dirty="0"/>
                        <a:t>арифметическое выражение (</a:t>
                      </a:r>
                      <a:r>
                        <a:rPr lang="ru-RU" sz="16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арифметическое выражение в правой части включает только константы и второе имя поля </a:t>
                      </a:r>
                      <a:r>
                        <a:rPr lang="ru-RU" sz="1600" u="non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Предикаты общего вида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арифметическое выражение </a:t>
                      </a:r>
                    </a:p>
                    <a:p>
                      <a:r>
                        <a:rPr lang="ru-RU" sz="1600" dirty="0" err="1"/>
                        <a:t>op</a:t>
                      </a:r>
                      <a:r>
                        <a:rPr lang="ru-RU" sz="1600" dirty="0"/>
                        <a:t> </a:t>
                      </a:r>
                    </a:p>
                    <a:p>
                      <a:r>
                        <a:rPr lang="ru-RU" sz="1600" dirty="0"/>
                        <a:t>константное арифметическое выражение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8EEBC2DE-3E83-261F-8898-D4BECAE15BA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146" y="5845067"/>
          <a:ext cx="8596311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предиката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Исходное выражение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Каноническая форма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Два имени поля разных отношений (или двух разных вхождений одного отношения)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5*A-a*B </a:t>
                      </a:r>
                      <a:r>
                        <a:rPr lang="ru-RU" dirty="0"/>
                        <a:t>	</a:t>
                      </a:r>
                      <a:r>
                        <a:rPr lang="en-US" dirty="0"/>
                        <a:t>op</a:t>
                      </a:r>
                      <a:r>
                        <a:rPr lang="ru-RU" dirty="0"/>
                        <a:t>  </a:t>
                      </a:r>
                      <a:r>
                        <a:rPr lang="en-US" dirty="0"/>
                        <a:t> 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op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b+a</a:t>
                      </a:r>
                      <a:r>
                        <a:rPr lang="en-US" dirty="0"/>
                        <a:t>*B)/5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8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F2025-BC86-FB7B-2BE0-6DF7C69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подзапросов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49318-114A-ADA3-D867-2B6C5A301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40768"/>
            <a:ext cx="8352928" cy="4320480"/>
          </a:xfrm>
        </p:spPr>
        <p:txBody>
          <a:bodyPr>
            <a:noAutofit/>
          </a:bodyPr>
          <a:lstStyle/>
          <a:p>
            <a:pPr lvl="0">
              <a:buFont typeface="+mj-lt"/>
              <a:buAutoNum type="arabicPeriod"/>
            </a:pPr>
            <a:r>
              <a:rPr lang="ru-RU" sz="1800" b="1" dirty="0">
                <a:solidFill>
                  <a:schemeClr val="accent2"/>
                </a:solidFill>
              </a:rPr>
              <a:t>Простые </a:t>
            </a:r>
            <a:r>
              <a:rPr lang="ru-RU" sz="1800" b="1" dirty="0"/>
              <a:t>предикаты</a:t>
            </a:r>
            <a:r>
              <a:rPr lang="ru-RU" sz="1800" dirty="0"/>
              <a:t> </a:t>
            </a:r>
            <a:br>
              <a:rPr lang="ru-RU" sz="1800" dirty="0"/>
            </a:br>
            <a:r>
              <a:rPr lang="ru-RU" sz="1800" dirty="0"/>
              <a:t>Это предикаты вида </a:t>
            </a:r>
            <a:r>
              <a:rPr lang="ru-RU" sz="1800" b="1" dirty="0" err="1"/>
              <a:t>Ri.Ck</a:t>
            </a:r>
            <a:r>
              <a:rPr lang="ru-RU" sz="1800" b="1" dirty="0"/>
              <a:t> </a:t>
            </a:r>
            <a:r>
              <a:rPr lang="ru-RU" sz="1800" b="1" dirty="0" err="1"/>
              <a:t>op</a:t>
            </a:r>
            <a:r>
              <a:rPr lang="ru-RU" sz="1800" b="1" dirty="0"/>
              <a:t> X</a:t>
            </a:r>
            <a:r>
              <a:rPr lang="ru-RU" sz="1800" dirty="0"/>
              <a:t>, где X константа или список констант, и </a:t>
            </a:r>
            <a:r>
              <a:rPr lang="ru-RU" sz="1800" dirty="0" err="1"/>
              <a:t>op</a:t>
            </a:r>
            <a:r>
              <a:rPr lang="ru-RU" sz="1800" dirty="0"/>
              <a:t> - оператор скалярного сравнения (=, !=, &gt;, &gt;=, &lt;, &lt;=) или оператор проверки вхождения во множество (IS IN, IS NOT IN).</a:t>
            </a:r>
          </a:p>
          <a:p>
            <a:pPr lvl="0">
              <a:buFont typeface="+mj-lt"/>
              <a:buAutoNum type="arabicPeriod"/>
            </a:pPr>
            <a:r>
              <a:rPr lang="ru-RU" sz="1800" b="1" dirty="0"/>
              <a:t>Предикаты со </a:t>
            </a:r>
            <a:r>
              <a:rPr lang="ru-RU" sz="1800" b="1" dirty="0">
                <a:solidFill>
                  <a:schemeClr val="accent2"/>
                </a:solidFill>
              </a:rPr>
              <a:t>вложенными подзапросами</a:t>
            </a:r>
            <a:r>
              <a:rPr lang="ru-RU" sz="1800" u="sng" dirty="0">
                <a:solidFill>
                  <a:schemeClr val="accent2"/>
                </a:solidFill>
              </a:rPr>
              <a:t> </a:t>
            </a:r>
            <a:r>
              <a:rPr lang="ru-RU" sz="1800" u="sng" dirty="0"/>
              <a:t/>
            </a:r>
            <a:br>
              <a:rPr lang="ru-RU" sz="1800" u="sng" dirty="0"/>
            </a:br>
            <a:r>
              <a:rPr lang="ru-RU" sz="1800" dirty="0"/>
              <a:t>Это предикаты вида </a:t>
            </a:r>
            <a:r>
              <a:rPr lang="ru-RU" sz="1800" b="1" dirty="0" err="1"/>
              <a:t>Ri.Ck</a:t>
            </a:r>
            <a:r>
              <a:rPr lang="ru-RU" sz="1800" b="1" dirty="0"/>
              <a:t> </a:t>
            </a:r>
            <a:r>
              <a:rPr lang="ru-RU" sz="1800" b="1" dirty="0" err="1"/>
              <a:t>op</a:t>
            </a:r>
            <a:r>
              <a:rPr lang="ru-RU" sz="1800" b="1" dirty="0"/>
              <a:t> Q</a:t>
            </a:r>
            <a:r>
              <a:rPr lang="ru-RU" sz="1800" dirty="0"/>
              <a:t>, </a:t>
            </a:r>
            <a:br>
              <a:rPr lang="ru-RU" sz="1800" dirty="0"/>
            </a:br>
            <a:r>
              <a:rPr lang="ru-RU" sz="1800" dirty="0"/>
              <a:t>где Q - </a:t>
            </a:r>
            <a:r>
              <a:rPr lang="ru-RU" sz="1800" i="1" dirty="0"/>
              <a:t>блок запроса</a:t>
            </a:r>
            <a:r>
              <a:rPr lang="ru-RU" sz="1800" dirty="0"/>
              <a:t>, а </a:t>
            </a:r>
            <a:r>
              <a:rPr lang="ru-RU" sz="1800" dirty="0" err="1"/>
              <a:t>op</a:t>
            </a:r>
            <a:r>
              <a:rPr lang="ru-RU" sz="1800" dirty="0"/>
              <a:t> может быть таким же, как для простых предикатов. </a:t>
            </a:r>
          </a:p>
          <a:p>
            <a:pPr lvl="1"/>
            <a:r>
              <a:rPr lang="ru-RU" dirty="0"/>
              <a:t>Предикат может также иметь вид </a:t>
            </a:r>
            <a:r>
              <a:rPr lang="ru-RU" b="1" dirty="0"/>
              <a:t>Q </a:t>
            </a:r>
            <a:r>
              <a:rPr lang="ru-RU" b="1" dirty="0" err="1"/>
              <a:t>op</a:t>
            </a:r>
            <a:r>
              <a:rPr lang="ru-RU" b="1" dirty="0"/>
              <a:t> </a:t>
            </a:r>
            <a:r>
              <a:rPr lang="ru-RU" b="1" dirty="0" err="1"/>
              <a:t>Ri.Ck</a:t>
            </a:r>
            <a:r>
              <a:rPr lang="ru-RU" b="1" dirty="0"/>
              <a:t> (</a:t>
            </a:r>
            <a:r>
              <a:rPr lang="ru-RU" b="1" u="sng" dirty="0"/>
              <a:t>Q </a:t>
            </a:r>
            <a:r>
              <a:rPr lang="ru-RU" b="1" u="sng" dirty="0" err="1"/>
              <a:t>op</a:t>
            </a:r>
            <a:r>
              <a:rPr lang="ru-RU" b="1" u="sng" dirty="0"/>
              <a:t> </a:t>
            </a:r>
            <a:r>
              <a:rPr lang="ru-RU" b="1" u="sng" dirty="0" err="1"/>
              <a:t>Ri.Ck</a:t>
            </a:r>
            <a:r>
              <a:rPr lang="ru-RU" b="1" dirty="0"/>
              <a:t>).</a:t>
            </a:r>
            <a:r>
              <a:rPr lang="ru-RU" dirty="0"/>
              <a:t>  </a:t>
            </a:r>
          </a:p>
          <a:p>
            <a:pPr lvl="0">
              <a:buFont typeface="+mj-lt"/>
              <a:buAutoNum type="arabicPeriod"/>
            </a:pPr>
            <a:r>
              <a:rPr lang="ru-RU" sz="1800" b="1" dirty="0"/>
              <a:t>Предикаты </a:t>
            </a:r>
            <a:r>
              <a:rPr lang="ru-RU" sz="1800" b="1" dirty="0">
                <a:solidFill>
                  <a:schemeClr val="accent2"/>
                </a:solidFill>
              </a:rPr>
              <a:t>соединения</a:t>
            </a:r>
            <a:r>
              <a:rPr lang="ru-RU" sz="1800" dirty="0">
                <a:solidFill>
                  <a:schemeClr val="accent2"/>
                </a:solidFill>
              </a:rPr>
              <a:t>. 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Это предикаты вида </a:t>
            </a:r>
            <a:r>
              <a:rPr lang="ru-RU" sz="1800" b="1" dirty="0" err="1"/>
              <a:t>Ri.Ck</a:t>
            </a:r>
            <a:r>
              <a:rPr lang="ru-RU" sz="1800" b="1" dirty="0"/>
              <a:t> </a:t>
            </a:r>
            <a:r>
              <a:rPr lang="ru-RU" sz="1800" b="1" dirty="0" err="1"/>
              <a:t>op</a:t>
            </a:r>
            <a:r>
              <a:rPr lang="ru-RU" sz="1800" b="1" dirty="0"/>
              <a:t> </a:t>
            </a:r>
            <a:r>
              <a:rPr lang="ru-RU" sz="1800" b="1" dirty="0" err="1"/>
              <a:t>Rj.Cn</a:t>
            </a:r>
            <a:r>
              <a:rPr lang="ru-RU" sz="1800" b="1" dirty="0"/>
              <a:t>,</a:t>
            </a:r>
            <a:r>
              <a:rPr lang="ru-RU" sz="1800" dirty="0"/>
              <a:t> где </a:t>
            </a:r>
            <a:r>
              <a:rPr lang="ru-RU" sz="1800" dirty="0" err="1"/>
              <a:t>Ri</a:t>
            </a:r>
            <a:r>
              <a:rPr lang="ru-RU" sz="1800" dirty="0"/>
              <a:t> != </a:t>
            </a:r>
            <a:r>
              <a:rPr lang="ru-RU" sz="1800" dirty="0" err="1"/>
              <a:t>Rj</a:t>
            </a:r>
            <a:r>
              <a:rPr lang="ru-RU" sz="1800" dirty="0"/>
              <a:t> и </a:t>
            </a:r>
            <a:r>
              <a:rPr lang="ru-RU" sz="1800" dirty="0" err="1"/>
              <a:t>op</a:t>
            </a:r>
            <a:r>
              <a:rPr lang="ru-RU" sz="1800" dirty="0"/>
              <a:t> - оператор скалярного сравнения.</a:t>
            </a:r>
          </a:p>
          <a:p>
            <a:pPr lvl="0">
              <a:buFont typeface="+mj-lt"/>
              <a:buAutoNum type="arabicPeriod"/>
            </a:pPr>
            <a:r>
              <a:rPr lang="ru-RU" sz="1800" b="1" dirty="0"/>
              <a:t>Предикаты </a:t>
            </a:r>
            <a:r>
              <a:rPr lang="ru-RU" sz="1800" b="1" dirty="0">
                <a:solidFill>
                  <a:schemeClr val="accent2"/>
                </a:solidFill>
              </a:rPr>
              <a:t>деления.</a:t>
            </a:r>
            <a:r>
              <a:rPr lang="ru-RU" sz="1800" dirty="0">
                <a:solidFill>
                  <a:schemeClr val="accent2"/>
                </a:solidFill>
              </a:rPr>
              <a:t> 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Это предикаты вида </a:t>
            </a:r>
            <a:r>
              <a:rPr lang="ru-RU" sz="1800" b="1" dirty="0" err="1"/>
              <a:t>Qi</a:t>
            </a:r>
            <a:r>
              <a:rPr lang="ru-RU" sz="1800" b="1" dirty="0"/>
              <a:t> </a:t>
            </a:r>
            <a:r>
              <a:rPr lang="ru-RU" sz="1800" b="1" dirty="0" err="1"/>
              <a:t>op</a:t>
            </a:r>
            <a:r>
              <a:rPr lang="ru-RU" sz="1800" b="1" dirty="0"/>
              <a:t> </a:t>
            </a:r>
            <a:r>
              <a:rPr lang="ru-RU" sz="1800" b="1" dirty="0" err="1"/>
              <a:t>Qj</a:t>
            </a:r>
            <a:r>
              <a:rPr lang="ru-RU" sz="1800" b="1" dirty="0"/>
              <a:t>,</a:t>
            </a:r>
            <a:r>
              <a:rPr lang="ru-RU" sz="1800" dirty="0"/>
              <a:t> где </a:t>
            </a:r>
            <a:r>
              <a:rPr lang="ru-RU" sz="1800" dirty="0" err="1"/>
              <a:t>Qi</a:t>
            </a:r>
            <a:r>
              <a:rPr lang="ru-RU" sz="1800" dirty="0"/>
              <a:t> и </a:t>
            </a:r>
            <a:r>
              <a:rPr lang="ru-RU" sz="1800" dirty="0" err="1"/>
              <a:t>Qj</a:t>
            </a:r>
            <a:r>
              <a:rPr lang="ru-RU" sz="1800" dirty="0"/>
              <a:t> - блоки запросов, а </a:t>
            </a:r>
            <a:r>
              <a:rPr lang="ru-RU" sz="1800" dirty="0" err="1"/>
              <a:t>op</a:t>
            </a:r>
            <a:r>
              <a:rPr lang="ru-RU" sz="1800" dirty="0"/>
              <a:t> может быть оператором скалярного сравнения или оператором проверки вхождения в множество.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6E1A94-8154-50C6-752F-38F19B8E6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57BE1F-F315-182E-4710-159B8F960D87}"/>
              </a:ext>
            </a:extLst>
          </p:cNvPr>
          <p:cNvSpPr/>
          <p:nvPr/>
        </p:nvSpPr>
        <p:spPr>
          <a:xfrm>
            <a:off x="323528" y="5805264"/>
            <a:ext cx="8064896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Блоком запроса (</a:t>
            </a:r>
            <a:r>
              <a:rPr lang="ru-RU" sz="1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query</a:t>
            </a: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block</a:t>
            </a: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) </a:t>
            </a:r>
          </a:p>
          <a:p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называется допустимая конструкция языка, начинающаяся с ключевого слова SELECT</a:t>
            </a:r>
          </a:p>
          <a:p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в блоке запроса не допускаются теоретико-множественные конструкции с использованием </a:t>
            </a:r>
            <a:b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UNION, INTERSECT и MINUS.</a:t>
            </a:r>
            <a:endParaRPr lang="ru-RU" sz="1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B2F7D6-12A7-AD74-D370-44325330BF5D}"/>
              </a:ext>
            </a:extLst>
          </p:cNvPr>
          <p:cNvSpPr/>
          <p:nvPr/>
        </p:nvSpPr>
        <p:spPr>
          <a:xfrm>
            <a:off x="5652120" y="2276872"/>
            <a:ext cx="3277202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lang="ru-RU" sz="16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Ri</a:t>
            </a:r>
            <a:r>
              <a:rPr lang="ru-RU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 i-е отношение базы данных; </a:t>
            </a:r>
            <a:endParaRPr lang="ru-RU" sz="2400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r">
              <a:spcAft>
                <a:spcPts val="0"/>
              </a:spcAft>
            </a:pPr>
            <a:r>
              <a:rPr lang="ru-RU" sz="16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Ck</a:t>
            </a:r>
            <a:r>
              <a:rPr lang="ru-RU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 k-е поле (столбец) отношения.</a:t>
            </a:r>
            <a:endParaRPr lang="ru-RU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31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39B55-7557-2F09-57EC-7175A261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Предикаты с вложенными подзапросами</a:t>
            </a:r>
            <a:br>
              <a:rPr lang="ru-RU" dirty="0"/>
            </a:br>
            <a:r>
              <a:rPr lang="ru-RU" sz="1200" i="1" dirty="0"/>
              <a:t>Часть 1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DBEB1D-58EC-A91C-D879-36477A87D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1171C3C-6AC3-ACDE-49B5-FBF496BD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621" y="1420803"/>
            <a:ext cx="4725246" cy="5019650"/>
          </a:xfrm>
        </p:spPr>
        <p:txBody>
          <a:bodyPr anchor="t">
            <a:normAutofit/>
          </a:bodyPr>
          <a:lstStyle/>
          <a:p>
            <a:pPr lvl="0"/>
            <a:r>
              <a:rPr lang="ru-RU" sz="1800" b="1" dirty="0"/>
              <a:t>Предикаты со вложенными подзапросами </a:t>
            </a:r>
            <a:br>
              <a:rPr lang="ru-RU" sz="1800" b="1" dirty="0"/>
            </a:br>
            <a:r>
              <a:rPr lang="ru-RU" sz="1800" b="1" dirty="0"/>
              <a:t>типа A</a:t>
            </a:r>
          </a:p>
          <a:p>
            <a:pPr marL="0" lvl="0" indent="0">
              <a:buNone/>
            </a:pPr>
            <a:r>
              <a:rPr lang="ru-RU" sz="1600" b="1" dirty="0"/>
              <a:t/>
            </a:r>
            <a:br>
              <a:rPr lang="ru-RU" sz="1600" b="1" dirty="0"/>
            </a:br>
            <a:r>
              <a:rPr lang="ru-RU" sz="1600" i="1" dirty="0"/>
              <a:t>Пример: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.Ck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R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(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.Cl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&gt; a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ru-RU" sz="1400" dirty="0"/>
              <a:t>Внутренний подзапрос можно вычислить независимо от внешнего</a:t>
            </a:r>
          </a:p>
          <a:p>
            <a:pPr lvl="1"/>
            <a:r>
              <a:rPr lang="ru-RU" sz="1400" dirty="0"/>
              <a:t>Результатом вычисления </a:t>
            </a:r>
            <a:r>
              <a:rPr lang="ru-RU" sz="1400" b="1" dirty="0"/>
              <a:t>является скалярное значение</a:t>
            </a:r>
            <a:r>
              <a:rPr lang="ru-RU" sz="1400" dirty="0"/>
              <a:t>. </a:t>
            </a:r>
          </a:p>
          <a:p>
            <a:endParaRPr lang="ru-RU" sz="16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FDCA4E9-A270-1971-9F64-113698B469E8}"/>
              </a:ext>
            </a:extLst>
          </p:cNvPr>
          <p:cNvSpPr txBox="1">
            <a:spLocks/>
          </p:cNvSpPr>
          <p:nvPr/>
        </p:nvSpPr>
        <p:spPr>
          <a:xfrm>
            <a:off x="4990867" y="1420803"/>
            <a:ext cx="3469565" cy="50196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Предикаты со вложенными подзапросами </a:t>
            </a:r>
            <a:br>
              <a:rPr lang="ru-RU" sz="1800" b="1" dirty="0"/>
            </a:br>
            <a:r>
              <a:rPr lang="ru-RU" sz="1800" b="1" dirty="0"/>
              <a:t>типа N</a:t>
            </a:r>
            <a:r>
              <a:rPr lang="ru-RU" sz="1800" dirty="0"/>
              <a:t> </a:t>
            </a:r>
          </a:p>
          <a:p>
            <a:endParaRPr lang="ru-RU" sz="1800" i="1" dirty="0"/>
          </a:p>
          <a:p>
            <a:endParaRPr lang="ru-RU" sz="1800" i="1" dirty="0"/>
          </a:p>
          <a:p>
            <a:pPr marL="0" indent="0">
              <a:buNone/>
            </a:pPr>
            <a:r>
              <a:rPr lang="ru-RU" sz="1800" i="1" dirty="0"/>
              <a:t>Пример: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Font typeface="Wingdings 3" charset="2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.Ck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R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IS IN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Font typeface="Wingdings 3" charset="2"/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(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SELECT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.Cl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&gt; a.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lvl="1"/>
            <a:endParaRPr lang="ru-RU" sz="1400" dirty="0"/>
          </a:p>
          <a:p>
            <a:pPr marL="457200" lvl="1" indent="0">
              <a:buNone/>
            </a:pPr>
            <a:endParaRPr lang="ru-RU" sz="1600" dirty="0"/>
          </a:p>
          <a:p>
            <a:endParaRPr lang="ru-RU" sz="14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0B268CC-A637-EB84-0083-BC99FFD03621}"/>
              </a:ext>
            </a:extLst>
          </p:cNvPr>
          <p:cNvSpPr/>
          <p:nvPr/>
        </p:nvSpPr>
        <p:spPr>
          <a:xfrm>
            <a:off x="3653479" y="6123850"/>
            <a:ext cx="3277202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lang="ru-RU" sz="16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Ri</a:t>
            </a:r>
            <a:r>
              <a:rPr lang="ru-RU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 i-е отношение базы данных; </a:t>
            </a:r>
            <a:endParaRPr lang="ru-RU" sz="2400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r">
              <a:spcAft>
                <a:spcPts val="0"/>
              </a:spcAft>
            </a:pPr>
            <a:r>
              <a:rPr lang="ru-RU" sz="16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Ck</a:t>
            </a:r>
            <a:r>
              <a:rPr lang="ru-RU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 k-е поле (столбец) отношения.</a:t>
            </a:r>
            <a:endParaRPr lang="ru-RU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3D420-AFCD-74C5-112C-5E9E6212AA8D}"/>
              </a:ext>
            </a:extLst>
          </p:cNvPr>
          <p:cNvSpPr txBox="1"/>
          <p:nvPr/>
        </p:nvSpPr>
        <p:spPr>
          <a:xfrm>
            <a:off x="4932050" y="2483604"/>
            <a:ext cx="3587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То же, но без агрегатной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4170736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39B55-7557-2F09-57EC-7175A261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Предикаты с вложенными подзапросами</a:t>
            </a:r>
            <a:br>
              <a:rPr lang="ru-RU" dirty="0"/>
            </a:br>
            <a:r>
              <a:rPr lang="ru-RU" sz="1200" i="1" dirty="0"/>
              <a:t>Часть 2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DBEB1D-58EC-A91C-D879-36477A87D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1171C3C-6AC3-ACDE-49B5-FBF496BD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621" y="1420803"/>
            <a:ext cx="4725246" cy="5019650"/>
          </a:xfrm>
        </p:spPr>
        <p:txBody>
          <a:bodyPr anchor="t">
            <a:normAutofit/>
          </a:bodyPr>
          <a:lstStyle/>
          <a:p>
            <a:pPr lvl="0"/>
            <a:r>
              <a:rPr lang="ru-RU" sz="1600" b="1" dirty="0"/>
              <a:t>Внутренние подзапросы предикатов</a:t>
            </a:r>
            <a:br>
              <a:rPr lang="ru-RU" sz="1600" b="1" dirty="0"/>
            </a:br>
            <a:r>
              <a:rPr lang="ru-RU" sz="1600" b="1" dirty="0"/>
              <a:t>типа J</a:t>
            </a:r>
            <a:r>
              <a:rPr lang="ru-RU" sz="1600" dirty="0"/>
              <a:t> </a:t>
            </a:r>
            <a:br>
              <a:rPr lang="ru-RU" sz="1600" dirty="0"/>
            </a:br>
            <a:r>
              <a:rPr lang="ru-RU" sz="1600" dirty="0"/>
              <a:t/>
            </a:r>
            <a:br>
              <a:rPr lang="ru-RU" sz="1600" dirty="0"/>
            </a:br>
            <a:r>
              <a:rPr lang="ru-RU" sz="1600" i="1" dirty="0"/>
              <a:t>Пример:</a:t>
            </a:r>
          </a:p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Ri.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Ck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Ri </a:t>
            </a:r>
            <a:endParaRPr lang="ru-RU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IS IN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(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Rj.Cr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.Ch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Rj.Cl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&gt; a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ru-RU" sz="16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FDCA4E9-A270-1971-9F64-113698B469E8}"/>
              </a:ext>
            </a:extLst>
          </p:cNvPr>
          <p:cNvSpPr txBox="1">
            <a:spLocks/>
          </p:cNvSpPr>
          <p:nvPr/>
        </p:nvSpPr>
        <p:spPr>
          <a:xfrm>
            <a:off x="4990867" y="1420803"/>
            <a:ext cx="3469565" cy="336125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600" b="1" dirty="0"/>
              <a:t>Предикаты типа JA</a:t>
            </a:r>
            <a:r>
              <a:rPr lang="ru-RU" sz="1600" dirty="0"/>
              <a:t> </a:t>
            </a:r>
            <a:br>
              <a:rPr lang="ru-RU" sz="1600" dirty="0"/>
            </a:br>
            <a:endParaRPr lang="ru-RU" sz="1600" dirty="0"/>
          </a:p>
          <a:p>
            <a:pPr marL="0" lvl="0" indent="0">
              <a:buNone/>
            </a:pPr>
            <a:r>
              <a:rPr lang="ru-RU" sz="1600" i="1" dirty="0"/>
              <a:t>Пример</a:t>
            </a:r>
            <a:r>
              <a:rPr lang="en-US" sz="1600" i="1" dirty="0"/>
              <a:t>:</a:t>
            </a:r>
            <a:endParaRPr lang="ru-RU" sz="1600" i="1" dirty="0"/>
          </a:p>
          <a:p>
            <a:pPr marL="0" lvl="0" indent="0">
              <a:buNone/>
            </a:pPr>
            <a:endParaRPr lang="ru-RU" sz="1600" i="1" dirty="0"/>
          </a:p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Ri.Ck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Ri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Ri.Cn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(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AVG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FROM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WHERE	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Rj.Cr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Ri.Ch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Rj.Cl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&gt; a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6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0B268CC-A637-EB84-0083-BC99FFD03621}"/>
              </a:ext>
            </a:extLst>
          </p:cNvPr>
          <p:cNvSpPr/>
          <p:nvPr/>
        </p:nvSpPr>
        <p:spPr>
          <a:xfrm>
            <a:off x="3653479" y="6123850"/>
            <a:ext cx="3277202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lang="ru-RU" sz="16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Ri</a:t>
            </a:r>
            <a:r>
              <a:rPr lang="ru-RU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 i-е отношение базы данных; </a:t>
            </a:r>
            <a:endParaRPr lang="ru-RU" sz="2400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r">
              <a:spcAft>
                <a:spcPts val="0"/>
              </a:spcAft>
            </a:pPr>
            <a:r>
              <a:rPr lang="ru-RU" sz="16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Ck</a:t>
            </a:r>
            <a:r>
              <a:rPr lang="ru-RU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- k-е поле (столбец) отношения.</a:t>
            </a:r>
            <a:endParaRPr lang="ru-RU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3D420-AFCD-74C5-112C-5E9E6212AA8D}"/>
              </a:ext>
            </a:extLst>
          </p:cNvPr>
          <p:cNvSpPr txBox="1"/>
          <p:nvPr/>
        </p:nvSpPr>
        <p:spPr>
          <a:xfrm>
            <a:off x="4644008" y="4782060"/>
            <a:ext cx="4111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Внутренний блок содержит предикат соединения с отношением внешнего запроса и в списке выборки указана агрегатная функция</a:t>
            </a:r>
            <a:endParaRPr lang="ru-RU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FD62-8CF1-13F5-3BBF-8E861B6170F1}"/>
              </a:ext>
            </a:extLst>
          </p:cNvPr>
          <p:cNvSpPr txBox="1"/>
          <p:nvPr/>
        </p:nvSpPr>
        <p:spPr>
          <a:xfrm>
            <a:off x="107504" y="4782060"/>
            <a:ext cx="3779912" cy="936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Содержат предикаты </a:t>
            </a:r>
            <a:r>
              <a:rPr lang="ru-RU" i="1" dirty="0"/>
              <a:t>соединения</a:t>
            </a:r>
            <a:r>
              <a:rPr lang="ru-RU" dirty="0"/>
              <a:t> с отношением внешнего блока и </a:t>
            </a:r>
            <a:r>
              <a:rPr lang="ru-RU" i="1" dirty="0"/>
              <a:t>не содержат </a:t>
            </a:r>
            <a:r>
              <a:rPr lang="ru-RU" dirty="0"/>
              <a:t>агрегатных функций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18095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EAAB7-A8C4-CFD1-5116-115017A6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Канонические формы подзапросов: назначение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82055-DE7D-E70E-6744-051E9585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84784"/>
            <a:ext cx="8496944" cy="1656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Существует набор алгоритмов, преобразующих запросы, содержащие предикаты со вложенными подзапросами типов N, J, JA и D, к канонической форме.</a:t>
            </a:r>
            <a:r>
              <a:rPr lang="ru-R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indent="0">
              <a:buNone/>
            </a:pPr>
            <a:r>
              <a:rPr lang="ru-R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преобразования, по сути, раскрывают семантику запроса, скрытую за единообразным синтаксисом SQL, путем его приведения к алгебраической форме</a:t>
            </a:r>
            <a:r>
              <a:rPr lang="ru-RU" sz="1800" dirty="0"/>
              <a:t>. 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91D36D-2108-AD85-C154-3892A2A20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841C1-7036-DB15-6FF7-A07093901EA8}"/>
              </a:ext>
            </a:extLst>
          </p:cNvPr>
          <p:cNvSpPr txBox="1"/>
          <p:nvPr/>
        </p:nvSpPr>
        <p:spPr>
          <a:xfrm>
            <a:off x="2352765" y="2977298"/>
            <a:ext cx="2743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Ri.Ck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Ri</a:t>
            </a:r>
            <a:r>
              <a:rPr lang="en-US" dirty="0"/>
              <a:t>, </a:t>
            </a:r>
            <a:r>
              <a:rPr lang="en-US" dirty="0" err="1"/>
              <a:t>Rj</a:t>
            </a:r>
            <a:r>
              <a:rPr lang="en-US" dirty="0"/>
              <a:t> </a:t>
            </a:r>
          </a:p>
          <a:p>
            <a:r>
              <a:rPr lang="en-US" dirty="0"/>
              <a:t>WHERE </a:t>
            </a:r>
            <a:r>
              <a:rPr lang="en-US" dirty="0" err="1"/>
              <a:t>Ri.Cn</a:t>
            </a:r>
            <a:r>
              <a:rPr lang="en-US" dirty="0"/>
              <a:t> = </a:t>
            </a:r>
            <a:r>
              <a:rPr lang="en-US" dirty="0" err="1"/>
              <a:t>Rj.Cm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26DC7-AC92-7474-BB52-101E9770217E}"/>
              </a:ext>
            </a:extLst>
          </p:cNvPr>
          <p:cNvSpPr txBox="1"/>
          <p:nvPr/>
        </p:nvSpPr>
        <p:spPr>
          <a:xfrm>
            <a:off x="2342534" y="4530401"/>
            <a:ext cx="3750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Ri.Ck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Ri</a:t>
            </a:r>
            <a:r>
              <a:rPr lang="en-US" dirty="0"/>
              <a:t> </a:t>
            </a:r>
          </a:p>
          <a:p>
            <a:r>
              <a:rPr lang="en-US" dirty="0"/>
              <a:t>WHERE </a:t>
            </a:r>
            <a:r>
              <a:rPr lang="en-US" dirty="0" err="1"/>
              <a:t>Ri.Cn</a:t>
            </a:r>
            <a:r>
              <a:rPr lang="en-US" dirty="0"/>
              <a:t> IS IN</a:t>
            </a:r>
          </a:p>
          <a:p>
            <a:r>
              <a:rPr lang="en-US" dirty="0"/>
              <a:t>	SELECT </a:t>
            </a:r>
            <a:r>
              <a:rPr lang="en-US" dirty="0" err="1"/>
              <a:t>Rj.Cm</a:t>
            </a:r>
            <a:r>
              <a:rPr lang="en-US" dirty="0"/>
              <a:t> FROM </a:t>
            </a:r>
            <a:r>
              <a:rPr lang="en-US" dirty="0" err="1"/>
              <a:t>Rj</a:t>
            </a:r>
            <a:endParaRPr lang="ru-RU" dirty="0"/>
          </a:p>
        </p:txBody>
      </p:sp>
      <p:sp>
        <p:nvSpPr>
          <p:cNvPr id="7" name="Двойная стрелка вверх/вниз 8">
            <a:extLst>
              <a:ext uri="{FF2B5EF4-FFF2-40B4-BE49-F238E27FC236}">
                <a16:creationId xmlns:a16="http://schemas.microsoft.com/office/drawing/2014/main" id="{A295A670-3A8F-C879-33C6-EA77F32E87B5}"/>
              </a:ext>
            </a:extLst>
          </p:cNvPr>
          <p:cNvSpPr/>
          <p:nvPr/>
        </p:nvSpPr>
        <p:spPr>
          <a:xfrm>
            <a:off x="5095966" y="3973780"/>
            <a:ext cx="753533" cy="804333"/>
          </a:xfrm>
          <a:prstGeom prst="upDownArrow">
            <a:avLst>
              <a:gd name="adj1" fmla="val 50000"/>
              <a:gd name="adj2" fmla="val 252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лок-схема: узел 7">
            <a:extLst>
              <a:ext uri="{FF2B5EF4-FFF2-40B4-BE49-F238E27FC236}">
                <a16:creationId xmlns:a16="http://schemas.microsoft.com/office/drawing/2014/main" id="{E19395E6-776B-0F51-A44B-00700E576243}"/>
              </a:ext>
            </a:extLst>
          </p:cNvPr>
          <p:cNvSpPr/>
          <p:nvPr/>
        </p:nvSpPr>
        <p:spPr>
          <a:xfrm>
            <a:off x="1127561" y="3066569"/>
            <a:ext cx="875413" cy="8754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Q</a:t>
            </a:r>
            <a:r>
              <a:rPr lang="en-GB" sz="2800" baseline="-25000" dirty="0"/>
              <a:t>1</a:t>
            </a:r>
            <a:endParaRPr lang="ru-RU" sz="2800" baseline="-25000" dirty="0"/>
          </a:p>
        </p:txBody>
      </p:sp>
      <p:sp>
        <p:nvSpPr>
          <p:cNvPr id="9" name="Блок-схема: узел 8">
            <a:extLst>
              <a:ext uri="{FF2B5EF4-FFF2-40B4-BE49-F238E27FC236}">
                <a16:creationId xmlns:a16="http://schemas.microsoft.com/office/drawing/2014/main" id="{8FC1A266-6E78-33EC-4834-0C37C5DA3EC0}"/>
              </a:ext>
            </a:extLst>
          </p:cNvPr>
          <p:cNvSpPr/>
          <p:nvPr/>
        </p:nvSpPr>
        <p:spPr>
          <a:xfrm>
            <a:off x="1127561" y="4873175"/>
            <a:ext cx="875413" cy="8754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Q</a:t>
            </a:r>
            <a:r>
              <a:rPr lang="en-GB" sz="2800" baseline="-25000" dirty="0"/>
              <a:t>2</a:t>
            </a:r>
            <a:endParaRPr lang="ru-RU" sz="2800" baseline="-25000" dirty="0"/>
          </a:p>
        </p:txBody>
      </p:sp>
      <p:sp>
        <p:nvSpPr>
          <p:cNvPr id="10" name="Двойная стрелка вверх/вниз 11">
            <a:extLst>
              <a:ext uri="{FF2B5EF4-FFF2-40B4-BE49-F238E27FC236}">
                <a16:creationId xmlns:a16="http://schemas.microsoft.com/office/drawing/2014/main" id="{1DCB9376-C28D-0EB5-F1D3-0EE40458B0EA}"/>
              </a:ext>
            </a:extLst>
          </p:cNvPr>
          <p:cNvSpPr/>
          <p:nvPr/>
        </p:nvSpPr>
        <p:spPr>
          <a:xfrm>
            <a:off x="1249441" y="3991848"/>
            <a:ext cx="753533" cy="804333"/>
          </a:xfrm>
          <a:prstGeom prst="upDownArrow">
            <a:avLst>
              <a:gd name="adj1" fmla="val 50000"/>
              <a:gd name="adj2" fmla="val 252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101232F-5175-0B63-48DF-31514F379282}"/>
              </a:ext>
            </a:extLst>
          </p:cNvPr>
          <p:cNvSpPr/>
          <p:nvPr/>
        </p:nvSpPr>
        <p:spPr>
          <a:xfrm rot="16200000">
            <a:off x="-377178" y="4008994"/>
            <a:ext cx="2047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запросы Q1 и Q2 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эквивалентны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24AAC41-6ED5-6F86-3554-0EAD83F55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40" y="5807724"/>
            <a:ext cx="6741522" cy="127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15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8A668-367A-A372-FC12-A0DDB776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Предикаты с вложенными подзапросами</a:t>
            </a:r>
            <a:br>
              <a:rPr lang="ru-RU" dirty="0"/>
            </a:br>
            <a:r>
              <a:rPr lang="ru-RU" sz="1200" i="1" dirty="0"/>
              <a:t>Часть 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A76984-7D5A-918F-EB74-F74EF9440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64" y="1412776"/>
            <a:ext cx="7848872" cy="5184576"/>
          </a:xfrm>
        </p:spPr>
        <p:txBody>
          <a:bodyPr anchor="t">
            <a:normAutofit/>
          </a:bodyPr>
          <a:lstStyle/>
          <a:p>
            <a:r>
              <a:rPr lang="ru-RU" dirty="0"/>
              <a:t>Предикаты класса 4 (деления), вложенные блоки которых </a:t>
            </a:r>
            <a:r>
              <a:rPr lang="ru-RU" dirty="0" err="1"/>
              <a:t>Qi</a:t>
            </a:r>
            <a:r>
              <a:rPr lang="ru-RU" dirty="0"/>
              <a:t> или </a:t>
            </a:r>
            <a:r>
              <a:rPr lang="ru-RU" dirty="0" err="1"/>
              <a:t>Qj</a:t>
            </a:r>
            <a:r>
              <a:rPr lang="ru-RU" dirty="0"/>
              <a:t> (или и тот, и другой) содержат </a:t>
            </a:r>
            <a:r>
              <a:rPr lang="ru-RU" b="1" dirty="0"/>
              <a:t>предикаты соединения с отношением внешнего запроса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r>
              <a:rPr lang="ru-RU" b="1" dirty="0"/>
              <a:t>Подкласс – D </a:t>
            </a:r>
            <a:r>
              <a:rPr lang="ru-RU" dirty="0"/>
              <a:t/>
            </a:r>
            <a:br>
              <a:rPr lang="ru-RU" dirty="0"/>
            </a:br>
            <a:r>
              <a:rPr lang="ru-RU" i="1" dirty="0"/>
              <a:t>Пример: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Ri.Ck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FROM Ri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WHERE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(SELECT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FROM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WHERE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Rj.Cn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Ri.Cl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OP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	(SELECT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Rp.Cm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FROM Rp WHERE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Rp.Cr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&gt; a)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D6BA42-6FDE-1B88-D0D6-88183848A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DA6D0F7-5319-7B2F-2B9A-5415A2A03550}"/>
              </a:ext>
            </a:extLst>
          </p:cNvPr>
          <p:cNvSpPr/>
          <p:nvPr/>
        </p:nvSpPr>
        <p:spPr>
          <a:xfrm>
            <a:off x="755576" y="2708920"/>
            <a:ext cx="738268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Предикаты класса 4, не относящиеся к типу D, полностью вычисляются независимо от внешнего запроса и могут быть заменены на логическую константу во время реального выполнения запроса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295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Логическая оптимизация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5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4E410-A1B0-27FA-4710-53930B34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Законы реляционной алгебры</a:t>
            </a:r>
            <a:br>
              <a:rPr lang="ru-RU" dirty="0"/>
            </a:br>
            <a:r>
              <a:rPr lang="ru-RU" sz="1400" i="1" dirty="0"/>
              <a:t>Законы 1-3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A35B55-D4FC-C193-3820-655629558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956F4C-45D7-EB33-2077-4DC122556BEC}"/>
              </a:ext>
            </a:extLst>
          </p:cNvPr>
          <p:cNvSpPr/>
          <p:nvPr/>
        </p:nvSpPr>
        <p:spPr>
          <a:xfrm>
            <a:off x="177800" y="1371600"/>
            <a:ext cx="786130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1.Закон коммутативности декартова произведения.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Имеет место равенство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:    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где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– отношения (таблицы).</a:t>
            </a:r>
          </a:p>
          <a:p>
            <a:pPr indent="450215">
              <a:spcBef>
                <a:spcPts val="600"/>
              </a:spcBef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7BFD8A-6F8F-840C-3128-D7D9328361F7}"/>
              </a:ext>
            </a:extLst>
          </p:cNvPr>
          <p:cNvSpPr/>
          <p:nvPr/>
        </p:nvSpPr>
        <p:spPr>
          <a:xfrm>
            <a:off x="1043608" y="2988052"/>
            <a:ext cx="7704856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2. Закон ассоциативности декартова произведения.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Справедливо равенство:     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) ×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× (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     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где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3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– отношения (таблицы).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E2E48B6-9320-A30A-9489-28A752827207}"/>
                  </a:ext>
                </a:extLst>
              </p:cNvPr>
              <p:cNvSpPr/>
              <p:nvPr/>
            </p:nvSpPr>
            <p:spPr>
              <a:xfrm>
                <a:off x="177800" y="4419213"/>
                <a:ext cx="8354640" cy="2278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3. Закон каскада проекций.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Если,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}⊆{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{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a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…,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a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} и {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b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…,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b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m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} – некоторые множества атрибутов, то 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имеет место следующее равенство:</a:t>
                </a:r>
                <a:endParaRPr lang="en-US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</m:sSub>
                      <m: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sub>
                      </m:sSub>
                      <m: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</m:sSub>
                      <m: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 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E2E48B6-9320-A30A-9489-28A752827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4419213"/>
                <a:ext cx="8354640" cy="2278509"/>
              </a:xfrm>
              <a:prstGeom prst="rect">
                <a:avLst/>
              </a:prstGeom>
              <a:blipFill>
                <a:blip r:embed="rId3"/>
                <a:stretch>
                  <a:fillRect t="-16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48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10D35-928E-D998-ED7D-1D6D901F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Законы реляционной алгебры</a:t>
            </a:r>
            <a:br>
              <a:rPr lang="ru-RU" dirty="0"/>
            </a:br>
            <a:r>
              <a:rPr lang="ru-RU" sz="1400" i="1" dirty="0"/>
              <a:t>Законы 4-5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725D96-AF15-43D5-8610-A9097AACB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1309BE62-BCF3-2174-18CA-746084CC4D1B}"/>
                  </a:ext>
                </a:extLst>
              </p:cNvPr>
              <p:cNvSpPr/>
              <p:nvPr/>
            </p:nvSpPr>
            <p:spPr>
              <a:xfrm>
                <a:off x="190500" y="1264536"/>
                <a:ext cx="8485956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4. Закон каскада селекций.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условие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является конъюнкцией нескольких условий, т.е., </a:t>
                </a:r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то справедливо следующее равенство: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1309BE62-BCF3-2174-18CA-746084CC4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264536"/>
                <a:ext cx="8485956" cy="1077218"/>
              </a:xfrm>
              <a:prstGeom prst="rect">
                <a:avLst/>
              </a:prstGeom>
              <a:blipFill>
                <a:blip r:embed="rId2"/>
                <a:stretch>
                  <a:fillRect t="-2825" b="-79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FB3E0B02-F109-A4E5-7176-3149642624F6}"/>
                  </a:ext>
                </a:extLst>
              </p:cNvPr>
              <p:cNvSpPr txBox="1"/>
              <p:nvPr/>
            </p:nvSpPr>
            <p:spPr bwMode="auto">
              <a:xfrm>
                <a:off x="4660900" y="1970088"/>
                <a:ext cx="3206750" cy="5397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FB3E0B02-F109-A4E5-7176-314964262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0900" y="1970088"/>
                <a:ext cx="3206750" cy="539750"/>
              </a:xfrm>
              <a:prstGeom prst="rect">
                <a:avLst/>
              </a:prstGeom>
              <a:blipFill>
                <a:blip r:embed="rId3"/>
                <a:stretch>
                  <a:fillRect b="-2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477A721-CD92-0FF3-B95B-DF8946594ABA}"/>
              </a:ext>
            </a:extLst>
          </p:cNvPr>
          <p:cNvSpPr/>
          <p:nvPr/>
        </p:nvSpPr>
        <p:spPr>
          <a:xfrm>
            <a:off x="181325" y="2592471"/>
            <a:ext cx="7797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5. Закон перестановки проекции и селекции: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1. В условие 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 входят атрибуты только из множества {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, …, 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}.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Имеет место следующее равенство: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8">
                <a:extLst>
                  <a:ext uri="{FF2B5EF4-FFF2-40B4-BE49-F238E27FC236}">
                    <a16:creationId xmlns:a16="http://schemas.microsoft.com/office/drawing/2014/main" id="{2493EB9D-3524-D615-2E47-0AADA97DBBEE}"/>
                  </a:ext>
                </a:extLst>
              </p:cNvPr>
              <p:cNvSpPr txBox="1"/>
              <p:nvPr/>
            </p:nvSpPr>
            <p:spPr bwMode="auto">
              <a:xfrm>
                <a:off x="3995936" y="3615531"/>
                <a:ext cx="5291138" cy="5286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9" name="Объект 8">
                <a:extLst>
                  <a:ext uri="{FF2B5EF4-FFF2-40B4-BE49-F238E27FC236}">
                    <a16:creationId xmlns:a16="http://schemas.microsoft.com/office/drawing/2014/main" id="{2493EB9D-3524-D615-2E47-0AADA97DB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936" y="3615531"/>
                <a:ext cx="5291138" cy="528638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F28EC-EBDB-5CC4-D28A-D01A5EA64D00}"/>
              </a:ext>
            </a:extLst>
          </p:cNvPr>
          <p:cNvSpPr/>
          <p:nvPr/>
        </p:nvSpPr>
        <p:spPr>
          <a:xfrm>
            <a:off x="190500" y="4144169"/>
            <a:ext cx="829310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2. В условие 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 входят атрибуты не только из множества {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, …, 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}.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Справедливо следующее равенство: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8BE67672-D2DF-A3A8-6FE2-32ED7B0BD38F}"/>
                  </a:ext>
                </a:extLst>
              </p:cNvPr>
              <p:cNvSpPr txBox="1"/>
              <p:nvPr/>
            </p:nvSpPr>
            <p:spPr bwMode="auto">
              <a:xfrm>
                <a:off x="2038549" y="4878635"/>
                <a:ext cx="7248525" cy="492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ru-RU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</m:sSub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ru-RU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8BE67672-D2DF-A3A8-6FE2-32ED7B0BD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8549" y="4878635"/>
                <a:ext cx="7248525" cy="492125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0B19CE-6D80-0486-F0FE-7EBE84CA3BE3}"/>
              </a:ext>
            </a:extLst>
          </p:cNvPr>
          <p:cNvSpPr/>
          <p:nvPr/>
        </p:nvSpPr>
        <p:spPr>
          <a:xfrm>
            <a:off x="190500" y="5494285"/>
            <a:ext cx="8004006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где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…,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– атрибуты таблицы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которые входят в условие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но не принадлежат множеству {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…,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}.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871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8C6C8-8819-E304-CF30-5B9B11A3E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Законы реляционной алгебры</a:t>
            </a:r>
            <a:br>
              <a:rPr lang="ru-RU" dirty="0"/>
            </a:br>
            <a:r>
              <a:rPr lang="ru-RU" sz="1400" i="1" dirty="0"/>
              <a:t>Законы 6-8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F5BDA-0A8D-FCEB-6AE3-A2E297CF2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E46FCADF-19F5-47A8-FA35-39EF6D32CF7F}"/>
                  </a:ext>
                </a:extLst>
              </p:cNvPr>
              <p:cNvSpPr/>
              <p:nvPr/>
            </p:nvSpPr>
            <p:spPr>
              <a:xfrm>
                <a:off x="139700" y="1380973"/>
                <a:ext cx="8712200" cy="1103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6. Закон перестановки селекции и декартова произведения.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условие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включает в себя только атрибуты отношения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имеет 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место следующее равенство: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ru-RU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ru-RU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)×</m:t>
                    </m:r>
                    <m:sSub>
                      <m:sSub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E46FCADF-19F5-47A8-FA35-39EF6D32C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1380973"/>
                <a:ext cx="8712200" cy="1103444"/>
              </a:xfrm>
              <a:prstGeom prst="rect">
                <a:avLst/>
              </a:prstGeom>
              <a:blipFill>
                <a:blip r:embed="rId2"/>
                <a:stretch>
                  <a:fillRect t="-3315" b="-55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618207C1-888C-DAAB-B121-4D35C7FF617C}"/>
                  </a:ext>
                </a:extLst>
              </p:cNvPr>
              <p:cNvSpPr/>
              <p:nvPr/>
            </p:nvSpPr>
            <p:spPr>
              <a:xfrm>
                <a:off x="1079612" y="2612786"/>
                <a:ext cx="7596844" cy="1105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b="1" dirty="0">
                    <a:latin typeface="Times New Roman" panose="02020603050405020304" pitchFamily="18" charset="0"/>
                  </a:rPr>
                  <a:t>Следствие.</a:t>
                </a:r>
                <a:r>
                  <a:rPr lang="ru-RU" dirty="0">
                    <a:latin typeface="Times New Roman" panose="02020603050405020304" pitchFamily="18" charset="0"/>
                  </a:rPr>
                  <a:t> Пусть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1">
                        <a:latin typeface="Cambria Math" panose="02040503050406030204" pitchFamily="18" charset="0"/>
                      </a:rPr>
                      <m:t>F</m:t>
                    </m:r>
                    <m:r>
                      <a:rPr lang="ru-RU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ru-RU" b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ru-RU" b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</a:rPr>
                  <a:t>, причем в </a:t>
                </a:r>
                <a:r>
                  <a:rPr lang="en-US" dirty="0">
                    <a:latin typeface="Times New Roman" panose="02020603050405020304" pitchFamily="18" charset="0"/>
                  </a:rPr>
                  <a:t>f</a:t>
                </a:r>
                <a:r>
                  <a:rPr lang="ru-RU" dirty="0">
                    <a:latin typeface="Times New Roman" panose="02020603050405020304" pitchFamily="18" charset="0"/>
                  </a:rPr>
                  <a:t>1 входят атрибуты только из отношения </a:t>
                </a:r>
                <a:r>
                  <a:rPr lang="en-US" dirty="0">
                    <a:latin typeface="Times New Roman" panose="02020603050405020304" pitchFamily="18" charset="0"/>
                  </a:rPr>
                  <a:t>R</a:t>
                </a:r>
                <a:r>
                  <a:rPr lang="ru-RU" dirty="0">
                    <a:latin typeface="Times New Roman" panose="02020603050405020304" pitchFamily="18" charset="0"/>
                  </a:rPr>
                  <a:t>1, а в </a:t>
                </a:r>
                <a:r>
                  <a:rPr lang="en-US" dirty="0">
                    <a:latin typeface="Times New Roman" panose="02020603050405020304" pitchFamily="18" charset="0"/>
                  </a:rPr>
                  <a:t>f</a:t>
                </a:r>
                <a:r>
                  <a:rPr lang="ru-RU" dirty="0">
                    <a:latin typeface="Times New Roman" panose="02020603050405020304" pitchFamily="18" charset="0"/>
                  </a:rPr>
                  <a:t>2 входят атрибуты только из </a:t>
                </a:r>
                <a:r>
                  <a:rPr lang="en-US" dirty="0">
                    <a:latin typeface="Times New Roman" panose="02020603050405020304" pitchFamily="18" charset="0"/>
                  </a:rPr>
                  <a:t>R</a:t>
                </a:r>
                <a:r>
                  <a:rPr lang="ru-RU" dirty="0">
                    <a:latin typeface="Times New Roman" panose="02020603050405020304" pitchFamily="18" charset="0"/>
                  </a:rPr>
                  <a:t>2. В этом случае справедливо следующее равенство: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)×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ru-RU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618207C1-888C-DAAB-B121-4D35C7FF61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612" y="2612786"/>
                <a:ext cx="7596844" cy="1105880"/>
              </a:xfrm>
              <a:prstGeom prst="rect">
                <a:avLst/>
              </a:prstGeom>
              <a:blipFill>
                <a:blip r:embed="rId3"/>
                <a:stretch>
                  <a:fillRect l="-642" t="-552" r="-722" b="-55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F9023094-91C8-FBB2-5E49-9C2480DB9C52}"/>
                  </a:ext>
                </a:extLst>
              </p:cNvPr>
              <p:cNvSpPr/>
              <p:nvPr/>
            </p:nvSpPr>
            <p:spPr>
              <a:xfrm>
                <a:off x="154406" y="3973881"/>
                <a:ext cx="8697493" cy="723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7. Закон перестановки селекции и объединения.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Имеет место следующее равенство: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)∪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F9023094-91C8-FBB2-5E49-9C2480DB9C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6" y="3973881"/>
                <a:ext cx="8697493" cy="723275"/>
              </a:xfrm>
              <a:prstGeom prst="rect">
                <a:avLst/>
              </a:prstGeom>
              <a:blipFill>
                <a:blip r:embed="rId4"/>
                <a:stretch>
                  <a:fillRect t="-5042" b="-12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571D6961-84C0-CA9A-2DE9-631F212B61F1}"/>
                  </a:ext>
                </a:extLst>
              </p:cNvPr>
              <p:cNvSpPr/>
              <p:nvPr/>
            </p:nvSpPr>
            <p:spPr>
              <a:xfrm>
                <a:off x="139700" y="4941168"/>
                <a:ext cx="8712200" cy="1785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8. Закон перестановки селекции и разности отношений.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Справедливо следующее равенство: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ru-RU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RU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2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множество кортежей, которые принадлежат отношению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и не принадлежат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2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endParaRPr lang="ru-RU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571D6961-84C0-CA9A-2DE9-631F212B6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4941168"/>
                <a:ext cx="8712200" cy="1785104"/>
              </a:xfrm>
              <a:prstGeom prst="rect">
                <a:avLst/>
              </a:prstGeom>
              <a:blipFill>
                <a:blip r:embed="rId5"/>
                <a:stretch>
                  <a:fillRect t="-20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272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CB4FB-1DA9-C895-5922-EE4E94E7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Законы реляционной алгебры</a:t>
            </a:r>
            <a:br>
              <a:rPr lang="ru-RU" dirty="0"/>
            </a:br>
            <a:r>
              <a:rPr lang="ru-RU" sz="1400" i="1" dirty="0"/>
              <a:t>Законы 9-10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D9F8CB-0114-73F1-5E00-44A233C2F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2ECC81F1-0F4C-4200-FC86-0B08A599ECFC}"/>
                  </a:ext>
                </a:extLst>
              </p:cNvPr>
              <p:cNvSpPr/>
              <p:nvPr/>
            </p:nvSpPr>
            <p:spPr>
              <a:xfrm>
                <a:off x="539552" y="1523416"/>
                <a:ext cx="8223447" cy="1833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9. Закон перестановки проекции и декартова произведения.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Пусть {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b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…,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b</a:t>
                </a:r>
                <a:r>
                  <a:rPr lang="en-US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} – некоторые атрибуты из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{с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, …, с</a:t>
                </a:r>
                <a:r>
                  <a:rPr lang="en-US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m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} – некоторые атрибуты из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R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2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. Имеет место следующее равенство: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18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2ECC81F1-0F4C-4200-FC86-0B08A599EC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23416"/>
                <a:ext cx="8223447" cy="1833643"/>
              </a:xfrm>
              <a:prstGeom prst="rect">
                <a:avLst/>
              </a:prstGeom>
              <a:blipFill>
                <a:blip r:embed="rId2"/>
                <a:stretch>
                  <a:fillRect t="-1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E28F1A0-6094-9658-9BEA-8F5BF2394B5F}"/>
                  </a:ext>
                </a:extLst>
              </p:cNvPr>
              <p:cNvSpPr/>
              <p:nvPr/>
            </p:nvSpPr>
            <p:spPr>
              <a:xfrm>
                <a:off x="611559" y="3981359"/>
                <a:ext cx="8151439" cy="14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10. Закон перестановки проекции и объединения.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Справедливо следующее равенство:</a:t>
                </a: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spcBef>
                    <a:spcPts val="6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)∪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ru-RU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E28F1A0-6094-9658-9BEA-8F5BF2394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" y="3981359"/>
                <a:ext cx="8151439" cy="1412631"/>
              </a:xfrm>
              <a:prstGeom prst="rect">
                <a:avLst/>
              </a:prstGeom>
              <a:blipFill>
                <a:blip r:embed="rId3"/>
                <a:stretch>
                  <a:fillRect t="-2155" b="-21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683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CE5C2-43B3-E21B-F315-1EEE4034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оптимизации формулы реляционной алгебры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E90C69-F281-E9C2-F14E-C3C328ECA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B7080ECC-BB10-B82A-2CEB-BB5F33879D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568" y="1340768"/>
                <a:ext cx="7848872" cy="4752528"/>
              </a:xfrm>
            </p:spPr>
            <p:txBody>
              <a:bodyPr anchor="t"/>
              <a:lstStyle/>
              <a:p>
                <a:r>
                  <a:rPr lang="ru-RU" dirty="0"/>
                  <a:t>Если условие </a:t>
                </a:r>
                <a:r>
                  <a:rPr lang="en-US" dirty="0"/>
                  <a:t>F</a:t>
                </a:r>
                <a:r>
                  <a:rPr lang="ru-RU" dirty="0"/>
                  <a:t> является конъюнкцией нескольких условий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∧...∧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 то переместить каждую селекцию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dirty="0"/>
                  <a:t> внутрь декартова произведения, используя законы 1, 4, 6, 7, 8.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Переместить каждую проекцию внутрь декартова произведения, используя законы 1, 3, 5, 9, 10.</a:t>
                </a:r>
              </a:p>
              <a:p>
                <a:endParaRPr lang="ru-RU" dirty="0"/>
              </a:p>
              <a:p>
                <a:r>
                  <a:rPr lang="ru-RU" dirty="0"/>
                  <a:t>После указанных преобразований </a:t>
                </a:r>
                <a:r>
                  <a:rPr lang="ru-RU" i="1" dirty="0"/>
                  <a:t>по возможности </a:t>
                </a:r>
                <a:r>
                  <a:rPr lang="ru-RU" dirty="0"/>
                  <a:t>скомбинировать </a:t>
                </a:r>
              </a:p>
              <a:p>
                <a:pPr lvl="1"/>
                <a:r>
                  <a:rPr lang="ru-RU" dirty="0"/>
                  <a:t>каждый каскад селекций в одиночную селекцию</a:t>
                </a:r>
              </a:p>
              <a:p>
                <a:pPr lvl="1"/>
                <a:r>
                  <a:rPr lang="ru-RU" dirty="0"/>
                  <a:t>каждый каскад проекций в одиночную проекцию. </a:t>
                </a:r>
              </a:p>
              <a:p>
                <a:endParaRPr lang="ru-R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)))→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B7080ECC-BB10-B82A-2CEB-BB5F33879D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1340768"/>
                <a:ext cx="7848872" cy="4752528"/>
              </a:xfrm>
              <a:blipFill>
                <a:blip r:embed="rId2"/>
                <a:stretch>
                  <a:fillRect l="-699" t="-769" r="-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315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F7533-1FBD-6483-FF67-7FC3A50C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логического плана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20FB98-2A86-8FA5-CBA7-CA6C25E59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C2848D-EC73-25D4-4F62-D75F4E3233C3}"/>
              </a:ext>
            </a:extLst>
          </p:cNvPr>
          <p:cNvSpPr/>
          <p:nvPr/>
        </p:nvSpPr>
        <p:spPr>
          <a:xfrm>
            <a:off x="539552" y="2773201"/>
            <a:ext cx="50286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π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σ</a:t>
            </a:r>
            <a:r>
              <a:rPr lang="en-US" sz="2400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(R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× R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× …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×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)),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Объект 11">
                <a:extLst>
                  <a:ext uri="{FF2B5EF4-FFF2-40B4-BE49-F238E27FC236}">
                    <a16:creationId xmlns:a16="http://schemas.microsoft.com/office/drawing/2014/main" id="{A08319EF-2CBB-812D-67EF-B5BAD40C375F}"/>
                  </a:ext>
                </a:extLst>
              </p:cNvPr>
              <p:cNvSpPr txBox="1"/>
              <p:nvPr/>
            </p:nvSpPr>
            <p:spPr bwMode="auto">
              <a:xfrm>
                <a:off x="395536" y="5660299"/>
                <a:ext cx="7465084" cy="7635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))×...×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))))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" name="Объект 11">
                <a:extLst>
                  <a:ext uri="{FF2B5EF4-FFF2-40B4-BE49-F238E27FC236}">
                    <a16:creationId xmlns:a16="http://schemas.microsoft.com/office/drawing/2014/main" id="{A08319EF-2CBB-812D-67EF-B5BAD40C3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5660299"/>
                <a:ext cx="7465084" cy="7635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Стрелка вниз 11">
            <a:extLst>
              <a:ext uri="{FF2B5EF4-FFF2-40B4-BE49-F238E27FC236}">
                <a16:creationId xmlns:a16="http://schemas.microsoft.com/office/drawing/2014/main" id="{21A67621-8C62-26D5-0E3B-4CA4FEE5A826}"/>
              </a:ext>
            </a:extLst>
          </p:cNvPr>
          <p:cNvSpPr/>
          <p:nvPr/>
        </p:nvSpPr>
        <p:spPr>
          <a:xfrm>
            <a:off x="789569" y="3565370"/>
            <a:ext cx="722091" cy="18078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87A4EC32-C789-49B4-ACAA-35F06C86B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09" y="1580333"/>
                <a:ext cx="7069042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indent="45085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∧...∧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 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 условие, </a:t>
                </a:r>
              </a:p>
              <a:p>
                <a:pPr marL="0" marR="0" lvl="0" indent="4508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сформулированное в исходно запросе </a:t>
                </a:r>
                <a:r>
                  <a: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SELECT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  <a:endParaRPr kumimoji="0" lang="ru-RU" alt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4508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ru-RU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условие соединения подзапросов {</a:t>
                </a:r>
                <a:r>
                  <a: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Q</a:t>
                </a:r>
                <a:r>
                  <a:rPr kumimoji="0" lang="en-US" altLang="ru-RU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}.</a:t>
                </a:r>
                <a:endParaRPr kumimoji="0" lang="ru-RU" alt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87A4EC32-C789-49B4-ACAA-35F06C86B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09" y="1580333"/>
                <a:ext cx="7069042" cy="923330"/>
              </a:xfrm>
              <a:prstGeom prst="rect">
                <a:avLst/>
              </a:prstGeom>
              <a:blipFill>
                <a:blip r:embed="rId4"/>
                <a:stretch>
                  <a:fillRect t="-3289" b="-98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Правая фигурная скобка 23">
            <a:extLst>
              <a:ext uri="{FF2B5EF4-FFF2-40B4-BE49-F238E27FC236}">
                <a16:creationId xmlns:a16="http://schemas.microsoft.com/office/drawing/2014/main" id="{25AA74DF-6042-0B75-20A6-7441F8E8C9F4}"/>
              </a:ext>
            </a:extLst>
          </p:cNvPr>
          <p:cNvSpPr/>
          <p:nvPr/>
        </p:nvSpPr>
        <p:spPr>
          <a:xfrm rot="16200000">
            <a:off x="5232149" y="4718488"/>
            <a:ext cx="191872" cy="1800201"/>
          </a:xfrm>
          <a:prstGeom prst="rightBrace">
            <a:avLst>
              <a:gd name="adj1" fmla="val 148656"/>
              <a:gd name="adj2" fmla="val 50000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авая фигурная скобка 24">
            <a:extLst>
              <a:ext uri="{FF2B5EF4-FFF2-40B4-BE49-F238E27FC236}">
                <a16:creationId xmlns:a16="http://schemas.microsoft.com/office/drawing/2014/main" id="{29718C6F-AEA5-C7AC-1A36-1E8B9F387940}"/>
              </a:ext>
            </a:extLst>
          </p:cNvPr>
          <p:cNvSpPr/>
          <p:nvPr/>
        </p:nvSpPr>
        <p:spPr>
          <a:xfrm rot="16200000">
            <a:off x="2315825" y="4734907"/>
            <a:ext cx="191872" cy="1800201"/>
          </a:xfrm>
          <a:prstGeom prst="rightBrace">
            <a:avLst>
              <a:gd name="adj1" fmla="val 148656"/>
              <a:gd name="adj2" fmla="val 50000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6" name="Объект 25">
            <a:extLst>
              <a:ext uri="{FF2B5EF4-FFF2-40B4-BE49-F238E27FC236}">
                <a16:creationId xmlns:a16="http://schemas.microsoft.com/office/drawing/2014/main" id="{4D76791B-7169-2B05-DD9F-F8DDC639877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72000" y="1942953"/>
          <a:ext cx="3700443" cy="3244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r:id="rId5" imgW="2914650" imgH="2557463" progId="Visio.Drawing.6">
                  <p:embed/>
                </p:oleObj>
              </mc:Choice>
              <mc:Fallback>
                <p:oleObj r:id="rId5" imgW="2914650" imgH="2557463" progId="Visio.Drawing.6">
                  <p:embed/>
                  <p:pic>
                    <p:nvPicPr>
                      <p:cNvPr id="26" name="Объект 25">
                        <a:extLst>
                          <a:ext uri="{FF2B5EF4-FFF2-40B4-BE49-F238E27FC236}">
                            <a16:creationId xmlns:a16="http://schemas.microsoft.com/office/drawing/2014/main" id="{4D76791B-7169-2B05-DD9F-F8DDC63987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42953"/>
                        <a:ext cx="3700443" cy="32448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8BBE9B7-4B8A-272A-5E5A-6744E0E7686E}"/>
              </a:ext>
            </a:extLst>
          </p:cNvPr>
          <p:cNvSpPr txBox="1"/>
          <p:nvPr/>
        </p:nvSpPr>
        <p:spPr>
          <a:xfrm>
            <a:off x="2214016" y="506457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69461"/>
                </a:solidFill>
              </a:rPr>
              <a:t>Q</a:t>
            </a:r>
            <a:r>
              <a:rPr lang="en-US" baseline="-25000" dirty="0">
                <a:solidFill>
                  <a:srgbClr val="369461"/>
                </a:solidFill>
              </a:rPr>
              <a:t>i</a:t>
            </a:r>
            <a:endParaRPr lang="ru-RU" baseline="-25000" dirty="0">
              <a:solidFill>
                <a:srgbClr val="3694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662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50E45-0EBC-1EED-7B28-295725A4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Влияние логической оптимизации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231834-D4DF-D883-65C0-92BE4F230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1D2192-C2BC-7DFA-419E-88F0B0DA36B1}"/>
              </a:ext>
            </a:extLst>
          </p:cNvPr>
          <p:cNvSpPr/>
          <p:nvPr/>
        </p:nvSpPr>
        <p:spPr>
          <a:xfrm>
            <a:off x="4858138" y="2849090"/>
            <a:ext cx="32959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π</a:t>
            </a:r>
            <a:r>
              <a:rPr lang="ru-RU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σ</a:t>
            </a:r>
            <a:r>
              <a:rPr lang="en-US" sz="2400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×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× … ×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))</a:t>
            </a:r>
            <a:endParaRPr lang="ru-RU" sz="24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D14D48CE-9338-F539-384D-91731309065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89895" y="2023005"/>
          <a:ext cx="7326521" cy="165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r:id="rId3" imgW="5366808" imgH="1175808" progId="Visio.Drawing.6">
                  <p:embed/>
                </p:oleObj>
              </mc:Choice>
              <mc:Fallback>
                <p:oleObj r:id="rId3" imgW="5366808" imgH="1175808" progId="Visio.Drawing.6">
                  <p:embed/>
                  <p:pic>
                    <p:nvPicPr>
                      <p:cNvPr id="6" name="Объект 5">
                        <a:extLst>
                          <a:ext uri="{FF2B5EF4-FFF2-40B4-BE49-F238E27FC236}">
                            <a16:creationId xmlns:a16="http://schemas.microsoft.com/office/drawing/2014/main" id="{D14D48CE-9338-F539-384D-9173130906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895" y="2023005"/>
                        <a:ext cx="7326521" cy="16521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7144388-8F18-545C-0EC1-2114FEB8B4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7544" y="4173311"/>
          <a:ext cx="5056395" cy="463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Уравнение" r:id="rId5" imgW="2755900" imgH="254000" progId="Equation.3">
                  <p:embed/>
                </p:oleObj>
              </mc:Choice>
              <mc:Fallback>
                <p:oleObj name="Уравнение" r:id="rId5" imgW="2755900" imgH="254000" progId="Equation.3">
                  <p:embed/>
                  <p:pic>
                    <p:nvPicPr>
                      <p:cNvPr id="7" name="Объект 6">
                        <a:extLst>
                          <a:ext uri="{FF2B5EF4-FFF2-40B4-BE49-F238E27FC236}">
                            <a16:creationId xmlns:a16="http://schemas.microsoft.com/office/drawing/2014/main" id="{67144388-8F18-545C-0EC1-2114FEB8B4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173311"/>
                        <a:ext cx="5056395" cy="4633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5BAD8724-A815-4FBC-D29C-606B7C03EF5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91880" y="4744353"/>
          <a:ext cx="4381500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r:id="rId7" imgW="3300114" imgH="1433126" progId="Visio.Drawing.6">
                  <p:embed/>
                </p:oleObj>
              </mc:Choice>
              <mc:Fallback>
                <p:oleObj r:id="rId7" imgW="3300114" imgH="1433126" progId="Visio.Drawing.6">
                  <p:embed/>
                  <p:pic>
                    <p:nvPicPr>
                      <p:cNvPr id="8" name="Объект 7">
                        <a:extLst>
                          <a:ext uri="{FF2B5EF4-FFF2-40B4-BE49-F238E27FC236}">
                            <a16:creationId xmlns:a16="http://schemas.microsoft.com/office/drawing/2014/main" id="{5BAD8724-A815-4FBC-D29C-606B7C03EF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4744353"/>
                        <a:ext cx="4381500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864A015-4229-BF89-B6F0-7182A9FF9D36}"/>
              </a:ext>
            </a:extLst>
          </p:cNvPr>
          <p:cNvSpPr txBox="1"/>
          <p:nvPr/>
        </p:nvSpPr>
        <p:spPr>
          <a:xfrm>
            <a:off x="665275" y="1468424"/>
            <a:ext cx="206659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/>
              <a:t>Выполнение</a:t>
            </a:r>
            <a:br>
              <a:rPr lang="ru-RU" dirty="0"/>
            </a:br>
            <a:r>
              <a:rPr lang="ru-RU" dirty="0"/>
              <a:t> без оптимизации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822CB-B3BD-753E-F97D-B4C27EB424AC}"/>
              </a:ext>
            </a:extLst>
          </p:cNvPr>
          <p:cNvSpPr txBox="1"/>
          <p:nvPr/>
        </p:nvSpPr>
        <p:spPr>
          <a:xfrm>
            <a:off x="755845" y="5720666"/>
            <a:ext cx="188545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/>
              <a:t>Выполнение</a:t>
            </a:r>
            <a:br>
              <a:rPr lang="ru-RU" dirty="0"/>
            </a:br>
            <a:r>
              <a:rPr lang="ru-RU" b="1" dirty="0"/>
              <a:t>с</a:t>
            </a:r>
            <a:r>
              <a:rPr lang="ru-RU" dirty="0"/>
              <a:t> оптимизацией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393A996-406E-5067-E505-7BDB807CE4A3}"/>
              </a:ext>
            </a:extLst>
          </p:cNvPr>
          <p:cNvCxnSpPr>
            <a:cxnSpLocks/>
          </p:cNvCxnSpPr>
          <p:nvPr/>
        </p:nvCxnSpPr>
        <p:spPr>
          <a:xfrm>
            <a:off x="677334" y="3933056"/>
            <a:ext cx="76390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834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A950F-44BA-5E35-53F4-8AA6D89B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Исходные данные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E0D4F1-7A1E-327D-B74C-92E8E8911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796A13C-4EC6-15B0-105B-84AE93BAD47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3528" y="1967171"/>
          <a:ext cx="5310762" cy="2623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3" imgW="5929313" imgH="2843213" progId="Visio.Drawing.6">
                  <p:embed/>
                </p:oleObj>
              </mc:Choice>
              <mc:Fallback>
                <p:oleObj r:id="rId3" imgW="5929313" imgH="2843213" progId="Visio.Drawing.6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8796A13C-4EC6-15B0-105B-84AE93BAD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967171"/>
                        <a:ext cx="5310762" cy="26239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51A5EF-D523-78EF-0199-5C72B5FD01B3}"/>
              </a:ext>
            </a:extLst>
          </p:cNvPr>
          <p:cNvSpPr/>
          <p:nvPr/>
        </p:nvSpPr>
        <p:spPr>
          <a:xfrm>
            <a:off x="467544" y="1348661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"Найти значения остатков, большие 1500, на счетах пользователя с кодом 3"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357F09-5F0D-81B8-7272-E5B1718BB4D2}"/>
              </a:ext>
            </a:extLst>
          </p:cNvPr>
          <p:cNvSpPr/>
          <p:nvPr/>
        </p:nvSpPr>
        <p:spPr>
          <a:xfrm>
            <a:off x="5508104" y="2024715"/>
            <a:ext cx="331236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остаток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остаток &gt; 1500 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номер_счета 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endParaRPr lang="ru-RU" sz="14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счета</a:t>
            </a:r>
          </a:p>
          <a:p>
            <a:pPr indent="449580"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R1</a:t>
            </a:r>
            <a:endParaRPr lang="ru-RU" sz="14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код_пользователя = 3);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579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A950F-44BA-5E35-53F4-8AA6D89B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Исходная форма запроса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E0D4F1-7A1E-327D-B74C-92E8E8911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796A13C-4EC6-15B0-105B-84AE93BAD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528" y="1967171"/>
          <a:ext cx="5310762" cy="2623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r:id="rId3" imgW="5929313" imgH="2843213" progId="Visio.Drawing.6">
                  <p:embed/>
                </p:oleObj>
              </mc:Choice>
              <mc:Fallback>
                <p:oleObj r:id="rId3" imgW="5929313" imgH="2843213" progId="Visio.Drawing.6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8796A13C-4EC6-15B0-105B-84AE93BAD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967171"/>
                        <a:ext cx="5310762" cy="26239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51A5EF-D523-78EF-0199-5C72B5FD01B3}"/>
              </a:ext>
            </a:extLst>
          </p:cNvPr>
          <p:cNvSpPr/>
          <p:nvPr/>
        </p:nvSpPr>
        <p:spPr>
          <a:xfrm>
            <a:off x="467544" y="1348661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"Найти значения остатков, большие 1500, на счетах пользователя с кодом 3"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357F09-5F0D-81B8-7272-E5B1718BB4D2}"/>
              </a:ext>
            </a:extLst>
          </p:cNvPr>
          <p:cNvSpPr/>
          <p:nvPr/>
        </p:nvSpPr>
        <p:spPr>
          <a:xfrm>
            <a:off x="5508104" y="2024715"/>
            <a:ext cx="331236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остаток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остаток &gt; 1500 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номер_счета 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endParaRPr lang="ru-RU" sz="14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счета</a:t>
            </a:r>
          </a:p>
          <a:p>
            <a:pPr indent="449580"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R1</a:t>
            </a:r>
            <a:endParaRPr lang="ru-RU" sz="14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код_пользователя = 3);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C15AAB8B-49A7-68E1-AC39-EF9D2CCF1D6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1560" y="5613110"/>
          <a:ext cx="7560840" cy="911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Уравнение" r:id="rId5" imgW="3746500" imgH="520700" progId="Equation.3">
                  <p:embed/>
                </p:oleObj>
              </mc:Choice>
              <mc:Fallback>
                <p:oleObj name="Уравнение" r:id="rId5" imgW="3746500" imgH="520700" progId="Equation.3">
                  <p:embed/>
                  <p:pic>
                    <p:nvPicPr>
                      <p:cNvPr id="3" name="Объект 2">
                        <a:extLst>
                          <a:ext uri="{FF2B5EF4-FFF2-40B4-BE49-F238E27FC236}">
                            <a16:creationId xmlns:a16="http://schemas.microsoft.com/office/drawing/2014/main" id="{C15AAB8B-49A7-68E1-AC39-EF9D2CCF1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613110"/>
                        <a:ext cx="7560840" cy="911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трелка вниз 11">
            <a:extLst>
              <a:ext uri="{FF2B5EF4-FFF2-40B4-BE49-F238E27FC236}">
                <a16:creationId xmlns:a16="http://schemas.microsoft.com/office/drawing/2014/main" id="{0BCC3535-802C-E874-0A82-627E75A63BC6}"/>
              </a:ext>
            </a:extLst>
          </p:cNvPr>
          <p:cNvSpPr/>
          <p:nvPr/>
        </p:nvSpPr>
        <p:spPr>
          <a:xfrm>
            <a:off x="6156176" y="4170386"/>
            <a:ext cx="1329378" cy="9112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210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A950F-44BA-5E35-53F4-8AA6D89B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Логическая оптимизация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E0D4F1-7A1E-327D-B74C-92E8E8911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Объект 9">
                <a:extLst>
                  <a:ext uri="{FF2B5EF4-FFF2-40B4-BE49-F238E27FC236}">
                    <a16:creationId xmlns:a16="http://schemas.microsoft.com/office/drawing/2014/main" id="{F3DEDA25-B9D4-0E5B-365C-0258A8239D33}"/>
                  </a:ext>
                </a:extLst>
              </p:cNvPr>
              <p:cNvSpPr txBox="1"/>
              <p:nvPr/>
            </p:nvSpPr>
            <p:spPr bwMode="auto">
              <a:xfrm>
                <a:off x="662472" y="1293639"/>
                <a:ext cx="8229600" cy="5126477"/>
              </a:xfrm>
              <a:prstGeom prst="rect">
                <a:avLst/>
              </a:prstGeom>
              <a:noFill/>
            </p:spPr>
            <p:txBody>
              <a:bodyPr>
                <a:normAutofit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2.остаток &gt;1500 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𝐴𝑁𝐷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1.код_пользователя=3 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𝐴𝑁𝐷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1.номер_счета=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1×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2))</m:t>
                      </m:r>
                      <m:limUpp>
                        <m:limUpp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lim>
                      </m:limUpp>
                    </m:oMath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1.номер_счета=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1.код_пользователя=3 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𝐴𝑁𝐷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2.остаток &gt;1500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1×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2)))</m:t>
                      </m:r>
                      <m:limUpp>
                        <m:limUpp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lim>
                      </m:limUpp>
                    </m:oMath>
                  </m:oMathPara>
                </a14:m>
                <a:endParaRPr lang="ru-RU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r>
                  <a:rPr lang="ru-RU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ru-RU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1.номер_счета=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1.код_пользователя=3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1)×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2.остаток &gt;1500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2)))</m:t>
                      </m:r>
                      <m:limUpp>
                        <m:limUpp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5(2)</m:t>
                          </m:r>
                        </m:lim>
                      </m:limUpp>
                    </m:oMath>
                  </m:oMathPara>
                </a14:m>
                <a:endParaRPr lang="ru-RU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r>
                  <a:rPr lang="ru-RU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ru-RU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1.номер_счета=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2.остаток,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1.номер_счета,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1.код_пользователя=3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1)×</m:t>
                      </m:r>
                    </m:oMath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2.остаток &gt;1500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2))))</m:t>
                      </m:r>
                      <m:limUpp>
                        <m:limUpp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lim>
                      </m:limUpp>
                    </m:oMath>
                  </m:oMathPara>
                </a14:m>
                <a:endParaRPr lang="ru-RU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r>
                  <a:rPr lang="ru-RU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ru-RU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1.номер_счета=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1.номер_счета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1.код_пользователя=3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1))×</m:t>
                      </m:r>
                    </m:oMath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2.номер_счета,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2.остаток</m:t>
                              </m:r>
                            </m:e>
                          </m:eqAr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2.остаток &gt;1500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2))))              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0" name="Объект 9">
                <a:extLst>
                  <a:ext uri="{FF2B5EF4-FFF2-40B4-BE49-F238E27FC236}">
                    <a16:creationId xmlns:a16="http://schemas.microsoft.com/office/drawing/2014/main" id="{F3DEDA25-B9D4-0E5B-365C-0258A8239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472" y="1293639"/>
                <a:ext cx="8229600" cy="51264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авая фигурная скобка 10">
            <a:extLst>
              <a:ext uri="{FF2B5EF4-FFF2-40B4-BE49-F238E27FC236}">
                <a16:creationId xmlns:a16="http://schemas.microsoft.com/office/drawing/2014/main" id="{2C5A3929-38CA-6433-A002-CC247C073E06}"/>
              </a:ext>
            </a:extLst>
          </p:cNvPr>
          <p:cNvSpPr/>
          <p:nvPr/>
        </p:nvSpPr>
        <p:spPr>
          <a:xfrm rot="5400000">
            <a:off x="5985644" y="3578450"/>
            <a:ext cx="165098" cy="4288531"/>
          </a:xfrm>
          <a:prstGeom prst="rightBrace">
            <a:avLst>
              <a:gd name="adj1" fmla="val 135258"/>
              <a:gd name="adj2" fmla="val 50000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67B9B7E-A386-AB68-C43B-D7DDAC6BCBEC}"/>
              </a:ext>
            </a:extLst>
          </p:cNvPr>
          <p:cNvSpPr/>
          <p:nvPr/>
        </p:nvSpPr>
        <p:spPr>
          <a:xfrm>
            <a:off x="508660" y="5290164"/>
            <a:ext cx="8167796" cy="130718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авая фигурная скобка 15">
            <a:extLst>
              <a:ext uri="{FF2B5EF4-FFF2-40B4-BE49-F238E27FC236}">
                <a16:creationId xmlns:a16="http://schemas.microsoft.com/office/drawing/2014/main" id="{29F08318-712E-8B6B-C19E-26B383621E7A}"/>
              </a:ext>
            </a:extLst>
          </p:cNvPr>
          <p:cNvSpPr/>
          <p:nvPr/>
        </p:nvSpPr>
        <p:spPr>
          <a:xfrm rot="5400000">
            <a:off x="2889300" y="4275850"/>
            <a:ext cx="165098" cy="4288531"/>
          </a:xfrm>
          <a:prstGeom prst="rightBrace">
            <a:avLst>
              <a:gd name="adj1" fmla="val 135258"/>
              <a:gd name="adj2" fmla="val 50000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148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4AFFB-8AC7-BA58-E68F-3E46D812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Преобразование исходного запроса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5F39D2-010B-A157-C097-E72C6AE8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86409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"Найти значения остатков, большие 1500, на счетах пользователя с кодом 3"</a:t>
            </a: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09096E-E891-73B2-A2BC-8038304C9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2C44376-13DA-8D2D-BEF1-1090FDF3A465}"/>
              </a:ext>
            </a:extLst>
          </p:cNvPr>
          <p:cNvSpPr/>
          <p:nvPr/>
        </p:nvSpPr>
        <p:spPr>
          <a:xfrm>
            <a:off x="166687" y="3516809"/>
            <a:ext cx="4148138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остаток</a:t>
            </a:r>
          </a:p>
          <a:p>
            <a:pPr algn="just"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algn="just"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остаток &gt; 1500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номер_счета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счета</a:t>
            </a:r>
          </a:p>
          <a:p>
            <a:pPr indent="449580" algn="just"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R1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код_пользователя = 3);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7B722A6-3736-24D9-ED70-09DE3F8E6A3A}"/>
              </a:ext>
            </a:extLst>
          </p:cNvPr>
          <p:cNvSpPr/>
          <p:nvPr/>
        </p:nvSpPr>
        <p:spPr>
          <a:xfrm>
            <a:off x="4741281" y="2730665"/>
            <a:ext cx="3791159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Подзапрос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номер_счета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код_пользователя=3;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Подзапрос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номер_счета, остаток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остаток &gt; 1500;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5D7CB03-08D9-DB0F-5B8F-94AAEA35E475}"/>
              </a:ext>
            </a:extLst>
          </p:cNvPr>
          <p:cNvCxnSpPr/>
          <p:nvPr/>
        </p:nvCxnSpPr>
        <p:spPr>
          <a:xfrm flipV="1">
            <a:off x="2893504" y="3305672"/>
            <a:ext cx="1714500" cy="14039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CA580CF3-48F6-68ED-271C-68F6097A7C7B}"/>
              </a:ext>
            </a:extLst>
          </p:cNvPr>
          <p:cNvCxnSpPr>
            <a:cxnSpLocks/>
          </p:cNvCxnSpPr>
          <p:nvPr/>
        </p:nvCxnSpPr>
        <p:spPr>
          <a:xfrm>
            <a:off x="2653493" y="3799693"/>
            <a:ext cx="1847777" cy="16005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Блок-схема: сопоставление 8">
            <a:extLst>
              <a:ext uri="{FF2B5EF4-FFF2-40B4-BE49-F238E27FC236}">
                <a16:creationId xmlns:a16="http://schemas.microsoft.com/office/drawing/2014/main" id="{C89997D6-AF75-061A-95D0-4615CCD0A430}"/>
              </a:ext>
            </a:extLst>
          </p:cNvPr>
          <p:cNvSpPr/>
          <p:nvPr/>
        </p:nvSpPr>
        <p:spPr>
          <a:xfrm rot="16200000">
            <a:off x="5891461" y="3928340"/>
            <a:ext cx="507776" cy="983022"/>
          </a:xfrm>
          <a:prstGeom prst="flowChartCol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27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686D4-FD4D-6D47-CE2D-45297BE1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Оптимизированный логический план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075516-5392-069F-162E-EB299E945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6F075AA-FEF3-DDF0-8C7D-944DA376B9F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511" y="2302994"/>
          <a:ext cx="6722113" cy="442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Picture" r:id="rId3" imgW="4457700" imgH="3102864" progId="Word.Picture.8">
                  <p:embed/>
                </p:oleObj>
              </mc:Choice>
              <mc:Fallback>
                <p:oleObj name="Picture" r:id="rId3" imgW="4457700" imgH="3102864" progId="Word.Picture.8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D6F075AA-FEF3-DDF0-8C7D-944DA376B9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1" y="2302994"/>
                        <a:ext cx="6722113" cy="442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11A738-8EB6-0F72-D993-8C65E355080F}"/>
              </a:ext>
            </a:extLst>
          </p:cNvPr>
          <p:cNvSpPr/>
          <p:nvPr/>
        </p:nvSpPr>
        <p:spPr>
          <a:xfrm>
            <a:off x="3744279" y="1388377"/>
            <a:ext cx="4896544" cy="120032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остаток 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остаток &gt; 1500 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номер_счета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счета 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R1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код_пользователя = 3);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901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9031-7880-D962-E7B8-3DA0D50A8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Порядок выполнения плана на логическом уровне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2121C3-9E46-13E3-B62D-928BB93886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568" y="1293983"/>
                <a:ext cx="7848872" cy="288032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spcBef>
                    <a:spcPts val="1200"/>
                  </a:spcBef>
                  <a:buNone/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промежуточных таблиц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2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. На основе полученной формулы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1.номер_счета=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</m:t>
                              </m:r>
                            </m:e>
                          </m:eqAr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1.номер_счета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1.код_пользователя=3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1))×</m:t>
                      </m:r>
                    </m:oMath>
                  </m:oMathPara>
                </a14:m>
                <a: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eqArr>
                          <m:eqArr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2.номер_счета,</m:t>
                            </m:r>
                          </m:e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2.остаток</m:t>
                            </m:r>
                          </m:e>
                        </m:eqAr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2.остаток &gt;1500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2))))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0" indent="0" algn="r">
                  <a:spcBef>
                    <a:spcPts val="1200"/>
                  </a:spcBef>
                  <a:buNone/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определяются промежуточные таблицы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2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2121C3-9E46-13E3-B62D-928BB93886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1293983"/>
                <a:ext cx="7848872" cy="2880320"/>
              </a:xfrm>
              <a:blipFill>
                <a:blip r:embed="rId3"/>
                <a:stretch>
                  <a:fillRect l="-776" t="-1057" r="-7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D7D9F9-C6B1-DE39-12B8-7151D9896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B9AC7BF4-6618-F8E2-D8DA-FA54BB44ADC1}"/>
                  </a:ext>
                </a:extLst>
              </p:cNvPr>
              <p:cNvSpPr txBox="1"/>
              <p:nvPr/>
            </p:nvSpPr>
            <p:spPr bwMode="auto">
              <a:xfrm>
                <a:off x="806896" y="3700704"/>
                <a:ext cx="7104062" cy="5127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1.номер_счета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1.код_пользователя=3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B9AC7BF4-6618-F8E2-D8DA-FA54BB44A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896" y="3700704"/>
                <a:ext cx="7104062" cy="512762"/>
              </a:xfrm>
              <a:prstGeom prst="rect">
                <a:avLst/>
              </a:prstGeom>
              <a:blipFill>
                <a:blip r:embed="rId4"/>
                <a:stretch>
                  <a:fillRect l="-1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177BBB1-9AFE-7615-4E41-35AF03D54F5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87067" y="3661623"/>
          <a:ext cx="1202849" cy="399558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202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55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491989B5-730E-0572-D90D-5647AC854BB3}"/>
                  </a:ext>
                </a:extLst>
              </p:cNvPr>
              <p:cNvSpPr txBox="1"/>
              <p:nvPr/>
            </p:nvSpPr>
            <p:spPr bwMode="auto">
              <a:xfrm>
                <a:off x="806896" y="4157651"/>
                <a:ext cx="6381750" cy="7969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2.номер_счета,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2.остаток</m:t>
                              </m:r>
                            </m:e>
                          </m:eqAr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2.остаток&gt;1500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491989B5-730E-0572-D90D-5647AC854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896" y="4157651"/>
                <a:ext cx="6381750" cy="796925"/>
              </a:xfrm>
              <a:prstGeom prst="rect">
                <a:avLst/>
              </a:prstGeom>
              <a:blipFill>
                <a:blip r:embed="rId5"/>
                <a:stretch>
                  <a:fillRect l="-1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FDE3CDE-5857-D46B-E4E8-C0E1F10EFB2B}"/>
              </a:ext>
            </a:extLst>
          </p:cNvPr>
          <p:cNvSpPr/>
          <p:nvPr/>
        </p:nvSpPr>
        <p:spPr>
          <a:xfrm>
            <a:off x="6971013" y="3672617"/>
            <a:ext cx="1662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Из таблицы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9C2F81-559E-6830-CBF5-1E420510A314}"/>
              </a:ext>
            </a:extLst>
          </p:cNvPr>
          <p:cNvSpPr/>
          <p:nvPr/>
        </p:nvSpPr>
        <p:spPr>
          <a:xfrm>
            <a:off x="7440669" y="4174303"/>
            <a:ext cx="1662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Из таблицы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endParaRPr lang="ru-RU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737F671A-071C-373B-B981-C70B05A999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89306" y="4184911"/>
          <a:ext cx="2198370" cy="521844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09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93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3000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A6AEC3D7-4034-1DA2-4ACF-96FFDD6FDF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33866" y="4769587"/>
          <a:ext cx="4032448" cy="1992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r:id="rId6" imgW="5929313" imgH="2843213" progId="Visio.Drawing.6">
                  <p:embed/>
                </p:oleObj>
              </mc:Choice>
              <mc:Fallback>
                <p:oleObj r:id="rId6" imgW="5929313" imgH="2843213" progId="Visio.Drawing.6">
                  <p:embed/>
                  <p:pic>
                    <p:nvPicPr>
                      <p:cNvPr id="15" name="Объект 14">
                        <a:extLst>
                          <a:ext uri="{FF2B5EF4-FFF2-40B4-BE49-F238E27FC236}">
                            <a16:creationId xmlns:a16="http://schemas.microsoft.com/office/drawing/2014/main" id="{A6AEC3D7-4034-1DA2-4ACF-96FFDD6FD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866" y="4769587"/>
                        <a:ext cx="4032448" cy="199234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6026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9ABF8-5AA3-B3FB-94B4-9CE71DD8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построения логического плана</a:t>
            </a:r>
            <a:br>
              <a:rPr lang="ru-RU" dirty="0"/>
            </a:br>
            <a:r>
              <a:rPr lang="ru-RU" sz="1200" i="1" dirty="0"/>
              <a:t>Порядок выполнения плана на логическом уровне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80672F-F1C4-63D5-84DB-B177F6525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98C2A1-A779-D6D7-85D6-D45E2393AAF2}"/>
              </a:ext>
            </a:extLst>
          </p:cNvPr>
          <p:cNvSpPr/>
          <p:nvPr/>
        </p:nvSpPr>
        <p:spPr>
          <a:xfrm>
            <a:off x="310092" y="1450121"/>
            <a:ext cx="9664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2. Соединение промежуточных таблиц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.  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D39903BE-354C-D15B-11E8-14BB09C51BE2}"/>
                  </a:ext>
                </a:extLst>
              </p:cNvPr>
              <p:cNvSpPr txBox="1"/>
              <p:nvPr/>
            </p:nvSpPr>
            <p:spPr bwMode="auto">
              <a:xfrm>
                <a:off x="2627784" y="1698577"/>
                <a:ext cx="5832648" cy="45243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2.остаток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1.номер_счета=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2.номер_счета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D39903BE-354C-D15B-11E8-14BB09C51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784" y="1698577"/>
                <a:ext cx="5832648" cy="452437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9B9785C-7D6C-A2C6-0B5C-0E105235BDC8}"/>
              </a:ext>
            </a:extLst>
          </p:cNvPr>
          <p:cNvSpPr/>
          <p:nvPr/>
        </p:nvSpPr>
        <p:spPr>
          <a:xfrm>
            <a:off x="310092" y="2013450"/>
            <a:ext cx="2005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а)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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FFA68DE-D799-7E4D-416A-8E1A7AA8009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80109" y="2408292"/>
          <a:ext cx="7268355" cy="91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1.номер_счета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2.номер_счета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2.остаток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6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6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57A620-C6B2-7061-94F5-6AC334E86F8F}"/>
              </a:ext>
            </a:extLst>
          </p:cNvPr>
          <p:cNvSpPr/>
          <p:nvPr/>
        </p:nvSpPr>
        <p:spPr>
          <a:xfrm>
            <a:off x="332318" y="3314281"/>
            <a:ext cx="3949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б)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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1.номер_счета=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2.номер_счета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):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7936832-EEB8-9D8B-9500-50BB657EA4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98489" y="3794831"/>
          <a:ext cx="7268355" cy="659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825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1.номер_счета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2.номер_счета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2.остаток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5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72BF77-0745-ECAC-1BC3-FB741C945324}"/>
              </a:ext>
            </a:extLst>
          </p:cNvPr>
          <p:cNvSpPr/>
          <p:nvPr/>
        </p:nvSpPr>
        <p:spPr>
          <a:xfrm>
            <a:off x="310092" y="4565659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  <a:tabLst>
                <a:tab pos="179451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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2.остаток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):	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B2C8004-BCBF-12F7-92CB-61EC1C61BB1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80109" y="5013536"/>
          <a:ext cx="1432560" cy="273431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93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3000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5B9222B7-CCBD-A08A-AD21-4F296CBA45D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91880" y="4589602"/>
          <a:ext cx="4321175" cy="213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4" imgW="5929313" imgH="2843213" progId="Visio.Drawing.6">
                  <p:embed/>
                </p:oleObj>
              </mc:Choice>
              <mc:Fallback>
                <p:oleObj r:id="rId4" imgW="5929313" imgH="2843213" progId="Visio.Drawing.6">
                  <p:embed/>
                  <p:pic>
                    <p:nvPicPr>
                      <p:cNvPr id="13" name="Объект 12">
                        <a:extLst>
                          <a:ext uri="{FF2B5EF4-FFF2-40B4-BE49-F238E27FC236}">
                            <a16:creationId xmlns:a16="http://schemas.microsoft.com/office/drawing/2014/main" id="{5B9222B7-CCBD-A08A-AD21-4F296CBA45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4589602"/>
                        <a:ext cx="4321175" cy="21351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015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B6E44-F383-02D3-1135-FADA572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построения физического плана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7C8876-69F8-5F6E-B420-2A8F24EF9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0768"/>
            <a:ext cx="8640960" cy="2016224"/>
          </a:xfrm>
        </p:spPr>
        <p:txBody>
          <a:bodyPr anchor="t">
            <a:normAutofit fontScale="70000" lnSpcReduction="20000"/>
          </a:bodyPr>
          <a:lstStyle/>
          <a:p>
            <a:pPr lvl="0">
              <a:buFont typeface="+mj-lt"/>
              <a:buAutoNum type="arabicPeriod"/>
            </a:pPr>
            <a:r>
              <a:rPr lang="ru-RU" sz="2400" dirty="0"/>
              <a:t>Физические планы </a:t>
            </a:r>
            <a:r>
              <a:rPr lang="ru-RU" sz="2400" i="1" dirty="0"/>
              <a:t>в основном </a:t>
            </a:r>
            <a:r>
              <a:rPr lang="ru-RU" sz="2400" dirty="0"/>
              <a:t>отличаются следующим:</a:t>
            </a:r>
          </a:p>
          <a:p>
            <a:pPr lvl="1"/>
            <a:r>
              <a:rPr lang="ru-RU" sz="2000" dirty="0"/>
              <a:t>методом выбора записей из исходных таблиц;</a:t>
            </a:r>
          </a:p>
          <a:p>
            <a:pPr lvl="1"/>
            <a:r>
              <a:rPr lang="ru-RU" sz="2000" dirty="0"/>
              <a:t>методом реализации подзапросов  ;</a:t>
            </a:r>
          </a:p>
          <a:p>
            <a:pPr lvl="1"/>
            <a:r>
              <a:rPr lang="ru-RU" sz="2000" dirty="0"/>
              <a:t>порядком соединения таблиц;</a:t>
            </a:r>
          </a:p>
          <a:p>
            <a:pPr lvl="1"/>
            <a:r>
              <a:rPr lang="ru-RU" sz="2000" dirty="0"/>
              <a:t>методом соединения таблиц, т.е. методом реализации операции естественного соединения  </a:t>
            </a:r>
          </a:p>
          <a:p>
            <a:pPr lvl="0">
              <a:buFont typeface="+mj-lt"/>
              <a:buAutoNum type="arabicPeriod"/>
            </a:pPr>
            <a:endParaRPr lang="ru-RU" sz="2400" dirty="0"/>
          </a:p>
          <a:p>
            <a:pPr lvl="0">
              <a:buFont typeface="+mj-lt"/>
              <a:buAutoNum type="arabicPeriod"/>
            </a:pPr>
            <a:r>
              <a:rPr lang="ru-RU" sz="2400" dirty="0"/>
              <a:t>Для каждого физического плана </a:t>
            </a:r>
            <a:r>
              <a:rPr lang="ru-RU" sz="2400" b="1" dirty="0"/>
              <a:t>рассчитывается стоимость его выполнения</a:t>
            </a:r>
            <a:r>
              <a:rPr lang="ru-RU" sz="2400" dirty="0"/>
              <a:t>. Выбирается физический план с наименьшей стоимостью.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9E6778-54C7-8815-D8EC-FA4EC7AD5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CB55C02-5307-F682-11F6-A4971B660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697665"/>
              </p:ext>
            </p:extLst>
          </p:nvPr>
        </p:nvGraphicFramePr>
        <p:xfrm>
          <a:off x="1475656" y="3297921"/>
          <a:ext cx="5998065" cy="3538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r:id="rId3" imgW="5472113" imgH="3771900" progId="Visio.Drawing.6">
                  <p:embed/>
                </p:oleObj>
              </mc:Choice>
              <mc:Fallback>
                <p:oleObj r:id="rId3" imgW="5472113" imgH="3771900" progId="Visio.Drawing.6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0CB55C02-5307-F682-11F6-A4971B6608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297921"/>
                        <a:ext cx="5998065" cy="35380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9969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484784"/>
            <a:ext cx="8651231" cy="4824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30618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21008-F09F-B9CC-16AC-3AFCFDAE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 запроса: представление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D6C30C-AC97-149A-E064-8C7E8CB5A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1800200"/>
          </a:xfrm>
        </p:spPr>
        <p:txBody>
          <a:bodyPr anchor="t"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t1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name_doctor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'doctor_4' AND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(SELECT COUNT(*) FROM prescription t2 WHERE t1.name_patient = t2.name_patient) &gt; 3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GROUP BY </a:t>
            </a:r>
            <a:r>
              <a:rPr lang="ru-RU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ru-RU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;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>
              <a:spcBef>
                <a:spcPts val="0"/>
              </a:spcBef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0F3B55-BE64-3925-4C1D-627283DA9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454FCF-6471-F077-0F48-AB31EBC99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7" y="2388630"/>
            <a:ext cx="8317929" cy="118438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11FE6EAE-4B0C-D7EB-BF8F-3BCD7FC63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717032"/>
            <a:ext cx="8176016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23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Какие индексы будут эффективны для ускорения этого запроса?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DD6C30C-AC97-149A-E064-8C7E8CB5AB4D}"/>
              </a:ext>
            </a:extLst>
          </p:cNvPr>
          <p:cNvSpPr txBox="1">
            <a:spLocks/>
          </p:cNvSpPr>
          <p:nvPr/>
        </p:nvSpPr>
        <p:spPr>
          <a:xfrm>
            <a:off x="579314" y="1388668"/>
            <a:ext cx="7233045" cy="29044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t1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 err="1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name_doctor</a:t>
            </a:r>
            <a:r>
              <a:rPr lang="en-US" b="1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'doctor_4'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(SELECT COUNT(*)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prescription t2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t1.name_patient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t2.name_patient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&gt; 3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GROUP BY </a:t>
            </a:r>
            <a:r>
              <a:rPr lang="ru-RU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;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>
              <a:spcBef>
                <a:spcPts val="0"/>
              </a:spcBef>
            </a:pPr>
            <a:endParaRPr lang="ru-RU" dirty="0"/>
          </a:p>
        </p:txBody>
      </p:sp>
      <p:pic>
        <p:nvPicPr>
          <p:cNvPr id="6" name="Рисунок 5" descr="Изображение выглядит как текст&#10;&#10;Автоматически созданное описание"/>
          <p:cNvPicPr/>
          <p:nvPr/>
        </p:nvPicPr>
        <p:blipFill rotWithShape="1">
          <a:blip r:embed="rId2"/>
          <a:srcRect r="22311"/>
          <a:stretch/>
        </p:blipFill>
        <p:spPr>
          <a:xfrm>
            <a:off x="4443390" y="3991372"/>
            <a:ext cx="4531369" cy="273630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&#10;&#10;Автоматически созданное описание"/>
          <p:cNvPicPr/>
          <p:nvPr/>
        </p:nvPicPr>
        <p:blipFill rotWithShape="1">
          <a:blip r:embed="rId3"/>
          <a:srcRect r="21428"/>
          <a:stretch/>
        </p:blipFill>
        <p:spPr>
          <a:xfrm>
            <a:off x="25196" y="3991371"/>
            <a:ext cx="4356485" cy="2734733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179512" y="5517232"/>
            <a:ext cx="399802" cy="36004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4604246" y="5379562"/>
            <a:ext cx="399802" cy="36004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5004048" y="6366064"/>
            <a:ext cx="399802" cy="36004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>
            <a:off x="464716" y="6364740"/>
            <a:ext cx="399802" cy="36004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27018"/>
              </p:ext>
            </p:extLst>
          </p:nvPr>
        </p:nvGraphicFramePr>
        <p:xfrm>
          <a:off x="4403474" y="3230389"/>
          <a:ext cx="3600450" cy="60058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898650">
                  <a:extLst>
                    <a:ext uri="{9D8B030D-6E8A-4147-A177-3AD203B41FA5}">
                      <a16:colId xmlns:a16="http://schemas.microsoft.com/office/drawing/2014/main" val="3800080364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32661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54038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Без индексов, мс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54038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 индексами, мс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53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54038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0,086522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54038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0,004919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700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33998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12045</TotalTime>
  <Words>3898</Words>
  <Application>Microsoft Office PowerPoint</Application>
  <PresentationFormat>Экран (4:3)</PresentationFormat>
  <Paragraphs>487</Paragraphs>
  <Slides>44</Slides>
  <Notes>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44</vt:i4>
      </vt:variant>
    </vt:vector>
  </HeadingPairs>
  <TitlesOfParts>
    <vt:vector size="55" baseType="lpstr">
      <vt:lpstr>Arial</vt:lpstr>
      <vt:lpstr>Calibri</vt:lpstr>
      <vt:lpstr>Cambria Math</vt:lpstr>
      <vt:lpstr>PT Sans</vt:lpstr>
      <vt:lpstr>Symbol</vt:lpstr>
      <vt:lpstr>Times New Roman</vt:lpstr>
      <vt:lpstr>Wingdings 3</vt:lpstr>
      <vt:lpstr>SCC</vt:lpstr>
      <vt:lpstr>Microsoft Visio 2000/2002 Drawing</vt:lpstr>
      <vt:lpstr>Уравнение</vt:lpstr>
      <vt:lpstr>Picture</vt:lpstr>
      <vt:lpstr>СУБД для специалиста  по информационной безопасности</vt:lpstr>
      <vt:lpstr>Темы лекции</vt:lpstr>
      <vt:lpstr>Выполнение запросов  к данным</vt:lpstr>
      <vt:lpstr>Пример выполнения запроса: схема и запрос</vt:lpstr>
      <vt:lpstr>Пример выполнения запроса: вариант 1</vt:lpstr>
      <vt:lpstr>Пример выполнения запроса: вариант 2</vt:lpstr>
      <vt:lpstr>Понятие оптимизации запросов</vt:lpstr>
      <vt:lpstr>Автоматическая оптимизация запроса</vt:lpstr>
      <vt:lpstr>Путь обработки запроса в реляционной СУБД</vt:lpstr>
      <vt:lpstr>Логическая оптимизация запроса</vt:lpstr>
      <vt:lpstr>Внутренняя форма запроса: дерево запроса</vt:lpstr>
      <vt:lpstr>Понятие канонической формы</vt:lpstr>
      <vt:lpstr>Реляционная форма запроса</vt:lpstr>
      <vt:lpstr>Реляционная внутренняя форма запроса - пример</vt:lpstr>
      <vt:lpstr>Канонические формы выражений и подзапросов</vt:lpstr>
      <vt:lpstr>Каноническая форма логических выражений</vt:lpstr>
      <vt:lpstr>Семантическая оптимизация</vt:lpstr>
      <vt:lpstr>Каноническая форма арифметических выражений (тип 1)</vt:lpstr>
      <vt:lpstr>Каноническая форма арифметических выражений (тип 2)</vt:lpstr>
      <vt:lpstr>Каноническая форма арифметических выражений (тип 3)</vt:lpstr>
      <vt:lpstr>Типы подзапросов</vt:lpstr>
      <vt:lpstr>Предикаты с вложенными подзапросами Часть 1</vt:lpstr>
      <vt:lpstr>Предикаты с вложенными подзапросами Часть 2</vt:lpstr>
      <vt:lpstr>Канонические формы подзапросов: назначение</vt:lpstr>
      <vt:lpstr>Предикаты с вложенными подзапросами Часть 3</vt:lpstr>
      <vt:lpstr>Логическая оптимизация  запросов</vt:lpstr>
      <vt:lpstr>Законы реляционной алгебры Законы 1-3</vt:lpstr>
      <vt:lpstr>Законы реляционной алгебры Законы 4-5</vt:lpstr>
      <vt:lpstr>Законы реляционной алгебры Законы 6-8</vt:lpstr>
      <vt:lpstr>Законы реляционной алгебры Законы 9-10</vt:lpstr>
      <vt:lpstr>Правила оптимизации формулы реляционной алгебры</vt:lpstr>
      <vt:lpstr>Построение логического плана</vt:lpstr>
      <vt:lpstr>Влияние логической оптимизации</vt:lpstr>
      <vt:lpstr>Пример построения логического плана Исходные данные</vt:lpstr>
      <vt:lpstr>Пример построения логического плана Исходная форма запроса</vt:lpstr>
      <vt:lpstr>Пример построения логического плана Логическая оптимизация</vt:lpstr>
      <vt:lpstr>Пример построения логического плана Преобразование исходного запроса</vt:lpstr>
      <vt:lpstr>Пример построения логического плана Оптимизированный логический план</vt:lpstr>
      <vt:lpstr>Пример построения логического плана Порядок выполнения плана на логическом уровне</vt:lpstr>
      <vt:lpstr>Пример построения логического плана Порядок выполнения плана на логическом уровне</vt:lpstr>
      <vt:lpstr>Порядок построения физического плана</vt:lpstr>
      <vt:lpstr>Пример</vt:lpstr>
      <vt:lpstr>План выполнения запроса: представление</vt:lpstr>
      <vt:lpstr>Какие индексы будут эффективны для ускорения этого запроса?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782</cp:revision>
  <dcterms:created xsi:type="dcterms:W3CDTF">2018-04-03T06:05:28Z</dcterms:created>
  <dcterms:modified xsi:type="dcterms:W3CDTF">2024-04-02T09:57:40Z</dcterms:modified>
</cp:coreProperties>
</file>